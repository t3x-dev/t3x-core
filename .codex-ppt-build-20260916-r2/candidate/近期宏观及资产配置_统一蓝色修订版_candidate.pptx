
<file path=[Content_Types].xml><?xml version="1.0" encoding="utf-8"?>
<Types xmlns="http://schemas.openxmlformats.org/package/2006/content-types">
  <Default Extension="rels" ContentType="application/vnd.openxmlformats-package.relationships+xml"/>
  <Default Extension="xml" ContentType="application/xml"/>
  <Default Extension="svg" ContentType="image/svg+xml"/>
  <Default Extension="png" ContentType="image/png"/>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2.xml" ContentType="application/vnd.openxmlformats-officedocument.presentationml.slide+xml"/>
  <Override PartName="/ppt/slides/slide22.xml" ContentType="application/vnd.openxmlformats-officedocument.presentationml.slide+xml"/>
  <Override PartName="/ppt/presentation.xml" ContentType="application/vnd.openxmlformats-officedocument.presentationml.presentation.main+xml"/>
  <Override PartName="/ppt/notesSlides/notesSlide10.xml" ContentType="application/vnd.openxmlformats-officedocument.presentationml.notesSlide+xml"/>
  <Override PartName="/docProps/core.xml" ContentType="application/vnd.openxmlformats-package.core-properties+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1.xml" ContentType="application/vnd.openxmlformats-officedocument.presentationml.slide+xml"/>
  <Override PartName="/ppt/slideLayouts/slideLayout2.xml" ContentType="application/vnd.openxmlformats-officedocument.presentationml.slideLayout+xml"/>
  <Override PartName="/ppt/slideLayouts/slideLayout4.xml" ContentType="application/vnd.openxmlformats-officedocument.presentationml.slideLayout+xml"/>
  <Override PartName="/ppt/slides/slide19.xml" ContentType="application/vnd.openxmlformats-officedocument.presentationml.slide+xml"/>
  <Override PartName="/ppt/slideLayouts/slideLayout11.xml" ContentType="application/vnd.openxmlformats-officedocument.presentationml.slideLayout+xml"/>
  <Override PartName="/ppt/slideLayouts/slideLayout6.xml" ContentType="application/vnd.openxmlformats-officedocument.presentationml.slideLayout+xml"/>
  <Override PartName="/ppt/theme/theme1.xml" ContentType="application/vnd.openxmlformats-officedocument.theme+xml"/>
  <Override PartName="/ppt/slideLayouts/slideLayout3.xml" ContentType="application/vnd.openxmlformats-officedocument.presentationml.slideLayout+xml"/>
  <Override PartName="/ppt/slideLayouts/slideLayout5.xml" ContentType="application/vnd.openxmlformats-officedocument.presentationml.slideLayout+xml"/>
  <Override PartName="/ppt/slides/slide18.xml" ContentType="application/vnd.openxmlformats-officedocument.presentationml.slide+xml"/>
  <Override PartName="/ppt/slideLayouts/slideLayout10.xml" ContentType="application/vnd.openxmlformats-officedocument.presentationml.slideLayout+xml"/>
  <Override PartName="/ppt/slideLayouts/slideLayout8.xml" ContentType="application/vnd.openxmlformats-officedocument.presentationml.slideLayout+xml"/>
  <Override PartName="/ppt/slides/slide15.xml" ContentType="application/vnd.openxmlformats-officedocument.presentationml.slide+xml"/>
  <Override PartName="/ppt/presProps.xml" ContentType="application/vnd.openxmlformats-officedocument.presentationml.presProps+xml"/>
  <Override PartName="/ppt/slideLayouts/slideLayout9.xml" ContentType="application/vnd.openxmlformats-officedocument.presentationml.slideLayout+xml"/>
  <Override PartName="/ppt/slides/slide14.xml" ContentType="application/vnd.openxmlformats-officedocument.presentationml.slide+xml"/>
  <Override PartName="/ppt/slides/slide4.xml" ContentType="application/vnd.openxmlformats-officedocument.presentationml.slide+xml"/>
  <Override PartName="/ppt/slides/slide24.xml" ContentType="application/vnd.openxmlformats-officedocument.presentationml.slide+xml"/>
  <Override PartName="/ppt/slides/slide10.xml" ContentType="application/vnd.openxmlformats-officedocument.presentationml.slide+xml"/>
  <Override PartName="/ppt/slides/slide21.xml" ContentType="application/vnd.openxmlformats-officedocument.presentationml.slide+xml"/>
  <Override PartName="/ppt/slides/slide1.xml" ContentType="application/vnd.openxmlformats-officedocument.presentationml.slide+xml"/>
  <Override PartName="/ppt/slides/slide9.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23.xml" ContentType="application/vnd.openxmlformats-officedocument.presentationml.slide+xml"/>
  <Override PartName="/ppt/slides/slide5.xml" ContentType="application/vnd.openxmlformats-officedocument.presentationml.slide+xml"/>
  <Override PartName="/ppt/slides/slide25.xml" ContentType="application/vnd.openxmlformats-officedocument.presentationml.slide+xml"/>
  <Override PartName="/ppt/slides/slide6.xml" ContentType="application/vnd.openxmlformats-officedocument.presentationml.slide+xml"/>
  <Override PartName="/ppt/slides/slide26.xml" ContentType="application/vnd.openxmlformats-officedocument.presentationml.slide+xml"/>
  <Override PartName="/ppt/slides/slide7.xml" ContentType="application/vnd.openxmlformats-officedocument.presentationml.slide+xml"/>
  <Override PartName="/ppt/viewProps.xml" ContentType="application/vnd.openxmlformats-officedocument.presentationml.viewProps+xml"/>
  <Override PartName="/ppt/slides/slide27.xml" ContentType="application/vnd.openxmlformats-officedocument.presentationml.slide+xml"/>
  <Override PartName="/ppt/slides/slide8.xml" ContentType="application/vnd.openxmlformats-officedocument.presentationml.slide+xml"/>
  <Override PartName="/ppt/slides/slide28.xml" ContentType="application/vnd.openxmlformats-officedocument.presentationml.slide+xml"/>
  <Override PartName="/ppt/notesSlides/notesSlide4.xml" ContentType="application/vnd.openxmlformats-officedocument.presentationml.notesSlide+xml"/>
  <Override PartName="/ppt/tableStyles.xml" ContentType="application/vnd.openxmlformats-officedocument.presentationml.tableStyles+xml"/>
  <Override PartName="/ppt/notesSlides/notesSlide14.xml" ContentType="application/vnd.openxmlformats-officedocument.presentationml.notesSlide+xml"/>
  <Override PartName="/ppt/notesSlides/notesSlide17.xml" ContentType="application/vnd.openxmlformats-officedocument.presentationml.notesSlide+xml"/>
  <Override PartName="/ppt/notesSlides/notesSlide15.xml" ContentType="application/vnd.openxmlformats-officedocument.presentationml.notesSlide+xml"/>
  <Override PartName="/ppt/notesSlides/notesSlide11.xml" ContentType="application/vnd.openxmlformats-officedocument.presentationml.notesSlide+xml"/>
  <Override PartName="/ppt/notesSlides/notesSlide1.xml" ContentType="application/vnd.openxmlformats-officedocument.presentationml.notesSlide+xml"/>
  <Override PartName="/ppt/notesSlides/notesSlide3.xml" ContentType="application/vnd.openxmlformats-officedocument.presentationml.notesSlide+xml"/>
  <Override PartName="/ppt/theme/theme2.xml" ContentType="application/vnd.openxmlformats-officedocument.them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9.xml" ContentType="application/vnd.openxmlformats-officedocument.presentationml.notesSlide+xml"/>
  <Override PartName="/ppt/notesSlides/notesSlide5.xml" ContentType="application/vnd.openxmlformats-officedocument.presentationml.notesSlide+xml"/>
  <Override PartName="/ppt/notesSlides/notesSlide13.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12.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Default Extension="jpeg" ContentType="image/jpeg"/>
</Types>
</file>

<file path=_rels/.rels><?xml version="1.0" encoding="UTF-8" standalone="yes"?><Relationships xmlns="http://schemas.openxmlformats.org/package/2006/relationships"><Relationship Id="rId2" Type="http://schemas.openxmlformats.org/officeDocument/2006/relationships/extended-properties" Target="docProps/app.xml" /><Relationship Id="rId0" Type="http://schemas.openxmlformats.org/officeDocument/2006/relationships/officeDocument" Target="ppt/presentation.xml" /><Relationship Id="rId1" Type="http://schemas.openxmlformats.org/package/2006/relationships/metadata/core-properties" Target="docProps/core.xml" /></Relationships>
</file>

<file path=ppt/presentation.xml><?xml version="1.0" encoding="utf-8"?>
<p:presentation xmlns:p="http://schemas.openxmlformats.org/presentationml/2006/main" xmlns:p15="http://schemas.microsoft.com/office/powerpoint/2012/main" xmlns:r="http://schemas.openxmlformats.org/officeDocument/2006/relationships" xmlns:a="http://schemas.openxmlformats.org/drawingml/2006/main" xmlns:mc="http://schemas.openxmlformats.org/markup-compatibility/2006" firstSlideNum="1" mc:Ignorable="p15">
  <p:sldMasterIdLst>
    <p:sldMasterId id="2147483648" r:id="rId0"/>
  </p:sldMasterIdLst>
  <p:notesMasterIdLst>
    <p:notesMasterId r:id="rId29"/>
  </p:notesMasterIdLst>
  <p:sldIdLst>
    <p:sldId id="256" r:id="rId1"/>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Lst>
  <p:sldSz cx="1219136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p15:guide id="1" orient="horz" pos="2160" userDrawn="1">
          <p15:clr>
            <a:srgbClr val="A4A3A4"/>
          </p15:clr>
        </p15:guide>
        <p15:guide id="2" pos="2880" userDrawn="1">
          <p15:clr>
            <a:srgbClr val="A4A3A4"/>
          </p15:clr>
        </p15:guide>
      </p15:sldGuideLst>
    </p:ext>
  </p:extLst>
</p:presentation>
</file>

<file path=ppt/presProps.xml><?xml version="1.0" encoding="utf-8"?>
<p:presentationPr xmlns:p="http://schemas.openxmlformats.org/presentationml/2006/main">
  <p:extLst>
    <p:ext uri="{E76CE94A-603C-4142-B9EB-6D1370010A27}"/>
    <p:ext uri="{D31A062A-798A-4329-ABDD-BBA856620510}"/>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p="http://schemas.openxmlformats.org/presentationml/2006/main" xmlns:a="http://schemas.openxmlformats.org/drawingml/2006/main" lastView="sldThumbnailView">
  <p:normalViewPr>
    <p:restoredLeft sz="15620"/>
    <p:restoredTop sz="94660"/>
  </p:normalViewPr>
  <p:slideViewPr>
    <p:cSldViewPr snapToGrid="0" snapToObjects="1" showGuide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0" Type="http://schemas.openxmlformats.org/officeDocument/2006/relationships/slideMaster" Target="slideMasters/slideMaster1.xml" /><Relationship Id="rId24" Type="http://schemas.openxmlformats.org/officeDocument/2006/relationships/slide" Target="slides/slide24.xml" /><Relationship Id="rId10" Type="http://schemas.openxmlformats.org/officeDocument/2006/relationships/slide" Target="slides/slide10.xml" /><Relationship Id="rId1" Type="http://schemas.openxmlformats.org/officeDocument/2006/relationships/slide" Target="slides/slide1.xml" /><Relationship Id="rId9" Type="http://schemas.openxmlformats.org/officeDocument/2006/relationships/slide" Target="slides/slide9.xml" /><Relationship Id="rId30" Type="http://schemas.openxmlformats.org/officeDocument/2006/relationships/presProps" Target="presProps.xml" /><Relationship Id="rId15" Type="http://schemas.openxmlformats.org/officeDocument/2006/relationships/slide" Target="slides/slide15.xml" /><Relationship Id="rId12" Type="http://schemas.openxmlformats.org/officeDocument/2006/relationships/slide" Target="slides/slide12.xml" /><Relationship Id="rId11" Type="http://schemas.openxmlformats.org/officeDocument/2006/relationships/slide" Target="slides/slide11.xml" /><Relationship Id="rId13" Type="http://schemas.openxmlformats.org/officeDocument/2006/relationships/slide" Target="slides/slide13.xml" /><Relationship Id="rId14" Type="http://schemas.openxmlformats.org/officeDocument/2006/relationships/slide" Target="slides/slide14.xml" /><Relationship Id="rId16" Type="http://schemas.openxmlformats.org/officeDocument/2006/relationships/slide" Target="slides/slide16.xml" /><Relationship Id="rId17" Type="http://schemas.openxmlformats.org/officeDocument/2006/relationships/slide" Target="slides/slide17.xml" /><Relationship Id="rId18" Type="http://schemas.openxmlformats.org/officeDocument/2006/relationships/slide" Target="slides/slide18.xml" /><Relationship Id="rId19" Type="http://schemas.openxmlformats.org/officeDocument/2006/relationships/slide" Target="slides/slide19.xml" /><Relationship Id="rId2" Type="http://schemas.openxmlformats.org/officeDocument/2006/relationships/slide" Target="slides/slide2.xml" /><Relationship Id="rId20" Type="http://schemas.openxmlformats.org/officeDocument/2006/relationships/slide" Target="slides/slide20.xml" /><Relationship Id="rId21" Type="http://schemas.openxmlformats.org/officeDocument/2006/relationships/slide" Target="slides/slide21.xml" /><Relationship Id="rId22" Type="http://schemas.openxmlformats.org/officeDocument/2006/relationships/slide" Target="slides/slide22.xml" /><Relationship Id="rId23" Type="http://schemas.openxmlformats.org/officeDocument/2006/relationships/slide" Target="slides/slide23.xml" /><Relationship Id="rId25" Type="http://schemas.openxmlformats.org/officeDocument/2006/relationships/slide" Target="slides/slide25.xml" /><Relationship Id="rId26" Type="http://schemas.openxmlformats.org/officeDocument/2006/relationships/slide" Target="slides/slide26.xml" /><Relationship Id="rId27" Type="http://schemas.openxmlformats.org/officeDocument/2006/relationships/slide" Target="slides/slide27.xml" /><Relationship Id="rId29" Type="http://schemas.openxmlformats.org/officeDocument/2006/relationships/notesMaster" Target="notesMasters/notesMaster1.xml" /><Relationship Id="rId28" Type="http://schemas.openxmlformats.org/officeDocument/2006/relationships/slide" Target="slides/slide28.xml" /><Relationship Id="rId5" Type="http://schemas.openxmlformats.org/officeDocument/2006/relationships/slide" Target="slides/slide5.xml" /><Relationship Id="rId3" Type="http://schemas.openxmlformats.org/officeDocument/2006/relationships/slide" Target="slides/slide3.xml" /><Relationship Id="rId6" Type="http://schemas.openxmlformats.org/officeDocument/2006/relationships/slide" Target="slides/slide6.xml" /><Relationship Id="rId31" Type="http://schemas.openxmlformats.org/officeDocument/2006/relationships/tableStyles" Target="tableStyles.xml" /><Relationship Id="rId4" Type="http://schemas.openxmlformats.org/officeDocument/2006/relationships/slide" Target="slides/slide4.xml" /><Relationship Id="rId32" Type="http://schemas.openxmlformats.org/officeDocument/2006/relationships/viewProps" Target="viewProps.xml" /><Relationship Id="rId7" Type="http://schemas.openxmlformats.org/officeDocument/2006/relationships/slide" Target="slides/slide7.xml" /><Relationship Id="rId8" Type="http://schemas.openxmlformats.org/officeDocument/2006/relationships/slide" Target="slides/slide8.xml" /></Relationships>
</file>

<file path=ppt/notesMasters/_rels/notesMaster1.xml.rels><?xml version="1.0" encoding="UTF-8" standalone="yes"?><Relationships xmlns="http://schemas.openxmlformats.org/package/2006/relationships"><Relationship Id="rId0" Type="http://schemas.openxmlformats.org/officeDocument/2006/relationships/theme" Target="../theme/theme2.xml" /></Relationships>
</file>

<file path=ppt/notesMasters/notesMaster1.xml><?xml version="1.0" encoding="utf-8"?>
<p:notesMaster xmlns:p="http://schemas.openxmlformats.org/presentationml/2006/main" xmlns:a="http://schemas.openxmlformats.org/drawing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ea typeface="微软雅黑" panose="020B0503020204020204" charset="-122"/>
                <a:cs typeface="微软雅黑" panose="020B0503020204020204" charset="-122"/>
              </a:defRPr>
            </a:lvl1pPr>
          </a:lstStyle>
          <a:p>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ea typeface="微软雅黑" panose="020B0503020204020204" charset="-122"/>
                <a:cs typeface="微软雅黑" panose="020B0503020204020204" charset="-122"/>
              </a:defRPr>
            </a:lvl1pPr>
          </a:lstStyle>
          <a:p>
            <a:pPr/>
            <a:fld id="{0F89C1C7-3DCD-1040-A9CF-14679D8B5DDD}" type="datetimeFigureOut">
              <a:rPr lang="en-US" smtClean="0"/>
              <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ea typeface="微软雅黑" panose="020B0503020204020204" charset="-122"/>
                <a:cs typeface="微软雅黑" panose="020B0503020204020204" charset="-122"/>
              </a:defRPr>
            </a:lvl1pPr>
          </a:lstStyle>
          <a:p>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ea typeface="微软雅黑" panose="020B0503020204020204" charset="-122"/>
                <a:cs typeface="微软雅黑" panose="020B0503020204020204" charset="-122"/>
              </a:defRPr>
            </a:lvl1pPr>
          </a:lstStyle>
          <a:p>
            <a:pPr/>
            <a:fld id="{BB5E49A5-4136-284D-997B-48E1D791AD67}" type="slidenum">
              <a:rPr lang="en-US" smtClean="0"/>
              <a:t/>
            </a:fld>
            <a:endParaRPr lang="en-US"/>
          </a:p>
        </p:txBody>
      </p:sp>
    </p:spTree>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微软雅黑" panose="020B0503020204020204" charset="-122"/>
        <a:cs typeface="微软雅黑" panose="020B0503020204020204" charset="-122"/>
      </a:defRPr>
    </a:lvl1pPr>
    <a:lvl2pPr marL="457200" algn="l" defTabSz="457200" rtl="0" eaLnBrk="1" latinLnBrk="0" hangingPunct="1">
      <a:defRPr sz="1200" kern="1200">
        <a:solidFill>
          <a:schemeClr val="tx1"/>
        </a:solidFill>
        <a:latin typeface="+mn-lt"/>
        <a:ea typeface="微软雅黑" panose="020B0503020204020204" charset="-122"/>
        <a:cs typeface="微软雅黑" panose="020B0503020204020204" charset="-122"/>
      </a:defRPr>
    </a:lvl2pPr>
    <a:lvl3pPr marL="914400" algn="l" defTabSz="457200" rtl="0" eaLnBrk="1" latinLnBrk="0" hangingPunct="1">
      <a:defRPr sz="1200" kern="1200">
        <a:solidFill>
          <a:schemeClr val="tx1"/>
        </a:solidFill>
        <a:latin typeface="+mn-lt"/>
        <a:ea typeface="微软雅黑" panose="020B0503020204020204" charset="-122"/>
        <a:cs typeface="微软雅黑" panose="020B0503020204020204" charset="-122"/>
      </a:defRPr>
    </a:lvl3pPr>
    <a:lvl4pPr marL="1371600" algn="l" defTabSz="457200" rtl="0" eaLnBrk="1" latinLnBrk="0" hangingPunct="1">
      <a:defRPr sz="1200" kern="1200">
        <a:solidFill>
          <a:schemeClr val="tx1"/>
        </a:solidFill>
        <a:latin typeface="+mn-lt"/>
        <a:ea typeface="微软雅黑" panose="020B0503020204020204" charset="-122"/>
        <a:cs typeface="微软雅黑" panose="020B0503020204020204" charset="-122"/>
      </a:defRPr>
    </a:lvl4pPr>
    <a:lvl5pPr marL="1828800" algn="l" defTabSz="457200" rtl="0" eaLnBrk="1" latinLnBrk="0" hangingPunct="1">
      <a:defRPr sz="1200" kern="1200">
        <a:solidFill>
          <a:schemeClr val="tx1"/>
        </a:solidFill>
        <a:latin typeface="+mn-lt"/>
        <a:ea typeface="微软雅黑" panose="020B0503020204020204" charset="-122"/>
        <a:cs typeface="微软雅黑" panose="020B0503020204020204" charset="-122"/>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0" Type="http://schemas.openxmlformats.org/officeDocument/2006/relationships/slide" Target="../slides/slide1.xml" /><Relationship Id="rId1" Type="http://schemas.openxmlformats.org/officeDocument/2006/relationships/notesMaster" Target="../notesMasters/notesMaster1.xml" /></Relationships>
</file>

<file path=ppt/notesSlides/_rels/notesSlide2.xml.rels><?xml version="1.0" encoding="UTF-8" standalone="yes"?><Relationships xmlns="http://schemas.openxmlformats.org/package/2006/relationships"><Relationship Id="rId0" Type="http://schemas.openxmlformats.org/officeDocument/2006/relationships/slide" Target="../slides/slide11.xml" /><Relationship Id="rId1" Type="http://schemas.openxmlformats.org/officeDocument/2006/relationships/notesMaster" Target="../notesMasters/notesMaster1.xml" /></Relationships>
</file>

<file path=ppt/notesSlides/_rels/notesSlide3.xml.rels><?xml version="1.0" encoding="UTF-8" standalone="yes"?><Relationships xmlns="http://schemas.openxmlformats.org/package/2006/relationships"><Relationship Id="rId0" Type="http://schemas.openxmlformats.org/officeDocument/2006/relationships/slide" Target="../slides/slide12.xml" /><Relationship Id="rId1" Type="http://schemas.openxmlformats.org/officeDocument/2006/relationships/notesMaster" Target="../notesMasters/notesMaster1.xml" /></Relationships>
</file>

<file path=ppt/notesSlides/_rels/notesSlide4.xml.rels><?xml version="1.0" encoding="UTF-8" standalone="yes"?><Relationships xmlns="http://schemas.openxmlformats.org/package/2006/relationships"><Relationship Id="rId0" Type="http://schemas.openxmlformats.org/officeDocument/2006/relationships/slide" Target="../slides/slide13.xml" /><Relationship Id="rId1" Type="http://schemas.openxmlformats.org/officeDocument/2006/relationships/notesMaster" Target="../notesMasters/notesMaster1.xml" /></Relationships>
</file>

<file path=ppt/notesSlides/_rels/notesSlide5.xml.rels><?xml version="1.0" encoding="UTF-8" standalone="yes"?><Relationships xmlns="http://schemas.openxmlformats.org/package/2006/relationships"><Relationship Id="rId0" Type="http://schemas.openxmlformats.org/officeDocument/2006/relationships/slide" Target="../slides/slide14.xml" /><Relationship Id="rId1" Type="http://schemas.openxmlformats.org/officeDocument/2006/relationships/notesMaster" Target="../notesMasters/notesMaster1.xml" /></Relationships>
</file>

<file path=ppt/notesSlides/_rels/notesSlide6.xml.rels><?xml version="1.0" encoding="UTF-8" standalone="yes"?><Relationships xmlns="http://schemas.openxmlformats.org/package/2006/relationships"><Relationship Id="rId0" Type="http://schemas.openxmlformats.org/officeDocument/2006/relationships/slide" Target="../slides/slide15.xml" /><Relationship Id="rId1" Type="http://schemas.openxmlformats.org/officeDocument/2006/relationships/notesMaster" Target="../notesMasters/notesMaster1.xml" /></Relationships>
</file>

<file path=ppt/notesSlides/_rels/notesSlide7.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16.xml" /></Relationships>
</file>

<file path=ppt/notesSlides/_rels/notesSlide8.xml.rels><?xml version="1.0" encoding="UTF-8" standalone="yes"?><Relationships xmlns="http://schemas.openxmlformats.org/package/2006/relationships"><Relationship Id="rId0" Type="http://schemas.openxmlformats.org/officeDocument/2006/relationships/slide" Target="../slides/slide17.xml" /><Relationship Id="rId1" Type="http://schemas.openxmlformats.org/officeDocument/2006/relationships/notesMaster" Target="../notesMasters/notesMaster1.xml" /></Relationships>
</file>

<file path=ppt/notesSlides/_rels/notesSlide9.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18.xml" /></Relationships>
</file>

<file path=ppt/notesSlides/_rels/notesSlide10.xml.rels><?xml version="1.0" encoding="UTF-8" standalone="yes"?><Relationships xmlns="http://schemas.openxmlformats.org/package/2006/relationships"><Relationship Id="rId0" Type="http://schemas.openxmlformats.org/officeDocument/2006/relationships/slide" Target="../slides/slide19.xml" /><Relationship Id="rId1" Type="http://schemas.openxmlformats.org/officeDocument/2006/relationships/notesMaster" Target="../notesMasters/notesMaster1.xml" /></Relationships>
</file>

<file path=ppt/notesSlides/_rels/notesSlide11.xml.rels><?xml version="1.0" encoding="UTF-8" standalone="yes"?><Relationships xmlns="http://schemas.openxmlformats.org/package/2006/relationships"><Relationship Id="rId0" Type="http://schemas.openxmlformats.org/officeDocument/2006/relationships/slide" Target="../slides/slide2.xml" /><Relationship Id="rId1" Type="http://schemas.openxmlformats.org/officeDocument/2006/relationships/notesMaster" Target="../notesMasters/notesMaster1.xml" /></Relationships>
</file>

<file path=ppt/notesSlides/_rels/notesSlide12.xml.rels><?xml version="1.0" encoding="UTF-8" standalone="yes"?><Relationships xmlns="http://schemas.openxmlformats.org/package/2006/relationships"><Relationship Id="rId0" Type="http://schemas.openxmlformats.org/officeDocument/2006/relationships/slide" Target="../slides/slide20.xml" /><Relationship Id="rId1" Type="http://schemas.openxmlformats.org/officeDocument/2006/relationships/notesMaster" Target="../notesMasters/notesMaster1.xml" /></Relationships>
</file>

<file path=ppt/notesSlides/_rels/notesSlide13.xml.rels><?xml version="1.0" encoding="UTF-8" standalone="yes"?><Relationships xmlns="http://schemas.openxmlformats.org/package/2006/relationships"><Relationship Id="rId0" Type="http://schemas.openxmlformats.org/officeDocument/2006/relationships/slide" Target="../slides/slide21.xml" /><Relationship Id="rId1" Type="http://schemas.openxmlformats.org/officeDocument/2006/relationships/notesMaster" Target="../notesMasters/notesMaster1.xml" /></Relationships>
</file>

<file path=ppt/notesSlides/_rels/notesSlide14.xml.rels><?xml version="1.0" encoding="UTF-8" standalone="yes"?><Relationships xmlns="http://schemas.openxmlformats.org/package/2006/relationships"><Relationship Id="rId0" Type="http://schemas.openxmlformats.org/officeDocument/2006/relationships/slide" Target="../slides/slide22.xml" /><Relationship Id="rId1" Type="http://schemas.openxmlformats.org/officeDocument/2006/relationships/notesMaster" Target="../notesMasters/notesMaster1.xml" /></Relationships>
</file>

<file path=ppt/notesSlides/_rels/notesSlide15.xml.rels><?xml version="1.0" encoding="UTF-8" standalone="yes"?><Relationships xmlns="http://schemas.openxmlformats.org/package/2006/relationships"><Relationship Id="rId0" Type="http://schemas.openxmlformats.org/officeDocument/2006/relationships/slide" Target="../slides/slide23.xml" /><Relationship Id="rId1" Type="http://schemas.openxmlformats.org/officeDocument/2006/relationships/notesMaster" Target="../notesMasters/notesMaster1.xml" /></Relationships>
</file>

<file path=ppt/notesSlides/_rels/notesSlide16.xml.rels><?xml version="1.0" encoding="UTF-8" standalone="yes"?><Relationships xmlns="http://schemas.openxmlformats.org/package/2006/relationships"><Relationship Id="rId0" Type="http://schemas.openxmlformats.org/officeDocument/2006/relationships/slide" Target="../slides/slide24.xml" /><Relationship Id="rId1" Type="http://schemas.openxmlformats.org/officeDocument/2006/relationships/notesMaster" Target="../notesMasters/notesMaster1.xml" /></Relationships>
</file>

<file path=ppt/notesSlides/_rels/notesSlide17.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25.xml" /></Relationships>
</file>

<file path=ppt/notesSlides/_rels/notesSlide18.xml.rels><?xml version="1.0" encoding="UTF-8" standalone="yes"?><Relationships xmlns="http://schemas.openxmlformats.org/package/2006/relationships"><Relationship Id="rId0" Type="http://schemas.openxmlformats.org/officeDocument/2006/relationships/slide" Target="../slides/slide26.xml" /><Relationship Id="rId1" Type="http://schemas.openxmlformats.org/officeDocument/2006/relationships/notesMaster" Target="../notesMasters/notesMaster1.xml" /></Relationships>
</file>

<file path=ppt/notesSlides/_rels/notesSlide19.xml.rels><?xml version="1.0" encoding="UTF-8" standalone="yes"?><Relationships xmlns="http://schemas.openxmlformats.org/package/2006/relationships"><Relationship Id="rId0" Type="http://schemas.openxmlformats.org/officeDocument/2006/relationships/slide" Target="../slides/slide27.xml" /><Relationship Id="rId1" Type="http://schemas.openxmlformats.org/officeDocument/2006/relationships/notesMaster" Target="../notesMasters/notesMaster1.xml" /></Relationships>
</file>

<file path=ppt/notesSlides/_rels/notesSlide20.xml.rels><?xml version="1.0" encoding="UTF-8" standalone="yes"?><Relationships xmlns="http://schemas.openxmlformats.org/package/2006/relationships"><Relationship Id="rId0" Type="http://schemas.openxmlformats.org/officeDocument/2006/relationships/slide" Target="../slides/slide5.xml" /><Relationship Id="rId1" Type="http://schemas.openxmlformats.org/officeDocument/2006/relationships/notesMaster" Target="../notesMasters/notesMaster1.xml" /></Relationships>
</file>

<file path=ppt/notesSlides/_rels/notesSlide21.xml.rels><?xml version="1.0" encoding="UTF-8" standalone="yes"?><Relationships xmlns="http://schemas.openxmlformats.org/package/2006/relationships"><Relationship Id="rId0" Type="http://schemas.openxmlformats.org/officeDocument/2006/relationships/slide" Target="../slides/slide6.xml" /><Relationship Id="rId1" Type="http://schemas.openxmlformats.org/officeDocument/2006/relationships/notesMaster" Target="../notesMasters/notesMaster1.xml" /></Relationships>
</file>

<file path=ppt/notesSlides/_rels/notesSlide22.xml.rels><?xml version="1.0" encoding="UTF-8" standalone="yes"?><Relationships xmlns="http://schemas.openxmlformats.org/package/2006/relationships"><Relationship Id="rId0" Type="http://schemas.openxmlformats.org/officeDocument/2006/relationships/slide" Target="../slides/slide7.xml" /><Relationship Id="rId1" Type="http://schemas.openxmlformats.org/officeDocument/2006/relationships/notesMaster" Target="../notesMasters/notesMaster1.xml" /></Relationships>
</file>

<file path=ppt/notesSlides/_rels/notesSlide23.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8.xml" /></Relationships>
</file>

<file path=ppt/notesSlides/_rels/notesSlide24.xml.rels><?xml version="1.0" encoding="UTF-8" standalone="yes"?><Relationships xmlns="http://schemas.openxmlformats.org/package/2006/relationships"><Relationship Id="rId0" Type="http://schemas.openxmlformats.org/officeDocument/2006/relationships/slide" Target="../slides/slide9.xml" /><Relationship Id="rId1" Type="http://schemas.openxmlformats.org/officeDocument/2006/relationships/notesMaster" Target="../notesMasters/notesMaster1.xml" /></Relationships>
</file>

<file path=ppt/notesSlides/notesSlide1.xml><?xml version="1.0" encoding="utf-8"?>
<p:notes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a:pPr/>
            <a:endParaRPr/>
          </a:p>
        </p:txBody>
      </p:sp>
      <p:sp>
        <p:nvSpPr>
          <p:cNvPr id="3" name="Notes Placeholder 2"/>
          <p:cNvSpPr>
            <a:spLocks noGrp="1"/>
          </p:cNvSpPr>
          <p:nvPr>
            <p:ph type="body" sz="quarter" idx="3"/>
          </p:nvPr>
        </p:nvSpPr>
        <p:spPr/>
        <p:txBody>
          <a:bodyPr/>
          <a:lstStyle/>
          <a:p>
            <a:pPr/>
            <a:r>
              <a:rPr/>
              <a:t>[Speaker Notes]</a:t>
            </a:r>
            <a:endParaRPr/>
          </a:p>
          <a:p>
            <a:pPr/>
            <a:r>
              <a:rPr/>
              <a:t>封面沿用 8 月版版式，仅更新月份与数据截至日期。正式交付时请核对机构落款与合规用语。</a:t>
            </a:r>
            <a:endParaRPr/>
          </a:p>
          <a:p>
            <a:pPr/>
            <a:endParaRPr/>
          </a:p>
          <a:p>
            <a:pPr/>
            <a:r>
              <a:rPr/>
              <a:t>[Sources]</a:t>
            </a:r>
            <a:endParaRPr/>
          </a:p>
          <a:p>
            <a:pPr/>
            <a:r>
              <a:rPr/>
              <a:t>数据截至 2026-09-08；版式沿用《近期宏观及资产配置 20260821》。</a:t>
            </a:r>
            <a:endParaRPr/>
          </a:p>
        </p:txBody>
      </p:sp>
      <p:sp>
        <p:nvSpPr>
          <p:cNvPr id="4" name="Slide Number Placeholder 3"/>
          <p:cNvSpPr>
            <a:spLocks noGrp="1"/>
          </p:cNvSpPr>
          <p:nvPr>
            <p:ph type="sldNum" sz="quarter" idx="5"/>
          </p:nvPr>
        </p:nvSpPr>
        <p:spPr/>
        <p:txBody>
          <a:bodyPr/>
          <a:p>
            <a:pPr/>
            <a:endParaRPr/>
          </a:p>
        </p:txBody>
      </p:sp>
    </p:spTree>
  </p:cSld>
  <p:clrMapOvr>
    <a:masterClrMapping/>
  </p:clrMapOvr>
</p:notes>
</file>

<file path=ppt/notesSlides/notesSlide2.xml><?xml version="1.0" encoding="utf-8"?>
<p:notes xmlns:p="http://schemas.openxmlformats.org/presentationml/2006/main" xmlns:a="http://schemas.openxmlformats.org/drawingml/2006/main">
  <p:cSld>
    <p:spTree>
      <p:nvGrpSpPr>
        <p:cNvPr id="5" name=""/>
        <p:cNvGrpSpPr/>
        <p:nvPr/>
      </p:nvGrpSpPr>
      <p:grpSpPr>
        <a:xfrm>
          <a:off x="0" y="0"/>
          <a:ext cx="0" cy="0"/>
          <a:chOff x="0" y="0"/>
          <a:chExt cx="0" cy="0"/>
        </a:xfrm>
      </p:grpSpPr>
      <p:sp>
        <p:nvSpPr>
          <p:cNvPr id="6" name="Slide Image Placeholder 1"/>
          <p:cNvSpPr>
            <a:spLocks noGrp="1"/>
          </p:cNvSpPr>
          <p:nvPr>
            <p:ph type="sldImg" idx="2"/>
          </p:nvPr>
        </p:nvSpPr>
        <p:spPr/>
        <p:txBody>
          <a:bodyPr/>
          <a:p>
            <a:pPr/>
            <a:endParaRPr/>
          </a:p>
        </p:txBody>
      </p:sp>
      <p:sp>
        <p:nvSpPr>
          <p:cNvPr id="7" name="Notes Placeholder 2"/>
          <p:cNvSpPr>
            <a:spLocks noGrp="1"/>
          </p:cNvSpPr>
          <p:nvPr>
            <p:ph type="body" sz="quarter" idx="3"/>
          </p:nvPr>
        </p:nvSpPr>
        <p:spPr/>
        <p:txBody>
          <a:bodyPr/>
          <a:lstStyle/>
          <a:p>
            <a:pPr/>
            <a:r>
              <a:rPr/>
              <a:t>[Speaker Notes]</a:t>
            </a:r>
            <a:endParaRPr/>
          </a:p>
          <a:p>
            <a:pPr/>
            <a:r>
              <a:rPr/>
              <a:t>资产现状及展望：用一张表覆盖股债商汇金。核心观点——权益结构&gt;指数、固收票息为主、商品/CTA环境改善、黄金中长期多头、人民币偏强。</a:t>
            </a:r>
            <a:endParaRPr/>
          </a:p>
          <a:p>
            <a:pPr/>
            <a:endParaRPr/>
          </a:p>
          <a:p>
            <a:pPr/>
            <a:r>
              <a:rPr/>
              <a:t>[Sources]</a:t>
            </a:r>
            <a:endParaRPr/>
          </a:p>
          <a:p>
            <a:pPr/>
            <a:r>
              <a:rPr/>
              <a:t>上证/深成/创业板收盘（9/8）；恒指（9/2）；中国 10Y 国债（9/3）；美债 10Y（9/9）；COMEX 黄金/WTI/LME 铜（9/8）；在岸人民币（9/5）。</a:t>
            </a:r>
            <a:endParaRPr/>
          </a:p>
        </p:txBody>
      </p:sp>
      <p:sp>
        <p:nvSpPr>
          <p:cNvPr id="8" name="Slide Number Placeholder 3"/>
          <p:cNvSpPr>
            <a:spLocks noGrp="1"/>
          </p:cNvSpPr>
          <p:nvPr>
            <p:ph type="sldNum" sz="quarter" idx="5"/>
          </p:nvPr>
        </p:nvSpPr>
        <p:spPr/>
        <p:txBody>
          <a:bodyPr/>
          <a:p>
            <a:pPr/>
            <a:endParaRPr/>
          </a:p>
        </p:txBody>
      </p:sp>
    </p:spTree>
  </p:cSld>
  <p:clrMapOvr>
    <a:masterClrMapping/>
  </p:clrMapOvr>
</p:notes>
</file>

<file path=ppt/notesSlides/notesSlide3.xml><?xml version="1.0" encoding="utf-8"?>
<p:notes xmlns:p="http://schemas.openxmlformats.org/presentationml/2006/main" xmlns:a="http://schemas.openxmlformats.org/drawingml/2006/main">
  <p:cSld>
    <p:spTree>
      <p:nvGrpSpPr>
        <p:cNvPr id="9" name=""/>
        <p:cNvGrpSpPr/>
        <p:nvPr/>
      </p:nvGrpSpPr>
      <p:grpSpPr>
        <a:xfrm>
          <a:off x="0" y="0"/>
          <a:ext cx="0" cy="0"/>
          <a:chOff x="0" y="0"/>
          <a:chExt cx="0" cy="0"/>
        </a:xfrm>
      </p:grpSpPr>
      <p:sp>
        <p:nvSpPr>
          <p:cNvPr id="10" name="Slide Image Placeholder 1"/>
          <p:cNvSpPr>
            <a:spLocks noGrp="1"/>
          </p:cNvSpPr>
          <p:nvPr>
            <p:ph type="sldImg" idx="2"/>
          </p:nvPr>
        </p:nvSpPr>
        <p:spPr/>
        <p:txBody>
          <a:bodyPr/>
          <a:p>
            <a:pPr/>
            <a:endParaRPr/>
          </a:p>
        </p:txBody>
      </p:sp>
      <p:sp>
        <p:nvSpPr>
          <p:cNvPr id="11" name="Notes Placeholder 2"/>
          <p:cNvSpPr>
            <a:spLocks noGrp="1"/>
          </p:cNvSpPr>
          <p:nvPr>
            <p:ph type="body" sz="quarter" idx="3"/>
          </p:nvPr>
        </p:nvSpPr>
        <p:spPr/>
        <p:txBody>
          <a:bodyPr/>
          <a:lstStyle/>
          <a:p>
            <a:pPr/>
            <a:r>
              <a:rPr/>
              <a:t>[Speaker Notes]</a:t>
            </a:r>
            <a:endParaRPr/>
          </a:p>
          <a:p>
            <a:pPr/>
            <a:r>
              <a:rPr/>
              <a:t>资产现状及展望：用一张表覆盖股债商汇金。核心观点——权益结构&gt;指数、固收票息为主、商品/CTA环境改善、黄金中长期多头、人民币偏强。</a:t>
            </a:r>
            <a:endParaRPr/>
          </a:p>
          <a:p>
            <a:pPr/>
            <a:endParaRPr/>
          </a:p>
          <a:p>
            <a:pPr/>
            <a:r>
              <a:rPr/>
              <a:t>[Sources]</a:t>
            </a:r>
            <a:endParaRPr/>
          </a:p>
          <a:p>
            <a:pPr/>
            <a:r>
              <a:rPr/>
              <a:t>上证/深成/创业板收盘（9/8）；恒指（9/2）；中国 10Y 国债（9/3）；美债 10Y（9/9）；COMEX 黄金/WTI/LME 铜（9/8）；在岸人民币（9/5）。</a:t>
            </a:r>
            <a:endParaRPr/>
          </a:p>
        </p:txBody>
      </p:sp>
      <p:sp>
        <p:nvSpPr>
          <p:cNvPr id="12" name="Slide Number Placeholder 3"/>
          <p:cNvSpPr>
            <a:spLocks noGrp="1"/>
          </p:cNvSpPr>
          <p:nvPr>
            <p:ph type="sldNum" sz="quarter" idx="5"/>
          </p:nvPr>
        </p:nvSpPr>
        <p:spPr/>
        <p:txBody>
          <a:bodyPr/>
          <a:p>
            <a:pPr/>
            <a:endParaRPr/>
          </a:p>
        </p:txBody>
      </p:sp>
    </p:spTree>
  </p:cSld>
  <p:clrMapOvr>
    <a:masterClrMapping/>
  </p:clrMapOvr>
</p:notes>
</file>

<file path=ppt/notesSlides/notesSlide4.xml><?xml version="1.0" encoding="utf-8"?>
<p:notes xmlns:p="http://schemas.openxmlformats.org/presentationml/2006/main" xmlns:a="http://schemas.openxmlformats.org/drawingml/2006/main">
  <p:cSld>
    <p:spTree>
      <p:nvGrpSpPr>
        <p:cNvPr id="13" name=""/>
        <p:cNvGrpSpPr/>
        <p:nvPr/>
      </p:nvGrpSpPr>
      <p:grpSpPr>
        <a:xfrm>
          <a:off x="0" y="0"/>
          <a:ext cx="0" cy="0"/>
          <a:chOff x="0" y="0"/>
          <a:chExt cx="0" cy="0"/>
        </a:xfrm>
      </p:grpSpPr>
      <p:sp>
        <p:nvSpPr>
          <p:cNvPr id="14" name="Slide Image Placeholder 1"/>
          <p:cNvSpPr>
            <a:spLocks noGrp="1"/>
          </p:cNvSpPr>
          <p:nvPr>
            <p:ph type="sldImg" idx="2"/>
          </p:nvPr>
        </p:nvSpPr>
        <p:spPr/>
        <p:txBody>
          <a:bodyPr/>
          <a:p>
            <a:pPr/>
            <a:endParaRPr/>
          </a:p>
        </p:txBody>
      </p:sp>
      <p:sp>
        <p:nvSpPr>
          <p:cNvPr id="15" name="Notes Placeholder 2"/>
          <p:cNvSpPr>
            <a:spLocks noGrp="1"/>
          </p:cNvSpPr>
          <p:nvPr>
            <p:ph type="body" sz="quarter" idx="3"/>
          </p:nvPr>
        </p:nvSpPr>
        <p:spPr/>
        <p:txBody>
          <a:bodyPr/>
          <a:lstStyle/>
          <a:p>
            <a:pPr/>
            <a:r>
              <a:rPr/>
              <a:t>[Speaker Notes]</a:t>
            </a:r>
            <a:endParaRPr/>
          </a:p>
          <a:p>
            <a:pPr/>
            <a:r>
              <a:rPr/>
              <a:t>产品明细占位表：保留 8 月版 12 只产品与合计数据，亏损项标红。最新净值待用户提供后替换。</a:t>
            </a:r>
            <a:endParaRPr/>
          </a:p>
          <a:p>
            <a:pPr/>
            <a:endParaRPr/>
          </a:p>
          <a:p>
            <a:pPr/>
            <a:r>
              <a:rPr/>
              <a:t>[Sources]</a:t>
            </a:r>
            <a:endParaRPr/>
          </a:p>
          <a:p>
            <a:pPr/>
            <a:r>
              <a:rPr/>
              <a:t>沿用《近期宏观及资产配置 20260821》第 13 页。</a:t>
            </a:r>
            <a:endParaRPr/>
          </a:p>
        </p:txBody>
      </p:sp>
      <p:sp>
        <p:nvSpPr>
          <p:cNvPr id="16" name="Slide Number Placeholder 3"/>
          <p:cNvSpPr>
            <a:spLocks noGrp="1"/>
          </p:cNvSpPr>
          <p:nvPr>
            <p:ph type="sldNum" sz="quarter" idx="5"/>
          </p:nvPr>
        </p:nvSpPr>
        <p:spPr/>
        <p:txBody>
          <a:bodyPr/>
          <a:p>
            <a:pPr/>
            <a:endParaRPr/>
          </a:p>
        </p:txBody>
      </p:sp>
    </p:spTree>
  </p:cSld>
  <p:clrMapOvr>
    <a:masterClrMapping/>
  </p:clrMapOvr>
</p:notes>
</file>

<file path=ppt/notesSlides/notesSlide5.xml><?xml version="1.0" encoding="utf-8"?>
<p:notes xmlns:p="http://schemas.openxmlformats.org/presentationml/2006/main" xmlns:a="http://schemas.openxmlformats.org/drawingml/2006/main">
  <p:cSld>
    <p:spTree>
      <p:nvGrpSpPr>
        <p:cNvPr id="17" name=""/>
        <p:cNvGrpSpPr/>
        <p:nvPr/>
      </p:nvGrpSpPr>
      <p:grpSpPr>
        <a:xfrm>
          <a:off x="0" y="0"/>
          <a:ext cx="0" cy="0"/>
          <a:chOff x="0" y="0"/>
          <a:chExt cx="0" cy="0"/>
        </a:xfrm>
      </p:grpSpPr>
      <p:sp>
        <p:nvSpPr>
          <p:cNvPr id="18" name="Slide Image Placeholder 1"/>
          <p:cNvSpPr>
            <a:spLocks noGrp="1"/>
          </p:cNvSpPr>
          <p:nvPr>
            <p:ph type="sldImg" idx="2"/>
          </p:nvPr>
        </p:nvSpPr>
        <p:spPr/>
        <p:txBody>
          <a:bodyPr/>
          <a:p>
            <a:pPr/>
            <a:endParaRPr/>
          </a:p>
        </p:txBody>
      </p:sp>
      <p:sp>
        <p:nvSpPr>
          <p:cNvPr id="19" name="Notes Placeholder 2"/>
          <p:cNvSpPr>
            <a:spLocks noGrp="1"/>
          </p:cNvSpPr>
          <p:nvPr>
            <p:ph type="body" sz="quarter" idx="3"/>
          </p:nvPr>
        </p:nvSpPr>
        <p:spPr/>
        <p:txBody>
          <a:bodyPr/>
          <a:lstStyle/>
          <a:p>
            <a:pPr/>
            <a:r>
              <a:rPr/>
              <a:t>[Speaker Notes]</a:t>
            </a:r>
            <a:endParaRPr/>
          </a:p>
          <a:p>
            <a:pPr/>
            <a:r>
              <a:rPr/>
              <a:t>产品明细占位表：保留 8 月版 12 只产品与合计数据，亏损项标红。最新净值待用户提供后替换。</a:t>
            </a:r>
            <a:endParaRPr/>
          </a:p>
          <a:p>
            <a:pPr/>
            <a:endParaRPr/>
          </a:p>
          <a:p>
            <a:pPr/>
            <a:r>
              <a:rPr/>
              <a:t>[Sources]</a:t>
            </a:r>
            <a:endParaRPr/>
          </a:p>
          <a:p>
            <a:pPr/>
            <a:r>
              <a:rPr/>
              <a:t>沿用《近期宏观及资产配置 20260821》第 13 页。</a:t>
            </a:r>
            <a:endParaRPr/>
          </a:p>
        </p:txBody>
      </p:sp>
      <p:sp>
        <p:nvSpPr>
          <p:cNvPr id="20" name="Slide Number Placeholder 3"/>
          <p:cNvSpPr>
            <a:spLocks noGrp="1"/>
          </p:cNvSpPr>
          <p:nvPr>
            <p:ph type="sldNum" sz="quarter" idx="5"/>
          </p:nvPr>
        </p:nvSpPr>
        <p:spPr/>
        <p:txBody>
          <a:bodyPr/>
          <a:p>
            <a:pPr/>
            <a:endParaRPr/>
          </a:p>
        </p:txBody>
      </p:sp>
    </p:spTree>
  </p:cSld>
  <p:clrMapOvr>
    <a:masterClrMapping/>
  </p:clrMapOvr>
</p:notes>
</file>

<file path=ppt/notesSlides/notesSlide6.xml><?xml version="1.0" encoding="utf-8"?>
<p:notes xmlns:p="http://schemas.openxmlformats.org/presentationml/2006/main" xmlns:a="http://schemas.openxmlformats.org/drawingml/2006/main">
  <p:cSld>
    <p:spTree>
      <p:nvGrpSpPr>
        <p:cNvPr id="21" name=""/>
        <p:cNvGrpSpPr/>
        <p:nvPr/>
      </p:nvGrpSpPr>
      <p:grpSpPr>
        <a:xfrm>
          <a:off x="0" y="0"/>
          <a:ext cx="0" cy="0"/>
          <a:chOff x="0" y="0"/>
          <a:chExt cx="0" cy="0"/>
        </a:xfrm>
      </p:grpSpPr>
      <p:sp>
        <p:nvSpPr>
          <p:cNvPr id="22" name="Slide Image Placeholder 1"/>
          <p:cNvSpPr>
            <a:spLocks noGrp="1"/>
          </p:cNvSpPr>
          <p:nvPr>
            <p:ph type="sldImg" idx="2"/>
          </p:nvPr>
        </p:nvSpPr>
        <p:spPr/>
        <p:txBody>
          <a:bodyPr/>
          <a:p>
            <a:pPr/>
            <a:endParaRPr/>
          </a:p>
        </p:txBody>
      </p:sp>
      <p:sp>
        <p:nvSpPr>
          <p:cNvPr id="23" name="Notes Placeholder 2"/>
          <p:cNvSpPr>
            <a:spLocks noGrp="1"/>
          </p:cNvSpPr>
          <p:nvPr>
            <p:ph type="body" sz="quarter" idx="3"/>
          </p:nvPr>
        </p:nvSpPr>
        <p:spPr/>
        <p:txBody>
          <a:bodyPr/>
          <a:lstStyle/>
          <a:p>
            <a:pPr/>
            <a:r>
              <a:rPr/>
              <a:t>[Speaker Notes]</a:t>
            </a:r>
            <a:endParaRPr/>
          </a:p>
          <a:p>
            <a:pPr/>
            <a:r>
              <a:rPr/>
              <a:t>产品明细占位表：保留 8 月版 12 只产品与合计数据，亏损项标红。最新净值待用户提供后替换。</a:t>
            </a:r>
            <a:endParaRPr/>
          </a:p>
          <a:p>
            <a:pPr/>
            <a:endParaRPr/>
          </a:p>
          <a:p>
            <a:pPr/>
            <a:r>
              <a:rPr/>
              <a:t>[Sources]</a:t>
            </a:r>
            <a:endParaRPr/>
          </a:p>
          <a:p>
            <a:pPr/>
            <a:r>
              <a:rPr/>
              <a:t>沿用《近期宏观及资产配置 20260821》第 13 页。</a:t>
            </a:r>
            <a:endParaRPr/>
          </a:p>
        </p:txBody>
      </p:sp>
      <p:sp>
        <p:nvSpPr>
          <p:cNvPr id="24" name="Slide Number Placeholder 3"/>
          <p:cNvSpPr>
            <a:spLocks noGrp="1"/>
          </p:cNvSpPr>
          <p:nvPr>
            <p:ph type="sldNum" sz="quarter" idx="5"/>
          </p:nvPr>
        </p:nvSpPr>
        <p:spPr/>
        <p:txBody>
          <a:bodyPr/>
          <a:p>
            <a:pPr/>
            <a:endParaRPr/>
          </a:p>
        </p:txBody>
      </p:sp>
    </p:spTree>
  </p:cSld>
  <p:clrMapOvr>
    <a:masterClrMapping/>
  </p:clrMapOvr>
</p:notes>
</file>

<file path=ppt/notesSlides/notesSlide7.xml><?xml version="1.0" encoding="utf-8"?>
<p:notes xmlns:p="http://schemas.openxmlformats.org/presentationml/2006/main" xmlns:a="http://schemas.openxmlformats.org/drawingml/2006/main">
  <p:cSld>
    <p:spTree>
      <p:nvGrpSpPr>
        <p:cNvPr id="25" name=""/>
        <p:cNvGrpSpPr/>
        <p:nvPr/>
      </p:nvGrpSpPr>
      <p:grpSpPr>
        <a:xfrm>
          <a:off x="0" y="0"/>
          <a:ext cx="0" cy="0"/>
          <a:chOff x="0" y="0"/>
          <a:chExt cx="0" cy="0"/>
        </a:xfrm>
      </p:grpSpPr>
      <p:sp>
        <p:nvSpPr>
          <p:cNvPr id="26" name="Slide Image Placeholder 1"/>
          <p:cNvSpPr>
            <a:spLocks noGrp="1"/>
          </p:cNvSpPr>
          <p:nvPr>
            <p:ph type="sldImg" idx="2"/>
          </p:nvPr>
        </p:nvSpPr>
        <p:spPr/>
        <p:txBody>
          <a:bodyPr/>
          <a:p>
            <a:pPr/>
            <a:endParaRPr/>
          </a:p>
        </p:txBody>
      </p:sp>
      <p:sp>
        <p:nvSpPr>
          <p:cNvPr id="27" name="Notes Placeholder 2"/>
          <p:cNvSpPr>
            <a:spLocks noGrp="1"/>
          </p:cNvSpPr>
          <p:nvPr>
            <p:ph type="body" sz="quarter" idx="3"/>
          </p:nvPr>
        </p:nvSpPr>
        <p:spPr/>
        <p:txBody>
          <a:bodyPr/>
          <a:lstStyle/>
          <a:p>
            <a:pPr/>
            <a:r>
              <a:rPr/>
              <a:t>[Speaker Notes]</a:t>
            </a:r>
            <a:endParaRPr/>
          </a:p>
          <a:p>
            <a:pPr/>
            <a:r>
              <a:rPr/>
              <a:t>产品明细占位表：保留 8 月版 12 只产品与合计数据，亏损项标红。最新净值待用户提供后替换。</a:t>
            </a:r>
            <a:endParaRPr/>
          </a:p>
          <a:p>
            <a:pPr/>
            <a:endParaRPr/>
          </a:p>
          <a:p>
            <a:pPr/>
            <a:r>
              <a:rPr/>
              <a:t>[Sources]</a:t>
            </a:r>
            <a:endParaRPr/>
          </a:p>
          <a:p>
            <a:pPr/>
            <a:r>
              <a:rPr/>
              <a:t>沿用《近期宏观及资产配置 20260821》第 13 页。</a:t>
            </a:r>
            <a:endParaRPr/>
          </a:p>
        </p:txBody>
      </p:sp>
      <p:sp>
        <p:nvSpPr>
          <p:cNvPr id="28" name="Slide Number Placeholder 3"/>
          <p:cNvSpPr>
            <a:spLocks noGrp="1"/>
          </p:cNvSpPr>
          <p:nvPr>
            <p:ph type="sldNum" sz="quarter" idx="5"/>
          </p:nvPr>
        </p:nvSpPr>
        <p:spPr/>
        <p:txBody>
          <a:bodyPr/>
          <a:p>
            <a:pPr/>
            <a:endParaRPr/>
          </a:p>
        </p:txBody>
      </p:sp>
    </p:spTree>
  </p:cSld>
  <p:clrMapOvr>
    <a:masterClrMapping/>
  </p:clrMapOvr>
</p:notes>
</file>

<file path=ppt/notesSlides/notesSlide8.xml><?xml version="1.0" encoding="utf-8"?>
<p:notes xmlns:p="http://schemas.openxmlformats.org/presentationml/2006/main" xmlns:a="http://schemas.openxmlformats.org/drawingml/2006/main">
  <p:cSld>
    <p:spTree>
      <p:nvGrpSpPr>
        <p:cNvPr id="29" name=""/>
        <p:cNvGrpSpPr/>
        <p:nvPr/>
      </p:nvGrpSpPr>
      <p:grpSpPr>
        <a:xfrm>
          <a:off x="0" y="0"/>
          <a:ext cx="0" cy="0"/>
          <a:chOff x="0" y="0"/>
          <a:chExt cx="0" cy="0"/>
        </a:xfrm>
      </p:grpSpPr>
      <p:sp>
        <p:nvSpPr>
          <p:cNvPr id="30" name="Slide Image Placeholder 1"/>
          <p:cNvSpPr>
            <a:spLocks noGrp="1"/>
          </p:cNvSpPr>
          <p:nvPr>
            <p:ph type="sldImg" idx="2"/>
          </p:nvPr>
        </p:nvSpPr>
        <p:spPr/>
        <p:txBody>
          <a:bodyPr/>
          <a:p>
            <a:pPr/>
            <a:endParaRPr/>
          </a:p>
        </p:txBody>
      </p:sp>
      <p:sp>
        <p:nvSpPr>
          <p:cNvPr id="31" name="Notes Placeholder 2"/>
          <p:cNvSpPr>
            <a:spLocks noGrp="1"/>
          </p:cNvSpPr>
          <p:nvPr>
            <p:ph type="body" sz="quarter" idx="3"/>
          </p:nvPr>
        </p:nvSpPr>
        <p:spPr/>
        <p:txBody>
          <a:bodyPr/>
          <a:lstStyle/>
          <a:p>
            <a:pPr/>
            <a:r>
              <a:rPr/>
              <a:t>[Speaker Notes]</a:t>
            </a:r>
            <a:endParaRPr/>
          </a:p>
          <a:p>
            <a:pPr/>
            <a:r>
              <a:rPr/>
              <a:t>产品明细占位表：保留 8 月版 12 只产品与合计数据，亏损项标红。最新净值待用户提供后替换。</a:t>
            </a:r>
            <a:endParaRPr/>
          </a:p>
          <a:p>
            <a:pPr/>
            <a:endParaRPr/>
          </a:p>
          <a:p>
            <a:pPr/>
            <a:r>
              <a:rPr/>
              <a:t>[Sources]</a:t>
            </a:r>
            <a:endParaRPr/>
          </a:p>
          <a:p>
            <a:pPr/>
            <a:r>
              <a:rPr/>
              <a:t>沿用《近期宏观及资产配置 20260821》第 13 页。</a:t>
            </a:r>
            <a:endParaRPr/>
          </a:p>
        </p:txBody>
      </p:sp>
      <p:sp>
        <p:nvSpPr>
          <p:cNvPr id="32" name="Slide Number Placeholder 3"/>
          <p:cNvSpPr>
            <a:spLocks noGrp="1"/>
          </p:cNvSpPr>
          <p:nvPr>
            <p:ph type="sldNum" sz="quarter" idx="5"/>
          </p:nvPr>
        </p:nvSpPr>
        <p:spPr/>
        <p:txBody>
          <a:bodyPr/>
          <a:p>
            <a:pPr/>
            <a:endParaRPr/>
          </a:p>
        </p:txBody>
      </p:sp>
    </p:spTree>
  </p:cSld>
  <p:clrMapOvr>
    <a:masterClrMapping/>
  </p:clrMapOvr>
</p:notes>
</file>

<file path=ppt/notesSlides/notesSlide9.xml><?xml version="1.0" encoding="utf-8"?>
<p:notes xmlns:p="http://schemas.openxmlformats.org/presentationml/2006/main" xmlns:a="http://schemas.openxmlformats.org/drawingml/2006/main">
  <p:cSld>
    <p:spTree>
      <p:nvGrpSpPr>
        <p:cNvPr id="33" name=""/>
        <p:cNvGrpSpPr/>
        <p:nvPr/>
      </p:nvGrpSpPr>
      <p:grpSpPr>
        <a:xfrm>
          <a:off x="0" y="0"/>
          <a:ext cx="0" cy="0"/>
          <a:chOff x="0" y="0"/>
          <a:chExt cx="0" cy="0"/>
        </a:xfrm>
      </p:grpSpPr>
      <p:sp>
        <p:nvSpPr>
          <p:cNvPr id="34" name="Slide Image Placeholder 1"/>
          <p:cNvSpPr>
            <a:spLocks noGrp="1"/>
          </p:cNvSpPr>
          <p:nvPr>
            <p:ph type="sldImg" idx="2"/>
          </p:nvPr>
        </p:nvSpPr>
        <p:spPr/>
        <p:txBody>
          <a:bodyPr/>
          <a:p>
            <a:pPr/>
            <a:endParaRPr/>
          </a:p>
        </p:txBody>
      </p:sp>
      <p:sp>
        <p:nvSpPr>
          <p:cNvPr id="35" name="Notes Placeholder 2"/>
          <p:cNvSpPr>
            <a:spLocks noGrp="1"/>
          </p:cNvSpPr>
          <p:nvPr>
            <p:ph type="body" sz="quarter" idx="3"/>
          </p:nvPr>
        </p:nvSpPr>
        <p:spPr/>
        <p:txBody>
          <a:bodyPr/>
          <a:lstStyle/>
          <a:p>
            <a:pPr/>
            <a:r>
              <a:rPr/>
              <a:t>[Speaker Notes]</a:t>
            </a:r>
            <a:endParaRPr/>
          </a:p>
          <a:p>
            <a:pPr/>
            <a:r>
              <a:rPr/>
              <a:t>产品明细占位表：保留 8 月版 12 只产品与合计数据，亏损项标红。最新净值待用户提供后替换。</a:t>
            </a:r>
            <a:endParaRPr/>
          </a:p>
          <a:p>
            <a:pPr/>
            <a:endParaRPr/>
          </a:p>
          <a:p>
            <a:pPr/>
            <a:r>
              <a:rPr/>
              <a:t>[Sources]</a:t>
            </a:r>
            <a:endParaRPr/>
          </a:p>
          <a:p>
            <a:pPr/>
            <a:r>
              <a:rPr/>
              <a:t>沿用《近期宏观及资产配置 20260821》第 13 页。</a:t>
            </a:r>
            <a:endParaRPr/>
          </a:p>
        </p:txBody>
      </p:sp>
      <p:sp>
        <p:nvSpPr>
          <p:cNvPr id="36" name="Slide Number Placeholder 3"/>
          <p:cNvSpPr>
            <a:spLocks noGrp="1"/>
          </p:cNvSpPr>
          <p:nvPr>
            <p:ph type="sldNum" sz="quarter" idx="5"/>
          </p:nvPr>
        </p:nvSpPr>
        <p:spPr/>
        <p:txBody>
          <a:bodyPr/>
          <a:p>
            <a:pPr/>
            <a:endParaRPr/>
          </a:p>
        </p:txBody>
      </p:sp>
    </p:spTree>
  </p:cSld>
  <p:clrMapOvr>
    <a:masterClrMapping/>
  </p:clrMapOvr>
</p:notes>
</file>

<file path=ppt/notesSlides/notesSlide10.xml><?xml version="1.0" encoding="utf-8"?>
<p:notes xmlns:p="http://schemas.openxmlformats.org/presentationml/2006/main" xmlns:a="http://schemas.openxmlformats.org/drawingml/2006/main">
  <p:cSld>
    <p:spTree>
      <p:nvGrpSpPr>
        <p:cNvPr id="37" name=""/>
        <p:cNvGrpSpPr/>
        <p:nvPr/>
      </p:nvGrpSpPr>
      <p:grpSpPr>
        <a:xfrm>
          <a:off x="0" y="0"/>
          <a:ext cx="0" cy="0"/>
          <a:chOff x="0" y="0"/>
          <a:chExt cx="0" cy="0"/>
        </a:xfrm>
      </p:grpSpPr>
      <p:sp>
        <p:nvSpPr>
          <p:cNvPr id="38" name="Slide Image Placeholder 1"/>
          <p:cNvSpPr>
            <a:spLocks noGrp="1"/>
          </p:cNvSpPr>
          <p:nvPr>
            <p:ph type="sldImg" idx="2"/>
          </p:nvPr>
        </p:nvSpPr>
        <p:spPr/>
        <p:txBody>
          <a:bodyPr/>
          <a:p>
            <a:pPr/>
            <a:endParaRPr/>
          </a:p>
        </p:txBody>
      </p:sp>
      <p:sp>
        <p:nvSpPr>
          <p:cNvPr id="39" name="Notes Placeholder 2"/>
          <p:cNvSpPr>
            <a:spLocks noGrp="1"/>
          </p:cNvSpPr>
          <p:nvPr>
            <p:ph type="body" sz="quarter" idx="3"/>
          </p:nvPr>
        </p:nvSpPr>
        <p:spPr/>
        <p:txBody>
          <a:bodyPr/>
          <a:lstStyle/>
          <a:p>
            <a:pPr/>
            <a:r>
              <a:rPr/>
              <a:t>[Speaker Notes]</a:t>
            </a:r>
            <a:endParaRPr/>
          </a:p>
          <a:p>
            <a:pPr/>
            <a:r>
              <a:rPr/>
              <a:t>产品明细占位表：保留 8 月版 12 只产品与合计数据，亏损项标红。最新净值待用户提供后替换。</a:t>
            </a:r>
            <a:endParaRPr/>
          </a:p>
          <a:p>
            <a:pPr/>
            <a:endParaRPr/>
          </a:p>
          <a:p>
            <a:pPr/>
            <a:r>
              <a:rPr/>
              <a:t>[Sources]</a:t>
            </a:r>
            <a:endParaRPr/>
          </a:p>
          <a:p>
            <a:pPr/>
            <a:r>
              <a:rPr/>
              <a:t>沿用《近期宏观及资产配置 20260821》第 13 页。</a:t>
            </a:r>
            <a:endParaRPr/>
          </a:p>
        </p:txBody>
      </p:sp>
      <p:sp>
        <p:nvSpPr>
          <p:cNvPr id="40" name="Slide Number Placeholder 3"/>
          <p:cNvSpPr>
            <a:spLocks noGrp="1"/>
          </p:cNvSpPr>
          <p:nvPr>
            <p:ph type="sldNum" sz="quarter" idx="5"/>
          </p:nvPr>
        </p:nvSpPr>
        <p:spPr/>
        <p:txBody>
          <a:bodyPr/>
          <a:p>
            <a:pPr/>
            <a:endParaRPr/>
          </a:p>
        </p:txBody>
      </p:sp>
    </p:spTree>
  </p:cSld>
  <p:clrMapOvr>
    <a:masterClrMapping/>
  </p:clrMapOvr>
</p:notes>
</file>

<file path=ppt/notesSlides/notesSlide11.xml><?xml version="1.0" encoding="utf-8"?>
<p:notes xmlns:p="http://schemas.openxmlformats.org/presentationml/2006/main" xmlns:a="http://schemas.openxmlformats.org/drawingml/2006/main">
  <p:cSld>
    <p:spTree>
      <p:nvGrpSpPr>
        <p:cNvPr id="41" name=""/>
        <p:cNvGrpSpPr/>
        <p:nvPr/>
      </p:nvGrpSpPr>
      <p:grpSpPr>
        <a:xfrm>
          <a:off x="0" y="0"/>
          <a:ext cx="0" cy="0"/>
          <a:chOff x="0" y="0"/>
          <a:chExt cx="0" cy="0"/>
        </a:xfrm>
      </p:grpSpPr>
      <p:sp>
        <p:nvSpPr>
          <p:cNvPr id="42" name="Slide Image Placeholder 1"/>
          <p:cNvSpPr>
            <a:spLocks noGrp="1"/>
          </p:cNvSpPr>
          <p:nvPr>
            <p:ph type="sldImg" idx="2"/>
          </p:nvPr>
        </p:nvSpPr>
        <p:spPr/>
        <p:txBody>
          <a:bodyPr/>
          <a:p>
            <a:pPr/>
            <a:endParaRPr/>
          </a:p>
        </p:txBody>
      </p:sp>
      <p:sp>
        <p:nvSpPr>
          <p:cNvPr id="43" name="Notes Placeholder 2"/>
          <p:cNvSpPr>
            <a:spLocks noGrp="1"/>
          </p:cNvSpPr>
          <p:nvPr>
            <p:ph type="body" sz="quarter" idx="3"/>
          </p:nvPr>
        </p:nvSpPr>
        <p:spPr/>
        <p:txBody>
          <a:bodyPr/>
          <a:lstStyle/>
          <a:p>
            <a:pPr/>
            <a:r>
              <a:rPr/>
              <a:t>[Speaker Notes]</a:t>
            </a:r>
            <a:endParaRPr/>
          </a:p>
          <a:p>
            <a:pPr/>
            <a:r>
              <a:rPr/>
              <a:t>客户需求定位页，沿用 8 月版口径，突出‘年化 6% + 最大回撤 &lt;1%’的硬约束。</a:t>
            </a:r>
            <a:endParaRPr/>
          </a:p>
          <a:p>
            <a:pPr/>
            <a:endParaRPr/>
          </a:p>
          <a:p>
            <a:pPr/>
            <a:r>
              <a:rPr/>
              <a:t>[Sources]</a:t>
            </a:r>
            <a:endParaRPr/>
          </a:p>
          <a:p>
            <a:pPr/>
            <a:r>
              <a:rPr/>
              <a:t>沿用《近期宏观及资产配置 20260821》第 2 页。</a:t>
            </a:r>
            <a:endParaRPr/>
          </a:p>
        </p:txBody>
      </p:sp>
      <p:sp>
        <p:nvSpPr>
          <p:cNvPr id="44" name="Slide Number Placeholder 3"/>
          <p:cNvSpPr>
            <a:spLocks noGrp="1"/>
          </p:cNvSpPr>
          <p:nvPr>
            <p:ph type="sldNum" sz="quarter" idx="5"/>
          </p:nvPr>
        </p:nvSpPr>
        <p:spPr/>
        <p:txBody>
          <a:bodyPr/>
          <a:p>
            <a:pPr/>
            <a:endParaRPr/>
          </a:p>
        </p:txBody>
      </p:sp>
    </p:spTree>
  </p:cSld>
  <p:clrMapOvr>
    <a:masterClrMapping/>
  </p:clrMapOvr>
</p:notes>
</file>

<file path=ppt/notesSlides/notesSlide12.xml><?xml version="1.0" encoding="utf-8"?>
<p:notes xmlns:p="http://schemas.openxmlformats.org/presentationml/2006/main" xmlns:a="http://schemas.openxmlformats.org/drawingml/2006/main">
  <p:cSld>
    <p:spTree>
      <p:nvGrpSpPr>
        <p:cNvPr id="45" name=""/>
        <p:cNvGrpSpPr/>
        <p:nvPr/>
      </p:nvGrpSpPr>
      <p:grpSpPr>
        <a:xfrm>
          <a:off x="0" y="0"/>
          <a:ext cx="0" cy="0"/>
          <a:chOff x="0" y="0"/>
          <a:chExt cx="0" cy="0"/>
        </a:xfrm>
      </p:grpSpPr>
      <p:sp>
        <p:nvSpPr>
          <p:cNvPr id="46" name="Slide Image Placeholder 1"/>
          <p:cNvSpPr>
            <a:spLocks noGrp="1"/>
          </p:cNvSpPr>
          <p:nvPr>
            <p:ph type="sldImg" idx="2"/>
          </p:nvPr>
        </p:nvSpPr>
        <p:spPr/>
        <p:txBody>
          <a:bodyPr/>
          <a:p>
            <a:pPr/>
            <a:endParaRPr/>
          </a:p>
        </p:txBody>
      </p:sp>
      <p:sp>
        <p:nvSpPr>
          <p:cNvPr id="47" name="Notes Placeholder 2"/>
          <p:cNvSpPr>
            <a:spLocks noGrp="1"/>
          </p:cNvSpPr>
          <p:nvPr>
            <p:ph type="body" sz="quarter" idx="3"/>
          </p:nvPr>
        </p:nvSpPr>
        <p:spPr/>
        <p:txBody>
          <a:bodyPr/>
          <a:lstStyle/>
          <a:p>
            <a:pPr/>
            <a:r>
              <a:rPr/>
              <a:t>[Speaker Notes]</a:t>
            </a:r>
            <a:endParaRPr/>
          </a:p>
          <a:p>
            <a:pPr/>
            <a:r>
              <a:rPr/>
              <a:t>产品明细占位表：保留 8 月版 12 只产品与合计数据，亏损项标红。最新净值待用户提供后替换。</a:t>
            </a:r>
            <a:endParaRPr/>
          </a:p>
          <a:p>
            <a:pPr/>
            <a:endParaRPr/>
          </a:p>
          <a:p>
            <a:pPr/>
            <a:r>
              <a:rPr/>
              <a:t>[Sources]</a:t>
            </a:r>
            <a:endParaRPr/>
          </a:p>
          <a:p>
            <a:pPr/>
            <a:r>
              <a:rPr/>
              <a:t>沿用《近期宏观及资产配置 20260821》第 13 页。</a:t>
            </a:r>
            <a:endParaRPr/>
          </a:p>
        </p:txBody>
      </p:sp>
      <p:sp>
        <p:nvSpPr>
          <p:cNvPr id="48" name="Slide Number Placeholder 3"/>
          <p:cNvSpPr>
            <a:spLocks noGrp="1"/>
          </p:cNvSpPr>
          <p:nvPr>
            <p:ph type="sldNum" sz="quarter" idx="5"/>
          </p:nvPr>
        </p:nvSpPr>
        <p:spPr/>
        <p:txBody>
          <a:bodyPr/>
          <a:p>
            <a:pPr/>
            <a:endParaRPr/>
          </a:p>
        </p:txBody>
      </p:sp>
    </p:spTree>
  </p:cSld>
  <p:clrMapOvr>
    <a:masterClrMapping/>
  </p:clrMapOvr>
</p:notes>
</file>

<file path=ppt/notesSlides/notesSlide13.xml><?xml version="1.0" encoding="utf-8"?>
<p:notes xmlns:p="http://schemas.openxmlformats.org/presentationml/2006/main" xmlns:a="http://schemas.openxmlformats.org/drawingml/2006/main">
  <p:cSld>
    <p:spTree>
      <p:nvGrpSpPr>
        <p:cNvPr id="49" name=""/>
        <p:cNvGrpSpPr/>
        <p:nvPr/>
      </p:nvGrpSpPr>
      <p:grpSpPr>
        <a:xfrm>
          <a:off x="0" y="0"/>
          <a:ext cx="0" cy="0"/>
          <a:chOff x="0" y="0"/>
          <a:chExt cx="0" cy="0"/>
        </a:xfrm>
      </p:grpSpPr>
      <p:sp>
        <p:nvSpPr>
          <p:cNvPr id="50" name="Slide Image Placeholder 1"/>
          <p:cNvSpPr>
            <a:spLocks noGrp="1"/>
          </p:cNvSpPr>
          <p:nvPr>
            <p:ph type="sldImg" idx="2"/>
          </p:nvPr>
        </p:nvSpPr>
        <p:spPr/>
        <p:txBody>
          <a:bodyPr/>
          <a:p>
            <a:pPr/>
            <a:endParaRPr/>
          </a:p>
        </p:txBody>
      </p:sp>
      <p:sp>
        <p:nvSpPr>
          <p:cNvPr id="51" name="Notes Placeholder 2"/>
          <p:cNvSpPr>
            <a:spLocks noGrp="1"/>
          </p:cNvSpPr>
          <p:nvPr>
            <p:ph type="body" sz="quarter" idx="3"/>
          </p:nvPr>
        </p:nvSpPr>
        <p:spPr/>
        <p:txBody>
          <a:bodyPr/>
          <a:lstStyle/>
          <a:p>
            <a:pPr/>
            <a:r>
              <a:rPr/>
              <a:t>[Speaker Notes]</a:t>
            </a:r>
            <a:endParaRPr/>
          </a:p>
          <a:p>
            <a:pPr/>
            <a:r>
              <a:rPr/>
              <a:t>配置比例页：保留 8 月版固收 60%/CTA 26%/权益 8%/宏观 6% 的比例作占位，业绩指标（年化 4.82%、最大回撤 1.19%）沿用 8 月数据并标注待更新。用户拿到最新净值后替换即可。</a:t>
            </a:r>
            <a:endParaRPr/>
          </a:p>
          <a:p>
            <a:pPr/>
            <a:endParaRPr/>
          </a:p>
          <a:p>
            <a:pPr/>
            <a:r>
              <a:rPr/>
              <a:t>[Sources]</a:t>
            </a:r>
            <a:endParaRPr/>
          </a:p>
          <a:p>
            <a:pPr/>
            <a:r>
              <a:rPr/>
              <a:t>沿用《近期宏观及资产配置 20260821》第 12 页。</a:t>
            </a:r>
            <a:endParaRPr/>
          </a:p>
        </p:txBody>
      </p:sp>
      <p:sp>
        <p:nvSpPr>
          <p:cNvPr id="52" name="Slide Number Placeholder 3"/>
          <p:cNvSpPr>
            <a:spLocks noGrp="1"/>
          </p:cNvSpPr>
          <p:nvPr>
            <p:ph type="sldNum" sz="quarter" idx="5"/>
          </p:nvPr>
        </p:nvSpPr>
        <p:spPr/>
        <p:txBody>
          <a:bodyPr/>
          <a:p>
            <a:pPr/>
            <a:endParaRPr/>
          </a:p>
        </p:txBody>
      </p:sp>
    </p:spTree>
  </p:cSld>
  <p:clrMapOvr>
    <a:masterClrMapping/>
  </p:clrMapOvr>
</p:notes>
</file>

<file path=ppt/notesSlides/notesSlide14.xml><?xml version="1.0" encoding="utf-8"?>
<p:notes xmlns:p="http://schemas.openxmlformats.org/presentationml/2006/main" xmlns:a="http://schemas.openxmlformats.org/drawingml/2006/main">
  <p:cSld>
    <p:spTree>
      <p:nvGrpSpPr>
        <p:cNvPr id="53" name=""/>
        <p:cNvGrpSpPr/>
        <p:nvPr/>
      </p:nvGrpSpPr>
      <p:grpSpPr>
        <a:xfrm>
          <a:off x="0" y="0"/>
          <a:ext cx="0" cy="0"/>
          <a:chOff x="0" y="0"/>
          <a:chExt cx="0" cy="0"/>
        </a:xfrm>
      </p:grpSpPr>
      <p:sp>
        <p:nvSpPr>
          <p:cNvPr id="54" name="Slide Image Placeholder 1"/>
          <p:cNvSpPr>
            <a:spLocks noGrp="1"/>
          </p:cNvSpPr>
          <p:nvPr>
            <p:ph type="sldImg" idx="2"/>
          </p:nvPr>
        </p:nvSpPr>
        <p:spPr/>
        <p:txBody>
          <a:bodyPr/>
          <a:p>
            <a:pPr/>
            <a:endParaRPr/>
          </a:p>
        </p:txBody>
      </p:sp>
      <p:sp>
        <p:nvSpPr>
          <p:cNvPr id="55" name="Notes Placeholder 2"/>
          <p:cNvSpPr>
            <a:spLocks noGrp="1"/>
          </p:cNvSpPr>
          <p:nvPr>
            <p:ph type="body" sz="quarter" idx="3"/>
          </p:nvPr>
        </p:nvSpPr>
        <p:spPr/>
        <p:txBody>
          <a:bodyPr/>
          <a:lstStyle/>
          <a:p>
            <a:pPr/>
            <a:r>
              <a:rPr/>
              <a:t>[Speaker Notes]</a:t>
            </a:r>
            <a:endParaRPr/>
          </a:p>
          <a:p>
            <a:pPr/>
            <a:r>
              <a:rPr/>
              <a:t>产品明细占位表：保留 8 月版 12 只产品与合计数据，亏损项标红。最新净值待用户提供后替换。</a:t>
            </a:r>
            <a:endParaRPr/>
          </a:p>
          <a:p>
            <a:pPr/>
            <a:endParaRPr/>
          </a:p>
          <a:p>
            <a:pPr/>
            <a:r>
              <a:rPr/>
              <a:t>[Sources]</a:t>
            </a:r>
            <a:endParaRPr/>
          </a:p>
          <a:p>
            <a:pPr/>
            <a:r>
              <a:rPr/>
              <a:t>沿用《近期宏观及资产配置 20260821》第 13 页。</a:t>
            </a:r>
            <a:endParaRPr/>
          </a:p>
        </p:txBody>
      </p:sp>
      <p:sp>
        <p:nvSpPr>
          <p:cNvPr id="56" name="Slide Number Placeholder 3"/>
          <p:cNvSpPr>
            <a:spLocks noGrp="1"/>
          </p:cNvSpPr>
          <p:nvPr>
            <p:ph type="sldNum" sz="quarter" idx="5"/>
          </p:nvPr>
        </p:nvSpPr>
        <p:spPr/>
        <p:txBody>
          <a:bodyPr/>
          <a:p>
            <a:pPr/>
            <a:endParaRPr/>
          </a:p>
        </p:txBody>
      </p:sp>
    </p:spTree>
  </p:cSld>
  <p:clrMapOvr>
    <a:masterClrMapping/>
  </p:clrMapOvr>
</p:notes>
</file>

<file path=ppt/notesSlides/notesSlide15.xml><?xml version="1.0" encoding="utf-8"?>
<p:notes xmlns:p="http://schemas.openxmlformats.org/presentationml/2006/main" xmlns:a="http://schemas.openxmlformats.org/drawingml/2006/main">
  <p:cSld>
    <p:spTree>
      <p:nvGrpSpPr>
        <p:cNvPr id="57" name=""/>
        <p:cNvGrpSpPr/>
        <p:nvPr/>
      </p:nvGrpSpPr>
      <p:grpSpPr>
        <a:xfrm>
          <a:off x="0" y="0"/>
          <a:ext cx="0" cy="0"/>
          <a:chOff x="0" y="0"/>
          <a:chExt cx="0" cy="0"/>
        </a:xfrm>
      </p:grpSpPr>
      <p:sp>
        <p:nvSpPr>
          <p:cNvPr id="58" name="Slide Image Placeholder 1"/>
          <p:cNvSpPr>
            <a:spLocks noGrp="1"/>
          </p:cNvSpPr>
          <p:nvPr>
            <p:ph type="sldImg" idx="2"/>
          </p:nvPr>
        </p:nvSpPr>
        <p:spPr/>
        <p:txBody>
          <a:bodyPr/>
          <a:p>
            <a:pPr/>
            <a:endParaRPr/>
          </a:p>
        </p:txBody>
      </p:sp>
      <p:sp>
        <p:nvSpPr>
          <p:cNvPr id="59" name="Notes Placeholder 2"/>
          <p:cNvSpPr>
            <a:spLocks noGrp="1"/>
          </p:cNvSpPr>
          <p:nvPr>
            <p:ph type="body" sz="quarter" idx="3"/>
          </p:nvPr>
        </p:nvSpPr>
        <p:spPr/>
        <p:txBody>
          <a:bodyPr/>
          <a:lstStyle/>
          <a:p>
            <a:pPr/>
            <a:r>
              <a:rPr/>
              <a:t>[Speaker Notes]</a:t>
            </a:r>
            <a:endParaRPr/>
          </a:p>
          <a:p>
            <a:pPr/>
            <a:r>
              <a:rPr/>
              <a:t>产品明细占位表：保留 8 月版 12 只产品与合计数据，亏损项标红。最新净值待用户提供后替换。</a:t>
            </a:r>
            <a:endParaRPr/>
          </a:p>
          <a:p>
            <a:pPr/>
            <a:endParaRPr/>
          </a:p>
          <a:p>
            <a:pPr/>
            <a:r>
              <a:rPr/>
              <a:t>[Sources]</a:t>
            </a:r>
            <a:endParaRPr/>
          </a:p>
          <a:p>
            <a:pPr/>
            <a:r>
              <a:rPr/>
              <a:t>沿用《近期宏观及资产配置 20260821》第 13 页。</a:t>
            </a:r>
            <a:endParaRPr/>
          </a:p>
        </p:txBody>
      </p:sp>
      <p:sp>
        <p:nvSpPr>
          <p:cNvPr id="60" name="Slide Number Placeholder 3"/>
          <p:cNvSpPr>
            <a:spLocks noGrp="1"/>
          </p:cNvSpPr>
          <p:nvPr>
            <p:ph type="sldNum" sz="quarter" idx="5"/>
          </p:nvPr>
        </p:nvSpPr>
        <p:spPr/>
        <p:txBody>
          <a:bodyPr/>
          <a:p>
            <a:pPr/>
            <a:endParaRPr/>
          </a:p>
        </p:txBody>
      </p:sp>
    </p:spTree>
  </p:cSld>
  <p:clrMapOvr>
    <a:masterClrMapping/>
  </p:clrMapOvr>
</p:notes>
</file>

<file path=ppt/notesSlides/notesSlide16.xml><?xml version="1.0" encoding="utf-8"?>
<p:notes xmlns:p="http://schemas.openxmlformats.org/presentationml/2006/main" xmlns:a="http://schemas.openxmlformats.org/drawingml/2006/main">
  <p:cSld>
    <p:spTree>
      <p:nvGrpSpPr>
        <p:cNvPr id="61" name=""/>
        <p:cNvGrpSpPr/>
        <p:nvPr/>
      </p:nvGrpSpPr>
      <p:grpSpPr>
        <a:xfrm>
          <a:off x="0" y="0"/>
          <a:ext cx="0" cy="0"/>
          <a:chOff x="0" y="0"/>
          <a:chExt cx="0" cy="0"/>
        </a:xfrm>
      </p:grpSpPr>
      <p:sp>
        <p:nvSpPr>
          <p:cNvPr id="62" name="Slide Image Placeholder 1"/>
          <p:cNvSpPr>
            <a:spLocks noGrp="1"/>
          </p:cNvSpPr>
          <p:nvPr>
            <p:ph type="sldImg" idx="2"/>
          </p:nvPr>
        </p:nvSpPr>
        <p:spPr/>
        <p:txBody>
          <a:bodyPr/>
          <a:p>
            <a:pPr/>
            <a:endParaRPr/>
          </a:p>
        </p:txBody>
      </p:sp>
      <p:sp>
        <p:nvSpPr>
          <p:cNvPr id="63" name="Notes Placeholder 2"/>
          <p:cNvSpPr>
            <a:spLocks noGrp="1"/>
          </p:cNvSpPr>
          <p:nvPr>
            <p:ph type="body" sz="quarter" idx="3"/>
          </p:nvPr>
        </p:nvSpPr>
        <p:spPr/>
        <p:txBody>
          <a:bodyPr/>
          <a:lstStyle/>
          <a:p>
            <a:pPr/>
            <a:r>
              <a:rPr/>
              <a:t>[Speaker Notes]</a:t>
            </a:r>
            <a:endParaRPr/>
          </a:p>
          <a:p>
            <a:pPr/>
            <a:r>
              <a:rPr/>
              <a:t>未来展望与调仓计划：9 月核心变量为 9/11 美国 CPI、9/16 美联储议息、中东局势。调仓方向偏防御——固收压舱、CTA 适度增配、权益结构切换、黄金保留底仓。</a:t>
            </a:r>
            <a:endParaRPr/>
          </a:p>
          <a:p>
            <a:pPr/>
            <a:endParaRPr/>
          </a:p>
          <a:p>
            <a:pPr/>
            <a:r>
              <a:rPr/>
              <a:t>[Sources]</a:t>
            </a:r>
            <a:endParaRPr/>
          </a:p>
          <a:p>
            <a:pPr/>
            <a:r>
              <a:rPr/>
              <a:t>CME FedWatch；财联社；路透。</a:t>
            </a:r>
            <a:endParaRPr/>
          </a:p>
        </p:txBody>
      </p:sp>
      <p:sp>
        <p:nvSpPr>
          <p:cNvPr id="64" name="Slide Number Placeholder 3"/>
          <p:cNvSpPr>
            <a:spLocks noGrp="1"/>
          </p:cNvSpPr>
          <p:nvPr>
            <p:ph type="sldNum" sz="quarter" idx="5"/>
          </p:nvPr>
        </p:nvSpPr>
        <p:spPr/>
        <p:txBody>
          <a:bodyPr/>
          <a:p>
            <a:pPr/>
            <a:endParaRPr/>
          </a:p>
        </p:txBody>
      </p:sp>
    </p:spTree>
  </p:cSld>
  <p:clrMapOvr>
    <a:masterClrMapping/>
  </p:clrMapOvr>
</p:notes>
</file>

<file path=ppt/notesSlides/notesSlide17.xml><?xml version="1.0" encoding="utf-8"?>
<p:notes xmlns:p="http://schemas.openxmlformats.org/presentationml/2006/main" xmlns:a="http://schemas.openxmlformats.org/drawingml/2006/main">
  <p:cSld>
    <p:spTree>
      <p:nvGrpSpPr>
        <p:cNvPr id="65" name=""/>
        <p:cNvGrpSpPr/>
        <p:nvPr/>
      </p:nvGrpSpPr>
      <p:grpSpPr>
        <a:xfrm>
          <a:off x="0" y="0"/>
          <a:ext cx="0" cy="0"/>
          <a:chOff x="0" y="0"/>
          <a:chExt cx="0" cy="0"/>
        </a:xfrm>
      </p:grpSpPr>
      <p:sp>
        <p:nvSpPr>
          <p:cNvPr id="66" name="文本占位符 21"/>
          <p:cNvSpPr/>
          <p:nvPr>
            <p:ph type="body"/>
          </p:nvPr>
        </p:nvSpPr>
        <p:spPr>
          <a:xfrm>
            <a:off x="0" y="0"/>
            <a:ext cx="177800" cy="444500"/>
          </a:xfrm>
        </p:spPr>
        <p:txBody>
          <a:bodyPr/>
          <a:p>
            <a:pPr/>
            <a:r>
              <a:rPr lang="en-US"/>
              <a:t>[Speaker Notes] 2027配置计划：给客户两种方案——方案一 90%固收+10%弹性（稳健型，回撤&lt;1%）；方案二 80%固收+20%弹性（均衡型，回撤≤1.5%）。收益为参考测算。[Sources] 基于固收约4%、弹性策略约8%~15%的假设测算，待产品实际数据校准。</a:t>
            </a:r>
            <a:endParaRPr lang="en-US"/>
          </a:p>
        </p:txBody>
      </p:sp>
    </p:spTree>
  </p:cSld>
  <p:clrMapOvr>
    <a:masterClrMapping/>
  </p:clrMapOvr>
</p:notes>
</file>

<file path=ppt/notesSlides/notesSlide18.xml><?xml version="1.0" encoding="utf-8"?>
<p:notes xmlns:p="http://schemas.openxmlformats.org/presentationml/2006/main" xmlns:a="http://schemas.openxmlformats.org/drawingml/2006/main">
  <p:cSld>
    <p:spTree>
      <p:nvGrpSpPr>
        <p:cNvPr id="67" name=""/>
        <p:cNvGrpSpPr/>
        <p:nvPr/>
      </p:nvGrpSpPr>
      <p:grpSpPr>
        <a:xfrm>
          <a:off x="0" y="0"/>
          <a:ext cx="0" cy="0"/>
          <a:chOff x="0" y="0"/>
          <a:chExt cx="0" cy="0"/>
        </a:xfrm>
      </p:grpSpPr>
      <p:sp>
        <p:nvSpPr>
          <p:cNvPr id="68" name="文本占位符 23"/>
          <p:cNvSpPr/>
          <p:nvPr>
            <p:ph type="body"/>
          </p:nvPr>
        </p:nvSpPr>
        <p:spPr>
          <a:xfrm>
            <a:off x="0" y="0"/>
            <a:ext cx="177800" cy="444500"/>
          </a:xfrm>
        </p:spPr>
        <p:txBody>
          <a:bodyPr/>
          <a:p>
            <a:pPr/>
            <a:r>
              <a:rPr lang="en-US"/>
              <a:t>[Speaker Notes] 弹性策略详解：套利类8大分类（商品/股指/期权/ETF/债券/可转债/跨境外汇/统计套利）+期货策略4维度（逻辑/周期/标的/形式）。[Sources] 策略分类体系，内部尽调框架。</a:t>
            </a:r>
            <a:endParaRPr lang="en-US"/>
          </a:p>
        </p:txBody>
      </p:sp>
    </p:spTree>
  </p:cSld>
  <p:clrMapOvr>
    <a:masterClrMapping/>
  </p:clrMapOvr>
</p:notes>
</file>

<file path=ppt/notesSlides/notesSlide19.xml><?xml version="1.0" encoding="utf-8"?>
<p:notes xmlns:p="http://schemas.openxmlformats.org/presentationml/2006/main" xmlns:a="http://schemas.openxmlformats.org/drawingml/2006/main">
  <p:cSld>
    <p:spTree>
      <p:nvGrpSpPr>
        <p:cNvPr id="69" name=""/>
        <p:cNvGrpSpPr/>
        <p:nvPr/>
      </p:nvGrpSpPr>
      <p:grpSpPr>
        <a:xfrm>
          <a:off x="0" y="0"/>
          <a:ext cx="0" cy="0"/>
          <a:chOff x="0" y="0"/>
          <a:chExt cx="0" cy="0"/>
        </a:xfrm>
      </p:grpSpPr>
      <p:sp>
        <p:nvSpPr>
          <p:cNvPr id="70" name="Slide Image Placeholder 1"/>
          <p:cNvSpPr>
            <a:spLocks noGrp="1"/>
          </p:cNvSpPr>
          <p:nvPr>
            <p:ph type="sldImg" idx="2"/>
          </p:nvPr>
        </p:nvSpPr>
        <p:spPr/>
        <p:txBody>
          <a:bodyPr/>
          <a:p>
            <a:pPr/>
            <a:endParaRPr/>
          </a:p>
        </p:txBody>
      </p:sp>
      <p:sp>
        <p:nvSpPr>
          <p:cNvPr id="71" name="Notes Placeholder 2"/>
          <p:cNvSpPr>
            <a:spLocks noGrp="1"/>
          </p:cNvSpPr>
          <p:nvPr>
            <p:ph type="body" sz="quarter" idx="3"/>
          </p:nvPr>
        </p:nvSpPr>
        <p:spPr/>
        <p:txBody>
          <a:bodyPr/>
          <a:lstStyle/>
          <a:p>
            <a:pPr/>
            <a:r>
              <a:rPr/>
              <a:t>[Speaker Notes]</a:t>
            </a:r>
            <a:endParaRPr/>
          </a:p>
          <a:p>
            <a:pPr/>
            <a:r>
              <a:rPr/>
              <a:t>回撤控制机制页：约束先行、低相关配置、固收压舱、动态再平衡、风控监测五要点。</a:t>
            </a:r>
            <a:endParaRPr/>
          </a:p>
          <a:p>
            <a:pPr/>
            <a:endParaRPr/>
          </a:p>
          <a:p>
            <a:pPr/>
            <a:r>
              <a:rPr/>
              <a:t>[Sources]</a:t>
            </a:r>
            <a:endParaRPr/>
          </a:p>
          <a:p>
            <a:pPr/>
            <a:r>
              <a:rPr/>
              <a:t>内部风控框架。</a:t>
            </a:r>
            <a:endParaRPr/>
          </a:p>
        </p:txBody>
      </p:sp>
      <p:sp>
        <p:nvSpPr>
          <p:cNvPr id="72" name="Slide Number Placeholder 3"/>
          <p:cNvSpPr>
            <a:spLocks noGrp="1"/>
          </p:cNvSpPr>
          <p:nvPr>
            <p:ph type="sldNum" sz="quarter" idx="5"/>
          </p:nvPr>
        </p:nvSpPr>
        <p:spPr/>
        <p:txBody>
          <a:bodyPr/>
          <a:p>
            <a:pPr/>
            <a:endParaRPr/>
          </a:p>
        </p:txBody>
      </p:sp>
    </p:spTree>
  </p:cSld>
  <p:clrMapOvr>
    <a:masterClrMapping/>
  </p:clrMapOvr>
</p:notes>
</file>

<file path=ppt/notesSlides/notesSlide20.xml><?xml version="1.0" encoding="utf-8"?>
<p:notes xmlns:p="http://schemas.openxmlformats.org/presentationml/2006/main" xmlns:a="http://schemas.openxmlformats.org/drawingml/2006/main">
  <p:cSld>
    <p:spTree>
      <p:nvGrpSpPr>
        <p:cNvPr id="73" name=""/>
        <p:cNvGrpSpPr/>
        <p:nvPr/>
      </p:nvGrpSpPr>
      <p:grpSpPr>
        <a:xfrm>
          <a:off x="0" y="0"/>
          <a:ext cx="0" cy="0"/>
          <a:chOff x="0" y="0"/>
          <a:chExt cx="0" cy="0"/>
        </a:xfrm>
      </p:grpSpPr>
      <p:sp>
        <p:nvSpPr>
          <p:cNvPr id="74" name="Slide Image Placeholder 1"/>
          <p:cNvSpPr>
            <a:spLocks noGrp="1"/>
          </p:cNvSpPr>
          <p:nvPr>
            <p:ph type="sldImg" idx="2"/>
          </p:nvPr>
        </p:nvSpPr>
        <p:spPr/>
        <p:txBody>
          <a:bodyPr/>
          <a:p>
            <a:pPr/>
            <a:endParaRPr/>
          </a:p>
        </p:txBody>
      </p:sp>
      <p:sp>
        <p:nvSpPr>
          <p:cNvPr id="75" name="Notes Placeholder 2"/>
          <p:cNvSpPr>
            <a:spLocks noGrp="1"/>
          </p:cNvSpPr>
          <p:nvPr>
            <p:ph type="body" sz="quarter" idx="3"/>
          </p:nvPr>
        </p:nvSpPr>
        <p:spPr/>
        <p:txBody>
          <a:bodyPr/>
          <a:lstStyle/>
          <a:p>
            <a:pPr/>
            <a:r>
              <a:rPr/>
              <a:t>[Speaker Notes]</a:t>
            </a:r>
            <a:endParaRPr/>
          </a:p>
          <a:p>
            <a:pPr/>
            <a:r>
              <a:rPr/>
              <a:t>本页是 9 月版相对 8 月版最大的叙事反转：8 月版写‘加息预期回落’，本版改写‘加息预期升温’。核心链条：杰克逊霍尔沃什鹰派定调 → 巴尔/沃勒分歧 → 8 月非农 16.2 万远超预期 → 9 月加息概率升至约 60%。落点强调中国政策与资产相对独立。</a:t>
            </a:r>
            <a:endParaRPr/>
          </a:p>
          <a:p>
            <a:pPr/>
            <a:endParaRPr/>
          </a:p>
          <a:p>
            <a:pPr/>
            <a:r>
              <a:rPr/>
              <a:t>[Sources]</a:t>
            </a:r>
            <a:endParaRPr/>
          </a:p>
          <a:p>
            <a:pPr/>
            <a:r>
              <a:rPr/>
              <a:t>CME FedWatch（9/8）；汇通网《杰克逊霍尔定调》（9/1）；财联社《国际大行集体押注美联储9月加息》（9/8）；Regards of Wall Street（9 月 FOMC 专题）；美国 BLS 8 月非农。</a:t>
            </a:r>
            <a:endParaRPr/>
          </a:p>
        </p:txBody>
      </p:sp>
      <p:sp>
        <p:nvSpPr>
          <p:cNvPr id="76" name="Slide Number Placeholder 3"/>
          <p:cNvSpPr>
            <a:spLocks noGrp="1"/>
          </p:cNvSpPr>
          <p:nvPr>
            <p:ph type="sldNum" sz="quarter" idx="5"/>
          </p:nvPr>
        </p:nvSpPr>
        <p:spPr/>
        <p:txBody>
          <a:bodyPr/>
          <a:p>
            <a:pPr/>
            <a:endParaRPr/>
          </a:p>
        </p:txBody>
      </p:sp>
    </p:spTree>
  </p:cSld>
  <p:clrMapOvr>
    <a:masterClrMapping/>
  </p:clrMapOvr>
</p:notes>
</file>

<file path=ppt/notesSlides/notesSlide21.xml><?xml version="1.0" encoding="utf-8"?>
<p:notes xmlns:p="http://schemas.openxmlformats.org/presentationml/2006/main" xmlns:a="http://schemas.openxmlformats.org/drawingml/2006/main">
  <p:cSld>
    <p:spTree>
      <p:nvGrpSpPr>
        <p:cNvPr id="77" name=""/>
        <p:cNvGrpSpPr/>
        <p:nvPr/>
      </p:nvGrpSpPr>
      <p:grpSpPr>
        <a:xfrm>
          <a:off x="0" y="0"/>
          <a:ext cx="0" cy="0"/>
          <a:chOff x="0" y="0"/>
          <a:chExt cx="0" cy="0"/>
        </a:xfrm>
      </p:grpSpPr>
      <p:sp>
        <p:nvSpPr>
          <p:cNvPr id="78" name="Slide Image Placeholder 1"/>
          <p:cNvSpPr>
            <a:spLocks noGrp="1"/>
          </p:cNvSpPr>
          <p:nvPr>
            <p:ph type="sldImg" idx="2"/>
          </p:nvPr>
        </p:nvSpPr>
        <p:spPr/>
        <p:txBody>
          <a:bodyPr/>
          <a:p>
            <a:pPr/>
            <a:endParaRPr/>
          </a:p>
        </p:txBody>
      </p:sp>
      <p:sp>
        <p:nvSpPr>
          <p:cNvPr id="79" name="Notes Placeholder 2"/>
          <p:cNvSpPr>
            <a:spLocks noGrp="1"/>
          </p:cNvSpPr>
          <p:nvPr>
            <p:ph type="body" sz="quarter" idx="3"/>
          </p:nvPr>
        </p:nvSpPr>
        <p:spPr/>
        <p:txBody>
          <a:bodyPr/>
          <a:lstStyle/>
          <a:p>
            <a:pPr/>
            <a:r>
              <a:rPr/>
              <a:t>[Speaker Notes]</a:t>
            </a:r>
            <a:endParaRPr/>
          </a:p>
          <a:p>
            <a:pPr/>
            <a:r>
              <a:rPr/>
              <a:t>延续 8 月版‘美伊局势’页，更新为 9 月最新冲突进展与油价。强调滞胀风险，以及其对国内 PPI、商品/CTA 策略的正向传导。</a:t>
            </a:r>
            <a:endParaRPr/>
          </a:p>
          <a:p>
            <a:pPr/>
            <a:endParaRPr/>
          </a:p>
          <a:p>
            <a:pPr/>
            <a:r>
              <a:rPr/>
              <a:t>[Sources]</a:t>
            </a:r>
            <a:endParaRPr/>
          </a:p>
          <a:p>
            <a:pPr/>
            <a:r>
              <a:rPr/>
              <a:t>华尔街见闻 9/9 早餐；国际金融报 9/3 要情；陆家嘴财经早餐 9/5；LME/WTI 收盘数据。</a:t>
            </a:r>
            <a:endParaRPr/>
          </a:p>
        </p:txBody>
      </p:sp>
      <p:sp>
        <p:nvSpPr>
          <p:cNvPr id="80" name="Slide Number Placeholder 3"/>
          <p:cNvSpPr>
            <a:spLocks noGrp="1"/>
          </p:cNvSpPr>
          <p:nvPr>
            <p:ph type="sldNum" sz="quarter" idx="5"/>
          </p:nvPr>
        </p:nvSpPr>
        <p:spPr/>
        <p:txBody>
          <a:bodyPr/>
          <a:p>
            <a:pPr/>
            <a:endParaRPr/>
          </a:p>
        </p:txBody>
      </p:sp>
    </p:spTree>
  </p:cSld>
  <p:clrMapOvr>
    <a:masterClrMapping/>
  </p:clrMapOvr>
</p:notes>
</file>

<file path=ppt/notesSlides/notesSlide22.xml><?xml version="1.0" encoding="utf-8"?>
<p:notes xmlns:p="http://schemas.openxmlformats.org/presentationml/2006/main" xmlns:a="http://schemas.openxmlformats.org/drawingml/2006/main">
  <p:cSld>
    <p:spTree>
      <p:nvGrpSpPr>
        <p:cNvPr id="81" name=""/>
        <p:cNvGrpSpPr/>
        <p:nvPr/>
      </p:nvGrpSpPr>
      <p:grpSpPr>
        <a:xfrm>
          <a:off x="0" y="0"/>
          <a:ext cx="0" cy="0"/>
          <a:chOff x="0" y="0"/>
          <a:chExt cx="0" cy="0"/>
        </a:xfrm>
      </p:grpSpPr>
      <p:sp>
        <p:nvSpPr>
          <p:cNvPr id="82" name="Slide Image Placeholder 1"/>
          <p:cNvSpPr>
            <a:spLocks noGrp="1"/>
          </p:cNvSpPr>
          <p:nvPr>
            <p:ph type="sldImg" idx="2"/>
          </p:nvPr>
        </p:nvSpPr>
        <p:spPr/>
        <p:txBody>
          <a:bodyPr/>
          <a:p>
            <a:pPr/>
            <a:endParaRPr/>
          </a:p>
        </p:txBody>
      </p:sp>
      <p:sp>
        <p:nvSpPr>
          <p:cNvPr id="83" name="Notes Placeholder 2"/>
          <p:cNvSpPr>
            <a:spLocks noGrp="1"/>
          </p:cNvSpPr>
          <p:nvPr>
            <p:ph type="body" sz="quarter" idx="3"/>
          </p:nvPr>
        </p:nvSpPr>
        <p:spPr/>
        <p:txBody>
          <a:bodyPr/>
          <a:lstStyle/>
          <a:p>
            <a:pPr/>
            <a:r>
              <a:rPr/>
              <a:t>[Speaker Notes]</a:t>
            </a:r>
            <a:endParaRPr/>
          </a:p>
          <a:p>
            <a:pPr/>
            <a:r>
              <a:rPr/>
              <a:t>延续 8 月版‘政治局会议’页，但结论方向调整：8 月版写‘降准降息预期升温’，本版据最新信息改为‘相机抉择、宽松延后’。LPR 连续 15 个月不动是硬数据。</a:t>
            </a:r>
            <a:endParaRPr/>
          </a:p>
          <a:p>
            <a:pPr/>
            <a:endParaRPr/>
          </a:p>
          <a:p>
            <a:pPr/>
            <a:r>
              <a:rPr/>
              <a:t>[Sources]</a:t>
            </a:r>
            <a:endParaRPr/>
          </a:p>
          <a:p>
            <a:pPr/>
            <a:r>
              <a:rPr/>
              <a:t>央行 8/1 下半年工作会议；7/30 政治局会议；1 年期 LPR 报价（8/20）；华创证券张瑜团队。</a:t>
            </a:r>
            <a:endParaRPr/>
          </a:p>
        </p:txBody>
      </p:sp>
      <p:sp>
        <p:nvSpPr>
          <p:cNvPr id="84" name="Slide Number Placeholder 3"/>
          <p:cNvSpPr>
            <a:spLocks noGrp="1"/>
          </p:cNvSpPr>
          <p:nvPr>
            <p:ph type="sldNum" sz="quarter" idx="5"/>
          </p:nvPr>
        </p:nvSpPr>
        <p:spPr/>
        <p:txBody>
          <a:bodyPr/>
          <a:p>
            <a:pPr/>
            <a:endParaRPr/>
          </a:p>
        </p:txBody>
      </p:sp>
    </p:spTree>
  </p:cSld>
  <p:clrMapOvr>
    <a:masterClrMapping/>
  </p:clrMapOvr>
</p:notes>
</file>

<file path=ppt/notesSlides/notesSlide23.xml><?xml version="1.0" encoding="utf-8"?>
<p:notes xmlns:p="http://schemas.openxmlformats.org/presentationml/2006/main" xmlns:a="http://schemas.openxmlformats.org/drawingml/2006/main">
  <p:cSld>
    <p:spTree>
      <p:nvGrpSpPr>
        <p:cNvPr id="85" name=""/>
        <p:cNvGrpSpPr/>
        <p:nvPr/>
      </p:nvGrpSpPr>
      <p:grpSpPr>
        <a:xfrm>
          <a:off x="0" y="0"/>
          <a:ext cx="0" cy="0"/>
          <a:chOff x="0" y="0"/>
          <a:chExt cx="0" cy="0"/>
        </a:xfrm>
      </p:grpSpPr>
      <p:sp>
        <p:nvSpPr>
          <p:cNvPr id="86" name="Slide Image Placeholder 1"/>
          <p:cNvSpPr>
            <a:spLocks noGrp="1"/>
          </p:cNvSpPr>
          <p:nvPr>
            <p:ph type="sldImg" idx="2"/>
          </p:nvPr>
        </p:nvSpPr>
        <p:spPr/>
        <p:txBody>
          <a:bodyPr/>
          <a:p>
            <a:pPr/>
            <a:endParaRPr/>
          </a:p>
        </p:txBody>
      </p:sp>
      <p:sp>
        <p:nvSpPr>
          <p:cNvPr id="87" name="Notes Placeholder 2"/>
          <p:cNvSpPr>
            <a:spLocks noGrp="1"/>
          </p:cNvSpPr>
          <p:nvPr>
            <p:ph type="body" sz="quarter" idx="3"/>
          </p:nvPr>
        </p:nvSpPr>
        <p:spPr/>
        <p:txBody>
          <a:bodyPr/>
          <a:lstStyle/>
          <a:p>
            <a:pPr/>
            <a:r>
              <a:rPr/>
              <a:t>[Speaker Notes]</a:t>
            </a:r>
            <a:endParaRPr/>
          </a:p>
          <a:p>
            <a:pPr/>
            <a:r>
              <a:rPr/>
              <a:t>8 月经济数据页：CPI 0.8%、PPI 3.8%、PMI 49.8%、出口 +25%。突出‘外需强内需弱、价格回升’的结构特征，为商品/上游资产提供支撑。</a:t>
            </a:r>
            <a:endParaRPr/>
          </a:p>
          <a:p>
            <a:pPr/>
            <a:endParaRPr/>
          </a:p>
          <a:p>
            <a:pPr/>
            <a:r>
              <a:rPr/>
              <a:t>[Sources]</a:t>
            </a:r>
            <a:endParaRPr/>
          </a:p>
          <a:p>
            <a:pPr/>
            <a:r>
              <a:rPr/>
              <a:t>国家统计局 8 月 CPI/PPI（9/9）；8 月 PMI（9/1）；海关总署 8 月进出口（9/8）；广发宏观高频数据。</a:t>
            </a:r>
            <a:endParaRPr/>
          </a:p>
        </p:txBody>
      </p:sp>
      <p:sp>
        <p:nvSpPr>
          <p:cNvPr id="88" name="Slide Number Placeholder 3"/>
          <p:cNvSpPr>
            <a:spLocks noGrp="1"/>
          </p:cNvSpPr>
          <p:nvPr>
            <p:ph type="sldNum" sz="quarter" idx="5"/>
          </p:nvPr>
        </p:nvSpPr>
        <p:spPr/>
        <p:txBody>
          <a:bodyPr/>
          <a:p>
            <a:pPr/>
            <a:endParaRPr/>
          </a:p>
        </p:txBody>
      </p:sp>
    </p:spTree>
  </p:cSld>
  <p:clrMapOvr>
    <a:masterClrMapping/>
  </p:clrMapOvr>
</p:notes>
</file>

<file path=ppt/notesSlides/notesSlide24.xml><?xml version="1.0" encoding="utf-8"?>
<p:notes xmlns:p="http://schemas.openxmlformats.org/presentationml/2006/main" xmlns:a="http://schemas.openxmlformats.org/drawingml/2006/main">
  <p:cSld>
    <p:spTree>
      <p:nvGrpSpPr>
        <p:cNvPr id="89" name=""/>
        <p:cNvGrpSpPr/>
        <p:nvPr/>
      </p:nvGrpSpPr>
      <p:grpSpPr>
        <a:xfrm>
          <a:off x="0" y="0"/>
          <a:ext cx="0" cy="0"/>
          <a:chOff x="0" y="0"/>
          <a:chExt cx="0" cy="0"/>
        </a:xfrm>
      </p:grpSpPr>
      <p:sp>
        <p:nvSpPr>
          <p:cNvPr id="90" name="Slide Image Placeholder 1"/>
          <p:cNvSpPr>
            <a:spLocks noGrp="1"/>
          </p:cNvSpPr>
          <p:nvPr>
            <p:ph type="sldImg" idx="2"/>
          </p:nvPr>
        </p:nvSpPr>
        <p:spPr/>
        <p:txBody>
          <a:bodyPr/>
          <a:p>
            <a:pPr/>
            <a:endParaRPr/>
          </a:p>
        </p:txBody>
      </p:sp>
      <p:sp>
        <p:nvSpPr>
          <p:cNvPr id="91" name="Notes Placeholder 2"/>
          <p:cNvSpPr>
            <a:spLocks noGrp="1"/>
          </p:cNvSpPr>
          <p:nvPr>
            <p:ph type="body" sz="quarter" idx="3"/>
          </p:nvPr>
        </p:nvSpPr>
        <p:spPr/>
        <p:txBody>
          <a:bodyPr/>
          <a:lstStyle/>
          <a:p>
            <a:pPr/>
            <a:r>
              <a:rPr/>
              <a:t>[Speaker Notes]</a:t>
            </a:r>
            <a:endParaRPr/>
          </a:p>
          <a:p>
            <a:pPr/>
            <a:r>
              <a:rPr/>
              <a:t>宏观小结页：海外/国内/对资产启示三栏。核心判断——海外紧缩+地缘扰动压制风险偏好，但中国资产相对独立；国内稳增长有后手。</a:t>
            </a:r>
            <a:endParaRPr/>
          </a:p>
          <a:p>
            <a:pPr/>
            <a:endParaRPr/>
          </a:p>
          <a:p>
            <a:pPr/>
            <a:r>
              <a:rPr/>
              <a:t>[Sources]</a:t>
            </a:r>
            <a:endParaRPr/>
          </a:p>
          <a:p>
            <a:pPr/>
            <a:r>
              <a:rPr/>
              <a:t>综合前述数据源。</a:t>
            </a:r>
            <a:endParaRPr/>
          </a:p>
        </p:txBody>
      </p:sp>
      <p:sp>
        <p:nvSpPr>
          <p:cNvPr id="92" name="Slide Number Placeholder 3"/>
          <p:cNvSpPr>
            <a:spLocks noGrp="1"/>
          </p:cNvSpPr>
          <p:nvPr>
            <p:ph type="sldNum" sz="quarter" idx="5"/>
          </p:nvPr>
        </p:nvSpPr>
        <p:spPr/>
        <p:txBody>
          <a:bodyPr/>
          <a:p>
            <a:pPr/>
            <a:endParaRPr/>
          </a:p>
        </p:txBody>
      </p:sp>
    </p:spTree>
  </p:cSld>
  <p:clrMapOvr>
    <a:masterClrMapping/>
  </p:clrMapOvr>
</p:notes>
</file>

<file path=ppt/slideLayouts/_rels/slideLayout1.xml.rels><?xml version="1.0" encoding="UTF-8" standalone="yes"?><Relationships xmlns="http://schemas.openxmlformats.org/package/2006/relationships"><Relationship Id="rId0" Type="http://schemas.openxmlformats.org/officeDocument/2006/relationships/slideMaster" Target="../slideMasters/slideMaster1.xml" /></Relationships>
</file>

<file path=ppt/slideLayouts/_rels/slideLayout2.xml.rels><?xml version="1.0" encoding="UTF-8" standalone="yes"?><Relationships xmlns="http://schemas.openxmlformats.org/package/2006/relationships"><Relationship Id="rId0" Type="http://schemas.openxmlformats.org/officeDocument/2006/relationships/slideMaster" Target="../slideMasters/slideMaster1.xml" /></Relationships>
</file>

<file path=ppt/slideLayouts/_rels/slideLayout3.xml.rels><?xml version="1.0" encoding="UTF-8" standalone="yes"?><Relationships xmlns="http://schemas.openxmlformats.org/package/2006/relationships"><Relationship Id="rId0" Type="http://schemas.openxmlformats.org/officeDocument/2006/relationships/slideMaster" Target="../slideMasters/slideMaster1.xml" /></Relationships>
</file>

<file path=ppt/slideLayouts/_rels/slideLayout4.xml.rels><?xml version="1.0" encoding="UTF-8" standalone="yes"?><Relationships xmlns="http://schemas.openxmlformats.org/package/2006/relationships"><Relationship Id="rId0" Type="http://schemas.openxmlformats.org/officeDocument/2006/relationships/slideMaster" Target="../slideMasters/slideMaster1.xml" /></Relationships>
</file>

<file path=ppt/slideLayouts/_rels/slideLayout5.xml.rels><?xml version="1.0" encoding="UTF-8" standalone="yes"?><Relationships xmlns="http://schemas.openxmlformats.org/package/2006/relationships"><Relationship Id="rId0" Type="http://schemas.openxmlformats.org/officeDocument/2006/relationships/slideMaster" Target="../slideMasters/slideMaster1.xml" /></Relationships>
</file>

<file path=ppt/slideLayouts/_rels/slideLayout6.xml.rels><?xml version="1.0" encoding="UTF-8" standalone="yes"?><Relationships xmlns="http://schemas.openxmlformats.org/package/2006/relationships"><Relationship Id="rId0" Type="http://schemas.openxmlformats.org/officeDocument/2006/relationships/slideMaster" Target="../slideMasters/slideMaster1.xml" /></Relationships>
</file>

<file path=ppt/slideLayouts/_rels/slideLayout7.xml.rels><?xml version="1.0" encoding="UTF-8" standalone="yes"?><Relationships xmlns="http://schemas.openxmlformats.org/package/2006/relationships"><Relationship Id="rId0" Type="http://schemas.openxmlformats.org/officeDocument/2006/relationships/slideMaster" Target="../slideMasters/slideMaster1.xml" /></Relationships>
</file>

<file path=ppt/slideLayouts/_rels/slideLayout8.xml.rels><?xml version="1.0" encoding="UTF-8" standalone="yes"?><Relationships xmlns="http://schemas.openxmlformats.org/package/2006/relationships"><Relationship Id="rId0" Type="http://schemas.openxmlformats.org/officeDocument/2006/relationships/slideMaster" Target="../slideMasters/slideMaster1.xml" /></Relationships>
</file>

<file path=ppt/slideLayouts/_rels/slideLayout9.xml.rels><?xml version="1.0" encoding="UTF-8" standalone="yes"?><Relationships xmlns="http://schemas.openxmlformats.org/package/2006/relationships"><Relationship Id="rId0" Type="http://schemas.openxmlformats.org/officeDocument/2006/relationships/slideMaster" Target="../slideMasters/slideMaster1.xml" /></Relationships>
</file>

<file path=ppt/slideLayouts/_rels/slideLayout10.xml.rels><?xml version="1.0" encoding="UTF-8" standalone="yes"?><Relationships xmlns="http://schemas.openxmlformats.org/package/2006/relationships"><Relationship Id="rId0" Type="http://schemas.openxmlformats.org/officeDocument/2006/relationships/slideMaster" Target="../slideMasters/slideMaster1.xml" /></Relationships>
</file>

<file path=ppt/slideLayouts/_rels/slideLayout11.xml.rels><?xml version="1.0" encoding="UTF-8" standalone="yes"?><Relationships xmlns="http://schemas.openxmlformats.org/package/2006/relationships"><Relationship Id="rId0" Type="http://schemas.openxmlformats.org/officeDocument/2006/relationships/slideMaster" Target="../slideMasters/slideMaster1.xml" /></Relationships>
</file>

<file path=ppt/slideLayouts/slideLayout1.xml><?xml version="1.0" encoding="utf-8"?>
<p:sldLayout xmlns:p="http://schemas.openxmlformats.org/presentationml/2006/main" xmlns:a="http://schemas.openxmlformats.org/drawing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pPr/>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a:r>
              <a:rPr lang="en-US" smtClean="0"/>
              <a:t>Click to edit Master subtitle style</a:t>
            </a:r>
            <a:endParaRPr lang="en-US"/>
          </a:p>
        </p:txBody>
      </p:sp>
      <p:sp>
        <p:nvSpPr>
          <p:cNvPr id="4" name="Date Placeholder 3"/>
          <p:cNvSpPr>
            <a:spLocks noGrp="1"/>
          </p:cNvSpPr>
          <p:nvPr>
            <p:ph type="dt" sz="half" idx="10"/>
          </p:nvPr>
        </p:nvSpPr>
        <p:spPr/>
        <p:txBody>
          <a:bodyPr/>
          <a:lstStyle/>
          <a:p>
            <a:pPr/>
            <a:fld id="{5BCAD085-E8A6-8845-BD4E-CB4CCA059FC4}" type="datetimeFigureOut">
              <a:rPr lang="en-US" smtClean="0"/>
              <a:t/>
            </a:fld>
            <a:endParaRPr lang="en-US"/>
          </a:p>
        </p:txBody>
      </p:sp>
      <p:sp>
        <p:nvSpPr>
          <p:cNvPr id="5" name="Footer Placeholder 4"/>
          <p:cNvSpPr>
            <a:spLocks noGrp="1"/>
          </p:cNvSpPr>
          <p:nvPr>
            <p:ph type="ftr" sz="quarter" idx="11"/>
          </p:nvPr>
        </p:nvSpPr>
        <p:spPr/>
        <p:txBody>
          <a:bodyPr/>
          <a:lstStyle/>
          <a:p>
            <a:pPr/>
            <a:endParaRPr lang="en-US"/>
          </a:p>
        </p:txBody>
      </p:sp>
      <p:sp>
        <p:nvSpPr>
          <p:cNvPr id="6" name="Slide Number Placeholder 5"/>
          <p:cNvSpPr>
            <a:spLocks noGrp="1"/>
          </p:cNvSpPr>
          <p:nvPr>
            <p:ph type="sldNum" sz="quarter" idx="12"/>
          </p:nvPr>
        </p:nvSpPr>
        <p:spPr/>
        <p:txBody>
          <a:bodyPr/>
          <a:lstStyle/>
          <a:p>
            <a:pPr/>
            <a:fld id="{C1FF6DA9-008F-8B48-92A6-B652298478BF}" type="slidenum">
              <a:rPr lang="en-US" smtClean="0"/>
              <a:t/>
            </a:fld>
            <a:endParaRPr lang="en-US"/>
          </a:p>
        </p:txBody>
      </p:sp>
    </p:spTree>
  </p:cSld>
  <p:clrMapOvr>
    <a:masterClrMapping/>
  </p:clrMapOvr>
</p:sldLayout>
</file>

<file path=ppt/slideLayouts/slideLayout2.xml><?xml version="1.0" encoding="utf-8"?>
<p:sldLayout xmlns:p="http://schemas.openxmlformats.org/presentationml/2006/main" xmlns:a="http://schemas.openxmlformats.org/drawingml/2006/main" type="obj">
  <p:cSld name="Title and Content">
    <p:spTree>
      <p:nvGrpSpPr>
        <p:cNvPr id="7" name=""/>
        <p:cNvGrpSpPr/>
        <p:nvPr/>
      </p:nvGrpSpPr>
      <p:grpSpPr>
        <a:xfrm>
          <a:off x="0" y="0"/>
          <a:ext cx="0" cy="0"/>
          <a:chOff x="0" y="0"/>
          <a:chExt cx="0" cy="0"/>
        </a:xfrm>
      </p:grpSpPr>
      <p:sp>
        <p:nvSpPr>
          <p:cNvPr id="8" name="Title 1"/>
          <p:cNvSpPr>
            <a:spLocks noGrp="1"/>
          </p:cNvSpPr>
          <p:nvPr>
            <p:ph type="title"/>
          </p:nvPr>
        </p:nvSpPr>
        <p:spPr/>
        <p:txBody>
          <a:bodyPr/>
          <a:lstStyle/>
          <a:p>
            <a:pPr/>
            <a:r>
              <a:rPr lang="en-US" smtClean="0"/>
              <a:t>Click to edit Master title style</a:t>
            </a:r>
            <a:endParaRPr lang="en-US"/>
          </a:p>
        </p:txBody>
      </p:sp>
      <p:sp>
        <p:nvSpPr>
          <p:cNvPr id="9"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10" name="Date Placeholder 3"/>
          <p:cNvSpPr>
            <a:spLocks noGrp="1"/>
          </p:cNvSpPr>
          <p:nvPr>
            <p:ph type="dt" sz="half" idx="10"/>
          </p:nvPr>
        </p:nvSpPr>
        <p:spPr/>
        <p:txBody>
          <a:bodyPr/>
          <a:lstStyle/>
          <a:p>
            <a:pPr/>
            <a:fld id="{5BCAD085-E8A6-8845-BD4E-CB4CCA059FC4}" type="datetimeFigureOut">
              <a:rPr lang="en-US" smtClean="0"/>
              <a:t/>
            </a:fld>
            <a:endParaRPr lang="en-US"/>
          </a:p>
        </p:txBody>
      </p:sp>
      <p:sp>
        <p:nvSpPr>
          <p:cNvPr id="11" name="Footer Placeholder 4"/>
          <p:cNvSpPr>
            <a:spLocks noGrp="1"/>
          </p:cNvSpPr>
          <p:nvPr>
            <p:ph type="ftr" sz="quarter" idx="11"/>
          </p:nvPr>
        </p:nvSpPr>
        <p:spPr/>
        <p:txBody>
          <a:bodyPr/>
          <a:lstStyle/>
          <a:p>
            <a:pPr/>
            <a:endParaRPr lang="en-US"/>
          </a:p>
        </p:txBody>
      </p:sp>
      <p:sp>
        <p:nvSpPr>
          <p:cNvPr id="12" name="Slide Number Placeholder 5"/>
          <p:cNvSpPr>
            <a:spLocks noGrp="1"/>
          </p:cNvSpPr>
          <p:nvPr>
            <p:ph type="sldNum" sz="quarter" idx="12"/>
          </p:nvPr>
        </p:nvSpPr>
        <p:spPr/>
        <p:txBody>
          <a:bodyPr/>
          <a:lstStyle/>
          <a:p>
            <a:pPr/>
            <a:fld id="{C1FF6DA9-008F-8B48-92A6-B652298478BF}" type="slidenum">
              <a:rPr lang="en-US" smtClean="0"/>
              <a:t/>
            </a:fld>
            <a:endParaRPr lang="en-US"/>
          </a:p>
        </p:txBody>
      </p:sp>
    </p:spTree>
  </p:cSld>
  <p:clrMapOvr>
    <a:masterClrMapping/>
  </p:clrMapOvr>
</p:sldLayout>
</file>

<file path=ppt/slideLayouts/slideLayout3.xml><?xml version="1.0" encoding="utf-8"?>
<p:sldLayout xmlns:p="http://schemas.openxmlformats.org/presentationml/2006/main" xmlns:a="http://schemas.openxmlformats.org/drawingml/2006/main" type="secHead">
  <p:cSld name="Section Header">
    <p:spTree>
      <p:nvGrpSpPr>
        <p:cNvPr id="19" name=""/>
        <p:cNvGrpSpPr/>
        <p:nvPr/>
      </p:nvGrpSpPr>
      <p:grpSpPr>
        <a:xfrm>
          <a:off x="0" y="0"/>
          <a:ext cx="0" cy="0"/>
          <a:chOff x="0" y="0"/>
          <a:chExt cx="0" cy="0"/>
        </a:xfrm>
      </p:grpSpPr>
      <p:sp>
        <p:nvSpPr>
          <p:cNvPr id="20" name="Title 1"/>
          <p:cNvSpPr>
            <a:spLocks noGrp="1"/>
          </p:cNvSpPr>
          <p:nvPr>
            <p:ph type="title"/>
          </p:nvPr>
        </p:nvSpPr>
        <p:spPr>
          <a:xfrm>
            <a:off x="722313" y="4406900"/>
            <a:ext cx="7772400" cy="1362075"/>
          </a:xfrm>
        </p:spPr>
        <p:txBody>
          <a:bodyPr anchor="t"/>
          <a:lstStyle>
            <a:lvl1pPr algn="l">
              <a:defRPr sz="4000" b="1" cap="all"/>
            </a:lvl1pPr>
          </a:lstStyle>
          <a:p>
            <a:pPr/>
            <a:r>
              <a:rPr lang="en-US" smtClean="0"/>
              <a:t>Click to edit Master title style</a:t>
            </a:r>
            <a:endParaRPr lang="en-US"/>
          </a:p>
        </p:txBody>
      </p:sp>
      <p:sp>
        <p:nvSpPr>
          <p:cNvPr id="21"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22" name="Date Placeholder 3"/>
          <p:cNvSpPr>
            <a:spLocks noGrp="1"/>
          </p:cNvSpPr>
          <p:nvPr>
            <p:ph type="dt" sz="half" idx="10"/>
          </p:nvPr>
        </p:nvSpPr>
        <p:spPr/>
        <p:txBody>
          <a:bodyPr/>
          <a:lstStyle/>
          <a:p>
            <a:pPr/>
            <a:fld id="{5BCAD085-E8A6-8845-BD4E-CB4CCA059FC4}" type="datetimeFigureOut">
              <a:rPr lang="en-US" smtClean="0"/>
              <a:t/>
            </a:fld>
            <a:endParaRPr lang="en-US"/>
          </a:p>
        </p:txBody>
      </p:sp>
      <p:sp>
        <p:nvSpPr>
          <p:cNvPr id="23" name="Footer Placeholder 4"/>
          <p:cNvSpPr>
            <a:spLocks noGrp="1"/>
          </p:cNvSpPr>
          <p:nvPr>
            <p:ph type="ftr" sz="quarter" idx="11"/>
          </p:nvPr>
        </p:nvSpPr>
        <p:spPr/>
        <p:txBody>
          <a:bodyPr/>
          <a:lstStyle/>
          <a:p>
            <a:pPr/>
            <a:endParaRPr lang="en-US"/>
          </a:p>
        </p:txBody>
      </p:sp>
      <p:sp>
        <p:nvSpPr>
          <p:cNvPr id="24" name="Slide Number Placeholder 5"/>
          <p:cNvSpPr>
            <a:spLocks noGrp="1"/>
          </p:cNvSpPr>
          <p:nvPr>
            <p:ph type="sldNum" sz="quarter" idx="12"/>
          </p:nvPr>
        </p:nvSpPr>
        <p:spPr/>
        <p:txBody>
          <a:bodyPr/>
          <a:lstStyle/>
          <a:p>
            <a:pPr/>
            <a:fld id="{C1FF6DA9-008F-8B48-92A6-B652298478BF}" type="slidenum">
              <a:rPr lang="en-US" smtClean="0"/>
              <a:t/>
            </a:fld>
            <a:endParaRPr lang="en-US"/>
          </a:p>
        </p:txBody>
      </p:sp>
    </p:spTree>
  </p:cSld>
  <p:clrMapOvr>
    <a:masterClrMapping/>
  </p:clrMapOvr>
</p:sldLayout>
</file>

<file path=ppt/slideLayouts/slideLayout4.xml><?xml version="1.0" encoding="utf-8"?>
<p:sldLayout xmlns:p="http://schemas.openxmlformats.org/presentationml/2006/main" xmlns:a="http://schemas.openxmlformats.org/drawingml/2006/main" type="twoObj">
  <p:cSld name="Two Content">
    <p:spTree>
      <p:nvGrpSpPr>
        <p:cNvPr id="25" name=""/>
        <p:cNvGrpSpPr/>
        <p:nvPr/>
      </p:nvGrpSpPr>
      <p:grpSpPr>
        <a:xfrm>
          <a:off x="0" y="0"/>
          <a:ext cx="0" cy="0"/>
          <a:chOff x="0" y="0"/>
          <a:chExt cx="0" cy="0"/>
        </a:xfrm>
      </p:grpSpPr>
      <p:sp>
        <p:nvSpPr>
          <p:cNvPr id="26" name="Title 1"/>
          <p:cNvSpPr>
            <a:spLocks noGrp="1"/>
          </p:cNvSpPr>
          <p:nvPr>
            <p:ph type="title"/>
          </p:nvPr>
        </p:nvSpPr>
        <p:spPr/>
        <p:txBody>
          <a:bodyPr/>
          <a:lstStyle/>
          <a:p>
            <a:pPr/>
            <a:r>
              <a:rPr lang="en-US" smtClean="0"/>
              <a:t>Click to edit Master title style</a:t>
            </a:r>
            <a:endParaRPr lang="en-US"/>
          </a:p>
        </p:txBody>
      </p:sp>
      <p:sp>
        <p:nvSpPr>
          <p:cNvPr id="27"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28"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29" name="Date Placeholder 4"/>
          <p:cNvSpPr>
            <a:spLocks noGrp="1"/>
          </p:cNvSpPr>
          <p:nvPr>
            <p:ph type="dt" sz="half" idx="10"/>
          </p:nvPr>
        </p:nvSpPr>
        <p:spPr/>
        <p:txBody>
          <a:bodyPr/>
          <a:lstStyle/>
          <a:p>
            <a:pPr/>
            <a:fld id="{5BCAD085-E8A6-8845-BD4E-CB4CCA059FC4}" type="datetimeFigureOut">
              <a:rPr lang="en-US" smtClean="0"/>
              <a:t/>
            </a:fld>
            <a:endParaRPr lang="en-US"/>
          </a:p>
        </p:txBody>
      </p:sp>
      <p:sp>
        <p:nvSpPr>
          <p:cNvPr id="30" name="Footer Placeholder 5"/>
          <p:cNvSpPr>
            <a:spLocks noGrp="1"/>
          </p:cNvSpPr>
          <p:nvPr>
            <p:ph type="ftr" sz="quarter" idx="11"/>
          </p:nvPr>
        </p:nvSpPr>
        <p:spPr/>
        <p:txBody>
          <a:bodyPr/>
          <a:lstStyle/>
          <a:p>
            <a:pPr/>
            <a:endParaRPr lang="en-US"/>
          </a:p>
        </p:txBody>
      </p:sp>
      <p:sp>
        <p:nvSpPr>
          <p:cNvPr id="31" name="Slide Number Placeholder 6"/>
          <p:cNvSpPr>
            <a:spLocks noGrp="1"/>
          </p:cNvSpPr>
          <p:nvPr>
            <p:ph type="sldNum" sz="quarter" idx="12"/>
          </p:nvPr>
        </p:nvSpPr>
        <p:spPr/>
        <p:txBody>
          <a:bodyPr/>
          <a:lstStyle/>
          <a:p>
            <a:pPr/>
            <a:fld id="{C1FF6DA9-008F-8B48-92A6-B652298478BF}" type="slidenum">
              <a:rPr lang="en-US" smtClean="0"/>
              <a:t/>
            </a:fld>
            <a:endParaRPr lang="en-US"/>
          </a:p>
        </p:txBody>
      </p:sp>
    </p:spTree>
  </p:cSld>
  <p:clrMapOvr>
    <a:masterClrMapping/>
  </p:clrMapOvr>
</p:sldLayout>
</file>

<file path=ppt/slideLayouts/slideLayout5.xml><?xml version="1.0" encoding="utf-8"?>
<p:sldLayout xmlns:p="http://schemas.openxmlformats.org/presentationml/2006/main" xmlns:a="http://schemas.openxmlformats.org/drawingml/2006/main" type="twoTxTwoObj">
  <p:cSld name="Comparison">
    <p:spTree>
      <p:nvGrpSpPr>
        <p:cNvPr id="32" name=""/>
        <p:cNvGrpSpPr/>
        <p:nvPr/>
      </p:nvGrpSpPr>
      <p:grpSpPr>
        <a:xfrm>
          <a:off x="0" y="0"/>
          <a:ext cx="0" cy="0"/>
          <a:chOff x="0" y="0"/>
          <a:chExt cx="0" cy="0"/>
        </a:xfrm>
      </p:grpSpPr>
      <p:sp>
        <p:nvSpPr>
          <p:cNvPr id="33" name="Title 1"/>
          <p:cNvSpPr>
            <a:spLocks noGrp="1"/>
          </p:cNvSpPr>
          <p:nvPr>
            <p:ph type="title"/>
          </p:nvPr>
        </p:nvSpPr>
        <p:spPr/>
        <p:txBody>
          <a:bodyPr/>
          <a:lstStyle>
            <a:lvl1pPr>
              <a:defRPr/>
            </a:lvl1pPr>
          </a:lstStyle>
          <a:p>
            <a:pPr/>
            <a:r>
              <a:rPr lang="en-US" smtClean="0"/>
              <a:t>Click to edit Master title style</a:t>
            </a:r>
            <a:endParaRPr lang="en-US"/>
          </a:p>
        </p:txBody>
      </p:sp>
      <p:sp>
        <p:nvSpPr>
          <p:cNvPr id="34"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35"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36"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37"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38" name="Date Placeholder 6"/>
          <p:cNvSpPr>
            <a:spLocks noGrp="1"/>
          </p:cNvSpPr>
          <p:nvPr>
            <p:ph type="dt" sz="half" idx="10"/>
          </p:nvPr>
        </p:nvSpPr>
        <p:spPr/>
        <p:txBody>
          <a:bodyPr/>
          <a:lstStyle/>
          <a:p>
            <a:pPr/>
            <a:fld id="{5BCAD085-E8A6-8845-BD4E-CB4CCA059FC4}" type="datetimeFigureOut">
              <a:rPr lang="en-US" smtClean="0"/>
              <a:t/>
            </a:fld>
            <a:endParaRPr lang="en-US"/>
          </a:p>
        </p:txBody>
      </p:sp>
      <p:sp>
        <p:nvSpPr>
          <p:cNvPr id="39" name="Footer Placeholder 7"/>
          <p:cNvSpPr>
            <a:spLocks noGrp="1"/>
          </p:cNvSpPr>
          <p:nvPr>
            <p:ph type="ftr" sz="quarter" idx="11"/>
          </p:nvPr>
        </p:nvSpPr>
        <p:spPr/>
        <p:txBody>
          <a:bodyPr/>
          <a:lstStyle/>
          <a:p>
            <a:pPr/>
            <a:endParaRPr lang="en-US"/>
          </a:p>
        </p:txBody>
      </p:sp>
      <p:sp>
        <p:nvSpPr>
          <p:cNvPr id="40" name="Slide Number Placeholder 8"/>
          <p:cNvSpPr>
            <a:spLocks noGrp="1"/>
          </p:cNvSpPr>
          <p:nvPr>
            <p:ph type="sldNum" sz="quarter" idx="12"/>
          </p:nvPr>
        </p:nvSpPr>
        <p:spPr/>
        <p:txBody>
          <a:bodyPr/>
          <a:lstStyle/>
          <a:p>
            <a:pPr/>
            <a:fld id="{C1FF6DA9-008F-8B48-92A6-B652298478BF}" type="slidenum">
              <a:rPr lang="en-US" smtClean="0"/>
              <a:t/>
            </a:fld>
            <a:endParaRPr lang="en-US"/>
          </a:p>
        </p:txBody>
      </p:sp>
    </p:spTree>
  </p:cSld>
  <p:clrMapOvr>
    <a:masterClrMapping/>
  </p:clrMapOvr>
</p:sldLayout>
</file>

<file path=ppt/slideLayouts/slideLayout6.xml><?xml version="1.0" encoding="utf-8"?>
<p:sldLayout xmlns:p="http://schemas.openxmlformats.org/presentationml/2006/main" xmlns:a="http://schemas.openxmlformats.org/drawingml/2006/main" type="titleOnly">
  <p:cSld name="Title Only">
    <p:spTree>
      <p:nvGrpSpPr>
        <p:cNvPr id="41" name=""/>
        <p:cNvGrpSpPr/>
        <p:nvPr/>
      </p:nvGrpSpPr>
      <p:grpSpPr>
        <a:xfrm>
          <a:off x="0" y="0"/>
          <a:ext cx="0" cy="0"/>
          <a:chOff x="0" y="0"/>
          <a:chExt cx="0" cy="0"/>
        </a:xfrm>
      </p:grpSpPr>
      <p:sp>
        <p:nvSpPr>
          <p:cNvPr id="42" name="Title 1"/>
          <p:cNvSpPr>
            <a:spLocks noGrp="1"/>
          </p:cNvSpPr>
          <p:nvPr>
            <p:ph type="title"/>
          </p:nvPr>
        </p:nvSpPr>
        <p:spPr/>
        <p:txBody>
          <a:bodyPr/>
          <a:lstStyle/>
          <a:p>
            <a:pPr/>
            <a:r>
              <a:rPr lang="en-US" smtClean="0"/>
              <a:t>Click to edit Master title style</a:t>
            </a:r>
            <a:endParaRPr lang="en-US"/>
          </a:p>
        </p:txBody>
      </p:sp>
      <p:sp>
        <p:nvSpPr>
          <p:cNvPr id="43" name="Date Placeholder 2"/>
          <p:cNvSpPr>
            <a:spLocks noGrp="1"/>
          </p:cNvSpPr>
          <p:nvPr>
            <p:ph type="dt" sz="half" idx="10"/>
          </p:nvPr>
        </p:nvSpPr>
        <p:spPr/>
        <p:txBody>
          <a:bodyPr/>
          <a:lstStyle/>
          <a:p>
            <a:pPr/>
            <a:fld id="{5BCAD085-E8A6-8845-BD4E-CB4CCA059FC4}" type="datetimeFigureOut">
              <a:rPr lang="en-US" smtClean="0"/>
              <a:t/>
            </a:fld>
            <a:endParaRPr lang="en-US"/>
          </a:p>
        </p:txBody>
      </p:sp>
      <p:sp>
        <p:nvSpPr>
          <p:cNvPr id="44" name="Footer Placeholder 3"/>
          <p:cNvSpPr>
            <a:spLocks noGrp="1"/>
          </p:cNvSpPr>
          <p:nvPr>
            <p:ph type="ftr" sz="quarter" idx="11"/>
          </p:nvPr>
        </p:nvSpPr>
        <p:spPr/>
        <p:txBody>
          <a:bodyPr/>
          <a:lstStyle/>
          <a:p>
            <a:pPr/>
            <a:endParaRPr lang="en-US"/>
          </a:p>
        </p:txBody>
      </p:sp>
      <p:sp>
        <p:nvSpPr>
          <p:cNvPr id="45" name="Slide Number Placeholder 4"/>
          <p:cNvSpPr>
            <a:spLocks noGrp="1"/>
          </p:cNvSpPr>
          <p:nvPr>
            <p:ph type="sldNum" sz="quarter" idx="12"/>
          </p:nvPr>
        </p:nvSpPr>
        <p:spPr/>
        <p:txBody>
          <a:bodyPr/>
          <a:lstStyle/>
          <a:p>
            <a:pPr/>
            <a:fld id="{C1FF6DA9-008F-8B48-92A6-B652298478BF}" type="slidenum">
              <a:rPr lang="en-US" smtClean="0"/>
              <a:t/>
            </a:fld>
            <a:endParaRPr lang="en-US"/>
          </a:p>
        </p:txBody>
      </p:sp>
    </p:spTree>
  </p:cSld>
  <p:clrMapOvr>
    <a:masterClrMapping/>
  </p:clrMapOvr>
</p:sldLayout>
</file>

<file path=ppt/slideLayouts/slideLayout7.xml><?xml version="1.0" encoding="utf-8"?>
<p:sldLayout xmlns:p="http://schemas.openxmlformats.org/presentationml/2006/main" xmlns:a="http://schemas.openxmlformats.org/drawingml/2006/main" type="blank">
  <p:cSld name="Blank">
    <p:spTree>
      <p:nvGrpSpPr>
        <p:cNvPr id="46" name=""/>
        <p:cNvGrpSpPr/>
        <p:nvPr/>
      </p:nvGrpSpPr>
      <p:grpSpPr>
        <a:xfrm>
          <a:off x="0" y="0"/>
          <a:ext cx="0" cy="0"/>
          <a:chOff x="0" y="0"/>
          <a:chExt cx="0" cy="0"/>
        </a:xfrm>
      </p:grpSpPr>
      <p:sp>
        <p:nvSpPr>
          <p:cNvPr id="47" name="Date Placeholder 1"/>
          <p:cNvSpPr>
            <a:spLocks noGrp="1"/>
          </p:cNvSpPr>
          <p:nvPr>
            <p:ph type="dt" sz="half" idx="10"/>
          </p:nvPr>
        </p:nvSpPr>
        <p:spPr/>
        <p:txBody>
          <a:bodyPr/>
          <a:lstStyle/>
          <a:p>
            <a:pPr/>
            <a:fld id="{5BCAD085-E8A6-8845-BD4E-CB4CCA059FC4}" type="datetimeFigureOut">
              <a:rPr lang="en-US" smtClean="0"/>
              <a:t/>
            </a:fld>
            <a:endParaRPr lang="en-US"/>
          </a:p>
        </p:txBody>
      </p:sp>
      <p:sp>
        <p:nvSpPr>
          <p:cNvPr id="48" name="Footer Placeholder 2"/>
          <p:cNvSpPr>
            <a:spLocks noGrp="1"/>
          </p:cNvSpPr>
          <p:nvPr>
            <p:ph type="ftr" sz="quarter" idx="11"/>
          </p:nvPr>
        </p:nvSpPr>
        <p:spPr/>
        <p:txBody>
          <a:bodyPr/>
          <a:lstStyle/>
          <a:p>
            <a:pPr/>
            <a:endParaRPr lang="en-US"/>
          </a:p>
        </p:txBody>
      </p:sp>
      <p:sp>
        <p:nvSpPr>
          <p:cNvPr id="49" name="Slide Number Placeholder 3"/>
          <p:cNvSpPr>
            <a:spLocks noGrp="1"/>
          </p:cNvSpPr>
          <p:nvPr>
            <p:ph type="sldNum" sz="quarter" idx="12"/>
          </p:nvPr>
        </p:nvSpPr>
        <p:spPr/>
        <p:txBody>
          <a:bodyPr/>
          <a:lstStyle/>
          <a:p>
            <a:pPr/>
            <a:fld id="{C1FF6DA9-008F-8B48-92A6-B652298478BF}" type="slidenum">
              <a:rPr lang="en-US" smtClean="0"/>
              <a:t/>
            </a:fld>
            <a:endParaRPr lang="en-US"/>
          </a:p>
        </p:txBody>
      </p:sp>
    </p:spTree>
  </p:cSld>
  <p:clrMapOvr>
    <a:masterClrMapping/>
  </p:clrMapOvr>
</p:sldLayout>
</file>

<file path=ppt/slideLayouts/slideLayout8.xml><?xml version="1.0" encoding="utf-8"?>
<p:sldLayout xmlns:p="http://schemas.openxmlformats.org/presentationml/2006/main" xmlns:a="http://schemas.openxmlformats.org/drawingml/2006/main" type="objTx">
  <p:cSld name="Content with Caption">
    <p:spTree>
      <p:nvGrpSpPr>
        <p:cNvPr id="50" name=""/>
        <p:cNvGrpSpPr/>
        <p:nvPr/>
      </p:nvGrpSpPr>
      <p:grpSpPr>
        <a:xfrm>
          <a:off x="0" y="0"/>
          <a:ext cx="0" cy="0"/>
          <a:chOff x="0" y="0"/>
          <a:chExt cx="0" cy="0"/>
        </a:xfrm>
      </p:grpSpPr>
      <p:sp>
        <p:nvSpPr>
          <p:cNvPr id="51" name="Title 1"/>
          <p:cNvSpPr>
            <a:spLocks noGrp="1"/>
          </p:cNvSpPr>
          <p:nvPr>
            <p:ph type="title"/>
          </p:nvPr>
        </p:nvSpPr>
        <p:spPr>
          <a:xfrm>
            <a:off x="457200" y="273050"/>
            <a:ext cx="3008313" cy="1162050"/>
          </a:xfrm>
        </p:spPr>
        <p:txBody>
          <a:bodyPr anchor="b"/>
          <a:lstStyle>
            <a:lvl1pPr algn="l">
              <a:defRPr sz="2000" b="1"/>
            </a:lvl1pPr>
          </a:lstStyle>
          <a:p>
            <a:pPr/>
            <a:r>
              <a:rPr lang="en-US" smtClean="0"/>
              <a:t>Click to edit Master title style</a:t>
            </a:r>
            <a:endParaRPr lang="en-US"/>
          </a:p>
        </p:txBody>
      </p:sp>
      <p:sp>
        <p:nvSpPr>
          <p:cNvPr id="52"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3"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4" name="Date Placeholder 4"/>
          <p:cNvSpPr>
            <a:spLocks noGrp="1"/>
          </p:cNvSpPr>
          <p:nvPr>
            <p:ph type="dt" sz="half" idx="10"/>
          </p:nvPr>
        </p:nvSpPr>
        <p:spPr/>
        <p:txBody>
          <a:bodyPr/>
          <a:lstStyle/>
          <a:p>
            <a:pPr/>
            <a:fld id="{5BCAD085-E8A6-8845-BD4E-CB4CCA059FC4}" type="datetimeFigureOut">
              <a:rPr lang="en-US" smtClean="0"/>
              <a:t/>
            </a:fld>
            <a:endParaRPr lang="en-US"/>
          </a:p>
        </p:txBody>
      </p:sp>
      <p:sp>
        <p:nvSpPr>
          <p:cNvPr id="55" name="Footer Placeholder 5"/>
          <p:cNvSpPr>
            <a:spLocks noGrp="1"/>
          </p:cNvSpPr>
          <p:nvPr>
            <p:ph type="ftr" sz="quarter" idx="11"/>
          </p:nvPr>
        </p:nvSpPr>
        <p:spPr/>
        <p:txBody>
          <a:bodyPr/>
          <a:lstStyle/>
          <a:p>
            <a:pPr/>
            <a:endParaRPr lang="en-US"/>
          </a:p>
        </p:txBody>
      </p:sp>
      <p:sp>
        <p:nvSpPr>
          <p:cNvPr id="56" name="Slide Number Placeholder 6"/>
          <p:cNvSpPr>
            <a:spLocks noGrp="1"/>
          </p:cNvSpPr>
          <p:nvPr>
            <p:ph type="sldNum" sz="quarter" idx="12"/>
          </p:nvPr>
        </p:nvSpPr>
        <p:spPr/>
        <p:txBody>
          <a:bodyPr/>
          <a:lstStyle/>
          <a:p>
            <a:pPr/>
            <a:fld id="{C1FF6DA9-008F-8B48-92A6-B652298478BF}" type="slidenum">
              <a:rPr lang="en-US" smtClean="0"/>
              <a:t/>
            </a:fld>
            <a:endParaRPr lang="en-US"/>
          </a:p>
        </p:txBody>
      </p:sp>
    </p:spTree>
  </p:cSld>
  <p:clrMapOvr>
    <a:masterClrMapping/>
  </p:clrMapOvr>
</p:sldLayout>
</file>

<file path=ppt/slideLayouts/slideLayout9.xml><?xml version="1.0" encoding="utf-8"?>
<p:sldLayout xmlns:p="http://schemas.openxmlformats.org/presentationml/2006/main" xmlns:a="http://schemas.openxmlformats.org/drawingml/2006/main" type="picTx">
  <p:cSld name="Picture with Caption">
    <p:spTree>
      <p:nvGrpSpPr>
        <p:cNvPr id="57" name=""/>
        <p:cNvGrpSpPr/>
        <p:nvPr/>
      </p:nvGrpSpPr>
      <p:grpSpPr>
        <a:xfrm>
          <a:off x="0" y="0"/>
          <a:ext cx="0" cy="0"/>
          <a:chOff x="0" y="0"/>
          <a:chExt cx="0" cy="0"/>
        </a:xfrm>
      </p:grpSpPr>
      <p:sp>
        <p:nvSpPr>
          <p:cNvPr id="58" name="Title 1"/>
          <p:cNvSpPr>
            <a:spLocks noGrp="1"/>
          </p:cNvSpPr>
          <p:nvPr>
            <p:ph type="title"/>
          </p:nvPr>
        </p:nvSpPr>
        <p:spPr>
          <a:xfrm>
            <a:off x="1792288" y="4800600"/>
            <a:ext cx="5486400" cy="566738"/>
          </a:xfrm>
        </p:spPr>
        <p:txBody>
          <a:bodyPr anchor="b"/>
          <a:lstStyle>
            <a:lvl1pPr algn="l">
              <a:defRPr sz="2000" b="1"/>
            </a:lvl1pPr>
          </a:lstStyle>
          <a:p>
            <a:pPr/>
            <a:r>
              <a:rPr lang="en-US" smtClean="0"/>
              <a:t>Click to edit Master title style</a:t>
            </a:r>
            <a:endParaRPr lang="en-US"/>
          </a:p>
        </p:txBody>
      </p:sp>
      <p:sp>
        <p:nvSpPr>
          <p:cNvPr id="59"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endParaRPr lang="en-US"/>
          </a:p>
        </p:txBody>
      </p:sp>
      <p:sp>
        <p:nvSpPr>
          <p:cNvPr id="60"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61" name="Date Placeholder 4"/>
          <p:cNvSpPr>
            <a:spLocks noGrp="1"/>
          </p:cNvSpPr>
          <p:nvPr>
            <p:ph type="dt" sz="half" idx="10"/>
          </p:nvPr>
        </p:nvSpPr>
        <p:spPr/>
        <p:txBody>
          <a:bodyPr/>
          <a:lstStyle/>
          <a:p>
            <a:pPr/>
            <a:fld id="{5BCAD085-E8A6-8845-BD4E-CB4CCA059FC4}" type="datetimeFigureOut">
              <a:rPr lang="en-US" smtClean="0"/>
              <a:t/>
            </a:fld>
            <a:endParaRPr lang="en-US"/>
          </a:p>
        </p:txBody>
      </p:sp>
      <p:sp>
        <p:nvSpPr>
          <p:cNvPr id="62" name="Footer Placeholder 5"/>
          <p:cNvSpPr>
            <a:spLocks noGrp="1"/>
          </p:cNvSpPr>
          <p:nvPr>
            <p:ph type="ftr" sz="quarter" idx="11"/>
          </p:nvPr>
        </p:nvSpPr>
        <p:spPr/>
        <p:txBody>
          <a:bodyPr/>
          <a:lstStyle/>
          <a:p>
            <a:pPr/>
            <a:endParaRPr lang="en-US"/>
          </a:p>
        </p:txBody>
      </p:sp>
      <p:sp>
        <p:nvSpPr>
          <p:cNvPr id="63" name="Slide Number Placeholder 6"/>
          <p:cNvSpPr>
            <a:spLocks noGrp="1"/>
          </p:cNvSpPr>
          <p:nvPr>
            <p:ph type="sldNum" sz="quarter" idx="12"/>
          </p:nvPr>
        </p:nvSpPr>
        <p:spPr/>
        <p:txBody>
          <a:bodyPr/>
          <a:lstStyle/>
          <a:p>
            <a:pPr/>
            <a:fld id="{C1FF6DA9-008F-8B48-92A6-B652298478BF}" type="slidenum">
              <a:rPr lang="en-US" smtClean="0"/>
              <a:t/>
            </a:fld>
            <a:endParaRPr lang="en-US"/>
          </a:p>
        </p:txBody>
      </p:sp>
    </p:spTree>
  </p:cSld>
  <p:clrMapOvr>
    <a:masterClrMapping/>
  </p:clrMapOvr>
</p:sldLayout>
</file>

<file path=ppt/slideLayouts/slideLayout10.xml><?xml version="1.0" encoding="utf-8"?>
<p:sldLayout xmlns:p="http://schemas.openxmlformats.org/presentationml/2006/main" xmlns:a="http://schemas.openxmlformats.org/drawingml/2006/main" type="vertTx">
  <p:cSld name="Title and Vertical Text">
    <p:spTree>
      <p:nvGrpSpPr>
        <p:cNvPr id="64" name=""/>
        <p:cNvGrpSpPr/>
        <p:nvPr/>
      </p:nvGrpSpPr>
      <p:grpSpPr>
        <a:xfrm>
          <a:off x="0" y="0"/>
          <a:ext cx="0" cy="0"/>
          <a:chOff x="0" y="0"/>
          <a:chExt cx="0" cy="0"/>
        </a:xfrm>
      </p:grpSpPr>
      <p:sp>
        <p:nvSpPr>
          <p:cNvPr id="65" name="Title 1"/>
          <p:cNvSpPr>
            <a:spLocks noGrp="1"/>
          </p:cNvSpPr>
          <p:nvPr>
            <p:ph type="title"/>
          </p:nvPr>
        </p:nvSpPr>
        <p:spPr/>
        <p:txBody>
          <a:bodyPr/>
          <a:lstStyle/>
          <a:p>
            <a:pPr/>
            <a:r>
              <a:rPr lang="en-US" smtClean="0"/>
              <a:t>Click to edit Master title style</a:t>
            </a:r>
            <a:endParaRPr lang="en-US"/>
          </a:p>
        </p:txBody>
      </p:sp>
      <p:sp>
        <p:nvSpPr>
          <p:cNvPr id="66"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7" name="Date Placeholder 3"/>
          <p:cNvSpPr>
            <a:spLocks noGrp="1"/>
          </p:cNvSpPr>
          <p:nvPr>
            <p:ph type="dt" sz="half" idx="10"/>
          </p:nvPr>
        </p:nvSpPr>
        <p:spPr/>
        <p:txBody>
          <a:bodyPr/>
          <a:lstStyle/>
          <a:p>
            <a:pPr/>
            <a:fld id="{5BCAD085-E8A6-8845-BD4E-CB4CCA059FC4}" type="datetimeFigureOut">
              <a:rPr lang="en-US" smtClean="0"/>
              <a:t/>
            </a:fld>
            <a:endParaRPr lang="en-US"/>
          </a:p>
        </p:txBody>
      </p:sp>
      <p:sp>
        <p:nvSpPr>
          <p:cNvPr id="68" name="Footer Placeholder 4"/>
          <p:cNvSpPr>
            <a:spLocks noGrp="1"/>
          </p:cNvSpPr>
          <p:nvPr>
            <p:ph type="ftr" sz="quarter" idx="11"/>
          </p:nvPr>
        </p:nvSpPr>
        <p:spPr/>
        <p:txBody>
          <a:bodyPr/>
          <a:lstStyle/>
          <a:p>
            <a:pPr/>
            <a:endParaRPr lang="en-US"/>
          </a:p>
        </p:txBody>
      </p:sp>
      <p:sp>
        <p:nvSpPr>
          <p:cNvPr id="69" name="Slide Number Placeholder 5"/>
          <p:cNvSpPr>
            <a:spLocks noGrp="1"/>
          </p:cNvSpPr>
          <p:nvPr>
            <p:ph type="sldNum" sz="quarter" idx="12"/>
          </p:nvPr>
        </p:nvSpPr>
        <p:spPr/>
        <p:txBody>
          <a:bodyPr/>
          <a:lstStyle/>
          <a:p>
            <a:pPr/>
            <a:fld id="{C1FF6DA9-008F-8B48-92A6-B652298478BF}" type="slidenum">
              <a:rPr lang="en-US" smtClean="0"/>
              <a:t/>
            </a:fld>
            <a:endParaRPr lang="en-US"/>
          </a:p>
        </p:txBody>
      </p:sp>
    </p:spTree>
  </p:cSld>
  <p:clrMapOvr>
    <a:masterClrMapping/>
  </p:clrMapOvr>
</p:sldLayout>
</file>

<file path=ppt/slideLayouts/slideLayout11.xml><?xml version="1.0" encoding="utf-8"?>
<p:sldLayout xmlns:p="http://schemas.openxmlformats.org/presentationml/2006/main" xmlns:a="http://schemas.openxmlformats.org/drawingml/2006/main" type="vertTitleAndTx">
  <p:cSld name="Vertical Title and Text">
    <p:spTree>
      <p:nvGrpSpPr>
        <p:cNvPr id="13" name=""/>
        <p:cNvGrpSpPr/>
        <p:nvPr/>
      </p:nvGrpSpPr>
      <p:grpSpPr>
        <a:xfrm>
          <a:off x="0" y="0"/>
          <a:ext cx="0" cy="0"/>
          <a:chOff x="0" y="0"/>
          <a:chExt cx="0" cy="0"/>
        </a:xfrm>
      </p:grpSpPr>
      <p:sp>
        <p:nvSpPr>
          <p:cNvPr id="14" name="Vertical Title 1"/>
          <p:cNvSpPr>
            <a:spLocks noGrp="1"/>
          </p:cNvSpPr>
          <p:nvPr>
            <p:ph type="title" orient="vert"/>
          </p:nvPr>
        </p:nvSpPr>
        <p:spPr>
          <a:xfrm>
            <a:off x="6629400" y="274638"/>
            <a:ext cx="2057400" cy="5851525"/>
          </a:xfrm>
        </p:spPr>
        <p:txBody>
          <a:bodyPr vert="eaVert"/>
          <a:lstStyle/>
          <a:p>
            <a:pPr/>
            <a:r>
              <a:rPr lang="en-US" smtClean="0"/>
              <a:t>Click to edit Master title style</a:t>
            </a:r>
            <a:endParaRPr lang="en-US"/>
          </a:p>
        </p:txBody>
      </p:sp>
      <p:sp>
        <p:nvSpPr>
          <p:cNvPr id="15"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16" name="Date Placeholder 3"/>
          <p:cNvSpPr>
            <a:spLocks noGrp="1"/>
          </p:cNvSpPr>
          <p:nvPr>
            <p:ph type="dt" sz="half" idx="10"/>
          </p:nvPr>
        </p:nvSpPr>
        <p:spPr/>
        <p:txBody>
          <a:bodyPr/>
          <a:lstStyle/>
          <a:p>
            <a:pPr/>
            <a:fld id="{5BCAD085-E8A6-8845-BD4E-CB4CCA059FC4}" type="datetimeFigureOut">
              <a:rPr lang="en-US" smtClean="0"/>
              <a:t/>
            </a:fld>
            <a:endParaRPr lang="en-US"/>
          </a:p>
        </p:txBody>
      </p:sp>
      <p:sp>
        <p:nvSpPr>
          <p:cNvPr id="17" name="Footer Placeholder 4"/>
          <p:cNvSpPr>
            <a:spLocks noGrp="1"/>
          </p:cNvSpPr>
          <p:nvPr>
            <p:ph type="ftr" sz="quarter" idx="11"/>
          </p:nvPr>
        </p:nvSpPr>
        <p:spPr/>
        <p:txBody>
          <a:bodyPr/>
          <a:lstStyle/>
          <a:p>
            <a:pPr/>
            <a:endParaRPr lang="en-US"/>
          </a:p>
        </p:txBody>
      </p:sp>
      <p:sp>
        <p:nvSpPr>
          <p:cNvPr id="18" name="Slide Number Placeholder 5"/>
          <p:cNvSpPr>
            <a:spLocks noGrp="1"/>
          </p:cNvSpPr>
          <p:nvPr>
            <p:ph type="sldNum" sz="quarter" idx="12"/>
          </p:nvPr>
        </p:nvSpPr>
        <p:spPr/>
        <p:txBody>
          <a:bodyPr/>
          <a:lstStyle/>
          <a:p>
            <a:pPr/>
            <a:fld id="{C1FF6DA9-008F-8B48-92A6-B652298478BF}" type="slidenum">
              <a:rPr lang="en-US" smtClean="0"/>
              <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0" Type="http://schemas.openxmlformats.org/officeDocument/2006/relationships/slideLayout" Target="../slideLayouts/slideLayout1.xml" /><Relationship Id="rId1" Type="http://schemas.openxmlformats.org/officeDocument/2006/relationships/slideLayout" Target="../slideLayouts/slideLayout2.xml" /><Relationship Id="rId10" Type="http://schemas.openxmlformats.org/officeDocument/2006/relationships/slideLayout" Target="../slideLayouts/slideLayout11.xml" /><Relationship Id="rId5" Type="http://schemas.openxmlformats.org/officeDocument/2006/relationships/slideLayout" Target="../slideLayouts/slideLayout6.xml" /><Relationship Id="rId11" Type="http://schemas.openxmlformats.org/officeDocument/2006/relationships/theme" Target="../theme/theme1.xml" /><Relationship Id="rId2" Type="http://schemas.openxmlformats.org/officeDocument/2006/relationships/slideLayout" Target="../slideLayouts/slideLayout3.xml" /><Relationship Id="rId4" Type="http://schemas.openxmlformats.org/officeDocument/2006/relationships/slideLayout" Target="../slideLayouts/slideLayout5.xml" /><Relationship Id="rId3" Type="http://schemas.openxmlformats.org/officeDocument/2006/relationships/slideLayout" Target="../slideLayouts/slideLayout4.xml" /><Relationship Id="rId6" Type="http://schemas.openxmlformats.org/officeDocument/2006/relationships/slideLayout" Target="../slideLayouts/slideLayout7.xml" /><Relationship Id="rId7" Type="http://schemas.openxmlformats.org/officeDocument/2006/relationships/slideLayout" Target="../slideLayouts/slideLayout8.xml" /><Relationship Id="rId8" Type="http://schemas.openxmlformats.org/officeDocument/2006/relationships/slideLayout" Target="../slideLayouts/slideLayout9.xml" /><Relationship Id="rId9" Type="http://schemas.openxmlformats.org/officeDocument/2006/relationships/slideLayout" Target="../slideLayouts/slideLayout10.xml" /></Relationships>
</file>

<file path=ppt/slideMasters/slideMaster1.xml><?xml version="1.0" encoding="utf-8"?>
<p:sldMaster xmlns:p="http://schemas.openxmlformats.org/presentationml/2006/main" xmlns:r="http://schemas.openxmlformats.org/officeDocument/2006/relationships" xmlns:a="http://schemas.openxmlformats.org/drawing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pPr/>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ea typeface="微软雅黑" panose="020B0503020204020204" charset="-122"/>
                <a:cs typeface="微软雅黑" panose="020B0503020204020204" charset="-122"/>
              </a:defRPr>
            </a:lvl1pPr>
          </a:lstStyle>
          <a:p>
            <a:pPr/>
            <a:fld id="{5BCAD085-E8A6-8845-BD4E-CB4CCA059FC4}" type="datetimeFigureOut">
              <a:rPr lang="en-US" smtClean="0"/>
              <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ea typeface="微软雅黑" panose="020B0503020204020204" charset="-122"/>
                <a:cs typeface="微软雅黑" panose="020B0503020204020204" charset="-122"/>
              </a:defRPr>
            </a:lvl1pPr>
          </a:lstStyle>
          <a:p>
            <a:pP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ea typeface="微软雅黑" panose="020B0503020204020204" charset="-122"/>
                <a:cs typeface="微软雅黑" panose="020B0503020204020204" charset="-122"/>
              </a:defRPr>
            </a:lvl1pPr>
          </a:lstStyle>
          <a:p>
            <a:pPr/>
            <a:fld id="{C1FF6DA9-008F-8B48-92A6-B652298478BF}" type="slidenum">
              <a:rPr lang="en-US" smtClean="0"/>
              <a:t/>
            </a:fld>
            <a:endParaRPr lang="en-US"/>
          </a:p>
        </p:txBody>
      </p:sp>
    </p:spTree>
  </p:cSld>
  <p:clrMap bg1="lt1" tx1="dk1" bg2="lt2" tx2="dk2" accent1="accent1" accent2="accent2" accent3="accent3" accent4="accent4" accent5="accent5" accent6="accent6" hlink="hlink" folHlink="folHlink"/>
  <p:sldLayoutIdLst>
    <p:sldLayoutId id="2147483649" r:id="rId0"/>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txStyles>
    <p:titleStyle>
      <a:lvl1pPr algn="ctr" defTabSz="457200" rtl="0" eaLnBrk="1" latinLnBrk="0" hangingPunct="1">
        <a:spcBef>
          <a:spcPct val="1"/>
        </a:spcBef>
        <a:buNone/>
        <a:defRPr sz="4400" kern="1200">
          <a:solidFill>
            <a:schemeClr val="tx1"/>
          </a:solidFill>
          <a:latin typeface="+mj-lt"/>
          <a:ea typeface="微软雅黑" panose="020B0503020204020204" charset="-122"/>
          <a:cs typeface="微软雅黑" panose="020B0503020204020204" charset="-122"/>
        </a:defRPr>
      </a:lvl1pPr>
    </p:titleStyle>
    <p:body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微软雅黑" panose="020B0503020204020204" charset="-122"/>
          <a:cs typeface="微软雅黑" panose="020B0503020204020204" charset="-122"/>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微软雅黑" panose="020B0503020204020204" charset="-122"/>
          <a:cs typeface="微软雅黑" panose="020B0503020204020204" charset="-122"/>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微软雅黑" panose="020B0503020204020204" charset="-122"/>
          <a:cs typeface="微软雅黑" panose="020B0503020204020204" charset="-122"/>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微软雅黑" panose="020B0503020204020204" charset="-122"/>
          <a:cs typeface="微软雅黑" panose="020B0503020204020204" charset="-122"/>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微软雅黑" panose="020B0503020204020204" charset="-122"/>
          <a:cs typeface="微软雅黑" panose="020B0503020204020204" charset="-122"/>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0" Type="http://schemas.openxmlformats.org/officeDocument/2006/relationships/slideLayout" Target="../slideLayouts/slideLayout7.xml" /><Relationship Id="rId1" Type="http://schemas.openxmlformats.org/officeDocument/2006/relationships/notesSlide" Target="../notesSlides/notesSlide1.xml" /><Relationship Id="rId2" Type="http://schemas.openxmlformats.org/officeDocument/2006/relationships/image" Target="../media/blue-template-arc.png"/><Relationship Id="rId3" Type="http://schemas.openxmlformats.org/officeDocument/2006/relationships/image" Target="../media/blue-template-logo.jpeg"/></Relationships>
</file>

<file path=ppt/slides/_rels/slide2.xml.rels><?xml version="1.0" encoding="UTF-8" standalone="yes"?><Relationships xmlns="http://schemas.openxmlformats.org/package/2006/relationships"><Relationship Id="rId0" Type="http://schemas.openxmlformats.org/officeDocument/2006/relationships/slideLayout" Target="../slideLayouts/slideLayout7.xml" /><Relationship Id="rId1" Type="http://schemas.openxmlformats.org/officeDocument/2006/relationships/notesSlide" Target="../notesSlides/notesSlide11.xml" /><Relationship Id="rId2" Type="http://schemas.openxmlformats.org/officeDocument/2006/relationships/image" Target="../media/blue-template-arc.png"/><Relationship Id="rId3" Type="http://schemas.openxmlformats.org/officeDocument/2006/relationships/image" Target="../media/blue-template-logo.jpeg"/></Relationships>
</file>

<file path=ppt/slides/_rels/slide3.xml.rels><?xml version="1.0" encoding="UTF-8" standalone="yes"?><Relationships xmlns="http://schemas.openxmlformats.org/package/2006/relationships"><Relationship Id="rId0" Type="http://schemas.openxmlformats.org/officeDocument/2006/relationships/slideLayout" Target="../slideLayouts/slideLayout7.xml" /><Relationship Id="rId1" Type="http://schemas.openxmlformats.org/officeDocument/2006/relationships/image" Target="../media/blue-template-arc.png"/><Relationship Id="rId2" Type="http://schemas.openxmlformats.org/officeDocument/2006/relationships/image" Target="../media/blue-template-logo.jpeg"/></Relationships>
</file>

<file path=ppt/slides/_rels/slide4.xml.rels><?xml version="1.0" encoding="UTF-8" standalone="yes"?><Relationships xmlns="http://schemas.openxmlformats.org/package/2006/relationships"><Relationship Id="rId0" Type="http://schemas.openxmlformats.org/officeDocument/2006/relationships/slideLayout" Target="../slideLayouts/slideLayout7.xml" /></Relationships>
</file>

<file path=ppt/slides/_rels/slide5.xml.rels><?xml version="1.0" encoding="UTF-8" standalone="yes"?><Relationships xmlns="http://schemas.openxmlformats.org/package/2006/relationships"><Relationship Id="rId0" Type="http://schemas.openxmlformats.org/officeDocument/2006/relationships/slideLayout" Target="../slideLayouts/slideLayout7.xml" /><Relationship Id="rId1" Type="http://schemas.openxmlformats.org/officeDocument/2006/relationships/notesSlide" Target="../notesSlides/notesSlide20.xml" /><Relationship Id="rId2" Type="http://schemas.openxmlformats.org/officeDocument/2006/relationships/image" Target="../media/blue-template-arc.png"/><Relationship Id="rId3" Type="http://schemas.openxmlformats.org/officeDocument/2006/relationships/image" Target="../media/blue-template-logo.jpeg"/></Relationships>
</file>

<file path=ppt/slides/_rels/slide6.xml.rels><?xml version="1.0" encoding="UTF-8" standalone="yes"?><Relationships xmlns="http://schemas.openxmlformats.org/package/2006/relationships"><Relationship Id="rId0" Type="http://schemas.openxmlformats.org/officeDocument/2006/relationships/slideLayout" Target="../slideLayouts/slideLayout7.xml" /><Relationship Id="rId1" Type="http://schemas.openxmlformats.org/officeDocument/2006/relationships/notesSlide" Target="../notesSlides/notesSlide21.xml" /><Relationship Id="rId2" Type="http://schemas.openxmlformats.org/officeDocument/2006/relationships/image" Target="../media/blue-template-arc.png"/><Relationship Id="rId3" Type="http://schemas.openxmlformats.org/officeDocument/2006/relationships/image" Target="../media/blue-template-logo.jpeg"/></Relationships>
</file>

<file path=ppt/slides/_rels/slide7.xml.rels><?xml version="1.0" encoding="UTF-8" standalone="yes"?><Relationships xmlns="http://schemas.openxmlformats.org/package/2006/relationships"><Relationship Id="rId0" Type="http://schemas.openxmlformats.org/officeDocument/2006/relationships/slideLayout" Target="../slideLayouts/slideLayout7.xml" /><Relationship Id="rId1" Type="http://schemas.openxmlformats.org/officeDocument/2006/relationships/notesSlide" Target="../notesSlides/notesSlide22.xml" /><Relationship Id="rId2" Type="http://schemas.openxmlformats.org/officeDocument/2006/relationships/image" Target="../media/blue-template-arc.png"/><Relationship Id="rId3" Type="http://schemas.openxmlformats.org/officeDocument/2006/relationships/image" Target="../media/blue-template-logo.jpeg"/></Relationships>
</file>

<file path=ppt/slides/_rels/slide8.xml.rels><?xml version="1.0" encoding="UTF-8" standalone="yes"?><Relationships xmlns="http://schemas.openxmlformats.org/package/2006/relationships"><Relationship Id="rId0" Type="http://schemas.openxmlformats.org/officeDocument/2006/relationships/slideLayout" Target="../slideLayouts/slideLayout7.xml" /><Relationship Id="rId1" Type="http://schemas.openxmlformats.org/officeDocument/2006/relationships/notesSlide" Target="../notesSlides/notesSlide23.xml" /><Relationship Id="rId2" Type="http://schemas.openxmlformats.org/officeDocument/2006/relationships/image" Target="../media/blue-template-arc.png"/><Relationship Id="rId3" Type="http://schemas.openxmlformats.org/officeDocument/2006/relationships/image" Target="../media/blue-template-logo.jpeg"/></Relationships>
</file>

<file path=ppt/slides/_rels/slide9.xml.rels><?xml version="1.0" encoding="UTF-8" standalone="yes"?><Relationships xmlns="http://schemas.openxmlformats.org/package/2006/relationships"><Relationship Id="rId0" Type="http://schemas.openxmlformats.org/officeDocument/2006/relationships/slideLayout" Target="../slideLayouts/slideLayout7.xml" /><Relationship Id="rId1" Type="http://schemas.openxmlformats.org/officeDocument/2006/relationships/notesSlide" Target="../notesSlides/notesSlide24.xml" /><Relationship Id="rId2" Type="http://schemas.openxmlformats.org/officeDocument/2006/relationships/image" Target="../media/blue-template-arc.png"/><Relationship Id="rId3" Type="http://schemas.openxmlformats.org/officeDocument/2006/relationships/image" Target="../media/blue-template-logo.jpeg"/></Relationships>
</file>

<file path=ppt/slides/_rels/slide10.xml.rels><?xml version="1.0" encoding="UTF-8" standalone="yes"?><Relationships xmlns="http://schemas.openxmlformats.org/package/2006/relationships"><Relationship Id="rId0" Type="http://schemas.openxmlformats.org/officeDocument/2006/relationships/slideLayout" Target="../slideLayouts/slideLayout7.xml" /></Relationships>
</file>

<file path=ppt/slides/_rels/slide11.xml.rels><?xml version="1.0" encoding="UTF-8" standalone="yes"?><Relationships xmlns="http://schemas.openxmlformats.org/package/2006/relationships"><Relationship Id="rId0" Type="http://schemas.openxmlformats.org/officeDocument/2006/relationships/slideLayout" Target="../slideLayouts/slideLayout7.xml" /><Relationship Id="rId1" Type="http://schemas.openxmlformats.org/officeDocument/2006/relationships/notesSlide" Target="../notesSlides/notesSlide2.xml" /><Relationship Id="rId2" Type="http://schemas.openxmlformats.org/officeDocument/2006/relationships/image" Target="../media/blue-template-arc.png"/><Relationship Id="rId3" Type="http://schemas.openxmlformats.org/officeDocument/2006/relationships/image" Target="../media/blue-template-logo.jpeg"/></Relationships>
</file>

<file path=ppt/slides/_rels/slide12.xml.rels><?xml version="1.0" encoding="UTF-8" standalone="yes"?><Relationships xmlns="http://schemas.openxmlformats.org/package/2006/relationships"><Relationship Id="rId0" Type="http://schemas.openxmlformats.org/officeDocument/2006/relationships/slideLayout" Target="../slideLayouts/slideLayout7.xml" /><Relationship Id="rId1" Type="http://schemas.openxmlformats.org/officeDocument/2006/relationships/notesSlide" Target="../notesSlides/notesSlide3.xml" /><Relationship Id="rId2" Type="http://schemas.openxmlformats.org/officeDocument/2006/relationships/image" Target="../media/blue-template-arc.png"/><Relationship Id="rId3" Type="http://schemas.openxmlformats.org/officeDocument/2006/relationships/image" Target="../media/blue-template-logo.jpeg"/></Relationships>
</file>

<file path=ppt/slides/_rels/slide13.xml.rels><?xml version="1.0" encoding="UTF-8" standalone="yes"?><Relationships xmlns="http://schemas.openxmlformats.org/package/2006/relationships"><Relationship Id="rId0" Type="http://schemas.openxmlformats.org/officeDocument/2006/relationships/slideLayout" Target="../slideLayouts/slideLayout7.xml" /><Relationship Id="rId4" Type="http://schemas.openxmlformats.org/officeDocument/2006/relationships/image" Target="media/image3.svg" /><Relationship Id="rId2" Type="http://schemas.openxmlformats.org/officeDocument/2006/relationships/image" Target="media/image1.svg" /><Relationship Id="rId1" Type="http://schemas.openxmlformats.org/officeDocument/2006/relationships/notesSlide" Target="../notesSlides/notesSlide4.xml" /><Relationship Id="rId3" Type="http://schemas.openxmlformats.org/officeDocument/2006/relationships/image" Target="media/image2.svg" /><Relationship Id="rId5" Type="http://schemas.openxmlformats.org/officeDocument/2006/relationships/image" Target="media/image4.png" /><Relationship Id="rId6" Type="http://schemas.openxmlformats.org/officeDocument/2006/relationships/image" Target="../media/blue-template-arc.png"/><Relationship Id="rId7" Type="http://schemas.openxmlformats.org/officeDocument/2006/relationships/image" Target="../media/blue-template-logo.jpeg"/></Relationships>
</file>

<file path=ppt/slides/_rels/slide14.xml.rels><?xml version="1.0" encoding="UTF-8" standalone="yes"?><Relationships xmlns="http://schemas.openxmlformats.org/package/2006/relationships"><Relationship Id="rId0" Type="http://schemas.openxmlformats.org/officeDocument/2006/relationships/slideLayout" Target="../slideLayouts/slideLayout7.xml" /><Relationship Id="rId1" Type="http://schemas.openxmlformats.org/officeDocument/2006/relationships/notesSlide" Target="../notesSlides/notesSlide5.xml" /><Relationship Id="rId2" Type="http://schemas.openxmlformats.org/officeDocument/2006/relationships/image" Target="media/image5.svg" /><Relationship Id="rId4" Type="http://schemas.openxmlformats.org/officeDocument/2006/relationships/image" Target="media/image7.png" /><Relationship Id="rId3" Type="http://schemas.openxmlformats.org/officeDocument/2006/relationships/image" Target="media/image6.svg" /><Relationship Id="rId5" Type="http://schemas.openxmlformats.org/officeDocument/2006/relationships/image" Target="media/image8.png" /><Relationship Id="rId6" Type="http://schemas.openxmlformats.org/officeDocument/2006/relationships/image" Target="../media/blue-template-arc.png"/><Relationship Id="rId7" Type="http://schemas.openxmlformats.org/officeDocument/2006/relationships/image" Target="../media/blue-template-logo.jpeg"/></Relationships>
</file>

<file path=ppt/slides/_rels/slide15.xml.rels><?xml version="1.0" encoding="UTF-8" standalone="yes"?><Relationships xmlns="http://schemas.openxmlformats.org/package/2006/relationships"><Relationship Id="rId0" Type="http://schemas.openxmlformats.org/officeDocument/2006/relationships/slideLayout" Target="../slideLayouts/slideLayout7.xml" /><Relationship Id="rId1" Type="http://schemas.openxmlformats.org/officeDocument/2006/relationships/notesSlide" Target="../notesSlides/notesSlide6.xml" /><Relationship Id="rId2" Type="http://schemas.openxmlformats.org/officeDocument/2006/relationships/image" Target="media/image9.svg" /><Relationship Id="rId3" Type="http://schemas.openxmlformats.org/officeDocument/2006/relationships/image" Target="media/image10.svg" /><Relationship Id="rId4" Type="http://schemas.openxmlformats.org/officeDocument/2006/relationships/image" Target="media/image11.png" /><Relationship Id="rId5" Type="http://schemas.openxmlformats.org/officeDocument/2006/relationships/image" Target="media/image12.png" /><Relationship Id="rId6" Type="http://schemas.openxmlformats.org/officeDocument/2006/relationships/image" Target="../media/blue-template-arc.png"/><Relationship Id="rId7" Type="http://schemas.openxmlformats.org/officeDocument/2006/relationships/image" Target="../media/blue-template-logo.jpeg"/></Relationships>
</file>

<file path=ppt/slides/_rels/slide16.xml.rels><?xml version="1.0" encoding="UTF-8" standalone="yes"?><Relationships xmlns="http://schemas.openxmlformats.org/package/2006/relationships"><Relationship Id="rId5" Type="http://schemas.openxmlformats.org/officeDocument/2006/relationships/image" Target="media/image6.svg" /><Relationship Id="rId3" Type="http://schemas.openxmlformats.org/officeDocument/2006/relationships/image" Target="media/image13.svg" /><Relationship Id="rId1" Type="http://schemas.openxmlformats.org/officeDocument/2006/relationships/notesSlide" Target="../notesSlides/notesSlide7.xml" /><Relationship Id="rId0" Type="http://schemas.openxmlformats.org/officeDocument/2006/relationships/slideLayout" Target="../slideLayouts/slideLayout7.xml" /><Relationship Id="rId2" Type="http://schemas.openxmlformats.org/officeDocument/2006/relationships/image" Target="media/image5.svg" /><Relationship Id="rId4" Type="http://schemas.openxmlformats.org/officeDocument/2006/relationships/image" Target="media/image14.svg" /><Relationship Id="rId6" Type="http://schemas.openxmlformats.org/officeDocument/2006/relationships/image" Target="media/image15.png" /><Relationship Id="rId7" Type="http://schemas.openxmlformats.org/officeDocument/2006/relationships/image" Target="media/image16.png" /><Relationship Id="rId8" Type="http://schemas.openxmlformats.org/officeDocument/2006/relationships/image" Target="../media/blue-template-arc.png"/><Relationship Id="rId9" Type="http://schemas.openxmlformats.org/officeDocument/2006/relationships/image" Target="../media/blue-template-logo.jpeg"/></Relationships>
</file>

<file path=ppt/slides/_rels/slide17.xml.rels><?xml version="1.0" encoding="UTF-8" standalone="yes"?><Relationships xmlns="http://schemas.openxmlformats.org/package/2006/relationships"><Relationship Id="rId0" Type="http://schemas.openxmlformats.org/officeDocument/2006/relationships/slideLayout" Target="../slideLayouts/slideLayout7.xml" /><Relationship Id="rId1" Type="http://schemas.openxmlformats.org/officeDocument/2006/relationships/notesSlide" Target="../notesSlides/notesSlide8.xml" /><Relationship Id="rId2" Type="http://schemas.openxmlformats.org/officeDocument/2006/relationships/image" Target="media/image17.png" /><Relationship Id="rId5" Type="http://schemas.openxmlformats.org/officeDocument/2006/relationships/image" Target="media/image18.png" /><Relationship Id="rId4" Type="http://schemas.openxmlformats.org/officeDocument/2006/relationships/image" Target="media/image13.svg" /><Relationship Id="rId3" Type="http://schemas.openxmlformats.org/officeDocument/2006/relationships/image" Target="media/image5.svg" /><Relationship Id="rId6" Type="http://schemas.openxmlformats.org/officeDocument/2006/relationships/image" Target="../media/blue-template-arc.png"/><Relationship Id="rId7" Type="http://schemas.openxmlformats.org/officeDocument/2006/relationships/image" Target="../media/blue-template-logo.jpeg"/></Relationships>
</file>

<file path=ppt/slides/_rels/slide18.xml.rels><?xml version="1.0" encoding="UTF-8" standalone="yes"?><Relationships xmlns="http://schemas.openxmlformats.org/package/2006/relationships"><Relationship Id="rId3" Type="http://schemas.openxmlformats.org/officeDocument/2006/relationships/image" Target="media/image20.svg" /><Relationship Id="rId0" Type="http://schemas.openxmlformats.org/officeDocument/2006/relationships/slideLayout" Target="../slideLayouts/slideLayout7.xml" /><Relationship Id="rId1" Type="http://schemas.openxmlformats.org/officeDocument/2006/relationships/notesSlide" Target="../notesSlides/notesSlide9.xml" /><Relationship Id="rId2" Type="http://schemas.openxmlformats.org/officeDocument/2006/relationships/image" Target="media/image19.png" /><Relationship Id="rId4" Type="http://schemas.openxmlformats.org/officeDocument/2006/relationships/image" Target="media/image21.svg" /><Relationship Id="rId5" Type="http://schemas.openxmlformats.org/officeDocument/2006/relationships/image" Target="../media/blue-template-arc.png"/><Relationship Id="rId6" Type="http://schemas.openxmlformats.org/officeDocument/2006/relationships/image" Target="../media/blue-template-logo.jpeg"/></Relationships>
</file>

<file path=ppt/slides/_rels/slide19.xml.rels><?xml version="1.0" encoding="UTF-8" standalone="yes"?><Relationships xmlns="http://schemas.openxmlformats.org/package/2006/relationships"><Relationship Id="rId0" Type="http://schemas.openxmlformats.org/officeDocument/2006/relationships/slideLayout" Target="../slideLayouts/slideLayout7.xml" /><Relationship Id="rId1" Type="http://schemas.openxmlformats.org/officeDocument/2006/relationships/notesSlide" Target="../notesSlides/notesSlide10.xml" /><Relationship Id="rId2" Type="http://schemas.openxmlformats.org/officeDocument/2006/relationships/image" Target="media/image2.svg" /><Relationship Id="rId3" Type="http://schemas.openxmlformats.org/officeDocument/2006/relationships/image" Target="media/image3.svg" /><Relationship Id="rId4" Type="http://schemas.openxmlformats.org/officeDocument/2006/relationships/image" Target="media/image22.png" /><Relationship Id="rId5" Type="http://schemas.openxmlformats.org/officeDocument/2006/relationships/image" Target="../media/blue-template-arc.png"/><Relationship Id="rId6" Type="http://schemas.openxmlformats.org/officeDocument/2006/relationships/image" Target="../media/blue-template-logo.jpeg"/></Relationships>
</file>

<file path=ppt/slides/_rels/slide20.xml.rels><?xml version="1.0" encoding="UTF-8" standalone="yes"?><Relationships xmlns="http://schemas.openxmlformats.org/package/2006/relationships"><Relationship Id="rId4" Type="http://schemas.openxmlformats.org/officeDocument/2006/relationships/image" Target="media/image25.svg" /><Relationship Id="rId0" Type="http://schemas.openxmlformats.org/officeDocument/2006/relationships/slideLayout" Target="../slideLayouts/slideLayout7.xml" /><Relationship Id="rId1" Type="http://schemas.openxmlformats.org/officeDocument/2006/relationships/notesSlide" Target="../notesSlides/notesSlide12.xml" /><Relationship Id="rId2" Type="http://schemas.openxmlformats.org/officeDocument/2006/relationships/image" Target="media/image23.png" /><Relationship Id="rId3" Type="http://schemas.openxmlformats.org/officeDocument/2006/relationships/image" Target="media/image24.svg" /><Relationship Id="rId5" Type="http://schemas.openxmlformats.org/officeDocument/2006/relationships/image" Target="../media/blue-template-arc.png"/><Relationship Id="rId6" Type="http://schemas.openxmlformats.org/officeDocument/2006/relationships/image" Target="../media/blue-template-logo.jpeg"/></Relationships>
</file>

<file path=ppt/slides/_rels/slide21.xml.rels><?xml version="1.0" encoding="UTF-8" standalone="yes"?><Relationships xmlns="http://schemas.openxmlformats.org/package/2006/relationships"><Relationship Id="rId0" Type="http://schemas.openxmlformats.org/officeDocument/2006/relationships/slideLayout" Target="../slideLayouts/slideLayout7.xml" /><Relationship Id="rId1" Type="http://schemas.openxmlformats.org/officeDocument/2006/relationships/notesSlide" Target="../notesSlides/notesSlide13.xml" /><Relationship Id="rId2" Type="http://schemas.openxmlformats.org/officeDocument/2006/relationships/image" Target="media/image26.png" /><Relationship Id="rId3" Type="http://schemas.openxmlformats.org/officeDocument/2006/relationships/image" Target="../media/blue-template-arc.png"/><Relationship Id="rId4" Type="http://schemas.openxmlformats.org/officeDocument/2006/relationships/image" Target="../media/blue-template-logo.jpeg"/></Relationships>
</file>

<file path=ppt/slides/_rels/slide22.xml.rels><?xml version="1.0" encoding="UTF-8" standalone="yes"?><Relationships xmlns="http://schemas.openxmlformats.org/package/2006/relationships"><Relationship Id="rId1" Type="http://schemas.openxmlformats.org/officeDocument/2006/relationships/notesSlide" Target="../notesSlides/notesSlide14.xml" /><Relationship Id="rId0" Type="http://schemas.openxmlformats.org/officeDocument/2006/relationships/slideLayout" Target="../slideLayouts/slideLayout7.xml" /><Relationship Id="rId2" Type="http://schemas.openxmlformats.org/officeDocument/2006/relationships/image" Target="../media/blue-template-arc.png"/><Relationship Id="rId3" Type="http://schemas.openxmlformats.org/officeDocument/2006/relationships/image" Target="../media/blue-template-logo.jpeg"/></Relationships>
</file>

<file path=ppt/slides/_rels/slide23.xml.rels><?xml version="1.0" encoding="UTF-8" standalone="yes"?><Relationships xmlns="http://schemas.openxmlformats.org/package/2006/relationships"><Relationship Id="rId0" Type="http://schemas.openxmlformats.org/officeDocument/2006/relationships/slideLayout" Target="../slideLayouts/slideLayout7.xml" /><Relationship Id="rId1" Type="http://schemas.openxmlformats.org/officeDocument/2006/relationships/notesSlide" Target="../notesSlides/notesSlide15.xml" /><Relationship Id="rId2" Type="http://schemas.openxmlformats.org/officeDocument/2006/relationships/image" Target="../media/blue-template-arc.png"/><Relationship Id="rId3" Type="http://schemas.openxmlformats.org/officeDocument/2006/relationships/image" Target="../media/blue-template-logo.jpeg"/></Relationships>
</file>

<file path=ppt/slides/_rels/slide24.xml.rels><?xml version="1.0" encoding="UTF-8" standalone="yes"?><Relationships xmlns="http://schemas.openxmlformats.org/package/2006/relationships"><Relationship Id="rId0" Type="http://schemas.openxmlformats.org/officeDocument/2006/relationships/slideLayout" Target="../slideLayouts/slideLayout7.xml" /><Relationship Id="rId1" Type="http://schemas.openxmlformats.org/officeDocument/2006/relationships/notesSlide" Target="../notesSlides/notesSlide16.xml" /><Relationship Id="rId2" Type="http://schemas.openxmlformats.org/officeDocument/2006/relationships/image" Target="../media/blue-template-arc.png"/><Relationship Id="rId3" Type="http://schemas.openxmlformats.org/officeDocument/2006/relationships/image" Target="../media/blue-template-logo.jpeg"/></Relationships>
</file>

<file path=ppt/slides/_rels/slide25.xml.rels><?xml version="1.0" encoding="UTF-8" standalone="yes"?><Relationships xmlns="http://schemas.openxmlformats.org/package/2006/relationships"><Relationship Id="rId0" Type="http://schemas.openxmlformats.org/officeDocument/2006/relationships/slideLayout" Target="../slideLayouts/slideLayout7.xml" /><Relationship Id="rId1" Type="http://schemas.openxmlformats.org/officeDocument/2006/relationships/notesSlide" Target="../notesSlides/notesSlide17.xml" /><Relationship Id="rId2" Type="http://schemas.openxmlformats.org/officeDocument/2006/relationships/image" Target="../media/blue-template-arc.png"/><Relationship Id="rId3" Type="http://schemas.openxmlformats.org/officeDocument/2006/relationships/image" Target="../media/blue-template-logo.jpeg"/></Relationships>
</file>

<file path=ppt/slides/_rels/slide26.xml.rels><?xml version="1.0" encoding="UTF-8" standalone="yes"?><Relationships xmlns="http://schemas.openxmlformats.org/package/2006/relationships"><Relationship Id="rId0" Type="http://schemas.openxmlformats.org/officeDocument/2006/relationships/slideLayout" Target="../slideLayouts/slideLayout7.xml" /><Relationship Id="rId1" Type="http://schemas.openxmlformats.org/officeDocument/2006/relationships/notesSlide" Target="../notesSlides/notesSlide18.xml" /><Relationship Id="rId2" Type="http://schemas.openxmlformats.org/officeDocument/2006/relationships/image" Target="../media/blue-template-arc.png"/><Relationship Id="rId3" Type="http://schemas.openxmlformats.org/officeDocument/2006/relationships/image" Target="../media/blue-template-logo.jpeg"/></Relationships>
</file>

<file path=ppt/slides/_rels/slide27.xml.rels><?xml version="1.0" encoding="UTF-8" standalone="yes"?><Relationships xmlns="http://schemas.openxmlformats.org/package/2006/relationships"><Relationship Id="rId0" Type="http://schemas.openxmlformats.org/officeDocument/2006/relationships/slideLayout" Target="../slideLayouts/slideLayout7.xml" /><Relationship Id="rId1" Type="http://schemas.openxmlformats.org/officeDocument/2006/relationships/notesSlide" Target="../notesSlides/notesSlide19.xml" /><Relationship Id="rId2" Type="http://schemas.openxmlformats.org/officeDocument/2006/relationships/image" Target="../media/blue-template-arc.png"/><Relationship Id="rId3" Type="http://schemas.openxmlformats.org/officeDocument/2006/relationships/image" Target="../media/blue-template-logo.jpeg"/></Relationships>
</file>

<file path=ppt/slides/_rels/slide28.xml.rels><?xml version="1.0" encoding="UTF-8" standalone="yes"?><Relationships xmlns="http://schemas.openxmlformats.org/package/2006/relationships"><Relationship Id="rId0" Type="http://schemas.openxmlformats.org/officeDocument/2006/relationships/slideLayout" Target="../slideLayouts/slideLayout7.xml" /></Relationships>
</file>

<file path=ppt/slides/slide1.xml><?xml version="1.0" encoding="utf-8"?>
<p:sld xmlns:r="http://schemas.openxmlformats.org/officeDocument/2006/relationships"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3" name="Rectangle 2"/>
          <p:cNvSpPr/>
          <p:nvPr/>
        </p:nvSpPr>
        <p:spPr>
          <a:xfrm>
            <a:off x="0" y="6693408"/>
            <a:ext cx="12191695" cy="164592"/>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4" name="Rectangle 3"/>
          <p:cNvSpPr/>
          <p:nvPr/>
        </p:nvSpPr>
        <p:spPr>
          <a:xfrm>
            <a:off x="822960" y="1920240"/>
            <a:ext cx="146304" cy="2743200"/>
          </a:xfrm>
          <a:prstGeom prst="rect">
            <a:avLst/>
          </a:prstGeom>
          <a:solidFill>
            <a:srgbClr val="54B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5" name="TextBox 4"/>
          <p:cNvSpPr txBox="1"/>
          <p:nvPr/>
        </p:nvSpPr>
        <p:spPr>
          <a:xfrm>
            <a:off x="1234440" y="1737360"/>
            <a:ext cx="10058400" cy="1097280"/>
          </a:xfrm>
          <a:prstGeom prst="rect">
            <a:avLst/>
          </a:prstGeom>
          <a:noFill/>
        </p:spPr>
        <p:txBody>
          <a:bodyPr wrap="square" lIns="0" tIns="0" rIns="0" bIns="0" anchor="t">
            <a:spAutoFit/>
          </a:bodyPr>
          <a:lstStyle/>
          <a:p>
            <a:pPr algn="l">
              <a:lnSpc>
                <a:spcPct val="115000"/>
              </a:lnSpc>
              <a:spcAft>
                <a:spcPts val="600"/>
              </a:spcAft>
            </a:pPr>
            <a:r>
              <a:rPr sz="4000" b="1">
                <a:solidFill>
                  <a:srgbClr val="0070C0"/>
                </a:solidFill>
                <a:latin typeface="微软雅黑" panose="020B0503020204020204" charset="-122"/>
                <a:ea typeface="微软雅黑" panose="020B0503020204020204" charset="-122"/>
                <a:cs typeface="微软雅黑" panose="020B0503020204020204" charset="-122"/>
              </a:rPr>
              <a:t>心中有信 · 未来可期</a:t>
            </a:r>
            <a:endParaRPr sz="4000" b="1">
              <a:solidFill>
                <a:srgbClr val="0070C0"/>
              </a:solidFill>
              <a:latin typeface="微软雅黑" panose="020B0503020204020204" charset="-122"/>
              <a:ea typeface="微软雅黑" panose="020B0503020204020204" charset="-122"/>
              <a:cs typeface="微软雅黑" panose="020B0503020204020204" charset="-122"/>
            </a:endParaRPr>
          </a:p>
        </p:txBody>
      </p:sp>
      <p:sp>
        <p:nvSpPr>
          <p:cNvPr id="6" name="TextBox 5"/>
          <p:cNvSpPr txBox="1"/>
          <p:nvPr/>
        </p:nvSpPr>
        <p:spPr>
          <a:xfrm>
            <a:off x="1234440" y="2880360"/>
            <a:ext cx="10058400" cy="1280160"/>
          </a:xfrm>
          <a:prstGeom prst="rect">
            <a:avLst/>
          </a:prstGeom>
          <a:noFill/>
        </p:spPr>
        <p:txBody>
          <a:bodyPr wrap="square" lIns="0" tIns="0" rIns="0" bIns="0" anchor="t">
            <a:spAutoFit/>
          </a:bodyPr>
          <a:lstStyle/>
          <a:p>
            <a:pPr algn="l">
              <a:lnSpc>
                <a:spcPct val="115000"/>
              </a:lnSpc>
              <a:spcAft>
                <a:spcPts val="600"/>
              </a:spcAft>
            </a:pPr>
            <a:r>
              <a:rPr sz="4400" b="1">
                <a:solidFill>
                  <a:srgbClr val="1F2933"/>
                </a:solidFill>
                <a:latin typeface="微软雅黑" panose="020B0503020204020204" charset="-122"/>
                <a:ea typeface="微软雅黑" panose="020B0503020204020204" charset="-122"/>
                <a:cs typeface="微软雅黑" panose="020B0503020204020204" charset="-122"/>
              </a:rPr>
              <a:t>近期宏观变化及资产配置</a:t>
            </a:r>
            <a:endParaRPr sz="4400" b="1">
              <a:solidFill>
                <a:srgbClr val="1F2933"/>
              </a:solidFill>
              <a:latin typeface="微软雅黑" panose="020B0503020204020204" charset="-122"/>
              <a:ea typeface="微软雅黑" panose="020B0503020204020204" charset="-122"/>
              <a:cs typeface="微软雅黑" panose="020B0503020204020204" charset="-122"/>
            </a:endParaRPr>
          </a:p>
        </p:txBody>
      </p:sp>
      <p:sp>
        <p:nvSpPr>
          <p:cNvPr id="7" name="Rectangle 6"/>
          <p:cNvSpPr/>
          <p:nvPr/>
        </p:nvSpPr>
        <p:spPr>
          <a:xfrm>
            <a:off x="1261872" y="4343400"/>
            <a:ext cx="2743200" cy="31750"/>
          </a:xfrm>
          <a:prstGeom prst="rect">
            <a:avLst/>
          </a:prstGeom>
          <a:solidFill>
            <a:srgbClr val="54B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8" name="TextBox 7"/>
          <p:cNvSpPr txBox="1"/>
          <p:nvPr/>
        </p:nvSpPr>
        <p:spPr>
          <a:xfrm>
            <a:off x="1234440" y="4617720"/>
            <a:ext cx="5486400" cy="548640"/>
          </a:xfrm>
          <a:prstGeom prst="rect">
            <a:avLst/>
          </a:prstGeom>
          <a:noFill/>
        </p:spPr>
        <p:txBody>
          <a:bodyPr wrap="square" lIns="0" tIns="0" rIns="0" bIns="0" anchor="t">
            <a:spAutoFit/>
          </a:bodyPr>
          <a:lstStyle/>
          <a:p>
            <a:pPr algn="l">
              <a:lnSpc>
                <a:spcPct val="115000"/>
              </a:lnSpc>
              <a:spcAft>
                <a:spcPts val="600"/>
              </a:spcAft>
            </a:pPr>
            <a:r>
              <a:rPr sz="2200" b="0">
                <a:solidFill>
                  <a:srgbClr val="383535"/>
                </a:solidFill>
                <a:latin typeface="微软雅黑" panose="020B0503020204020204" charset="-122"/>
                <a:ea typeface="微软雅黑" panose="020B0503020204020204" charset="-122"/>
                <a:cs typeface="微软雅黑" panose="020B0503020204020204" charset="-122"/>
              </a:rPr>
              <a:t>2026.09</a:t>
            </a:r>
            <a:endParaRPr sz="2200" b="0">
              <a:solidFill>
                <a:srgbClr val="383535"/>
              </a:solidFill>
              <a:latin typeface="微软雅黑" panose="020B0503020204020204" charset="-122"/>
              <a:ea typeface="微软雅黑" panose="020B0503020204020204" charset="-122"/>
              <a:cs typeface="微软雅黑" panose="020B0503020204020204" charset="-122"/>
            </a:endParaRPr>
          </a:p>
        </p:txBody>
      </p:sp>
      <p:sp>
        <p:nvSpPr>
          <p:cNvPr id="9" name="TextBox 8"/>
          <p:cNvSpPr txBox="1"/>
          <p:nvPr/>
        </p:nvSpPr>
        <p:spPr>
          <a:xfrm>
            <a:off x="1234440" y="5166360"/>
            <a:ext cx="9144000" cy="212090"/>
          </a:xfrm>
          <a:prstGeom prst="rect">
            <a:avLst/>
          </a:prstGeom>
          <a:noFill/>
        </p:spPr>
        <p:txBody>
          <a:bodyPr wrap="square" lIns="0" tIns="0" rIns="0" bIns="0" anchor="t">
            <a:spAutoFit/>
          </a:bodyPr>
          <a:lstStyle/>
          <a:p>
            <a:pPr algn="l">
              <a:lnSpc>
                <a:spcPct val="115000"/>
              </a:lnSpc>
              <a:spcAft>
                <a:spcPts val="600"/>
              </a:spcAft>
            </a:pPr>
            <a:r>
              <a:rPr sz="1200" b="0">
                <a:solidFill>
                  <a:srgbClr val="595959"/>
                </a:solidFill>
                <a:latin typeface="微软雅黑" panose="020B0503020204020204" charset="-122"/>
                <a:ea typeface="微软雅黑" panose="020B0503020204020204" charset="-122"/>
                <a:cs typeface="微软雅黑" panose="020B0503020204020204" charset="-122"/>
              </a:rPr>
              <a:t>数据截至 2026 年 9 月 8 日</a:t>
            </a:r>
            <a:endParaRPr sz="1200" b="0">
              <a:solidFill>
                <a:srgbClr val="595959"/>
              </a:solidFill>
              <a:latin typeface="微软雅黑" panose="020B0503020204020204" charset="-122"/>
              <a:ea typeface="微软雅黑" panose="020B0503020204020204" charset="-122"/>
              <a:cs typeface="微软雅黑" panose="020B0503020204020204" charset="-122"/>
            </a:endParaRPr>
          </a:p>
        </p:txBody>
      </p:sp>
      <p:pic>
        <p:nvPicPr>
          <p:cNvPr id="10" name="参考模板浅蓝背景弧线"/>
          <p:cNvPicPr/>
          <p:nvPr/>
        </p:nvPicPr>
        <p:blipFill>
          <a:blip r:embed="rId2"/>
          <a:stretch>
            <a:fillRect/>
          </a:stretch>
        </p:blipFill>
        <p:spPr>
          <a:xfrm>
            <a:off x="4457700" y="0"/>
            <a:ext cx="3143250" cy="495300"/>
          </a:xfrm>
          <a:prstGeom prst="rect">
            <a:avLst/>
          </a:prstGeom>
          <a:noFill/>
          <a:ln>
            <a:noFill/>
          </a:ln>
        </p:spPr>
      </p:pic>
      <p:pic>
        <p:nvPicPr>
          <p:cNvPr id="11" name="参考模板右上角标识"/>
          <p:cNvPicPr/>
          <p:nvPr/>
        </p:nvPicPr>
        <p:blipFill>
          <a:blip r:embed="rId3"/>
          <a:stretch>
            <a:fillRect/>
          </a:stretch>
        </p:blipFill>
        <p:spPr>
          <a:xfrm>
            <a:off x="9696450" y="209550"/>
            <a:ext cx="1733550" cy="390525"/>
          </a:xfrm>
          <a:prstGeom prst="rect">
            <a:avLst/>
          </a:prstGeom>
          <a:noFill/>
          <a:ln>
            <a:noFill/>
          </a:ln>
        </p:spPr>
      </p:pic>
    </p:spTree>
  </p:cSld>
  <p:clrMapOvr>
    <a:masterClrMapping/>
  </p:clrMapOvr>
</p:sld>
</file>

<file path=ppt/slides/slide2.xml><?xml version="1.0" encoding="utf-8"?>
<p:sld xmlns:r="http://schemas.openxmlformats.org/officeDocument/2006/relationships" xmlns:p="http://schemas.openxmlformats.org/presentationml/2006/main" xmlns:a="http://schemas.openxmlformats.org/drawingml/2006/main">
  <p:cSld>
    <p:spTree>
      <p:nvGrpSpPr>
        <p:cNvPr id="160" name=""/>
        <p:cNvGrpSpPr/>
        <p:nvPr/>
      </p:nvGrpSpPr>
      <p:grpSpPr>
        <a:xfrm>
          <a:off x="0" y="0"/>
          <a:ext cx="0" cy="0"/>
          <a:chOff x="0" y="0"/>
          <a:chExt cx="0" cy="0"/>
        </a:xfrm>
      </p:grpSpPr>
      <p:sp>
        <p:nvSpPr>
          <p:cNvPr id="161" name="Rectangle 1"/>
          <p:cNvSpPr/>
          <p:nvPr/>
        </p:nvSpPr>
        <p:spPr>
          <a:xfrm>
            <a:off x="502920" y="457200"/>
            <a:ext cx="82296" cy="566928"/>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162" name="TextBox 2"/>
          <p:cNvSpPr txBox="1"/>
          <p:nvPr/>
        </p:nvSpPr>
        <p:spPr>
          <a:xfrm>
            <a:off x="713232" y="420624"/>
            <a:ext cx="9601200" cy="640080"/>
          </a:xfrm>
          <a:prstGeom prst="rect">
            <a:avLst/>
          </a:prstGeom>
          <a:noFill/>
        </p:spPr>
        <p:txBody>
          <a:bodyPr wrap="square" lIns="0" tIns="0" rIns="0" bIns="0" anchor="ctr">
            <a:spAutoFit/>
          </a:bodyPr>
          <a:lstStyle/>
          <a:p>
            <a:pPr algn="l">
              <a:lnSpc>
                <a:spcPct val="115000"/>
              </a:lnSpc>
              <a:spcAft>
                <a:spcPts val="600"/>
              </a:spcAft>
            </a:pPr>
            <a:r>
              <a:rPr sz="2600" b="1">
                <a:solidFill>
                  <a:srgbClr val="0070C0"/>
                </a:solidFill>
                <a:latin typeface="微软雅黑" panose="020B0503020204020204" charset="-122"/>
                <a:ea typeface="微软雅黑" panose="020B0503020204020204" charset="-122"/>
                <a:cs typeface="微软雅黑" panose="020B0503020204020204" charset="-122"/>
              </a:rPr>
              <a:t>客户需求定位</a:t>
            </a:r>
            <a:endParaRPr sz="2600" b="1">
              <a:solidFill>
                <a:srgbClr val="0070C0"/>
              </a:solidFill>
              <a:latin typeface="微软雅黑" panose="020B0503020204020204" charset="-122"/>
              <a:ea typeface="微软雅黑" panose="020B0503020204020204" charset="-122"/>
              <a:cs typeface="微软雅黑" panose="020B0503020204020204" charset="-122"/>
            </a:endParaRPr>
          </a:p>
        </p:txBody>
      </p:sp>
      <p:sp>
        <p:nvSpPr>
          <p:cNvPr id="163" name="TextBox 3"/>
          <p:cNvSpPr txBox="1"/>
          <p:nvPr/>
        </p:nvSpPr>
        <p:spPr>
          <a:xfrm>
            <a:off x="713232" y="1042415"/>
            <a:ext cx="10515600" cy="365760"/>
          </a:xfrm>
          <a:prstGeom prst="rect">
            <a:avLst/>
          </a:prstGeom>
          <a:noFill/>
        </p:spPr>
        <p:txBody>
          <a:bodyPr wrap="square" lIns="0" tIns="0" rIns="0" bIns="0" anchor="t">
            <a:spAutoFit/>
          </a:bodyPr>
          <a:lstStyle/>
          <a:p>
            <a:pPr algn="l">
              <a:lnSpc>
                <a:spcPct val="115000"/>
              </a:lnSpc>
              <a:spcAft>
                <a:spcPts val="600"/>
              </a:spcAft>
            </a:pPr>
            <a:r>
              <a:rPr sz="1100" b="0">
                <a:solidFill>
                  <a:srgbClr val="595959"/>
                </a:solidFill>
                <a:latin typeface="微软雅黑" panose="020B0503020204020204" charset="-122"/>
                <a:ea typeface="微软雅黑" panose="020B0503020204020204" charset="-122"/>
                <a:cs typeface="微软雅黑" panose="020B0503020204020204" charset="-122"/>
              </a:rPr>
              <a:t>构建标准化资产配置组合 · 硬性回撤约束下的稳健增值</a:t>
            </a:r>
            <a:endParaRPr sz="1100" b="0">
              <a:solidFill>
                <a:srgbClr val="595959"/>
              </a:solidFill>
              <a:latin typeface="微软雅黑" panose="020B0503020204020204" charset="-122"/>
              <a:ea typeface="微软雅黑" panose="020B0503020204020204" charset="-122"/>
              <a:cs typeface="微软雅黑" panose="020B0503020204020204" charset="-122"/>
            </a:endParaRPr>
          </a:p>
        </p:txBody>
      </p:sp>
      <p:sp>
        <p:nvSpPr>
          <p:cNvPr id="164" name="Rectangle 4"/>
          <p:cNvSpPr/>
          <p:nvPr/>
        </p:nvSpPr>
        <p:spPr>
          <a:xfrm>
            <a:off x="502920" y="1005840"/>
            <a:ext cx="2011680" cy="27940"/>
          </a:xfrm>
          <a:prstGeom prst="rect">
            <a:avLst/>
          </a:prstGeom>
          <a:solidFill>
            <a:srgbClr val="54B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165" name="Rectangle 5"/>
          <p:cNvSpPr/>
          <p:nvPr/>
        </p:nvSpPr>
        <p:spPr>
          <a:xfrm>
            <a:off x="502920" y="1060704"/>
            <a:ext cx="11183112" cy="11430"/>
          </a:xfrm>
          <a:prstGeom prst="rect">
            <a:avLst/>
          </a:prstGeom>
          <a:solidFill>
            <a:srgbClr val="AED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166" name="Rectangle 6"/>
          <p:cNvSpPr/>
          <p:nvPr/>
        </p:nvSpPr>
        <p:spPr>
          <a:xfrm>
            <a:off x="502920" y="1691640"/>
            <a:ext cx="1371600" cy="457200"/>
          </a:xfrm>
          <a:prstGeom prst="rect">
            <a:avLst/>
          </a:prstGeom>
          <a:solidFill>
            <a:srgbClr val="EA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167" name="Rectangle 7"/>
          <p:cNvSpPr/>
          <p:nvPr/>
        </p:nvSpPr>
        <p:spPr>
          <a:xfrm>
            <a:off x="502920" y="1691640"/>
            <a:ext cx="1371600" cy="457200"/>
          </a:xfrm>
          <a:prstGeom prst="rect">
            <a:avLst/>
          </a:prstGeom>
          <a:solidFill>
            <a:srgbClr val="EAF6FC"/>
          </a:solidFill>
          <a:ln>
            <a:noFill/>
          </a:ln>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ctr">
              <a:lnSpc>
                <a:spcPct val="110000"/>
              </a:lnSpc>
              <a:spcAft>
                <a:spcPts val="400"/>
              </a:spcAft>
            </a:pPr>
            <a:r>
              <a:rPr sz="1400" b="1">
                <a:solidFill>
                  <a:srgbClr val="0070C0"/>
                </a:solidFill>
                <a:latin typeface="微软雅黑" panose="020B0503020204020204" charset="-122"/>
                <a:ea typeface="微软雅黑" panose="020B0503020204020204" charset="-122"/>
                <a:cs typeface="微软雅黑" panose="020B0503020204020204" charset="-122"/>
              </a:rPr>
              <a:t>主体属性</a:t>
            </a:r>
            <a:endParaRPr sz="1400" b="1">
              <a:solidFill>
                <a:srgbClr val="0070C0"/>
              </a:solidFill>
              <a:latin typeface="微软雅黑" panose="020B0503020204020204" charset="-122"/>
              <a:ea typeface="微软雅黑" panose="020B0503020204020204" charset="-122"/>
              <a:cs typeface="微软雅黑" panose="020B0503020204020204" charset="-122"/>
            </a:endParaRPr>
          </a:p>
        </p:txBody>
      </p:sp>
      <p:sp>
        <p:nvSpPr>
          <p:cNvPr id="168" name="TextBox 8"/>
          <p:cNvSpPr txBox="1"/>
          <p:nvPr/>
        </p:nvSpPr>
        <p:spPr>
          <a:xfrm>
            <a:off x="2057400" y="1709928"/>
            <a:ext cx="9509760" cy="914400"/>
          </a:xfrm>
          <a:prstGeom prst="rect">
            <a:avLst/>
          </a:prstGeom>
          <a:noFill/>
        </p:spPr>
        <p:txBody>
          <a:bodyPr wrap="square" lIns="0" tIns="0" rIns="0" bIns="0" anchor="t">
            <a:spAutoFit/>
          </a:bodyPr>
          <a:lstStyle/>
          <a:p>
            <a:pPr algn="l">
              <a:lnSpc>
                <a:spcPct val="125000"/>
              </a:lnSpc>
              <a:spcAft>
                <a:spcPts val="600"/>
              </a:spcAft>
            </a:pPr>
            <a:r>
              <a:rPr sz="1400" b="0">
                <a:solidFill>
                  <a:srgbClr val="1F2933"/>
                </a:solidFill>
                <a:latin typeface="微软雅黑" panose="020B0503020204020204" charset="-122"/>
                <a:ea typeface="微软雅黑" panose="020B0503020204020204" charset="-122"/>
                <a:cs typeface="微软雅黑" panose="020B0503020204020204" charset="-122"/>
              </a:rPr>
              <a:t>经营稳健的实体企业，资金核心诉求是安全性优先、流动性匹配经营节奏、兼顾稳健增值，对本金安全与回撤控制有极致要求。</a:t>
            </a:r>
            <a:endParaRPr sz="1400" b="0">
              <a:solidFill>
                <a:srgbClr val="1F2933"/>
              </a:solidFill>
              <a:latin typeface="微软雅黑" panose="020B0503020204020204" charset="-122"/>
              <a:ea typeface="微软雅黑" panose="020B0503020204020204" charset="-122"/>
              <a:cs typeface="微软雅黑" panose="020B0503020204020204" charset="-122"/>
            </a:endParaRPr>
          </a:p>
        </p:txBody>
      </p:sp>
      <p:sp>
        <p:nvSpPr>
          <p:cNvPr id="169" name="Rectangle 9"/>
          <p:cNvSpPr/>
          <p:nvPr/>
        </p:nvSpPr>
        <p:spPr>
          <a:xfrm>
            <a:off x="502920" y="2514600"/>
            <a:ext cx="1371600" cy="457200"/>
          </a:xfrm>
          <a:prstGeom prst="rect">
            <a:avLst/>
          </a:prstGeom>
          <a:solidFill>
            <a:srgbClr val="EA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170" name="Rectangle 10"/>
          <p:cNvSpPr/>
          <p:nvPr/>
        </p:nvSpPr>
        <p:spPr>
          <a:xfrm>
            <a:off x="502920" y="2514600"/>
            <a:ext cx="1371600" cy="457200"/>
          </a:xfrm>
          <a:prstGeom prst="rect">
            <a:avLst/>
          </a:prstGeom>
          <a:solidFill>
            <a:srgbClr val="EAF6FC"/>
          </a:solidFill>
          <a:ln>
            <a:noFill/>
          </a:ln>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ctr">
              <a:lnSpc>
                <a:spcPct val="110000"/>
              </a:lnSpc>
              <a:spcAft>
                <a:spcPts val="400"/>
              </a:spcAft>
            </a:pPr>
            <a:r>
              <a:rPr sz="1400" b="1">
                <a:solidFill>
                  <a:srgbClr val="0070C0"/>
                </a:solidFill>
                <a:latin typeface="微软雅黑" panose="020B0503020204020204" charset="-122"/>
                <a:ea typeface="微软雅黑" panose="020B0503020204020204" charset="-122"/>
                <a:cs typeface="微软雅黑" panose="020B0503020204020204" charset="-122"/>
              </a:rPr>
              <a:t>核心目标</a:t>
            </a:r>
            <a:endParaRPr sz="1400" b="1">
              <a:solidFill>
                <a:srgbClr val="0070C0"/>
              </a:solidFill>
              <a:latin typeface="微软雅黑" panose="020B0503020204020204" charset="-122"/>
              <a:ea typeface="微软雅黑" panose="020B0503020204020204" charset="-122"/>
              <a:cs typeface="微软雅黑" panose="020B0503020204020204" charset="-122"/>
            </a:endParaRPr>
          </a:p>
        </p:txBody>
      </p:sp>
      <p:sp>
        <p:nvSpPr>
          <p:cNvPr id="171" name="TextBox 11"/>
          <p:cNvSpPr txBox="1"/>
          <p:nvPr/>
        </p:nvSpPr>
        <p:spPr>
          <a:xfrm>
            <a:off x="2057400" y="2532888"/>
            <a:ext cx="9509760" cy="914400"/>
          </a:xfrm>
          <a:prstGeom prst="rect">
            <a:avLst/>
          </a:prstGeom>
          <a:noFill/>
        </p:spPr>
        <p:txBody>
          <a:bodyPr wrap="square" lIns="0" tIns="0" rIns="0" bIns="0" anchor="t">
            <a:spAutoFit/>
          </a:bodyPr>
          <a:lstStyle/>
          <a:p>
            <a:pPr algn="l">
              <a:lnSpc>
                <a:spcPct val="125000"/>
              </a:lnSpc>
              <a:spcAft>
                <a:spcPts val="600"/>
              </a:spcAft>
            </a:pPr>
            <a:r>
              <a:rPr sz="1400" b="0">
                <a:solidFill>
                  <a:srgbClr val="1F2933"/>
                </a:solidFill>
                <a:latin typeface="微软雅黑" panose="020B0503020204020204" charset="-122"/>
                <a:ea typeface="微软雅黑" panose="020B0503020204020204" charset="-122"/>
                <a:cs typeface="微软雅黑" panose="020B0503020204020204" charset="-122"/>
              </a:rPr>
              <a:t>构建标准化的资产配置组合，硬性约束为组合最大回撤控制在 1% 以内，同时达成“年化 6%”的投资收益目标。</a:t>
            </a:r>
            <a:endParaRPr sz="1400" b="0">
              <a:solidFill>
                <a:srgbClr val="1F2933"/>
              </a:solidFill>
              <a:latin typeface="微软雅黑" panose="020B0503020204020204" charset="-122"/>
              <a:ea typeface="微软雅黑" panose="020B0503020204020204" charset="-122"/>
              <a:cs typeface="微软雅黑" panose="020B0503020204020204" charset="-122"/>
            </a:endParaRPr>
          </a:p>
        </p:txBody>
      </p:sp>
      <p:sp>
        <p:nvSpPr>
          <p:cNvPr id="172" name="Rectangle 12"/>
          <p:cNvSpPr/>
          <p:nvPr/>
        </p:nvSpPr>
        <p:spPr>
          <a:xfrm>
            <a:off x="502920" y="3337560"/>
            <a:ext cx="1371600" cy="457200"/>
          </a:xfrm>
          <a:prstGeom prst="rect">
            <a:avLst/>
          </a:prstGeom>
          <a:solidFill>
            <a:srgbClr val="EA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173" name="Rectangle 13"/>
          <p:cNvSpPr/>
          <p:nvPr/>
        </p:nvSpPr>
        <p:spPr>
          <a:xfrm>
            <a:off x="502920" y="3337560"/>
            <a:ext cx="1371600" cy="457200"/>
          </a:xfrm>
          <a:prstGeom prst="rect">
            <a:avLst/>
          </a:prstGeom>
          <a:solidFill>
            <a:srgbClr val="EAF6FC"/>
          </a:solidFill>
          <a:ln>
            <a:noFill/>
          </a:ln>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ctr">
              <a:lnSpc>
                <a:spcPct val="110000"/>
              </a:lnSpc>
              <a:spcAft>
                <a:spcPts val="400"/>
              </a:spcAft>
            </a:pPr>
            <a:r>
              <a:rPr sz="1400" b="1">
                <a:solidFill>
                  <a:srgbClr val="0070C0"/>
                </a:solidFill>
                <a:latin typeface="微软雅黑" panose="020B0503020204020204" charset="-122"/>
                <a:ea typeface="微软雅黑" panose="020B0503020204020204" charset="-122"/>
                <a:cs typeface="微软雅黑" panose="020B0503020204020204" charset="-122"/>
              </a:rPr>
              <a:t>持仓现状</a:t>
            </a:r>
            <a:endParaRPr sz="1400" b="1">
              <a:solidFill>
                <a:srgbClr val="0070C0"/>
              </a:solidFill>
              <a:latin typeface="微软雅黑" panose="020B0503020204020204" charset="-122"/>
              <a:ea typeface="微软雅黑" panose="020B0503020204020204" charset="-122"/>
              <a:cs typeface="微软雅黑" panose="020B0503020204020204" charset="-122"/>
            </a:endParaRPr>
          </a:p>
        </p:txBody>
      </p:sp>
      <p:sp>
        <p:nvSpPr>
          <p:cNvPr id="174" name="TextBox 14"/>
          <p:cNvSpPr txBox="1"/>
          <p:nvPr/>
        </p:nvSpPr>
        <p:spPr>
          <a:xfrm>
            <a:off x="2057400" y="3355848"/>
            <a:ext cx="9509760" cy="914400"/>
          </a:xfrm>
          <a:prstGeom prst="rect">
            <a:avLst/>
          </a:prstGeom>
          <a:noFill/>
        </p:spPr>
        <p:txBody>
          <a:bodyPr wrap="square" lIns="0" tIns="0" rIns="0" bIns="0" anchor="t">
            <a:spAutoFit/>
          </a:bodyPr>
          <a:lstStyle/>
          <a:p>
            <a:pPr algn="l">
              <a:lnSpc>
                <a:spcPct val="125000"/>
              </a:lnSpc>
              <a:spcAft>
                <a:spcPts val="600"/>
              </a:spcAft>
            </a:pPr>
            <a:r>
              <a:rPr sz="1400" b="0">
                <a:solidFill>
                  <a:srgbClr val="1F2933"/>
                </a:solidFill>
                <a:latin typeface="微软雅黑" panose="020B0503020204020204" charset="-122"/>
                <a:ea typeface="微软雅黑" panose="020B0503020204020204" charset="-122"/>
                <a:cs typeface="微软雅黑" panose="020B0503020204020204" charset="-122"/>
              </a:rPr>
              <a:t>贵司当前已布局部分高风险高收益类产品，本次方案将通过多资产、低相关性策略的科学配置，对冲现有高风险持仓的波动，实现整体组合的风险收益平衡。</a:t>
            </a:r>
            <a:endParaRPr sz="1400" b="0">
              <a:solidFill>
                <a:srgbClr val="1F2933"/>
              </a:solidFill>
              <a:latin typeface="微软雅黑" panose="020B0503020204020204" charset="-122"/>
              <a:ea typeface="微软雅黑" panose="020B0503020204020204" charset="-122"/>
              <a:cs typeface="微软雅黑" panose="020B0503020204020204" charset="-122"/>
            </a:endParaRPr>
          </a:p>
        </p:txBody>
      </p:sp>
      <p:sp>
        <p:nvSpPr>
          <p:cNvPr id="175" name="Rectangle 15"/>
          <p:cNvSpPr/>
          <p:nvPr/>
        </p:nvSpPr>
        <p:spPr>
          <a:xfrm>
            <a:off x="502920" y="4297680"/>
            <a:ext cx="5394960" cy="155448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176" name="Rectangle 16"/>
          <p:cNvSpPr/>
          <p:nvPr/>
        </p:nvSpPr>
        <p:spPr>
          <a:xfrm>
            <a:off x="502920" y="4297680"/>
            <a:ext cx="5394960" cy="155448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ctr">
              <a:lnSpc>
                <a:spcPct val="110000"/>
              </a:lnSpc>
              <a:spcAft>
                <a:spcPts val="400"/>
              </a:spcAft>
            </a:pPr>
            <a:r>
              <a:rPr lang="en-US" sz="4000" b="1">
                <a:solidFill>
                  <a:srgbClr val="FFFFFF"/>
                </a:solidFill>
                <a:latin typeface="微软雅黑" panose="020B0503020204020204" charset="-122"/>
                <a:ea typeface="微软雅黑" panose="020B0503020204020204" charset="-122"/>
                <a:cs typeface="微软雅黑" panose="020B0503020204020204" charset="-122"/>
              </a:rPr>
              <a:t>4-6</a:t>
            </a:r>
            <a:r>
              <a:rPr sz="4000" b="1">
                <a:solidFill>
                  <a:srgbClr val="FFFFFF"/>
                </a:solidFill>
                <a:latin typeface="微软雅黑" panose="020B0503020204020204" charset="-122"/>
                <a:ea typeface="微软雅黑" panose="020B0503020204020204" charset="-122"/>
                <a:cs typeface="微软雅黑" panose="020B0503020204020204" charset="-122"/>
              </a:rPr>
              <a:t>%</a:t>
            </a:r>
            <a:endParaRPr sz="4000" b="1">
              <a:solidFill>
                <a:srgbClr val="FFFFFF"/>
              </a:solidFill>
              <a:latin typeface="微软雅黑" panose="020B0503020204020204" charset="-122"/>
              <a:ea typeface="微软雅黑" panose="020B0503020204020204" charset="-122"/>
              <a:cs typeface="微软雅黑" panose="020B0503020204020204" charset="-122"/>
            </a:endParaRPr>
          </a:p>
          <a:p>
            <a:pPr algn="ctr">
              <a:lnSpc>
                <a:spcPct val="110000"/>
              </a:lnSpc>
              <a:spcAft>
                <a:spcPts val="400"/>
              </a:spcAft>
            </a:pPr>
            <a:r>
              <a:rPr sz="1400" b="0">
                <a:solidFill>
                  <a:srgbClr val="FFFFFF"/>
                </a:solidFill>
                <a:latin typeface="微软雅黑" panose="020B0503020204020204" charset="-122"/>
                <a:ea typeface="微软雅黑" panose="020B0503020204020204" charset="-122"/>
                <a:cs typeface="微软雅黑" panose="020B0503020204020204" charset="-122"/>
              </a:rPr>
              <a:t>绝对收益年化目标</a:t>
            </a:r>
            <a:endParaRPr sz="1400" b="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77" name="Rectangle 17"/>
          <p:cNvSpPr/>
          <p:nvPr/>
        </p:nvSpPr>
        <p:spPr>
          <a:xfrm>
            <a:off x="6309360" y="4297680"/>
            <a:ext cx="5394960" cy="1554480"/>
          </a:xfrm>
          <a:prstGeom prst="rect">
            <a:avLst/>
          </a:prstGeom>
          <a:solidFill>
            <a:srgbClr val="54B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178" name="Rectangle 18"/>
          <p:cNvSpPr/>
          <p:nvPr/>
        </p:nvSpPr>
        <p:spPr>
          <a:xfrm>
            <a:off x="6309360" y="4297680"/>
            <a:ext cx="5394960" cy="1554480"/>
          </a:xfrm>
          <a:prstGeom prst="rect">
            <a:avLst/>
          </a:prstGeom>
          <a:solidFill>
            <a:srgbClr val="54B0E0"/>
          </a:solidFill>
          <a:ln>
            <a:noFill/>
          </a:ln>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ctr">
              <a:lnSpc>
                <a:spcPct val="110000"/>
              </a:lnSpc>
              <a:spcAft>
                <a:spcPts val="400"/>
              </a:spcAft>
            </a:pPr>
            <a:r>
              <a:rPr sz="4000" b="1">
                <a:solidFill>
                  <a:srgbClr val="FFFFFF"/>
                </a:solidFill>
                <a:latin typeface="微软雅黑" panose="020B0503020204020204" charset="-122"/>
                <a:ea typeface="微软雅黑" panose="020B0503020204020204" charset="-122"/>
                <a:cs typeface="微软雅黑" panose="020B0503020204020204" charset="-122"/>
              </a:rPr>
              <a:t>&lt; 1%</a:t>
            </a:r>
            <a:endParaRPr sz="4000" b="1">
              <a:solidFill>
                <a:srgbClr val="FFFFFF"/>
              </a:solidFill>
              <a:latin typeface="微软雅黑" panose="020B0503020204020204" charset="-122"/>
              <a:ea typeface="微软雅黑" panose="020B0503020204020204" charset="-122"/>
              <a:cs typeface="微软雅黑" panose="020B0503020204020204" charset="-122"/>
            </a:endParaRPr>
          </a:p>
          <a:p>
            <a:pPr algn="ctr">
              <a:lnSpc>
                <a:spcPct val="110000"/>
              </a:lnSpc>
              <a:spcAft>
                <a:spcPts val="400"/>
              </a:spcAft>
            </a:pPr>
            <a:r>
              <a:rPr sz="1400" b="0">
                <a:solidFill>
                  <a:srgbClr val="FFFFFF"/>
                </a:solidFill>
                <a:latin typeface="微软雅黑" panose="020B0503020204020204" charset="-122"/>
                <a:ea typeface="微软雅黑" panose="020B0503020204020204" charset="-122"/>
                <a:cs typeface="微软雅黑" panose="020B0503020204020204" charset="-122"/>
              </a:rPr>
              <a:t>最大回撤红线</a:t>
            </a:r>
            <a:endParaRPr sz="1400" b="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79" name="TextBox 19"/>
          <p:cNvSpPr txBox="1"/>
          <p:nvPr/>
        </p:nvSpPr>
        <p:spPr>
          <a:xfrm>
            <a:off x="502920" y="6455664"/>
            <a:ext cx="7315200" cy="274320"/>
          </a:xfrm>
          <a:prstGeom prst="rect">
            <a:avLst/>
          </a:prstGeom>
          <a:noFill/>
        </p:spPr>
        <p:txBody>
          <a:bodyPr wrap="square" lIns="0" tIns="0" rIns="0" bIns="0" anchor="t">
            <a:spAutoFit/>
          </a:bodyPr>
          <a:lstStyle/>
          <a:p>
            <a:pPr algn="l">
              <a:lnSpc>
                <a:spcPct val="115000"/>
              </a:lnSpc>
              <a:spcAft>
                <a:spcPts val="600"/>
              </a:spcAft>
            </a:pPr>
            <a:r>
              <a:rPr sz="900" b="0">
                <a:solidFill>
                  <a:srgbClr val="595959"/>
                </a:solidFill>
                <a:latin typeface="微软雅黑" panose="020B0503020204020204" charset="-122"/>
                <a:ea typeface="微软雅黑" panose="020B0503020204020204" charset="-122"/>
                <a:cs typeface="微软雅黑" panose="020B0503020204020204" charset="-122"/>
              </a:rPr>
              <a:t>近期宏观变化及资产配置 · 2026.09</a:t>
            </a:r>
            <a:endParaRPr sz="900" b="0">
              <a:solidFill>
                <a:srgbClr val="595959"/>
              </a:solidFill>
              <a:latin typeface="微软雅黑" panose="020B0503020204020204" charset="-122"/>
              <a:ea typeface="微软雅黑" panose="020B0503020204020204" charset="-122"/>
              <a:cs typeface="微软雅黑" panose="020B0503020204020204" charset="-122"/>
            </a:endParaRPr>
          </a:p>
        </p:txBody>
      </p:sp>
      <p:sp>
        <p:nvSpPr>
          <p:cNvPr id="180" name="TextBox 20"/>
          <p:cNvSpPr txBox="1"/>
          <p:nvPr/>
        </p:nvSpPr>
        <p:spPr>
          <a:xfrm>
            <a:off x="10789920" y="6455664"/>
            <a:ext cx="914400" cy="274320"/>
          </a:xfrm>
          <a:prstGeom prst="rect">
            <a:avLst/>
          </a:prstGeom>
          <a:noFill/>
        </p:spPr>
        <p:txBody>
          <a:bodyPr wrap="square" lIns="0" tIns="0" rIns="0" bIns="0" anchor="t">
            <a:spAutoFit/>
          </a:bodyPr>
          <a:lstStyle/>
          <a:p>
            <a:pPr algn="r">
              <a:lnSpc>
                <a:spcPct val="115000"/>
              </a:lnSpc>
              <a:spcAft>
                <a:spcPts val="600"/>
              </a:spcAft>
            </a:pPr>
            <a:r>
              <a:rPr sz="1000" b="0">
                <a:solidFill>
                  <a:srgbClr val="595959"/>
                </a:solidFill>
                <a:latin typeface="微软雅黑" panose="020B0503020204020204" charset="-122"/>
                <a:ea typeface="微软雅黑" panose="020B0503020204020204" charset="-122"/>
                <a:cs typeface="微软雅黑" panose="020B0503020204020204" charset="-122"/>
              </a:rPr>
              <a:t>2</a:t>
            </a:r>
            <a:endParaRPr sz="1000" b="0">
              <a:solidFill>
                <a:srgbClr val="595959"/>
              </a:solidFill>
              <a:latin typeface="微软雅黑" panose="020B0503020204020204" charset="-122"/>
              <a:ea typeface="微软雅黑" panose="020B0503020204020204" charset="-122"/>
              <a:cs typeface="微软雅黑" panose="020B0503020204020204" charset="-122"/>
            </a:endParaRPr>
          </a:p>
        </p:txBody>
      </p:sp>
      <p:pic>
        <p:nvPicPr>
          <p:cNvPr id="181" name="参考模板浅蓝背景弧线"/>
          <p:cNvPicPr/>
          <p:nvPr/>
        </p:nvPicPr>
        <p:blipFill>
          <a:blip r:embed="rId2"/>
          <a:stretch>
            <a:fillRect/>
          </a:stretch>
        </p:blipFill>
        <p:spPr>
          <a:xfrm>
            <a:off x="4457700" y="0"/>
            <a:ext cx="3143250" cy="495300"/>
          </a:xfrm>
          <a:prstGeom prst="rect">
            <a:avLst/>
          </a:prstGeom>
          <a:noFill/>
          <a:ln>
            <a:noFill/>
          </a:ln>
        </p:spPr>
      </p:pic>
      <p:pic>
        <p:nvPicPr>
          <p:cNvPr id="182" name="参考模板右上角标识"/>
          <p:cNvPicPr/>
          <p:nvPr/>
        </p:nvPicPr>
        <p:blipFill>
          <a:blip r:embed="rId3"/>
          <a:stretch>
            <a:fillRect/>
          </a:stretch>
        </p:blipFill>
        <p:spPr>
          <a:xfrm>
            <a:off x="9696450" y="209550"/>
            <a:ext cx="1733550" cy="390525"/>
          </a:xfrm>
          <a:prstGeom prst="rect">
            <a:avLst/>
          </a:prstGeom>
          <a:noFill/>
          <a:ln>
            <a:noFill/>
          </a:ln>
        </p:spPr>
      </p:pic>
    </p:spTree>
  </p:cSld>
  <p:clrMapOvr>
    <a:masterClrMapping/>
  </p:clrMapOvr>
</p:sld>
</file>

<file path=ppt/slides/slide3.xml><?xml version="1.0" encoding="utf-8"?>
<p:sld xmlns:r="http://schemas.openxmlformats.org/officeDocument/2006/relationships" xmlns:p="http://schemas.openxmlformats.org/presentationml/2006/main" xmlns:a="http://schemas.openxmlformats.org/drawingml/2006/main">
  <p:cSld>
    <p:spTree>
      <p:nvGrpSpPr>
        <p:cNvPr id="390" name=""/>
        <p:cNvGrpSpPr/>
        <p:nvPr/>
      </p:nvGrpSpPr>
      <p:grpSpPr>
        <a:xfrm>
          <a:off x="0" y="0"/>
          <a:ext cx="0" cy="0"/>
          <a:chOff x="0" y="0"/>
          <a:chExt cx="0" cy="0"/>
        </a:xfrm>
      </p:grpSpPr>
      <p:sp>
        <p:nvSpPr>
          <p:cNvPr id="391"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392" name="TextBox 2"/>
          <p:cNvSpPr txBox="1"/>
          <p:nvPr/>
        </p:nvSpPr>
        <p:spPr>
          <a:xfrm>
            <a:off x="822960" y="640080"/>
            <a:ext cx="3657600" cy="822960"/>
          </a:xfrm>
          <a:prstGeom prst="rect">
            <a:avLst/>
          </a:prstGeom>
          <a:noFill/>
        </p:spPr>
        <p:txBody>
          <a:bodyPr wrap="square" lIns="0" tIns="0" rIns="0" bIns="0" anchor="t">
            <a:spAutoFit/>
          </a:bodyPr>
          <a:lstStyle/>
          <a:p>
            <a:pPr algn="l">
              <a:lnSpc>
                <a:spcPct val="115000"/>
              </a:lnSpc>
              <a:spcAft>
                <a:spcPts val="600"/>
              </a:spcAft>
            </a:pPr>
            <a:r>
              <a:rPr sz="1800" b="1">
                <a:solidFill>
                  <a:srgbClr val="54B0E0"/>
                </a:solidFill>
                <a:latin typeface="微软雅黑" panose="020B0503020204020204" charset="-122"/>
                <a:ea typeface="微软雅黑" panose="020B0503020204020204" charset="-122"/>
                <a:cs typeface="微软雅黑" panose="020B0503020204020204" charset="-122"/>
              </a:rPr>
              <a:t>CONTENT</a:t>
            </a:r>
            <a:endParaRPr sz="1800" b="1">
              <a:solidFill>
                <a:srgbClr val="54B0E0"/>
              </a:solidFill>
              <a:latin typeface="微软雅黑" panose="020B0503020204020204" charset="-122"/>
              <a:ea typeface="微软雅黑" panose="020B0503020204020204" charset="-122"/>
              <a:cs typeface="微软雅黑" panose="020B0503020204020204" charset="-122"/>
            </a:endParaRPr>
          </a:p>
        </p:txBody>
      </p:sp>
      <p:sp>
        <p:nvSpPr>
          <p:cNvPr id="393" name="TextBox 3"/>
          <p:cNvSpPr txBox="1"/>
          <p:nvPr/>
        </p:nvSpPr>
        <p:spPr>
          <a:xfrm>
            <a:off x="822960" y="1280160"/>
            <a:ext cx="3657600" cy="731520"/>
          </a:xfrm>
          <a:prstGeom prst="rect">
            <a:avLst/>
          </a:prstGeom>
          <a:noFill/>
        </p:spPr>
        <p:txBody>
          <a:bodyPr wrap="square" lIns="0" tIns="0" rIns="0" bIns="0" anchor="t">
            <a:spAutoFit/>
          </a:bodyPr>
          <a:lstStyle/>
          <a:p>
            <a:pPr algn="l">
              <a:lnSpc>
                <a:spcPct val="115000"/>
              </a:lnSpc>
              <a:spcAft>
                <a:spcPts val="600"/>
              </a:spcAft>
            </a:pPr>
            <a:r>
              <a:rPr sz="3400" b="1">
                <a:solidFill>
                  <a:srgbClr val="1F2933"/>
                </a:solidFill>
                <a:latin typeface="微软雅黑" panose="020B0503020204020204" charset="-122"/>
                <a:ea typeface="微软雅黑" panose="020B0503020204020204" charset="-122"/>
                <a:cs typeface="微软雅黑" panose="020B0503020204020204" charset="-122"/>
              </a:rPr>
              <a:t>目  录</a:t>
            </a:r>
            <a:endParaRPr sz="3400" b="1">
              <a:solidFill>
                <a:srgbClr val="1F2933"/>
              </a:solidFill>
              <a:latin typeface="微软雅黑" panose="020B0503020204020204" charset="-122"/>
              <a:ea typeface="微软雅黑" panose="020B0503020204020204" charset="-122"/>
              <a:cs typeface="微软雅黑" panose="020B0503020204020204" charset="-122"/>
            </a:endParaRPr>
          </a:p>
        </p:txBody>
      </p:sp>
      <p:sp>
        <p:nvSpPr>
          <p:cNvPr id="394" name="Rectangle 4"/>
          <p:cNvSpPr/>
          <p:nvPr/>
        </p:nvSpPr>
        <p:spPr>
          <a:xfrm>
            <a:off x="841248" y="2011680"/>
            <a:ext cx="1097280" cy="317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395" name="TextBox 5"/>
          <p:cNvSpPr txBox="1"/>
          <p:nvPr/>
        </p:nvSpPr>
        <p:spPr>
          <a:xfrm>
            <a:off x="914400" y="2743200"/>
            <a:ext cx="1828800" cy="914400"/>
          </a:xfrm>
          <a:prstGeom prst="rect">
            <a:avLst/>
          </a:prstGeom>
          <a:noFill/>
        </p:spPr>
        <p:txBody>
          <a:bodyPr wrap="square" lIns="0" tIns="0" rIns="0" bIns="0" anchor="t">
            <a:spAutoFit/>
          </a:bodyPr>
          <a:lstStyle/>
          <a:p>
            <a:pPr algn="l">
              <a:lnSpc>
                <a:spcPct val="115000"/>
              </a:lnSpc>
              <a:spcAft>
                <a:spcPts val="600"/>
              </a:spcAft>
            </a:pPr>
            <a:r>
              <a:rPr sz="4600" b="1">
                <a:solidFill>
                  <a:srgbClr val="FFFFFF"/>
                </a:solidFill>
                <a:latin typeface="微软雅黑" panose="020B0503020204020204" charset="-122"/>
                <a:ea typeface="微软雅黑" panose="020B0503020204020204" charset="-122"/>
                <a:cs typeface="微软雅黑" panose="020B0503020204020204" charset="-122"/>
              </a:rPr>
              <a:t>01</a:t>
            </a:r>
            <a:endParaRPr sz="4600"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396" name="TextBox 6"/>
          <p:cNvSpPr txBox="1"/>
          <p:nvPr/>
        </p:nvSpPr>
        <p:spPr>
          <a:xfrm>
            <a:off x="2834640" y="2788920"/>
            <a:ext cx="7315200" cy="640080"/>
          </a:xfrm>
          <a:prstGeom prst="rect">
            <a:avLst/>
          </a:prstGeom>
          <a:noFill/>
        </p:spPr>
        <p:txBody>
          <a:bodyPr wrap="square" lIns="0" tIns="0" rIns="0" bIns="0" anchor="t">
            <a:spAutoFit/>
          </a:bodyPr>
          <a:lstStyle/>
          <a:p>
            <a:pPr algn="l">
              <a:lnSpc>
                <a:spcPct val="115000"/>
              </a:lnSpc>
              <a:spcAft>
                <a:spcPts val="600"/>
              </a:spcAft>
            </a:pPr>
            <a:r>
              <a:rPr sz="2600" b="1">
                <a:solidFill>
                  <a:srgbClr val="1F2933"/>
                </a:solidFill>
                <a:latin typeface="微软雅黑" panose="020B0503020204020204" charset="-122"/>
                <a:ea typeface="微软雅黑" panose="020B0503020204020204" charset="-122"/>
                <a:cs typeface="微软雅黑" panose="020B0503020204020204" charset="-122"/>
              </a:rPr>
              <a:t>近期宏观</a:t>
            </a:r>
            <a:endParaRPr sz="2600" b="1">
              <a:solidFill>
                <a:srgbClr val="1F2933"/>
              </a:solidFill>
              <a:latin typeface="微软雅黑" panose="020B0503020204020204" charset="-122"/>
              <a:ea typeface="微软雅黑" panose="020B0503020204020204" charset="-122"/>
              <a:cs typeface="微软雅黑" panose="020B0503020204020204" charset="-122"/>
            </a:endParaRPr>
          </a:p>
        </p:txBody>
      </p:sp>
      <p:sp>
        <p:nvSpPr>
          <p:cNvPr id="397" name="TextBox 7"/>
          <p:cNvSpPr txBox="1"/>
          <p:nvPr/>
        </p:nvSpPr>
        <p:spPr>
          <a:xfrm>
            <a:off x="2834640" y="3520440"/>
            <a:ext cx="8229600" cy="365760"/>
          </a:xfrm>
          <a:prstGeom prst="rect">
            <a:avLst/>
          </a:prstGeom>
          <a:noFill/>
        </p:spPr>
        <p:txBody>
          <a:bodyPr wrap="square" lIns="0" tIns="0" rIns="0" bIns="0" anchor="t">
            <a:spAutoFit/>
          </a:bodyPr>
          <a:lstStyle/>
          <a:p>
            <a:pPr algn="l">
              <a:lnSpc>
                <a:spcPct val="115000"/>
              </a:lnSpc>
              <a:spcAft>
                <a:spcPts val="600"/>
              </a:spcAft>
            </a:pPr>
            <a:r>
              <a:rPr sz="1200" b="0">
                <a:solidFill>
                  <a:srgbClr val="595959"/>
                </a:solidFill>
                <a:latin typeface="微软雅黑" panose="020B0503020204020204" charset="-122"/>
                <a:ea typeface="微软雅黑" panose="020B0503020204020204" charset="-122"/>
                <a:cs typeface="微软雅黑" panose="020B0503020204020204" charset="-122"/>
              </a:rPr>
              <a:t>海外宏观 · 国内宏观 · 宏观小结</a:t>
            </a:r>
            <a:endParaRPr sz="1200" b="0">
              <a:solidFill>
                <a:srgbClr val="595959"/>
              </a:solidFill>
              <a:latin typeface="微软雅黑" panose="020B0503020204020204" charset="-122"/>
              <a:ea typeface="微软雅黑" panose="020B0503020204020204" charset="-122"/>
              <a:cs typeface="微软雅黑" panose="020B0503020204020204" charset="-122"/>
            </a:endParaRPr>
          </a:p>
        </p:txBody>
      </p:sp>
      <p:sp>
        <p:nvSpPr>
          <p:cNvPr id="398" name="TextBox 8"/>
          <p:cNvSpPr txBox="1"/>
          <p:nvPr/>
        </p:nvSpPr>
        <p:spPr>
          <a:xfrm>
            <a:off x="914400" y="4297680"/>
            <a:ext cx="1828800" cy="914400"/>
          </a:xfrm>
          <a:prstGeom prst="rect">
            <a:avLst/>
          </a:prstGeom>
          <a:noFill/>
        </p:spPr>
        <p:txBody>
          <a:bodyPr wrap="square" lIns="0" tIns="0" rIns="0" bIns="0" anchor="t">
            <a:spAutoFit/>
          </a:bodyPr>
          <a:lstStyle/>
          <a:p>
            <a:pPr algn="l">
              <a:lnSpc>
                <a:spcPct val="115000"/>
              </a:lnSpc>
              <a:spcAft>
                <a:spcPts val="600"/>
              </a:spcAft>
            </a:pPr>
            <a:r>
              <a:rPr sz="4600" b="1">
                <a:solidFill>
                  <a:srgbClr val="FFFFFF"/>
                </a:solidFill>
                <a:latin typeface="微软雅黑" panose="020B0503020204020204" charset="-122"/>
                <a:ea typeface="微软雅黑" panose="020B0503020204020204" charset="-122"/>
                <a:cs typeface="微软雅黑" panose="020B0503020204020204" charset="-122"/>
              </a:rPr>
              <a:t>02</a:t>
            </a:r>
            <a:endParaRPr sz="4600"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399" name="TextBox 9"/>
          <p:cNvSpPr txBox="1"/>
          <p:nvPr/>
        </p:nvSpPr>
        <p:spPr>
          <a:xfrm>
            <a:off x="2834640" y="4343400"/>
            <a:ext cx="7315200" cy="640080"/>
          </a:xfrm>
          <a:prstGeom prst="rect">
            <a:avLst/>
          </a:prstGeom>
          <a:noFill/>
        </p:spPr>
        <p:txBody>
          <a:bodyPr wrap="square" lIns="0" tIns="0" rIns="0" bIns="0" anchor="t">
            <a:spAutoFit/>
          </a:bodyPr>
          <a:lstStyle/>
          <a:p>
            <a:pPr algn="l">
              <a:lnSpc>
                <a:spcPct val="115000"/>
              </a:lnSpc>
              <a:spcAft>
                <a:spcPts val="600"/>
              </a:spcAft>
            </a:pPr>
            <a:r>
              <a:rPr sz="2600" b="1">
                <a:solidFill>
                  <a:srgbClr val="1F2933"/>
                </a:solidFill>
                <a:latin typeface="微软雅黑" panose="020B0503020204020204" charset="-122"/>
                <a:ea typeface="微软雅黑" panose="020B0503020204020204" charset="-122"/>
                <a:cs typeface="微软雅黑" panose="020B0503020204020204" charset="-122"/>
              </a:rPr>
              <a:t>大类资产配置</a:t>
            </a:r>
            <a:endParaRPr sz="2600" b="1">
              <a:solidFill>
                <a:srgbClr val="1F2933"/>
              </a:solidFill>
              <a:latin typeface="微软雅黑" panose="020B0503020204020204" charset="-122"/>
              <a:ea typeface="微软雅黑" panose="020B0503020204020204" charset="-122"/>
              <a:cs typeface="微软雅黑" panose="020B0503020204020204" charset="-122"/>
            </a:endParaRPr>
          </a:p>
        </p:txBody>
      </p:sp>
      <p:sp>
        <p:nvSpPr>
          <p:cNvPr id="400" name="TextBox 10"/>
          <p:cNvSpPr txBox="1"/>
          <p:nvPr/>
        </p:nvSpPr>
        <p:spPr>
          <a:xfrm>
            <a:off x="2834640" y="5074920"/>
            <a:ext cx="8229600" cy="365760"/>
          </a:xfrm>
          <a:prstGeom prst="rect">
            <a:avLst/>
          </a:prstGeom>
          <a:noFill/>
        </p:spPr>
        <p:txBody>
          <a:bodyPr wrap="square" lIns="0" tIns="0" rIns="0" bIns="0" anchor="t">
            <a:spAutoFit/>
          </a:bodyPr>
          <a:lstStyle/>
          <a:p>
            <a:pPr algn="l">
              <a:lnSpc>
                <a:spcPct val="115000"/>
              </a:lnSpc>
              <a:spcAft>
                <a:spcPts val="600"/>
              </a:spcAft>
            </a:pPr>
            <a:r>
              <a:rPr sz="1200" b="0">
                <a:solidFill>
                  <a:srgbClr val="595959"/>
                </a:solidFill>
                <a:latin typeface="微软雅黑" panose="020B0503020204020204" charset="-122"/>
                <a:ea typeface="微软雅黑" panose="020B0503020204020204" charset="-122"/>
                <a:cs typeface="微软雅黑" panose="020B0503020204020204" charset="-122"/>
              </a:rPr>
              <a:t>资产现状及展望 · 配置比例 · 产品配置 · 调仓计划</a:t>
            </a:r>
            <a:endParaRPr sz="1200" b="0">
              <a:solidFill>
                <a:srgbClr val="595959"/>
              </a:solidFill>
              <a:latin typeface="微软雅黑" panose="020B0503020204020204" charset="-122"/>
              <a:ea typeface="微软雅黑" panose="020B0503020204020204" charset="-122"/>
              <a:cs typeface="微软雅黑" panose="020B0503020204020204" charset="-122"/>
            </a:endParaRPr>
          </a:p>
        </p:txBody>
      </p:sp>
      <p:sp>
        <p:nvSpPr>
          <p:cNvPr id="401" name="TextBox 11"/>
          <p:cNvSpPr txBox="1"/>
          <p:nvPr/>
        </p:nvSpPr>
        <p:spPr>
          <a:xfrm>
            <a:off x="502920" y="6455664"/>
            <a:ext cx="7315200" cy="274320"/>
          </a:xfrm>
          <a:prstGeom prst="rect">
            <a:avLst/>
          </a:prstGeom>
          <a:noFill/>
        </p:spPr>
        <p:txBody>
          <a:bodyPr wrap="square" lIns="0" tIns="0" rIns="0" bIns="0" anchor="t">
            <a:spAutoFit/>
          </a:bodyPr>
          <a:lstStyle/>
          <a:p>
            <a:pPr algn="l">
              <a:lnSpc>
                <a:spcPct val="115000"/>
              </a:lnSpc>
              <a:spcAft>
                <a:spcPts val="600"/>
              </a:spcAft>
            </a:pPr>
            <a:r>
              <a:rPr sz="900" b="0">
                <a:solidFill>
                  <a:srgbClr val="595959"/>
                </a:solidFill>
                <a:latin typeface="微软雅黑" panose="020B0503020204020204" charset="-122"/>
                <a:ea typeface="微软雅黑" panose="020B0503020204020204" charset="-122"/>
                <a:cs typeface="微软雅黑" panose="020B0503020204020204" charset="-122"/>
              </a:rPr>
              <a:t>近期宏观变化及资产配置 · 2026.09</a:t>
            </a:r>
            <a:endParaRPr sz="900" b="0">
              <a:solidFill>
                <a:srgbClr val="595959"/>
              </a:solidFill>
              <a:latin typeface="微软雅黑" panose="020B0503020204020204" charset="-122"/>
              <a:ea typeface="微软雅黑" panose="020B0503020204020204" charset="-122"/>
              <a:cs typeface="微软雅黑" panose="020B0503020204020204" charset="-122"/>
            </a:endParaRPr>
          </a:p>
        </p:txBody>
      </p:sp>
      <p:sp>
        <p:nvSpPr>
          <p:cNvPr id="402" name="TextBox 12"/>
          <p:cNvSpPr txBox="1"/>
          <p:nvPr/>
        </p:nvSpPr>
        <p:spPr>
          <a:xfrm>
            <a:off x="10789920" y="6455664"/>
            <a:ext cx="914400" cy="274320"/>
          </a:xfrm>
          <a:prstGeom prst="rect">
            <a:avLst/>
          </a:prstGeom>
          <a:noFill/>
        </p:spPr>
        <p:txBody>
          <a:bodyPr wrap="square" lIns="0" tIns="0" rIns="0" bIns="0" anchor="t">
            <a:spAutoFit/>
          </a:bodyPr>
          <a:lstStyle/>
          <a:p>
            <a:pPr algn="r">
              <a:lnSpc>
                <a:spcPct val="115000"/>
              </a:lnSpc>
              <a:spcAft>
                <a:spcPts val="600"/>
              </a:spcAft>
            </a:pPr>
            <a:r>
              <a:rPr sz="1000" b="0">
                <a:solidFill>
                  <a:srgbClr val="595959"/>
                </a:solidFill>
                <a:latin typeface="微软雅黑" panose="020B0503020204020204" charset="-122"/>
                <a:ea typeface="微软雅黑" panose="020B0503020204020204" charset="-122"/>
                <a:cs typeface="微软雅黑" panose="020B0503020204020204" charset="-122"/>
              </a:rPr>
              <a:t>3</a:t>
            </a:r>
            <a:endParaRPr sz="1000" b="0">
              <a:solidFill>
                <a:srgbClr val="595959"/>
              </a:solidFill>
              <a:latin typeface="微软雅黑" panose="020B0503020204020204" charset="-122"/>
              <a:ea typeface="微软雅黑" panose="020B0503020204020204" charset="-122"/>
              <a:cs typeface="微软雅黑" panose="020B0503020204020204" charset="-122"/>
            </a:endParaRPr>
          </a:p>
        </p:txBody>
      </p:sp>
      <p:pic>
        <p:nvPicPr>
          <p:cNvPr id="403" name="参考模板浅蓝背景弧线"/>
          <p:cNvPicPr/>
          <p:nvPr/>
        </p:nvPicPr>
        <p:blipFill>
          <a:blip r:embed="rId1"/>
          <a:stretch>
            <a:fillRect/>
          </a:stretch>
        </p:blipFill>
        <p:spPr>
          <a:xfrm>
            <a:off x="4457700" y="0"/>
            <a:ext cx="3143250" cy="495300"/>
          </a:xfrm>
          <a:prstGeom prst="rect">
            <a:avLst/>
          </a:prstGeom>
          <a:noFill/>
          <a:ln>
            <a:noFill/>
          </a:ln>
        </p:spPr>
      </p:pic>
      <p:pic>
        <p:nvPicPr>
          <p:cNvPr id="404" name="参考模板右上角标识"/>
          <p:cNvPicPr/>
          <p:nvPr/>
        </p:nvPicPr>
        <p:blipFill>
          <a:blip r:embed="rId2"/>
          <a:stretch>
            <a:fillRect/>
          </a:stretch>
        </p:blipFill>
        <p:spPr>
          <a:xfrm>
            <a:off x="9696450" y="209550"/>
            <a:ext cx="1733550" cy="390525"/>
          </a:xfrm>
          <a:prstGeom prst="rect">
            <a:avLst/>
          </a:prstGeom>
          <a:noFill/>
          <a:ln>
            <a:noFill/>
          </a:ln>
        </p:spPr>
      </p:pic>
    </p:spTree>
  </p:cSld>
  <p:clrMapOvr>
    <a:masterClrMapping/>
  </p:clrMapOvr>
</p:sld>
</file>

<file path=ppt/slides/slide4.xml><?xml version="1.0" encoding="utf-8"?>
<p:sld xmlns:r="http://schemas.openxmlformats.org/officeDocument/2006/relationships" xmlns:p="http://schemas.openxmlformats.org/presentationml/2006/main" xmlns:a="http://schemas.openxmlformats.org/drawingml/2006/main">
  <p:cSld>
    <p:spTree>
      <p:nvGrpSpPr>
        <p:cNvPr id="403" name=""/>
        <p:cNvGrpSpPr/>
        <p:nvPr/>
      </p:nvGrpSpPr>
      <p:grpSpPr>
        <a:xfrm>
          <a:off x="0" y="0"/>
          <a:ext cx="0" cy="0"/>
          <a:chOff x="0" y="0"/>
          <a:chExt cx="0" cy="0"/>
        </a:xfrm>
      </p:grpSpPr>
      <p:sp>
        <p:nvSpPr>
          <p:cNvPr id="404" name="Rectangle 1"/>
          <p:cNvSpPr/>
          <p:nvPr/>
        </p:nvSpPr>
        <p:spPr>
          <a:xfrm>
            <a:off x="0" y="0"/>
            <a:ext cx="12191695" cy="6858000"/>
          </a:xfrm>
          <a:prstGeom prst="rect">
            <a:avLst/>
          </a:prstGeom>
          <a:solidFill>
            <a:srgbClr val="EAF6FC"/>
          </a:solidFill>
          <a:ln>
            <a:noFill/>
          </a:ln>
          <a:effectLst/>
        </p:spPr>
        <p:style>
          <a:lnRef idx="1">
            <a:srgbClr val="0070C0"/>
          </a:lnRef>
          <a:fillRef idx="3">
            <a:srgbClr val="0070C0"/>
          </a:fillRef>
          <a:effectRef idx="2">
            <a:srgbClr val="0070C0"/>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405" name="Rectangle 2"/>
          <p:cNvSpPr/>
          <p:nvPr/>
        </p:nvSpPr>
        <p:spPr>
          <a:xfrm>
            <a:off x="822960" y="2148840"/>
            <a:ext cx="128016" cy="2468880"/>
          </a:xfrm>
          <a:prstGeom prst="rect">
            <a:avLst/>
          </a:prstGeom>
          <a:solidFill>
            <a:srgbClr val="54B0E0"/>
          </a:solidFill>
          <a:ln>
            <a:noFill/>
          </a:ln>
          <a:effectLst/>
        </p:spPr>
        <p:style>
          <a:lnRef idx="1">
            <a:srgbClr val="0070C0"/>
          </a:lnRef>
          <a:fillRef idx="3">
            <a:srgbClr val="0070C0"/>
          </a:fillRef>
          <a:effectRef idx="2">
            <a:srgbClr val="0070C0"/>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406" name="TextBox 3"/>
          <p:cNvSpPr txBox="1"/>
          <p:nvPr/>
        </p:nvSpPr>
        <p:spPr>
          <a:xfrm>
            <a:off x="1280160" y="1920240"/>
            <a:ext cx="4572000" cy="1280160"/>
          </a:xfrm>
          <a:prstGeom prst="rect">
            <a:avLst/>
          </a:prstGeom>
          <a:noFill/>
        </p:spPr>
        <p:txBody>
          <a:bodyPr wrap="square" lIns="0" tIns="0" rIns="0" bIns="0" anchor="t">
            <a:spAutoFit/>
          </a:bodyPr>
          <a:lstStyle/>
          <a:p>
            <a:pPr algn="l">
              <a:lnSpc>
                <a:spcPct val="115000"/>
              </a:lnSpc>
              <a:spcAft>
                <a:spcPts val="600"/>
              </a:spcAft>
            </a:pPr>
            <a:r>
              <a:rPr sz="2200" b="1">
                <a:solidFill>
                  <a:srgbClr val="54B0E0"/>
                </a:solidFill>
                <a:latin typeface="微软雅黑" panose="020B0503020204020204" charset="-122"/>
                <a:ea typeface="微软雅黑" panose="020B0503020204020204" charset="-122"/>
                <a:cs typeface="微软雅黑" panose="020B0503020204020204" charset="-122"/>
              </a:rPr>
              <a:t>PART 01</a:t>
            </a:r>
            <a:endParaRPr sz="2200" b="1">
              <a:solidFill>
                <a:srgbClr val="54B0E0"/>
              </a:solidFill>
              <a:latin typeface="微软雅黑" panose="020B0503020204020204" charset="-122"/>
              <a:ea typeface="微软雅黑" panose="020B0503020204020204" charset="-122"/>
              <a:cs typeface="微软雅黑" panose="020B0503020204020204" charset="-122"/>
            </a:endParaRPr>
          </a:p>
        </p:txBody>
      </p:sp>
      <p:sp>
        <p:nvSpPr>
          <p:cNvPr id="407" name="TextBox 4"/>
          <p:cNvSpPr txBox="1"/>
          <p:nvPr/>
        </p:nvSpPr>
        <p:spPr>
          <a:xfrm>
            <a:off x="1280160" y="3017520"/>
            <a:ext cx="5486400" cy="1280160"/>
          </a:xfrm>
          <a:prstGeom prst="rect">
            <a:avLst/>
          </a:prstGeom>
          <a:noFill/>
        </p:spPr>
        <p:txBody>
          <a:bodyPr wrap="square" lIns="0" tIns="0" rIns="0" bIns="0" anchor="t">
            <a:spAutoFit/>
          </a:bodyPr>
          <a:lstStyle/>
          <a:p>
            <a:pPr algn="l">
              <a:lnSpc>
                <a:spcPct val="115000"/>
              </a:lnSpc>
              <a:spcAft>
                <a:spcPts val="600"/>
              </a:spcAft>
            </a:pPr>
            <a:r>
              <a:rPr sz="5200" b="1">
                <a:solidFill>
                  <a:srgbClr val="1C4274"/>
                </a:solidFill>
                <a:latin typeface="微软雅黑" panose="020B0503020204020204" charset="-122"/>
                <a:ea typeface="微软雅黑" panose="020B0503020204020204" charset="-122"/>
                <a:cs typeface="微软雅黑" panose="020B0503020204020204" charset="-122"/>
              </a:rPr>
              <a:t>近期宏观</a:t>
            </a:r>
            <a:endParaRPr sz="5200" b="1">
              <a:solidFill>
                <a:srgbClr val="1C4274"/>
              </a:solidFill>
              <a:latin typeface="微软雅黑" panose="020B0503020204020204" charset="-122"/>
              <a:ea typeface="微软雅黑" panose="020B0503020204020204" charset="-122"/>
              <a:cs typeface="微软雅黑" panose="020B0503020204020204" charset="-122"/>
            </a:endParaRPr>
          </a:p>
        </p:txBody>
      </p:sp>
      <p:sp>
        <p:nvSpPr>
          <p:cNvPr id="408" name="TextBox 5"/>
          <p:cNvSpPr txBox="1"/>
          <p:nvPr/>
        </p:nvSpPr>
        <p:spPr>
          <a:xfrm>
            <a:off x="1280160" y="4572000"/>
            <a:ext cx="7315200" cy="457200"/>
          </a:xfrm>
          <a:prstGeom prst="rect">
            <a:avLst/>
          </a:prstGeom>
          <a:noFill/>
        </p:spPr>
        <p:txBody>
          <a:bodyPr wrap="square" lIns="0" tIns="0" rIns="0" bIns="0" anchor="t">
            <a:spAutoFit/>
          </a:bodyPr>
          <a:lstStyle/>
          <a:p>
            <a:pPr algn="l">
              <a:lnSpc>
                <a:spcPct val="115000"/>
              </a:lnSpc>
              <a:spcAft>
                <a:spcPts val="600"/>
              </a:spcAft>
            </a:pPr>
            <a:r>
              <a:rPr sz="1300" b="0">
                <a:solidFill>
                  <a:srgbClr val="1C4274"/>
                </a:solidFill>
                <a:latin typeface="微软雅黑" panose="020B0503020204020204" charset="-122"/>
                <a:ea typeface="微软雅黑" panose="020B0503020204020204" charset="-122"/>
                <a:cs typeface="微软雅黑" panose="020B0503020204020204" charset="-122"/>
              </a:rPr>
              <a:t>Chapter 01  ·  Macro Review</a:t>
            </a:r>
            <a:endParaRPr sz="1300" b="0">
              <a:solidFill>
                <a:srgbClr val="1C4274"/>
              </a:solidFill>
              <a:latin typeface="微软雅黑" panose="020B0503020204020204" charset="-122"/>
              <a:ea typeface="微软雅黑" panose="020B0503020204020204" charset="-122"/>
              <a:cs typeface="微软雅黑" panose="020B0503020204020204" charset="-122"/>
            </a:endParaRPr>
          </a:p>
        </p:txBody>
      </p:sp>
      <p:sp>
        <p:nvSpPr>
          <p:cNvPr id="409" name="TextBox 6"/>
          <p:cNvSpPr txBox="1"/>
          <p:nvPr/>
        </p:nvSpPr>
        <p:spPr>
          <a:xfrm>
            <a:off x="8229600" y="2377440"/>
            <a:ext cx="3200400" cy="2286000"/>
          </a:xfrm>
          <a:prstGeom prst="rect">
            <a:avLst/>
          </a:prstGeom>
          <a:noFill/>
        </p:spPr>
        <p:txBody>
          <a:bodyPr wrap="square" lIns="0" tIns="0" rIns="0" bIns="0" anchor="t">
            <a:spAutoFit/>
          </a:bodyPr>
          <a:lstStyle/>
          <a:p>
            <a:pPr algn="l">
              <a:lnSpc>
                <a:spcPct val="115000"/>
              </a:lnSpc>
              <a:spcAft>
                <a:spcPts val="600"/>
              </a:spcAft>
            </a:pPr>
            <a:r>
              <a:rPr sz="16000" b="1">
                <a:solidFill>
                  <a:srgbClr val="AED5EB"/>
                </a:solidFill>
                <a:latin typeface="微软雅黑" panose="020B0503020204020204" charset="-122"/>
                <a:ea typeface="微软雅黑" panose="020B0503020204020204" charset="-122"/>
                <a:cs typeface="微软雅黑" panose="020B0503020204020204" charset="-122"/>
              </a:rPr>
              <a:t>01</a:t>
            </a:r>
            <a:endParaRPr sz="16000" b="1">
              <a:solidFill>
                <a:srgbClr val="AED5EB"/>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5.xml><?xml version="1.0" encoding="utf-8"?>
<p:sld xmlns:r="http://schemas.openxmlformats.org/officeDocument/2006/relationships" xmlns:p="http://schemas.openxmlformats.org/presentationml/2006/main" xmlns:a="http://schemas.openxmlformats.org/drawingml/2006/main">
  <p:cSld>
    <p:spTree>
      <p:nvGrpSpPr>
        <p:cNvPr id="410" name=""/>
        <p:cNvGrpSpPr/>
        <p:nvPr/>
      </p:nvGrpSpPr>
      <p:grpSpPr>
        <a:xfrm>
          <a:off x="0" y="0"/>
          <a:ext cx="0" cy="0"/>
          <a:chOff x="0" y="0"/>
          <a:chExt cx="0" cy="0"/>
        </a:xfrm>
      </p:grpSpPr>
      <p:sp>
        <p:nvSpPr>
          <p:cNvPr id="411" name="Rectangle 1"/>
          <p:cNvSpPr/>
          <p:nvPr/>
        </p:nvSpPr>
        <p:spPr>
          <a:xfrm>
            <a:off x="502920" y="457200"/>
            <a:ext cx="82296" cy="566928"/>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412" name="TextBox 2"/>
          <p:cNvSpPr txBox="1"/>
          <p:nvPr/>
        </p:nvSpPr>
        <p:spPr>
          <a:xfrm>
            <a:off x="713232" y="420624"/>
            <a:ext cx="9601200" cy="640080"/>
          </a:xfrm>
          <a:prstGeom prst="rect">
            <a:avLst/>
          </a:prstGeom>
          <a:noFill/>
        </p:spPr>
        <p:txBody>
          <a:bodyPr wrap="square" lIns="0" tIns="0" rIns="0" bIns="0" anchor="ctr">
            <a:spAutoFit/>
          </a:bodyPr>
          <a:lstStyle/>
          <a:p>
            <a:pPr algn="l">
              <a:lnSpc>
                <a:spcPct val="115000"/>
              </a:lnSpc>
              <a:spcAft>
                <a:spcPts val="600"/>
              </a:spcAft>
            </a:pPr>
            <a:r>
              <a:rPr lang="zh-CN" sz="2600" b="1">
                <a:solidFill>
                  <a:srgbClr val="0070C0"/>
                </a:solidFill>
                <a:latin typeface="微软雅黑" panose="020B0503020204020204" charset="-122"/>
                <a:ea typeface="微软雅黑" panose="020B0503020204020204" charset="-122"/>
                <a:cs typeface="微软雅黑" panose="020B0503020204020204" charset="-122"/>
              </a:rPr>
              <a:t>海外宏观：美联储 9 月加息预期坐实</a:t>
            </a:r>
            <a:endParaRPr lang="zh-CN" sz="2600" b="1">
              <a:solidFill>
                <a:srgbClr val="0070C0"/>
              </a:solidFill>
              <a:latin typeface="微软雅黑" panose="020B0503020204020204" charset="-122"/>
              <a:ea typeface="微软雅黑" panose="020B0503020204020204" charset="-122"/>
              <a:cs typeface="微软雅黑" panose="020B0503020204020204" charset="-122"/>
            </a:endParaRPr>
          </a:p>
        </p:txBody>
      </p:sp>
      <p:sp>
        <p:nvSpPr>
          <p:cNvPr id="413" name="TextBox 3"/>
          <p:cNvSpPr txBox="1"/>
          <p:nvPr/>
        </p:nvSpPr>
        <p:spPr>
          <a:xfrm>
            <a:off x="713232" y="1042415"/>
            <a:ext cx="10515600" cy="365760"/>
          </a:xfrm>
          <a:prstGeom prst="rect">
            <a:avLst/>
          </a:prstGeom>
          <a:noFill/>
        </p:spPr>
        <p:txBody>
          <a:bodyPr wrap="square" lIns="0" tIns="0" rIns="0" bIns="0" anchor="t">
            <a:spAutoFit/>
          </a:bodyPr>
          <a:lstStyle/>
          <a:p>
            <a:pPr algn="l">
              <a:lnSpc>
                <a:spcPct val="115000"/>
              </a:lnSpc>
              <a:spcAft>
                <a:spcPts val="600"/>
              </a:spcAft>
            </a:pPr>
            <a:r>
              <a:rPr lang="zh-CN" sz="1100" b="0">
                <a:solidFill>
                  <a:srgbClr val="595959"/>
                </a:solidFill>
                <a:latin typeface="微软雅黑" panose="020B0503020204020204" charset="-122"/>
                <a:ea typeface="微软雅黑" panose="020B0503020204020204" charset="-122"/>
                <a:cs typeface="微软雅黑" panose="020B0503020204020204" charset="-122"/>
              </a:rPr>
              <a:t>杰克逊霍尔鹰派定调 + 非农超预期，加息概率升至九成以上</a:t>
            </a:r>
            <a:endParaRPr lang="zh-CN" sz="1100" b="0">
              <a:solidFill>
                <a:srgbClr val="595959"/>
              </a:solidFill>
              <a:latin typeface="微软雅黑" panose="020B0503020204020204" charset="-122"/>
              <a:ea typeface="微软雅黑" panose="020B0503020204020204" charset="-122"/>
              <a:cs typeface="微软雅黑" panose="020B0503020204020204" charset="-122"/>
            </a:endParaRPr>
          </a:p>
        </p:txBody>
      </p:sp>
      <p:sp>
        <p:nvSpPr>
          <p:cNvPr id="414" name="Rectangle 4"/>
          <p:cNvSpPr/>
          <p:nvPr/>
        </p:nvSpPr>
        <p:spPr>
          <a:xfrm>
            <a:off x="502920" y="1005840"/>
            <a:ext cx="2011680" cy="27940"/>
          </a:xfrm>
          <a:prstGeom prst="rect">
            <a:avLst/>
          </a:prstGeom>
          <a:solidFill>
            <a:srgbClr val="54B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415" name="Rectangle 5"/>
          <p:cNvSpPr/>
          <p:nvPr/>
        </p:nvSpPr>
        <p:spPr>
          <a:xfrm>
            <a:off x="502920" y="1060704"/>
            <a:ext cx="11183112" cy="11430"/>
          </a:xfrm>
          <a:prstGeom prst="rect">
            <a:avLst/>
          </a:prstGeom>
          <a:solidFill>
            <a:srgbClr val="AED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416" name="Rectangle 18"/>
          <p:cNvSpPr/>
          <p:nvPr/>
        </p:nvSpPr>
        <p:spPr>
          <a:xfrm>
            <a:off x="502920" y="5989320"/>
            <a:ext cx="11183112" cy="658368"/>
          </a:xfrm>
          <a:prstGeom prst="rect">
            <a:avLst/>
          </a:prstGeom>
          <a:solidFill>
            <a:srgbClr val="EA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417" name="Rectangle 19"/>
          <p:cNvSpPr/>
          <p:nvPr/>
        </p:nvSpPr>
        <p:spPr>
          <a:xfrm>
            <a:off x="502920" y="5989320"/>
            <a:ext cx="11183112" cy="658368"/>
          </a:xfrm>
          <a:prstGeom prst="rect">
            <a:avLst/>
          </a:prstGeom>
          <a:solidFill>
            <a:srgbClr val="EAF6FC"/>
          </a:solidFill>
          <a:ln>
            <a:noFill/>
          </a:ln>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l">
              <a:lnSpc>
                <a:spcPct val="110000"/>
              </a:lnSpc>
              <a:spcAft>
                <a:spcPts val="400"/>
              </a:spcAft>
            </a:pPr>
            <a:r>
              <a:rPr lang="zh-CN" sz="1300" b="0">
                <a:solidFill>
                  <a:srgbClr val="0070C0"/>
                </a:solidFill>
                <a:latin typeface="微软雅黑" panose="020B0503020204020204" charset="-122"/>
                <a:ea typeface="微软雅黑" panose="020B0503020204020204" charset="-122"/>
                <a:cs typeface="微软雅黑" panose="020B0503020204020204" charset="-122"/>
              </a:rPr>
              <a:t>加息预期主导，风险偏好承压；人民币逆势走强，政策独立。</a:t>
            </a:r>
            <a:endParaRPr lang="zh-CN" sz="1300" b="0">
              <a:solidFill>
                <a:srgbClr val="0070C0"/>
              </a:solidFill>
              <a:latin typeface="微软雅黑" panose="020B0503020204020204" charset="-122"/>
              <a:ea typeface="微软雅黑" panose="020B0503020204020204" charset="-122"/>
              <a:cs typeface="微软雅黑" panose="020B0503020204020204" charset="-122"/>
            </a:endParaRPr>
          </a:p>
        </p:txBody>
      </p:sp>
      <p:sp>
        <p:nvSpPr>
          <p:cNvPr id="418" name="TextBox 20"/>
          <p:cNvSpPr txBox="1"/>
          <p:nvPr/>
        </p:nvSpPr>
        <p:spPr>
          <a:xfrm>
            <a:off x="502920" y="6455664"/>
            <a:ext cx="7315200" cy="274320"/>
          </a:xfrm>
          <a:prstGeom prst="rect">
            <a:avLst/>
          </a:prstGeom>
          <a:noFill/>
        </p:spPr>
        <p:txBody>
          <a:bodyPr wrap="square" lIns="0" tIns="0" rIns="0" bIns="0" anchor="t">
            <a:spAutoFit/>
          </a:bodyPr>
          <a:lstStyle/>
          <a:p>
            <a:pPr algn="l">
              <a:lnSpc>
                <a:spcPct val="115000"/>
              </a:lnSpc>
              <a:spcAft>
                <a:spcPts val="600"/>
              </a:spcAft>
            </a:pPr>
            <a:r>
              <a:rPr sz="900" b="0">
                <a:solidFill>
                  <a:srgbClr val="595959"/>
                </a:solidFill>
                <a:latin typeface="微软雅黑" panose="020B0503020204020204" charset="-122"/>
                <a:ea typeface="微软雅黑" panose="020B0503020204020204" charset="-122"/>
                <a:cs typeface="微软雅黑" panose="020B0503020204020204" charset="-122"/>
              </a:rPr>
              <a:t>近期宏观变化及资产配置 · 2026.09</a:t>
            </a:r>
            <a:endParaRPr sz="900" b="0">
              <a:solidFill>
                <a:srgbClr val="595959"/>
              </a:solidFill>
              <a:latin typeface="微软雅黑" panose="020B0503020204020204" charset="-122"/>
              <a:ea typeface="微软雅黑" panose="020B0503020204020204" charset="-122"/>
              <a:cs typeface="微软雅黑" panose="020B0503020204020204" charset="-122"/>
            </a:endParaRPr>
          </a:p>
        </p:txBody>
      </p:sp>
      <p:sp>
        <p:nvSpPr>
          <p:cNvPr id="419" name="TextBox 21"/>
          <p:cNvSpPr txBox="1"/>
          <p:nvPr/>
        </p:nvSpPr>
        <p:spPr>
          <a:xfrm>
            <a:off x="10789920" y="6455664"/>
            <a:ext cx="914400" cy="274320"/>
          </a:xfrm>
          <a:prstGeom prst="rect">
            <a:avLst/>
          </a:prstGeom>
          <a:noFill/>
        </p:spPr>
        <p:txBody>
          <a:bodyPr wrap="square" lIns="0" tIns="0" rIns="0" bIns="0" anchor="t">
            <a:spAutoFit/>
          </a:bodyPr>
          <a:lstStyle/>
          <a:p>
            <a:pPr algn="r">
              <a:lnSpc>
                <a:spcPct val="115000"/>
              </a:lnSpc>
              <a:spcAft>
                <a:spcPts val="600"/>
              </a:spcAft>
            </a:pPr>
            <a:r>
              <a:rPr sz="1000" b="0">
                <a:solidFill>
                  <a:srgbClr val="595959"/>
                </a:solidFill>
                <a:latin typeface="微软雅黑" panose="020B0503020204020204" charset="-122"/>
                <a:ea typeface="微软雅黑" panose="020B0503020204020204" charset="-122"/>
                <a:cs typeface="微软雅黑" panose="020B0503020204020204" charset="-122"/>
              </a:rPr>
              <a:t>5</a:t>
            </a:r>
            <a:endParaRPr sz="1000" b="0">
              <a:solidFill>
                <a:srgbClr val="595959"/>
              </a:solidFill>
              <a:latin typeface="微软雅黑" panose="020B0503020204020204" charset="-122"/>
              <a:ea typeface="微软雅黑" panose="020B0503020204020204" charset="-122"/>
              <a:cs typeface="微软雅黑" panose="020B0503020204020204" charset="-122"/>
            </a:endParaRPr>
          </a:p>
        </p:txBody>
      </p:sp>
      <p:sp>
        <p:nvSpPr>
          <p:cNvPr id="420" name="圆角矩形 244"/>
          <p:cNvSpPr/>
          <p:nvPr/>
        </p:nvSpPr>
        <p:spPr>
          <a:xfrm>
            <a:off x="508000" y="1498600"/>
            <a:ext cx="3606800" cy="2057400"/>
          </a:xfrm>
          <a:prstGeom prst="roundRect">
            <a:avLst>
              <a:gd name="adj" fmla="val 4376"/>
            </a:avLst>
          </a:prstGeom>
          <a:solidFill>
            <a:srgbClr val="F4FAFE">
              <a:alpha val="100000"/>
            </a:srgbClr>
          </a:solidFill>
          <a:ln w="12700">
            <a:solidFill>
              <a:srgbClr val="AED5EB">
                <a:alpha val="100000"/>
              </a:srgbClr>
            </a:solidFill>
            <a:prstDash val="solid"/>
          </a:ln>
        </p:spPr>
        <p:txBody>
          <a:bodyPr/>
          <a:p>
            <a:pPr/>
            <a:endParaRPr>
              <a:ea typeface="微软雅黑" panose="020B0503020204020204" charset="-122"/>
              <a:cs typeface="微软雅黑" panose="020B0503020204020204" charset="-122"/>
            </a:endParaRPr>
          </a:p>
        </p:txBody>
      </p:sp>
      <p:sp>
        <p:nvSpPr>
          <p:cNvPr id="421" name="圆角矩形 245"/>
          <p:cNvSpPr/>
          <p:nvPr/>
        </p:nvSpPr>
        <p:spPr>
          <a:xfrm>
            <a:off x="4279900" y="1498600"/>
            <a:ext cx="3606800" cy="2057400"/>
          </a:xfrm>
          <a:prstGeom prst="roundRect">
            <a:avLst>
              <a:gd name="adj" fmla="val 4376"/>
            </a:avLst>
          </a:prstGeom>
          <a:solidFill>
            <a:srgbClr val="F4FAFE">
              <a:alpha val="100000"/>
            </a:srgbClr>
          </a:solidFill>
          <a:ln w="12700">
            <a:solidFill>
              <a:srgbClr val="AED5EB">
                <a:alpha val="100000"/>
              </a:srgbClr>
            </a:solidFill>
            <a:prstDash val="solid"/>
          </a:ln>
        </p:spPr>
        <p:txBody>
          <a:bodyPr/>
          <a:p>
            <a:pPr/>
            <a:endParaRPr>
              <a:ea typeface="微软雅黑" panose="020B0503020204020204" charset="-122"/>
              <a:cs typeface="微软雅黑" panose="020B0503020204020204" charset="-122"/>
            </a:endParaRPr>
          </a:p>
        </p:txBody>
      </p:sp>
      <p:sp>
        <p:nvSpPr>
          <p:cNvPr id="422" name="圆角矩形 246"/>
          <p:cNvSpPr/>
          <p:nvPr/>
        </p:nvSpPr>
        <p:spPr>
          <a:xfrm>
            <a:off x="8051800" y="1498600"/>
            <a:ext cx="3606800" cy="2057400"/>
          </a:xfrm>
          <a:prstGeom prst="roundRect">
            <a:avLst>
              <a:gd name="adj" fmla="val 4376"/>
            </a:avLst>
          </a:prstGeom>
          <a:solidFill>
            <a:srgbClr val="F4FAFE">
              <a:alpha val="100000"/>
            </a:srgbClr>
          </a:solidFill>
          <a:ln w="12700">
            <a:solidFill>
              <a:srgbClr val="AED5EB">
                <a:alpha val="100000"/>
              </a:srgbClr>
            </a:solidFill>
            <a:prstDash val="solid"/>
          </a:ln>
        </p:spPr>
        <p:txBody>
          <a:bodyPr/>
          <a:p>
            <a:pPr/>
            <a:endParaRPr>
              <a:ea typeface="微软雅黑" panose="020B0503020204020204" charset="-122"/>
              <a:cs typeface="微软雅黑" panose="020B0503020204020204" charset="-122"/>
            </a:endParaRPr>
          </a:p>
        </p:txBody>
      </p:sp>
      <p:sp>
        <p:nvSpPr>
          <p:cNvPr id="423" name="圆角矩形 247"/>
          <p:cNvSpPr/>
          <p:nvPr/>
        </p:nvSpPr>
        <p:spPr>
          <a:xfrm>
            <a:off x="508000" y="3733800"/>
            <a:ext cx="3606800" cy="2057400"/>
          </a:xfrm>
          <a:prstGeom prst="roundRect">
            <a:avLst>
              <a:gd name="adj" fmla="val 4376"/>
            </a:avLst>
          </a:prstGeom>
          <a:solidFill>
            <a:srgbClr val="F4FAFE">
              <a:alpha val="100000"/>
            </a:srgbClr>
          </a:solidFill>
          <a:ln w="12700">
            <a:solidFill>
              <a:srgbClr val="AED5EB">
                <a:alpha val="100000"/>
              </a:srgbClr>
            </a:solidFill>
            <a:prstDash val="solid"/>
          </a:ln>
        </p:spPr>
        <p:txBody>
          <a:bodyPr/>
          <a:p>
            <a:pPr/>
            <a:endParaRPr>
              <a:ea typeface="微软雅黑" panose="020B0503020204020204" charset="-122"/>
              <a:cs typeface="微软雅黑" panose="020B0503020204020204" charset="-122"/>
            </a:endParaRPr>
          </a:p>
        </p:txBody>
      </p:sp>
      <p:sp>
        <p:nvSpPr>
          <p:cNvPr id="424" name="圆角矩形 248"/>
          <p:cNvSpPr/>
          <p:nvPr/>
        </p:nvSpPr>
        <p:spPr>
          <a:xfrm>
            <a:off x="4279900" y="3733800"/>
            <a:ext cx="3606800" cy="2057400"/>
          </a:xfrm>
          <a:prstGeom prst="roundRect">
            <a:avLst>
              <a:gd name="adj" fmla="val 4376"/>
            </a:avLst>
          </a:prstGeom>
          <a:solidFill>
            <a:srgbClr val="F4FAFE">
              <a:alpha val="100000"/>
            </a:srgbClr>
          </a:solidFill>
          <a:ln w="12700">
            <a:solidFill>
              <a:srgbClr val="AED5EB">
                <a:alpha val="100000"/>
              </a:srgbClr>
            </a:solidFill>
            <a:prstDash val="solid"/>
          </a:ln>
        </p:spPr>
        <p:txBody>
          <a:bodyPr/>
          <a:p>
            <a:pPr/>
            <a:endParaRPr>
              <a:ea typeface="微软雅黑" panose="020B0503020204020204" charset="-122"/>
              <a:cs typeface="微软雅黑" panose="020B0503020204020204" charset="-122"/>
            </a:endParaRPr>
          </a:p>
        </p:txBody>
      </p:sp>
      <p:sp>
        <p:nvSpPr>
          <p:cNvPr id="425" name="圆角矩形 249"/>
          <p:cNvSpPr/>
          <p:nvPr/>
        </p:nvSpPr>
        <p:spPr>
          <a:xfrm>
            <a:off x="8051800" y="3733800"/>
            <a:ext cx="3606800" cy="2057400"/>
          </a:xfrm>
          <a:prstGeom prst="roundRect">
            <a:avLst>
              <a:gd name="adj" fmla="val 4376"/>
            </a:avLst>
          </a:prstGeom>
          <a:solidFill>
            <a:srgbClr val="F4FAFE">
              <a:alpha val="100000"/>
            </a:srgbClr>
          </a:solidFill>
          <a:ln w="12700">
            <a:solidFill>
              <a:srgbClr val="AED5EB">
                <a:alpha val="100000"/>
              </a:srgbClr>
            </a:solidFill>
            <a:prstDash val="solid"/>
          </a:ln>
        </p:spPr>
        <p:txBody>
          <a:bodyPr/>
          <a:p>
            <a:pPr/>
            <a:endParaRPr>
              <a:ea typeface="微软雅黑" panose="020B0503020204020204" charset="-122"/>
              <a:cs typeface="微软雅黑" panose="020B0503020204020204" charset="-122"/>
            </a:endParaRPr>
          </a:p>
        </p:txBody>
      </p:sp>
      <p:sp>
        <p:nvSpPr>
          <p:cNvPr id="426" name="圆角矩形 250"/>
          <p:cNvSpPr/>
          <p:nvPr/>
        </p:nvSpPr>
        <p:spPr>
          <a:xfrm>
            <a:off x="711200" y="1701800"/>
            <a:ext cx="304800" cy="50800"/>
          </a:xfrm>
          <a:prstGeom prst="roundRect">
            <a:avLst>
              <a:gd name="adj" fmla="val 4376"/>
            </a:avLst>
          </a:prstGeom>
          <a:solidFill>
            <a:srgbClr val="0070C0"/>
          </a:solidFill>
          <a:ln>
            <a:noFill/>
          </a:ln>
        </p:spPr>
        <p:txBody>
          <a:bodyPr/>
          <a:p>
            <a:pPr/>
            <a:endParaRPr>
              <a:ea typeface="微软雅黑" panose="020B0503020204020204" charset="-122"/>
              <a:cs typeface="微软雅黑" panose="020B0503020204020204" charset="-122"/>
            </a:endParaRPr>
          </a:p>
        </p:txBody>
      </p:sp>
      <p:sp>
        <p:nvSpPr>
          <p:cNvPr id="427" name="圆角矩形 251"/>
          <p:cNvSpPr/>
          <p:nvPr/>
        </p:nvSpPr>
        <p:spPr>
          <a:xfrm>
            <a:off x="4483100" y="1701800"/>
            <a:ext cx="304800" cy="50800"/>
          </a:xfrm>
          <a:prstGeom prst="roundRect">
            <a:avLst>
              <a:gd name="adj" fmla="val 4376"/>
            </a:avLst>
          </a:prstGeom>
          <a:solidFill>
            <a:srgbClr val="0070C0"/>
          </a:solidFill>
          <a:ln>
            <a:noFill/>
          </a:ln>
        </p:spPr>
        <p:txBody>
          <a:bodyPr/>
          <a:p>
            <a:pPr/>
            <a:endParaRPr>
              <a:ea typeface="微软雅黑" panose="020B0503020204020204" charset="-122"/>
              <a:cs typeface="微软雅黑" panose="020B0503020204020204" charset="-122"/>
            </a:endParaRPr>
          </a:p>
        </p:txBody>
      </p:sp>
      <p:sp>
        <p:nvSpPr>
          <p:cNvPr id="428" name="圆角矩形 252"/>
          <p:cNvSpPr/>
          <p:nvPr/>
        </p:nvSpPr>
        <p:spPr>
          <a:xfrm>
            <a:off x="8255000" y="1701800"/>
            <a:ext cx="304800" cy="50800"/>
          </a:xfrm>
          <a:prstGeom prst="roundRect">
            <a:avLst>
              <a:gd name="adj" fmla="val 4376"/>
            </a:avLst>
          </a:prstGeom>
          <a:solidFill>
            <a:srgbClr val="0070C0"/>
          </a:solidFill>
          <a:ln>
            <a:noFill/>
          </a:ln>
        </p:spPr>
        <p:txBody>
          <a:bodyPr/>
          <a:p>
            <a:pPr/>
            <a:endParaRPr>
              <a:ea typeface="微软雅黑" panose="020B0503020204020204" charset="-122"/>
              <a:cs typeface="微软雅黑" panose="020B0503020204020204" charset="-122"/>
            </a:endParaRPr>
          </a:p>
        </p:txBody>
      </p:sp>
      <p:sp>
        <p:nvSpPr>
          <p:cNvPr id="429" name="圆角矩形 253"/>
          <p:cNvSpPr/>
          <p:nvPr/>
        </p:nvSpPr>
        <p:spPr>
          <a:xfrm>
            <a:off x="711200" y="3937000"/>
            <a:ext cx="304800" cy="50800"/>
          </a:xfrm>
          <a:prstGeom prst="roundRect">
            <a:avLst>
              <a:gd name="adj" fmla="val 4376"/>
            </a:avLst>
          </a:prstGeom>
          <a:solidFill>
            <a:srgbClr val="0070C0"/>
          </a:solidFill>
          <a:ln>
            <a:noFill/>
          </a:ln>
        </p:spPr>
        <p:txBody>
          <a:bodyPr/>
          <a:p>
            <a:pPr/>
            <a:endParaRPr>
              <a:ea typeface="微软雅黑" panose="020B0503020204020204" charset="-122"/>
              <a:cs typeface="微软雅黑" panose="020B0503020204020204" charset="-122"/>
            </a:endParaRPr>
          </a:p>
        </p:txBody>
      </p:sp>
      <p:sp>
        <p:nvSpPr>
          <p:cNvPr id="430" name="圆角矩形 254"/>
          <p:cNvSpPr/>
          <p:nvPr/>
        </p:nvSpPr>
        <p:spPr>
          <a:xfrm>
            <a:off x="4483100" y="3937000"/>
            <a:ext cx="304800" cy="50800"/>
          </a:xfrm>
          <a:prstGeom prst="roundRect">
            <a:avLst>
              <a:gd name="adj" fmla="val 4376"/>
            </a:avLst>
          </a:prstGeom>
          <a:solidFill>
            <a:srgbClr val="0070C0"/>
          </a:solidFill>
          <a:ln>
            <a:noFill/>
          </a:ln>
        </p:spPr>
        <p:txBody>
          <a:bodyPr/>
          <a:p>
            <a:pPr/>
            <a:endParaRPr>
              <a:ea typeface="微软雅黑" panose="020B0503020204020204" charset="-122"/>
              <a:cs typeface="微软雅黑" panose="020B0503020204020204" charset="-122"/>
            </a:endParaRPr>
          </a:p>
        </p:txBody>
      </p:sp>
      <p:sp>
        <p:nvSpPr>
          <p:cNvPr id="431" name="圆角矩形 255"/>
          <p:cNvSpPr/>
          <p:nvPr/>
        </p:nvSpPr>
        <p:spPr>
          <a:xfrm>
            <a:off x="8255000" y="3937000"/>
            <a:ext cx="304800" cy="50800"/>
          </a:xfrm>
          <a:prstGeom prst="roundRect">
            <a:avLst>
              <a:gd name="adj" fmla="val 4376"/>
            </a:avLst>
          </a:prstGeom>
          <a:solidFill>
            <a:srgbClr val="0070C0"/>
          </a:solidFill>
          <a:ln>
            <a:noFill/>
          </a:ln>
        </p:spPr>
        <p:txBody>
          <a:bodyPr/>
          <a:p>
            <a:pPr/>
            <a:endParaRPr>
              <a:ea typeface="微软雅黑" panose="020B0503020204020204" charset="-122"/>
              <a:cs typeface="微软雅黑" panose="020B0503020204020204" charset="-122"/>
            </a:endParaRPr>
          </a:p>
        </p:txBody>
      </p:sp>
      <p:sp>
        <p:nvSpPr>
          <p:cNvPr id="432" name="矩形 256"/>
          <p:cNvSpPr/>
          <p:nvPr/>
        </p:nvSpPr>
        <p:spPr>
          <a:xfrm>
            <a:off x="711200" y="1803400"/>
            <a:ext cx="3200400" cy="254000"/>
          </a:xfrm>
          <a:prstGeom prst="rect">
            <a:avLst/>
          </a:prstGeom>
          <a:noFill/>
          <a:ln>
            <a:noFill/>
          </a:ln>
        </p:spPr>
        <p:txBody>
          <a:bodyPr/>
          <a:p>
            <a:pPr/>
            <a:r>
              <a:rPr lang="zh-CN" sz="1200" b="1">
                <a:solidFill>
                  <a:srgbClr val="0070C0"/>
                </a:solidFill>
                <a:latin typeface="微软雅黑" panose="020B0503020204020204" charset="-122"/>
                <a:ea typeface="微软雅黑" panose="020B0503020204020204" charset="-122"/>
                <a:cs typeface="微软雅黑" panose="020B0503020204020204" charset="-122"/>
              </a:rPr>
              <a:t>杰克逊霍尔定调</a:t>
            </a:r>
            <a:endParaRPr lang="zh-CN" sz="1200" b="1">
              <a:solidFill>
                <a:srgbClr val="0070C0"/>
              </a:solidFill>
              <a:latin typeface="微软雅黑" panose="020B0503020204020204" charset="-122"/>
              <a:ea typeface="微软雅黑" panose="020B0503020204020204" charset="-122"/>
              <a:cs typeface="微软雅黑" panose="020B0503020204020204" charset="-122"/>
            </a:endParaRPr>
          </a:p>
        </p:txBody>
      </p:sp>
      <p:sp>
        <p:nvSpPr>
          <p:cNvPr id="433" name="矩形 257"/>
          <p:cNvSpPr/>
          <p:nvPr/>
        </p:nvSpPr>
        <p:spPr>
          <a:xfrm>
            <a:off x="4483100" y="1803400"/>
            <a:ext cx="3200400" cy="254000"/>
          </a:xfrm>
          <a:prstGeom prst="rect">
            <a:avLst/>
          </a:prstGeom>
          <a:noFill/>
          <a:ln>
            <a:noFill/>
          </a:ln>
        </p:spPr>
        <p:txBody>
          <a:bodyPr/>
          <a:p>
            <a:pPr/>
            <a:r>
              <a:rPr lang="zh-CN" sz="1200" b="1">
                <a:solidFill>
                  <a:srgbClr val="0070C0"/>
                </a:solidFill>
                <a:latin typeface="微软雅黑" panose="020B0503020204020204" charset="-122"/>
                <a:ea typeface="微软雅黑" panose="020B0503020204020204" charset="-122"/>
                <a:cs typeface="微软雅黑" panose="020B0503020204020204" charset="-122"/>
              </a:rPr>
              <a:t>官员立场</a:t>
            </a:r>
            <a:endParaRPr lang="zh-CN" sz="1200" b="1">
              <a:solidFill>
                <a:srgbClr val="0070C0"/>
              </a:solidFill>
              <a:latin typeface="微软雅黑" panose="020B0503020204020204" charset="-122"/>
              <a:ea typeface="微软雅黑" panose="020B0503020204020204" charset="-122"/>
              <a:cs typeface="微软雅黑" panose="020B0503020204020204" charset="-122"/>
            </a:endParaRPr>
          </a:p>
        </p:txBody>
      </p:sp>
      <p:sp>
        <p:nvSpPr>
          <p:cNvPr id="434" name="矩形 258"/>
          <p:cNvSpPr/>
          <p:nvPr/>
        </p:nvSpPr>
        <p:spPr>
          <a:xfrm>
            <a:off x="8255000" y="1803400"/>
            <a:ext cx="3200400" cy="254000"/>
          </a:xfrm>
          <a:prstGeom prst="rect">
            <a:avLst/>
          </a:prstGeom>
          <a:noFill/>
          <a:ln>
            <a:noFill/>
          </a:ln>
        </p:spPr>
        <p:txBody>
          <a:bodyPr/>
          <a:p>
            <a:pPr/>
            <a:r>
              <a:rPr lang="zh-CN" sz="1200" b="1">
                <a:solidFill>
                  <a:srgbClr val="0070C0"/>
                </a:solidFill>
                <a:latin typeface="微软雅黑" panose="020B0503020204020204" charset="-122"/>
                <a:ea typeface="微软雅黑" panose="020B0503020204020204" charset="-122"/>
                <a:cs typeface="微软雅黑" panose="020B0503020204020204" charset="-122"/>
              </a:rPr>
              <a:t>非农就业</a:t>
            </a:r>
            <a:endParaRPr lang="zh-CN" sz="1200" b="1">
              <a:solidFill>
                <a:srgbClr val="0070C0"/>
              </a:solidFill>
              <a:latin typeface="微软雅黑" panose="020B0503020204020204" charset="-122"/>
              <a:ea typeface="微软雅黑" panose="020B0503020204020204" charset="-122"/>
              <a:cs typeface="微软雅黑" panose="020B0503020204020204" charset="-122"/>
            </a:endParaRPr>
          </a:p>
        </p:txBody>
      </p:sp>
      <p:sp>
        <p:nvSpPr>
          <p:cNvPr id="435" name="矩形 259"/>
          <p:cNvSpPr/>
          <p:nvPr/>
        </p:nvSpPr>
        <p:spPr>
          <a:xfrm>
            <a:off x="711200" y="4038600"/>
            <a:ext cx="3200400" cy="254000"/>
          </a:xfrm>
          <a:prstGeom prst="rect">
            <a:avLst/>
          </a:prstGeom>
          <a:noFill/>
          <a:ln>
            <a:noFill/>
          </a:ln>
        </p:spPr>
        <p:txBody>
          <a:bodyPr/>
          <a:p>
            <a:pPr/>
            <a:r>
              <a:rPr lang="zh-CN" sz="1200" b="1">
                <a:solidFill>
                  <a:srgbClr val="0070C0"/>
                </a:solidFill>
                <a:latin typeface="微软雅黑" panose="020B0503020204020204" charset="-122"/>
                <a:ea typeface="微软雅黑" panose="020B0503020204020204" charset="-122"/>
                <a:cs typeface="微软雅黑" panose="020B0503020204020204" charset="-122"/>
              </a:rPr>
              <a:t>加息概率</a:t>
            </a:r>
            <a:endParaRPr lang="zh-CN" sz="1200" b="1">
              <a:solidFill>
                <a:srgbClr val="0070C0"/>
              </a:solidFill>
              <a:latin typeface="微软雅黑" panose="020B0503020204020204" charset="-122"/>
              <a:ea typeface="微软雅黑" panose="020B0503020204020204" charset="-122"/>
              <a:cs typeface="微软雅黑" panose="020B0503020204020204" charset="-122"/>
            </a:endParaRPr>
          </a:p>
        </p:txBody>
      </p:sp>
      <p:sp>
        <p:nvSpPr>
          <p:cNvPr id="436" name="矩形 260"/>
          <p:cNvSpPr/>
          <p:nvPr/>
        </p:nvSpPr>
        <p:spPr>
          <a:xfrm>
            <a:off x="4483100" y="4038600"/>
            <a:ext cx="3200400" cy="254000"/>
          </a:xfrm>
          <a:prstGeom prst="rect">
            <a:avLst/>
          </a:prstGeom>
          <a:noFill/>
          <a:ln>
            <a:noFill/>
          </a:ln>
        </p:spPr>
        <p:txBody>
          <a:bodyPr/>
          <a:p>
            <a:pPr/>
            <a:r>
              <a:rPr lang="zh-CN" sz="1200" b="1">
                <a:solidFill>
                  <a:srgbClr val="0070C0"/>
                </a:solidFill>
                <a:latin typeface="微软雅黑" panose="020B0503020204020204" charset="-122"/>
                <a:ea typeface="微软雅黑" panose="020B0503020204020204" charset="-122"/>
                <a:cs typeface="微软雅黑" panose="020B0503020204020204" charset="-122"/>
              </a:rPr>
              <a:t>美债 10Y</a:t>
            </a:r>
            <a:endParaRPr lang="zh-CN" sz="1200" b="1">
              <a:solidFill>
                <a:srgbClr val="0070C0"/>
              </a:solidFill>
              <a:latin typeface="微软雅黑" panose="020B0503020204020204" charset="-122"/>
              <a:ea typeface="微软雅黑" panose="020B0503020204020204" charset="-122"/>
              <a:cs typeface="微软雅黑" panose="020B0503020204020204" charset="-122"/>
            </a:endParaRPr>
          </a:p>
        </p:txBody>
      </p:sp>
      <p:sp>
        <p:nvSpPr>
          <p:cNvPr id="437" name="矩形 261"/>
          <p:cNvSpPr/>
          <p:nvPr/>
        </p:nvSpPr>
        <p:spPr>
          <a:xfrm>
            <a:off x="8255000" y="4038600"/>
            <a:ext cx="3200400" cy="254000"/>
          </a:xfrm>
          <a:prstGeom prst="rect">
            <a:avLst/>
          </a:prstGeom>
          <a:noFill/>
          <a:ln>
            <a:noFill/>
          </a:ln>
        </p:spPr>
        <p:txBody>
          <a:bodyPr/>
          <a:p>
            <a:pPr/>
            <a:r>
              <a:rPr lang="zh-CN" sz="1200" b="1">
                <a:solidFill>
                  <a:srgbClr val="0070C0"/>
                </a:solidFill>
                <a:latin typeface="微软雅黑" panose="020B0503020204020204" charset="-122"/>
                <a:ea typeface="微软雅黑" panose="020B0503020204020204" charset="-122"/>
                <a:cs typeface="微软雅黑" panose="020B0503020204020204" charset="-122"/>
              </a:rPr>
              <a:t>关键变量</a:t>
            </a:r>
            <a:endParaRPr lang="zh-CN" sz="1200" b="1">
              <a:solidFill>
                <a:srgbClr val="0070C0"/>
              </a:solidFill>
              <a:latin typeface="微软雅黑" panose="020B0503020204020204" charset="-122"/>
              <a:ea typeface="微软雅黑" panose="020B0503020204020204" charset="-122"/>
              <a:cs typeface="微软雅黑" panose="020B0503020204020204" charset="-122"/>
            </a:endParaRPr>
          </a:p>
        </p:txBody>
      </p:sp>
      <p:sp>
        <p:nvSpPr>
          <p:cNvPr id="438" name="矩形 262"/>
          <p:cNvSpPr/>
          <p:nvPr/>
        </p:nvSpPr>
        <p:spPr>
          <a:xfrm>
            <a:off x="711200" y="2159000"/>
            <a:ext cx="3200400" cy="457200"/>
          </a:xfrm>
          <a:prstGeom prst="rect">
            <a:avLst/>
          </a:prstGeom>
          <a:noFill/>
          <a:ln>
            <a:noFill/>
          </a:ln>
        </p:spPr>
        <p:txBody>
          <a:bodyPr/>
          <a:p>
            <a:pPr/>
            <a:r>
              <a:rPr lang="zh-CN" sz="2200" b="1">
                <a:solidFill>
                  <a:srgbClr val="1F2933"/>
                </a:solidFill>
                <a:latin typeface="微软雅黑" panose="020B0503020204020204" charset="-122"/>
                <a:ea typeface="微软雅黑" panose="020B0503020204020204" charset="-122"/>
                <a:cs typeface="微软雅黑" panose="020B0503020204020204" charset="-122"/>
              </a:rPr>
              <a:t>偏鹰</a:t>
            </a:r>
            <a:endParaRPr lang="zh-CN" sz="2200" b="1">
              <a:solidFill>
                <a:srgbClr val="1F2933"/>
              </a:solidFill>
              <a:latin typeface="微软雅黑" panose="020B0503020204020204" charset="-122"/>
              <a:ea typeface="微软雅黑" panose="020B0503020204020204" charset="-122"/>
              <a:cs typeface="微软雅黑" panose="020B0503020204020204" charset="-122"/>
            </a:endParaRPr>
          </a:p>
        </p:txBody>
      </p:sp>
      <p:sp>
        <p:nvSpPr>
          <p:cNvPr id="439" name="矩形 263"/>
          <p:cNvSpPr/>
          <p:nvPr/>
        </p:nvSpPr>
        <p:spPr>
          <a:xfrm>
            <a:off x="4483100" y="2159000"/>
            <a:ext cx="3200400" cy="457200"/>
          </a:xfrm>
          <a:prstGeom prst="rect">
            <a:avLst/>
          </a:prstGeom>
          <a:noFill/>
          <a:ln>
            <a:noFill/>
          </a:ln>
        </p:spPr>
        <p:txBody>
          <a:bodyPr/>
          <a:p>
            <a:pPr/>
            <a:r>
              <a:rPr lang="zh-CN" sz="2200" b="1">
                <a:solidFill>
                  <a:srgbClr val="1F2933"/>
                </a:solidFill>
                <a:latin typeface="微软雅黑" panose="020B0503020204020204" charset="-122"/>
                <a:ea typeface="微软雅黑" panose="020B0503020204020204" charset="-122"/>
                <a:cs typeface="微软雅黑" panose="020B0503020204020204" charset="-122"/>
              </a:rPr>
              <a:t>鹰派</a:t>
            </a:r>
            <a:endParaRPr lang="zh-CN" sz="2200" b="1">
              <a:solidFill>
                <a:srgbClr val="1F2933"/>
              </a:solidFill>
              <a:latin typeface="微软雅黑" panose="020B0503020204020204" charset="-122"/>
              <a:ea typeface="微软雅黑" panose="020B0503020204020204" charset="-122"/>
              <a:cs typeface="微软雅黑" panose="020B0503020204020204" charset="-122"/>
            </a:endParaRPr>
          </a:p>
        </p:txBody>
      </p:sp>
      <p:sp>
        <p:nvSpPr>
          <p:cNvPr id="440" name="矩形 264"/>
          <p:cNvSpPr/>
          <p:nvPr/>
        </p:nvSpPr>
        <p:spPr>
          <a:xfrm>
            <a:off x="8255000" y="2159000"/>
            <a:ext cx="3200400" cy="457200"/>
          </a:xfrm>
          <a:prstGeom prst="rect">
            <a:avLst/>
          </a:prstGeom>
          <a:noFill/>
          <a:ln>
            <a:noFill/>
          </a:ln>
        </p:spPr>
        <p:txBody>
          <a:bodyPr/>
          <a:p>
            <a:pPr/>
            <a:r>
              <a:rPr lang="zh-CN" sz="2200" b="1">
                <a:solidFill>
                  <a:srgbClr val="1F2933"/>
                </a:solidFill>
                <a:latin typeface="微软雅黑" panose="020B0503020204020204" charset="-122"/>
                <a:ea typeface="微软雅黑" panose="020B0503020204020204" charset="-122"/>
                <a:cs typeface="微软雅黑" panose="020B0503020204020204" charset="-122"/>
              </a:rPr>
              <a:t>+16.2万</a:t>
            </a:r>
            <a:endParaRPr lang="zh-CN" sz="2200" b="1">
              <a:solidFill>
                <a:srgbClr val="1F2933"/>
              </a:solidFill>
              <a:latin typeface="微软雅黑" panose="020B0503020204020204" charset="-122"/>
              <a:ea typeface="微软雅黑" panose="020B0503020204020204" charset="-122"/>
              <a:cs typeface="微软雅黑" panose="020B0503020204020204" charset="-122"/>
            </a:endParaRPr>
          </a:p>
        </p:txBody>
      </p:sp>
      <p:sp>
        <p:nvSpPr>
          <p:cNvPr id="441" name="矩形 265"/>
          <p:cNvSpPr/>
          <p:nvPr/>
        </p:nvSpPr>
        <p:spPr>
          <a:xfrm>
            <a:off x="711200" y="4394200"/>
            <a:ext cx="3200400" cy="457200"/>
          </a:xfrm>
          <a:prstGeom prst="rect">
            <a:avLst/>
          </a:prstGeom>
          <a:noFill/>
          <a:ln>
            <a:noFill/>
          </a:ln>
        </p:spPr>
        <p:txBody>
          <a:bodyPr/>
          <a:p>
            <a:pPr/>
            <a:r>
              <a:rPr lang="zh-CN" sz="2200" b="1">
                <a:solidFill>
                  <a:srgbClr val="1F2933"/>
                </a:solidFill>
                <a:latin typeface="微软雅黑" panose="020B0503020204020204" charset="-122"/>
                <a:ea typeface="微软雅黑" panose="020B0503020204020204" charset="-122"/>
                <a:cs typeface="微软雅黑" panose="020B0503020204020204" charset="-122"/>
              </a:rPr>
              <a:t>95%</a:t>
            </a:r>
            <a:endParaRPr lang="zh-CN" sz="2200" b="1">
              <a:solidFill>
                <a:srgbClr val="1F2933"/>
              </a:solidFill>
              <a:latin typeface="微软雅黑" panose="020B0503020204020204" charset="-122"/>
              <a:ea typeface="微软雅黑" panose="020B0503020204020204" charset="-122"/>
              <a:cs typeface="微软雅黑" panose="020B0503020204020204" charset="-122"/>
            </a:endParaRPr>
          </a:p>
        </p:txBody>
      </p:sp>
      <p:sp>
        <p:nvSpPr>
          <p:cNvPr id="442" name="矩形 266"/>
          <p:cNvSpPr/>
          <p:nvPr/>
        </p:nvSpPr>
        <p:spPr>
          <a:xfrm>
            <a:off x="4483100" y="4394200"/>
            <a:ext cx="3200400" cy="457200"/>
          </a:xfrm>
          <a:prstGeom prst="rect">
            <a:avLst/>
          </a:prstGeom>
          <a:noFill/>
          <a:ln>
            <a:noFill/>
          </a:ln>
        </p:spPr>
        <p:txBody>
          <a:bodyPr/>
          <a:p>
            <a:pPr/>
            <a:r>
              <a:rPr lang="zh-CN" sz="2200" b="1">
                <a:solidFill>
                  <a:srgbClr val="1F2933"/>
                </a:solidFill>
                <a:latin typeface="微软雅黑" panose="020B0503020204020204" charset="-122"/>
                <a:ea typeface="微软雅黑" panose="020B0503020204020204" charset="-122"/>
                <a:cs typeface="微软雅黑" panose="020B0503020204020204" charset="-122"/>
              </a:rPr>
              <a:t>5.00%</a:t>
            </a:r>
            <a:endParaRPr lang="zh-CN" sz="2200" b="1">
              <a:solidFill>
                <a:srgbClr val="1F2933"/>
              </a:solidFill>
              <a:latin typeface="微软雅黑" panose="020B0503020204020204" charset="-122"/>
              <a:ea typeface="微软雅黑" panose="020B0503020204020204" charset="-122"/>
              <a:cs typeface="微软雅黑" panose="020B0503020204020204" charset="-122"/>
            </a:endParaRPr>
          </a:p>
        </p:txBody>
      </p:sp>
      <p:sp>
        <p:nvSpPr>
          <p:cNvPr id="443" name="矩形 267"/>
          <p:cNvSpPr/>
          <p:nvPr/>
        </p:nvSpPr>
        <p:spPr>
          <a:xfrm>
            <a:off x="8255000" y="4394200"/>
            <a:ext cx="3200400" cy="457200"/>
          </a:xfrm>
          <a:prstGeom prst="rect">
            <a:avLst/>
          </a:prstGeom>
          <a:noFill/>
          <a:ln>
            <a:noFill/>
          </a:ln>
        </p:spPr>
        <p:txBody>
          <a:bodyPr/>
          <a:p>
            <a:pPr/>
            <a:r>
              <a:rPr lang="zh-CN" sz="2200" b="1">
                <a:solidFill>
                  <a:srgbClr val="1F2933"/>
                </a:solidFill>
                <a:latin typeface="微软雅黑" panose="020B0503020204020204" charset="-122"/>
                <a:ea typeface="微软雅黑" panose="020B0503020204020204" charset="-122"/>
                <a:cs typeface="微软雅黑" panose="020B0503020204020204" charset="-122"/>
              </a:rPr>
              <a:t>8月CPI</a:t>
            </a:r>
            <a:endParaRPr lang="zh-CN" sz="2200" b="1">
              <a:solidFill>
                <a:srgbClr val="1F2933"/>
              </a:solidFill>
              <a:latin typeface="微软雅黑" panose="020B0503020204020204" charset="-122"/>
              <a:ea typeface="微软雅黑" panose="020B0503020204020204" charset="-122"/>
              <a:cs typeface="微软雅黑" panose="020B0503020204020204" charset="-122"/>
            </a:endParaRPr>
          </a:p>
        </p:txBody>
      </p:sp>
      <p:sp>
        <p:nvSpPr>
          <p:cNvPr id="444" name="矩形 268"/>
          <p:cNvSpPr/>
          <p:nvPr/>
        </p:nvSpPr>
        <p:spPr>
          <a:xfrm>
            <a:off x="711200" y="2768600"/>
            <a:ext cx="3200400" cy="660400"/>
          </a:xfrm>
          <a:prstGeom prst="rect">
            <a:avLst/>
          </a:prstGeom>
          <a:noFill/>
          <a:ln>
            <a:noFill/>
          </a:ln>
        </p:spPr>
        <p:txBody>
          <a:bodyPr/>
          <a:p>
            <a:pPr/>
            <a:r>
              <a:rPr lang="zh-CN" sz="1000">
                <a:solidFill>
                  <a:srgbClr val="595959"/>
                </a:solidFill>
                <a:latin typeface="微软雅黑" panose="020B0503020204020204" charset="-122"/>
                <a:ea typeface="微软雅黑" panose="020B0503020204020204" charset="-122"/>
                <a:cs typeface="微软雅黑" panose="020B0503020204020204" charset="-122"/>
              </a:rPr>
              <a:t>通胀未实质改善则继续收紧</a:t>
            </a:r>
            <a:endParaRPr lang="zh-CN" sz="1000">
              <a:solidFill>
                <a:srgbClr val="595959"/>
              </a:solidFill>
              <a:latin typeface="微软雅黑" panose="020B0503020204020204" charset="-122"/>
              <a:ea typeface="微软雅黑" panose="020B0503020204020204" charset="-122"/>
              <a:cs typeface="微软雅黑" panose="020B0503020204020204" charset="-122"/>
            </a:endParaRPr>
          </a:p>
        </p:txBody>
      </p:sp>
      <p:sp>
        <p:nvSpPr>
          <p:cNvPr id="445" name="矩形 269"/>
          <p:cNvSpPr/>
          <p:nvPr/>
        </p:nvSpPr>
        <p:spPr>
          <a:xfrm>
            <a:off x="4483100" y="2768600"/>
            <a:ext cx="3200400" cy="660400"/>
          </a:xfrm>
          <a:prstGeom prst="rect">
            <a:avLst/>
          </a:prstGeom>
          <a:noFill/>
          <a:ln>
            <a:noFill/>
          </a:ln>
        </p:spPr>
        <p:txBody>
          <a:bodyPr/>
          <a:p>
            <a:pPr/>
            <a:r>
              <a:rPr lang="zh-CN" sz="1000">
                <a:solidFill>
                  <a:srgbClr val="595959"/>
                </a:solidFill>
                <a:latin typeface="微软雅黑" panose="020B0503020204020204" charset="-122"/>
                <a:ea typeface="微软雅黑" panose="020B0503020204020204" charset="-122"/>
                <a:cs typeface="微软雅黑" panose="020B0503020204020204" charset="-122"/>
              </a:rPr>
              <a:t>沃什鹰派定调 · 委员分歧</a:t>
            </a:r>
            <a:endParaRPr lang="zh-CN" sz="1000">
              <a:solidFill>
                <a:srgbClr val="595959"/>
              </a:solidFill>
              <a:latin typeface="微软雅黑" panose="020B0503020204020204" charset="-122"/>
              <a:ea typeface="微软雅黑" panose="020B0503020204020204" charset="-122"/>
              <a:cs typeface="微软雅黑" panose="020B0503020204020204" charset="-122"/>
            </a:endParaRPr>
          </a:p>
        </p:txBody>
      </p:sp>
      <p:sp>
        <p:nvSpPr>
          <p:cNvPr id="446" name="矩形 270"/>
          <p:cNvSpPr/>
          <p:nvPr/>
        </p:nvSpPr>
        <p:spPr>
          <a:xfrm>
            <a:off x="8255000" y="2768600"/>
            <a:ext cx="3200400" cy="660400"/>
          </a:xfrm>
          <a:prstGeom prst="rect">
            <a:avLst/>
          </a:prstGeom>
          <a:noFill/>
          <a:ln>
            <a:noFill/>
          </a:ln>
        </p:spPr>
        <p:txBody>
          <a:bodyPr/>
          <a:p>
            <a:pPr/>
            <a:r>
              <a:rPr lang="zh-CN" sz="1000">
                <a:solidFill>
                  <a:srgbClr val="595959"/>
                </a:solidFill>
                <a:latin typeface="微软雅黑" panose="020B0503020204020204" charset="-122"/>
                <a:ea typeface="微软雅黑" panose="020B0503020204020204" charset="-122"/>
                <a:cs typeface="微软雅黑" panose="020B0503020204020204" charset="-122"/>
              </a:rPr>
              <a:t>预期仅 5 万｜失业率 4.1%</a:t>
            </a:r>
            <a:endParaRPr lang="zh-CN" sz="1000">
              <a:solidFill>
                <a:srgbClr val="595959"/>
              </a:solidFill>
              <a:latin typeface="微软雅黑" panose="020B0503020204020204" charset="-122"/>
              <a:ea typeface="微软雅黑" panose="020B0503020204020204" charset="-122"/>
              <a:cs typeface="微软雅黑" panose="020B0503020204020204" charset="-122"/>
            </a:endParaRPr>
          </a:p>
        </p:txBody>
      </p:sp>
      <p:sp>
        <p:nvSpPr>
          <p:cNvPr id="447" name="矩形 271"/>
          <p:cNvSpPr/>
          <p:nvPr/>
        </p:nvSpPr>
        <p:spPr>
          <a:xfrm>
            <a:off x="711200" y="5003800"/>
            <a:ext cx="3200400" cy="660400"/>
          </a:xfrm>
          <a:prstGeom prst="rect">
            <a:avLst/>
          </a:prstGeom>
          <a:noFill/>
          <a:ln>
            <a:noFill/>
          </a:ln>
        </p:spPr>
        <p:txBody>
          <a:bodyPr/>
          <a:p>
            <a:pPr/>
            <a:r>
              <a:rPr lang="zh-CN" sz="1000">
                <a:solidFill>
                  <a:srgbClr val="595959"/>
                </a:solidFill>
                <a:latin typeface="微软雅黑" panose="020B0503020204020204" charset="-122"/>
                <a:ea typeface="微软雅黑" panose="020B0503020204020204" charset="-122"/>
                <a:cs typeface="微软雅黑" panose="020B0503020204020204" charset="-122"/>
              </a:rPr>
              <a:t>9月加息25bp｜利率3.75–4.00%</a:t>
            </a:r>
            <a:endParaRPr lang="zh-CN" sz="1000">
              <a:solidFill>
                <a:srgbClr val="595959"/>
              </a:solidFill>
              <a:latin typeface="微软雅黑" panose="020B0503020204020204" charset="-122"/>
              <a:ea typeface="微软雅黑" panose="020B0503020204020204" charset="-122"/>
              <a:cs typeface="微软雅黑" panose="020B0503020204020204" charset="-122"/>
            </a:endParaRPr>
          </a:p>
        </p:txBody>
      </p:sp>
      <p:sp>
        <p:nvSpPr>
          <p:cNvPr id="448" name="矩形 272"/>
          <p:cNvSpPr/>
          <p:nvPr/>
        </p:nvSpPr>
        <p:spPr>
          <a:xfrm>
            <a:off x="4483100" y="5003800"/>
            <a:ext cx="3200400" cy="660400"/>
          </a:xfrm>
          <a:prstGeom prst="rect">
            <a:avLst/>
          </a:prstGeom>
          <a:noFill/>
          <a:ln>
            <a:noFill/>
          </a:ln>
        </p:spPr>
        <p:txBody>
          <a:bodyPr/>
          <a:p>
            <a:pPr/>
            <a:r>
              <a:rPr lang="zh-CN" sz="1000">
                <a:solidFill>
                  <a:srgbClr val="595959"/>
                </a:solidFill>
                <a:latin typeface="微软雅黑" panose="020B0503020204020204" charset="-122"/>
                <a:ea typeface="微软雅黑" panose="020B0503020204020204" charset="-122"/>
                <a:cs typeface="微软雅黑" panose="020B0503020204020204" charset="-122"/>
              </a:rPr>
              <a:t>30Y 5.25%</a:t>
            </a:r>
            <a:endParaRPr lang="zh-CN" sz="1000">
              <a:solidFill>
                <a:srgbClr val="595959"/>
              </a:solidFill>
              <a:latin typeface="微软雅黑" panose="020B0503020204020204" charset="-122"/>
              <a:ea typeface="微软雅黑" panose="020B0503020204020204" charset="-122"/>
              <a:cs typeface="微软雅黑" panose="020B0503020204020204" charset="-122"/>
            </a:endParaRPr>
          </a:p>
        </p:txBody>
      </p:sp>
      <p:sp>
        <p:nvSpPr>
          <p:cNvPr id="449" name="矩形 273"/>
          <p:cNvSpPr/>
          <p:nvPr/>
        </p:nvSpPr>
        <p:spPr>
          <a:xfrm>
            <a:off x="8255000" y="5003800"/>
            <a:ext cx="3200400" cy="660400"/>
          </a:xfrm>
          <a:prstGeom prst="rect">
            <a:avLst/>
          </a:prstGeom>
          <a:noFill/>
          <a:ln>
            <a:noFill/>
          </a:ln>
        </p:spPr>
        <p:txBody>
          <a:bodyPr/>
          <a:p>
            <a:pPr/>
            <a:r>
              <a:rPr lang="zh-CN" sz="1000">
                <a:solidFill>
                  <a:srgbClr val="595959"/>
                </a:solidFill>
                <a:latin typeface="微软雅黑" panose="020B0503020204020204" charset="-122"/>
                <a:ea typeface="微软雅黑" panose="020B0503020204020204" charset="-122"/>
                <a:cs typeface="微软雅黑" panose="020B0503020204020204" charset="-122"/>
              </a:rPr>
              <a:t>同比3.4%｜核心环比0.3%超预期</a:t>
            </a:r>
            <a:endParaRPr lang="zh-CN" sz="1000">
              <a:solidFill>
                <a:srgbClr val="595959"/>
              </a:solidFill>
              <a:latin typeface="微软雅黑" panose="020B0503020204020204" charset="-122"/>
              <a:ea typeface="微软雅黑" panose="020B0503020204020204" charset="-122"/>
              <a:cs typeface="微软雅黑" panose="020B0503020204020204" charset="-122"/>
            </a:endParaRPr>
          </a:p>
        </p:txBody>
      </p:sp>
      <p:pic>
        <p:nvPicPr>
          <p:cNvPr id="450" name="参考模板浅蓝背景弧线"/>
          <p:cNvPicPr/>
          <p:nvPr/>
        </p:nvPicPr>
        <p:blipFill>
          <a:blip r:embed="rId2"/>
          <a:stretch>
            <a:fillRect/>
          </a:stretch>
        </p:blipFill>
        <p:spPr>
          <a:xfrm>
            <a:off x="4457700" y="0"/>
            <a:ext cx="3143250" cy="495300"/>
          </a:xfrm>
          <a:prstGeom prst="rect">
            <a:avLst/>
          </a:prstGeom>
          <a:noFill/>
          <a:ln>
            <a:noFill/>
          </a:ln>
        </p:spPr>
      </p:pic>
      <p:pic>
        <p:nvPicPr>
          <p:cNvPr id="451" name="参考模板右上角标识"/>
          <p:cNvPicPr/>
          <p:nvPr/>
        </p:nvPicPr>
        <p:blipFill>
          <a:blip r:embed="rId3"/>
          <a:stretch>
            <a:fillRect/>
          </a:stretch>
        </p:blipFill>
        <p:spPr>
          <a:xfrm>
            <a:off x="9696450" y="209550"/>
            <a:ext cx="1733550" cy="390525"/>
          </a:xfrm>
          <a:prstGeom prst="rect">
            <a:avLst/>
          </a:prstGeom>
          <a:noFill/>
          <a:ln>
            <a:noFill/>
          </a:ln>
        </p:spPr>
      </p:pic>
    </p:spTree>
  </p:cSld>
  <p:clrMapOvr>
    <a:masterClrMapping/>
  </p:clrMapOvr>
</p:sld>
</file>

<file path=ppt/slides/slide6.xml><?xml version="1.0" encoding="utf-8"?>
<p:sld xmlns:r="http://schemas.openxmlformats.org/officeDocument/2006/relationships" xmlns:p="http://schemas.openxmlformats.org/presentationml/2006/main" xmlns:a="http://schemas.openxmlformats.org/drawingml/2006/main">
  <p:cSld>
    <p:spTree>
      <p:nvGrpSpPr>
        <p:cNvPr id="450" name=""/>
        <p:cNvGrpSpPr/>
        <p:nvPr/>
      </p:nvGrpSpPr>
      <p:grpSpPr>
        <a:xfrm>
          <a:off x="0" y="0"/>
          <a:ext cx="0" cy="0"/>
          <a:chOff x="0" y="0"/>
          <a:chExt cx="0" cy="0"/>
        </a:xfrm>
      </p:grpSpPr>
      <p:sp>
        <p:nvSpPr>
          <p:cNvPr id="451" name="Rectangle 1"/>
          <p:cNvSpPr/>
          <p:nvPr/>
        </p:nvSpPr>
        <p:spPr>
          <a:xfrm>
            <a:off x="502920" y="457200"/>
            <a:ext cx="82296" cy="566928"/>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452" name="TextBox 2"/>
          <p:cNvSpPr txBox="1"/>
          <p:nvPr/>
        </p:nvSpPr>
        <p:spPr>
          <a:xfrm>
            <a:off x="713232" y="420624"/>
            <a:ext cx="9601200" cy="640080"/>
          </a:xfrm>
          <a:prstGeom prst="rect">
            <a:avLst/>
          </a:prstGeom>
          <a:noFill/>
        </p:spPr>
        <p:txBody>
          <a:bodyPr wrap="square" lIns="0" tIns="0" rIns="0" bIns="0" anchor="ctr">
            <a:spAutoFit/>
          </a:bodyPr>
          <a:lstStyle/>
          <a:p>
            <a:pPr algn="l">
              <a:lnSpc>
                <a:spcPct val="115000"/>
              </a:lnSpc>
              <a:spcAft>
                <a:spcPts val="600"/>
              </a:spcAft>
            </a:pPr>
            <a:r>
              <a:rPr sz="2600" b="1">
                <a:solidFill>
                  <a:srgbClr val="0070C0"/>
                </a:solidFill>
                <a:latin typeface="微软雅黑" panose="020B0503020204020204" charset="-122"/>
                <a:ea typeface="微软雅黑" panose="020B0503020204020204" charset="-122"/>
                <a:cs typeface="微软雅黑" panose="020B0503020204020204" charset="-122"/>
              </a:rPr>
              <a:t>海外宏观：中东冲突升级，油价与商品高企</a:t>
            </a:r>
            <a:endParaRPr sz="2600" b="1">
              <a:solidFill>
                <a:srgbClr val="0070C0"/>
              </a:solidFill>
              <a:latin typeface="微软雅黑" panose="020B0503020204020204" charset="-122"/>
              <a:ea typeface="微软雅黑" panose="020B0503020204020204" charset="-122"/>
              <a:cs typeface="微软雅黑" panose="020B0503020204020204" charset="-122"/>
            </a:endParaRPr>
          </a:p>
        </p:txBody>
      </p:sp>
      <p:sp>
        <p:nvSpPr>
          <p:cNvPr id="453" name="TextBox 3"/>
          <p:cNvSpPr txBox="1"/>
          <p:nvPr/>
        </p:nvSpPr>
        <p:spPr>
          <a:xfrm>
            <a:off x="713232" y="1042415"/>
            <a:ext cx="10515600" cy="365760"/>
          </a:xfrm>
          <a:prstGeom prst="rect">
            <a:avLst/>
          </a:prstGeom>
          <a:noFill/>
        </p:spPr>
        <p:txBody>
          <a:bodyPr wrap="square" lIns="0" tIns="0" rIns="0" bIns="0" anchor="t">
            <a:spAutoFit/>
          </a:bodyPr>
          <a:lstStyle/>
          <a:p>
            <a:pPr algn="l">
              <a:lnSpc>
                <a:spcPct val="115000"/>
              </a:lnSpc>
              <a:spcAft>
                <a:spcPts val="600"/>
              </a:spcAft>
            </a:pPr>
            <a:r>
              <a:rPr sz="1100" b="0">
                <a:solidFill>
                  <a:srgbClr val="595959"/>
                </a:solidFill>
                <a:latin typeface="微软雅黑" panose="020B0503020204020204" charset="-122"/>
                <a:ea typeface="微软雅黑" panose="020B0503020204020204" charset="-122"/>
                <a:cs typeface="微软雅黑" panose="020B0503020204020204" charset="-122"/>
              </a:rPr>
              <a:t>地缘风险推升能源与商品价格，输入型再通胀成为全球主线</a:t>
            </a:r>
            <a:endParaRPr sz="1100" b="0">
              <a:solidFill>
                <a:srgbClr val="595959"/>
              </a:solidFill>
              <a:latin typeface="微软雅黑" panose="020B0503020204020204" charset="-122"/>
              <a:ea typeface="微软雅黑" panose="020B0503020204020204" charset="-122"/>
              <a:cs typeface="微软雅黑" panose="020B0503020204020204" charset="-122"/>
            </a:endParaRPr>
          </a:p>
        </p:txBody>
      </p:sp>
      <p:sp>
        <p:nvSpPr>
          <p:cNvPr id="454" name="Rectangle 4"/>
          <p:cNvSpPr/>
          <p:nvPr/>
        </p:nvSpPr>
        <p:spPr>
          <a:xfrm>
            <a:off x="502920" y="1005840"/>
            <a:ext cx="2011680" cy="27940"/>
          </a:xfrm>
          <a:prstGeom prst="rect">
            <a:avLst/>
          </a:prstGeom>
          <a:solidFill>
            <a:srgbClr val="54B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455" name="Rectangle 5"/>
          <p:cNvSpPr/>
          <p:nvPr/>
        </p:nvSpPr>
        <p:spPr>
          <a:xfrm>
            <a:off x="502920" y="1060704"/>
            <a:ext cx="11183112" cy="11430"/>
          </a:xfrm>
          <a:prstGeom prst="rect">
            <a:avLst/>
          </a:prstGeom>
          <a:solidFill>
            <a:srgbClr val="AED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456" name="Rectangle 16"/>
          <p:cNvSpPr/>
          <p:nvPr/>
        </p:nvSpPr>
        <p:spPr>
          <a:xfrm>
            <a:off x="502920" y="5989320"/>
            <a:ext cx="11183112" cy="658368"/>
          </a:xfrm>
          <a:prstGeom prst="rect">
            <a:avLst/>
          </a:prstGeom>
          <a:solidFill>
            <a:srgbClr val="EA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457" name="Rectangle 17"/>
          <p:cNvSpPr/>
          <p:nvPr/>
        </p:nvSpPr>
        <p:spPr>
          <a:xfrm>
            <a:off x="502920" y="5989320"/>
            <a:ext cx="11183112" cy="658368"/>
          </a:xfrm>
          <a:prstGeom prst="rect">
            <a:avLst/>
          </a:prstGeom>
          <a:solidFill>
            <a:srgbClr val="EAF6FC"/>
          </a:solidFill>
          <a:ln>
            <a:noFill/>
          </a:ln>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l">
              <a:lnSpc>
                <a:spcPct val="110000"/>
              </a:lnSpc>
              <a:spcAft>
                <a:spcPts val="400"/>
              </a:spcAft>
            </a:pPr>
            <a:r>
              <a:rPr lang="zh-CN" sz="1300" b="0">
                <a:solidFill>
                  <a:srgbClr val="0070C0"/>
                </a:solidFill>
                <a:latin typeface="微软雅黑" panose="020B0503020204020204" charset="-122"/>
                <a:ea typeface="微软雅黑" panose="020B0503020204020204" charset="-122"/>
                <a:cs typeface="微软雅黑" panose="020B0503020204020204" charset="-122"/>
              </a:rPr>
              <a:t>输入型涨价叠加加息，滞胀担忧升温；国内 PPI 与商品受益。</a:t>
            </a:r>
            <a:endParaRPr lang="zh-CN" sz="1300" b="0">
              <a:solidFill>
                <a:srgbClr val="0070C0"/>
              </a:solidFill>
              <a:latin typeface="微软雅黑" panose="020B0503020204020204" charset="-122"/>
              <a:ea typeface="微软雅黑" panose="020B0503020204020204" charset="-122"/>
              <a:cs typeface="微软雅黑" panose="020B0503020204020204" charset="-122"/>
            </a:endParaRPr>
          </a:p>
        </p:txBody>
      </p:sp>
      <p:sp>
        <p:nvSpPr>
          <p:cNvPr id="458" name="TextBox 18"/>
          <p:cNvSpPr txBox="1"/>
          <p:nvPr/>
        </p:nvSpPr>
        <p:spPr>
          <a:xfrm>
            <a:off x="502920" y="6455664"/>
            <a:ext cx="7315200" cy="274320"/>
          </a:xfrm>
          <a:prstGeom prst="rect">
            <a:avLst/>
          </a:prstGeom>
          <a:noFill/>
        </p:spPr>
        <p:txBody>
          <a:bodyPr wrap="square" lIns="0" tIns="0" rIns="0" bIns="0" anchor="t">
            <a:spAutoFit/>
          </a:bodyPr>
          <a:lstStyle/>
          <a:p>
            <a:pPr algn="l">
              <a:lnSpc>
                <a:spcPct val="115000"/>
              </a:lnSpc>
              <a:spcAft>
                <a:spcPts val="600"/>
              </a:spcAft>
            </a:pPr>
            <a:r>
              <a:rPr sz="900" b="0">
                <a:solidFill>
                  <a:srgbClr val="595959"/>
                </a:solidFill>
                <a:latin typeface="微软雅黑" panose="020B0503020204020204" charset="-122"/>
                <a:ea typeface="微软雅黑" panose="020B0503020204020204" charset="-122"/>
                <a:cs typeface="微软雅黑" panose="020B0503020204020204" charset="-122"/>
              </a:rPr>
              <a:t>近期宏观变化及资产配置 · 2026.09</a:t>
            </a:r>
            <a:endParaRPr sz="900" b="0">
              <a:solidFill>
                <a:srgbClr val="595959"/>
              </a:solidFill>
              <a:latin typeface="微软雅黑" panose="020B0503020204020204" charset="-122"/>
              <a:ea typeface="微软雅黑" panose="020B0503020204020204" charset="-122"/>
              <a:cs typeface="微软雅黑" panose="020B0503020204020204" charset="-122"/>
            </a:endParaRPr>
          </a:p>
        </p:txBody>
      </p:sp>
      <p:sp>
        <p:nvSpPr>
          <p:cNvPr id="459" name="TextBox 19"/>
          <p:cNvSpPr txBox="1"/>
          <p:nvPr/>
        </p:nvSpPr>
        <p:spPr>
          <a:xfrm>
            <a:off x="10789920" y="6455664"/>
            <a:ext cx="914400" cy="274320"/>
          </a:xfrm>
          <a:prstGeom prst="rect">
            <a:avLst/>
          </a:prstGeom>
          <a:noFill/>
        </p:spPr>
        <p:txBody>
          <a:bodyPr wrap="square" lIns="0" tIns="0" rIns="0" bIns="0" anchor="t">
            <a:spAutoFit/>
          </a:bodyPr>
          <a:lstStyle/>
          <a:p>
            <a:pPr algn="r">
              <a:lnSpc>
                <a:spcPct val="115000"/>
              </a:lnSpc>
              <a:spcAft>
                <a:spcPts val="600"/>
              </a:spcAft>
            </a:pPr>
            <a:r>
              <a:rPr sz="1000" b="0">
                <a:solidFill>
                  <a:srgbClr val="595959"/>
                </a:solidFill>
                <a:latin typeface="微软雅黑" panose="020B0503020204020204" charset="-122"/>
                <a:ea typeface="微软雅黑" panose="020B0503020204020204" charset="-122"/>
                <a:cs typeface="微软雅黑" panose="020B0503020204020204" charset="-122"/>
              </a:rPr>
              <a:t>6</a:t>
            </a:r>
            <a:endParaRPr sz="1000" b="0">
              <a:solidFill>
                <a:srgbClr val="595959"/>
              </a:solidFill>
              <a:latin typeface="微软雅黑" panose="020B0503020204020204" charset="-122"/>
              <a:ea typeface="微软雅黑" panose="020B0503020204020204" charset="-122"/>
              <a:cs typeface="微软雅黑" panose="020B0503020204020204" charset="-122"/>
            </a:endParaRPr>
          </a:p>
        </p:txBody>
      </p:sp>
      <p:sp>
        <p:nvSpPr>
          <p:cNvPr id="460" name="圆角矩形 284"/>
          <p:cNvSpPr/>
          <p:nvPr/>
        </p:nvSpPr>
        <p:spPr>
          <a:xfrm>
            <a:off x="508000" y="1498600"/>
            <a:ext cx="3606800" cy="2057400"/>
          </a:xfrm>
          <a:prstGeom prst="roundRect">
            <a:avLst>
              <a:gd name="adj" fmla="val 4376"/>
            </a:avLst>
          </a:prstGeom>
          <a:solidFill>
            <a:srgbClr val="F4FAFE">
              <a:alpha val="100000"/>
            </a:srgbClr>
          </a:solidFill>
          <a:ln w="12700">
            <a:solidFill>
              <a:srgbClr val="AED5EB">
                <a:alpha val="100000"/>
              </a:srgbClr>
            </a:solidFill>
            <a:prstDash val="solid"/>
          </a:ln>
        </p:spPr>
        <p:txBody>
          <a:bodyPr/>
          <a:p>
            <a:pPr/>
            <a:endParaRPr>
              <a:ea typeface="微软雅黑" panose="020B0503020204020204" charset="-122"/>
              <a:cs typeface="微软雅黑" panose="020B0503020204020204" charset="-122"/>
            </a:endParaRPr>
          </a:p>
        </p:txBody>
      </p:sp>
      <p:sp>
        <p:nvSpPr>
          <p:cNvPr id="461" name="圆角矩形 285"/>
          <p:cNvSpPr/>
          <p:nvPr/>
        </p:nvSpPr>
        <p:spPr>
          <a:xfrm>
            <a:off x="4279900" y="1498600"/>
            <a:ext cx="3606800" cy="2057400"/>
          </a:xfrm>
          <a:prstGeom prst="roundRect">
            <a:avLst>
              <a:gd name="adj" fmla="val 4376"/>
            </a:avLst>
          </a:prstGeom>
          <a:solidFill>
            <a:srgbClr val="F4FAFE">
              <a:alpha val="100000"/>
            </a:srgbClr>
          </a:solidFill>
          <a:ln w="12700">
            <a:solidFill>
              <a:srgbClr val="AED5EB">
                <a:alpha val="100000"/>
              </a:srgbClr>
            </a:solidFill>
            <a:prstDash val="solid"/>
          </a:ln>
        </p:spPr>
        <p:txBody>
          <a:bodyPr/>
          <a:p>
            <a:pPr/>
            <a:endParaRPr>
              <a:ea typeface="微软雅黑" panose="020B0503020204020204" charset="-122"/>
              <a:cs typeface="微软雅黑" panose="020B0503020204020204" charset="-122"/>
            </a:endParaRPr>
          </a:p>
        </p:txBody>
      </p:sp>
      <p:sp>
        <p:nvSpPr>
          <p:cNvPr id="462" name="圆角矩形 286"/>
          <p:cNvSpPr/>
          <p:nvPr/>
        </p:nvSpPr>
        <p:spPr>
          <a:xfrm>
            <a:off x="8051800" y="1498600"/>
            <a:ext cx="3606800" cy="2057400"/>
          </a:xfrm>
          <a:prstGeom prst="roundRect">
            <a:avLst>
              <a:gd name="adj" fmla="val 4376"/>
            </a:avLst>
          </a:prstGeom>
          <a:solidFill>
            <a:srgbClr val="F4FAFE">
              <a:alpha val="100000"/>
            </a:srgbClr>
          </a:solidFill>
          <a:ln w="12700">
            <a:solidFill>
              <a:srgbClr val="AED5EB">
                <a:alpha val="100000"/>
              </a:srgbClr>
            </a:solidFill>
            <a:prstDash val="solid"/>
          </a:ln>
        </p:spPr>
        <p:txBody>
          <a:bodyPr/>
          <a:p>
            <a:pPr/>
            <a:endParaRPr>
              <a:ea typeface="微软雅黑" panose="020B0503020204020204" charset="-122"/>
              <a:cs typeface="微软雅黑" panose="020B0503020204020204" charset="-122"/>
            </a:endParaRPr>
          </a:p>
        </p:txBody>
      </p:sp>
      <p:sp>
        <p:nvSpPr>
          <p:cNvPr id="463" name="圆角矩形 287"/>
          <p:cNvSpPr/>
          <p:nvPr/>
        </p:nvSpPr>
        <p:spPr>
          <a:xfrm>
            <a:off x="508000" y="3733800"/>
            <a:ext cx="3606800" cy="2057400"/>
          </a:xfrm>
          <a:prstGeom prst="roundRect">
            <a:avLst>
              <a:gd name="adj" fmla="val 4376"/>
            </a:avLst>
          </a:prstGeom>
          <a:solidFill>
            <a:srgbClr val="F4FAFE">
              <a:alpha val="100000"/>
            </a:srgbClr>
          </a:solidFill>
          <a:ln w="12700">
            <a:solidFill>
              <a:srgbClr val="AED5EB">
                <a:alpha val="100000"/>
              </a:srgbClr>
            </a:solidFill>
            <a:prstDash val="solid"/>
          </a:ln>
        </p:spPr>
        <p:txBody>
          <a:bodyPr/>
          <a:p>
            <a:pPr/>
            <a:endParaRPr>
              <a:ea typeface="微软雅黑" panose="020B0503020204020204" charset="-122"/>
              <a:cs typeface="微软雅黑" panose="020B0503020204020204" charset="-122"/>
            </a:endParaRPr>
          </a:p>
        </p:txBody>
      </p:sp>
      <p:sp>
        <p:nvSpPr>
          <p:cNvPr id="464" name="圆角矩形 288"/>
          <p:cNvSpPr/>
          <p:nvPr/>
        </p:nvSpPr>
        <p:spPr>
          <a:xfrm>
            <a:off x="4279900" y="3733800"/>
            <a:ext cx="3606800" cy="2057400"/>
          </a:xfrm>
          <a:prstGeom prst="roundRect">
            <a:avLst>
              <a:gd name="adj" fmla="val 4376"/>
            </a:avLst>
          </a:prstGeom>
          <a:solidFill>
            <a:srgbClr val="F4FAFE">
              <a:alpha val="100000"/>
            </a:srgbClr>
          </a:solidFill>
          <a:ln w="12700">
            <a:solidFill>
              <a:srgbClr val="AED5EB">
                <a:alpha val="100000"/>
              </a:srgbClr>
            </a:solidFill>
            <a:prstDash val="solid"/>
          </a:ln>
        </p:spPr>
        <p:txBody>
          <a:bodyPr/>
          <a:p>
            <a:pPr/>
            <a:endParaRPr>
              <a:ea typeface="微软雅黑" panose="020B0503020204020204" charset="-122"/>
              <a:cs typeface="微软雅黑" panose="020B0503020204020204" charset="-122"/>
            </a:endParaRPr>
          </a:p>
        </p:txBody>
      </p:sp>
      <p:sp>
        <p:nvSpPr>
          <p:cNvPr id="465" name="圆角矩形 289"/>
          <p:cNvSpPr/>
          <p:nvPr/>
        </p:nvSpPr>
        <p:spPr>
          <a:xfrm>
            <a:off x="711200" y="1701800"/>
            <a:ext cx="304800" cy="50800"/>
          </a:xfrm>
          <a:prstGeom prst="roundRect">
            <a:avLst>
              <a:gd name="adj" fmla="val 4376"/>
            </a:avLst>
          </a:prstGeom>
          <a:solidFill>
            <a:srgbClr val="0070C0"/>
          </a:solidFill>
          <a:ln>
            <a:noFill/>
          </a:ln>
        </p:spPr>
        <p:txBody>
          <a:bodyPr/>
          <a:p>
            <a:pPr/>
            <a:endParaRPr>
              <a:ea typeface="微软雅黑" panose="020B0503020204020204" charset="-122"/>
              <a:cs typeface="微软雅黑" panose="020B0503020204020204" charset="-122"/>
            </a:endParaRPr>
          </a:p>
        </p:txBody>
      </p:sp>
      <p:sp>
        <p:nvSpPr>
          <p:cNvPr id="466" name="圆角矩形 290"/>
          <p:cNvSpPr/>
          <p:nvPr/>
        </p:nvSpPr>
        <p:spPr>
          <a:xfrm>
            <a:off x="4483100" y="1701800"/>
            <a:ext cx="304800" cy="50800"/>
          </a:xfrm>
          <a:prstGeom prst="roundRect">
            <a:avLst>
              <a:gd name="adj" fmla="val 4376"/>
            </a:avLst>
          </a:prstGeom>
          <a:solidFill>
            <a:srgbClr val="0070C0"/>
          </a:solidFill>
          <a:ln>
            <a:noFill/>
          </a:ln>
        </p:spPr>
        <p:txBody>
          <a:bodyPr/>
          <a:p>
            <a:pPr/>
            <a:endParaRPr>
              <a:ea typeface="微软雅黑" panose="020B0503020204020204" charset="-122"/>
              <a:cs typeface="微软雅黑" panose="020B0503020204020204" charset="-122"/>
            </a:endParaRPr>
          </a:p>
        </p:txBody>
      </p:sp>
      <p:sp>
        <p:nvSpPr>
          <p:cNvPr id="467" name="圆角矩形 291"/>
          <p:cNvSpPr/>
          <p:nvPr/>
        </p:nvSpPr>
        <p:spPr>
          <a:xfrm>
            <a:off x="8255000" y="1701800"/>
            <a:ext cx="304800" cy="50800"/>
          </a:xfrm>
          <a:prstGeom prst="roundRect">
            <a:avLst>
              <a:gd name="adj" fmla="val 4376"/>
            </a:avLst>
          </a:prstGeom>
          <a:solidFill>
            <a:srgbClr val="0070C0"/>
          </a:solidFill>
          <a:ln>
            <a:noFill/>
          </a:ln>
        </p:spPr>
        <p:txBody>
          <a:bodyPr/>
          <a:p>
            <a:pPr/>
            <a:endParaRPr>
              <a:ea typeface="微软雅黑" panose="020B0503020204020204" charset="-122"/>
              <a:cs typeface="微软雅黑" panose="020B0503020204020204" charset="-122"/>
            </a:endParaRPr>
          </a:p>
        </p:txBody>
      </p:sp>
      <p:sp>
        <p:nvSpPr>
          <p:cNvPr id="468" name="圆角矩形 292"/>
          <p:cNvSpPr/>
          <p:nvPr/>
        </p:nvSpPr>
        <p:spPr>
          <a:xfrm>
            <a:off x="711200" y="3937000"/>
            <a:ext cx="304800" cy="50800"/>
          </a:xfrm>
          <a:prstGeom prst="roundRect">
            <a:avLst>
              <a:gd name="adj" fmla="val 4376"/>
            </a:avLst>
          </a:prstGeom>
          <a:solidFill>
            <a:srgbClr val="0070C0"/>
          </a:solidFill>
          <a:ln>
            <a:noFill/>
          </a:ln>
        </p:spPr>
        <p:txBody>
          <a:bodyPr/>
          <a:p>
            <a:pPr/>
            <a:endParaRPr>
              <a:ea typeface="微软雅黑" panose="020B0503020204020204" charset="-122"/>
              <a:cs typeface="微软雅黑" panose="020B0503020204020204" charset="-122"/>
            </a:endParaRPr>
          </a:p>
        </p:txBody>
      </p:sp>
      <p:sp>
        <p:nvSpPr>
          <p:cNvPr id="469" name="圆角矩形 293"/>
          <p:cNvSpPr/>
          <p:nvPr/>
        </p:nvSpPr>
        <p:spPr>
          <a:xfrm>
            <a:off x="4483100" y="3937000"/>
            <a:ext cx="304800" cy="50800"/>
          </a:xfrm>
          <a:prstGeom prst="roundRect">
            <a:avLst>
              <a:gd name="adj" fmla="val 4376"/>
            </a:avLst>
          </a:prstGeom>
          <a:solidFill>
            <a:srgbClr val="0070C0"/>
          </a:solidFill>
          <a:ln>
            <a:noFill/>
          </a:ln>
        </p:spPr>
        <p:txBody>
          <a:bodyPr/>
          <a:p>
            <a:pPr/>
            <a:endParaRPr>
              <a:ea typeface="微软雅黑" panose="020B0503020204020204" charset="-122"/>
              <a:cs typeface="微软雅黑" panose="020B0503020204020204" charset="-122"/>
            </a:endParaRPr>
          </a:p>
        </p:txBody>
      </p:sp>
      <p:sp>
        <p:nvSpPr>
          <p:cNvPr id="470" name="矩形 294"/>
          <p:cNvSpPr/>
          <p:nvPr/>
        </p:nvSpPr>
        <p:spPr>
          <a:xfrm>
            <a:off x="711200" y="1803400"/>
            <a:ext cx="3200400" cy="254000"/>
          </a:xfrm>
          <a:prstGeom prst="rect">
            <a:avLst/>
          </a:prstGeom>
          <a:noFill/>
          <a:ln>
            <a:noFill/>
          </a:ln>
        </p:spPr>
        <p:txBody>
          <a:bodyPr/>
          <a:p>
            <a:pPr/>
            <a:r>
              <a:rPr lang="zh-CN" sz="1200" b="1">
                <a:solidFill>
                  <a:srgbClr val="0070C0"/>
                </a:solidFill>
                <a:latin typeface="微软雅黑" panose="020B0503020204020204" charset="-122"/>
                <a:ea typeface="微软雅黑" panose="020B0503020204020204" charset="-122"/>
                <a:cs typeface="微软雅黑" panose="020B0503020204020204" charset="-122"/>
              </a:rPr>
              <a:t>地缘冲突</a:t>
            </a:r>
            <a:endParaRPr lang="zh-CN" sz="1200" b="1">
              <a:solidFill>
                <a:srgbClr val="0070C0"/>
              </a:solidFill>
              <a:latin typeface="微软雅黑" panose="020B0503020204020204" charset="-122"/>
              <a:ea typeface="微软雅黑" panose="020B0503020204020204" charset="-122"/>
              <a:cs typeface="微软雅黑" panose="020B0503020204020204" charset="-122"/>
            </a:endParaRPr>
          </a:p>
        </p:txBody>
      </p:sp>
      <p:sp>
        <p:nvSpPr>
          <p:cNvPr id="471" name="矩形 295"/>
          <p:cNvSpPr/>
          <p:nvPr/>
        </p:nvSpPr>
        <p:spPr>
          <a:xfrm>
            <a:off x="4483100" y="1803400"/>
            <a:ext cx="3200400" cy="254000"/>
          </a:xfrm>
          <a:prstGeom prst="rect">
            <a:avLst/>
          </a:prstGeom>
          <a:noFill/>
          <a:ln>
            <a:noFill/>
          </a:ln>
        </p:spPr>
        <p:txBody>
          <a:bodyPr/>
          <a:p>
            <a:pPr/>
            <a:r>
              <a:rPr lang="zh-CN" sz="1200" b="1">
                <a:solidFill>
                  <a:srgbClr val="0070C0"/>
                </a:solidFill>
                <a:latin typeface="微软雅黑" panose="020B0503020204020204" charset="-122"/>
                <a:ea typeface="微软雅黑" panose="020B0503020204020204" charset="-122"/>
                <a:cs typeface="微软雅黑" panose="020B0503020204020204" charset="-122"/>
              </a:rPr>
              <a:t>油价 WTI</a:t>
            </a:r>
            <a:endParaRPr lang="zh-CN" sz="1200" b="1">
              <a:solidFill>
                <a:srgbClr val="0070C0"/>
              </a:solidFill>
              <a:latin typeface="微软雅黑" panose="020B0503020204020204" charset="-122"/>
              <a:ea typeface="微软雅黑" panose="020B0503020204020204" charset="-122"/>
              <a:cs typeface="微软雅黑" panose="020B0503020204020204" charset="-122"/>
            </a:endParaRPr>
          </a:p>
        </p:txBody>
      </p:sp>
      <p:sp>
        <p:nvSpPr>
          <p:cNvPr id="472" name="矩形 296"/>
          <p:cNvSpPr/>
          <p:nvPr/>
        </p:nvSpPr>
        <p:spPr>
          <a:xfrm>
            <a:off x="8255000" y="1803400"/>
            <a:ext cx="3200400" cy="254000"/>
          </a:xfrm>
          <a:prstGeom prst="rect">
            <a:avLst/>
          </a:prstGeom>
          <a:noFill/>
          <a:ln>
            <a:noFill/>
          </a:ln>
        </p:spPr>
        <p:txBody>
          <a:bodyPr/>
          <a:p>
            <a:pPr/>
            <a:r>
              <a:rPr lang="zh-CN" sz="1200" b="1">
                <a:solidFill>
                  <a:srgbClr val="0070C0"/>
                </a:solidFill>
                <a:latin typeface="微软雅黑" panose="020B0503020204020204" charset="-122"/>
                <a:ea typeface="微软雅黑" panose="020B0503020204020204" charset="-122"/>
                <a:cs typeface="微软雅黑" panose="020B0503020204020204" charset="-122"/>
              </a:rPr>
              <a:t>黄金</a:t>
            </a:r>
            <a:endParaRPr lang="zh-CN" sz="1200" b="1">
              <a:solidFill>
                <a:srgbClr val="0070C0"/>
              </a:solidFill>
              <a:latin typeface="微软雅黑" panose="020B0503020204020204" charset="-122"/>
              <a:ea typeface="微软雅黑" panose="020B0503020204020204" charset="-122"/>
              <a:cs typeface="微软雅黑" panose="020B0503020204020204" charset="-122"/>
            </a:endParaRPr>
          </a:p>
        </p:txBody>
      </p:sp>
      <p:sp>
        <p:nvSpPr>
          <p:cNvPr id="473" name="矩形 297"/>
          <p:cNvSpPr/>
          <p:nvPr/>
        </p:nvSpPr>
        <p:spPr>
          <a:xfrm>
            <a:off x="711200" y="4038600"/>
            <a:ext cx="3200400" cy="254000"/>
          </a:xfrm>
          <a:prstGeom prst="rect">
            <a:avLst/>
          </a:prstGeom>
          <a:noFill/>
          <a:ln>
            <a:noFill/>
          </a:ln>
        </p:spPr>
        <p:txBody>
          <a:bodyPr/>
          <a:p>
            <a:pPr/>
            <a:r>
              <a:rPr lang="zh-CN" sz="1200" b="1">
                <a:solidFill>
                  <a:srgbClr val="0070C0"/>
                </a:solidFill>
                <a:latin typeface="微软雅黑" panose="020B0503020204020204" charset="-122"/>
                <a:ea typeface="微软雅黑" panose="020B0503020204020204" charset="-122"/>
                <a:cs typeface="微软雅黑" panose="020B0503020204020204" charset="-122"/>
              </a:rPr>
              <a:t>铜 LME</a:t>
            </a:r>
            <a:endParaRPr lang="zh-CN" sz="1200" b="1">
              <a:solidFill>
                <a:srgbClr val="0070C0"/>
              </a:solidFill>
              <a:latin typeface="微软雅黑" panose="020B0503020204020204" charset="-122"/>
              <a:ea typeface="微软雅黑" panose="020B0503020204020204" charset="-122"/>
              <a:cs typeface="微软雅黑" panose="020B0503020204020204" charset="-122"/>
            </a:endParaRPr>
          </a:p>
        </p:txBody>
      </p:sp>
      <p:sp>
        <p:nvSpPr>
          <p:cNvPr id="474" name="矩形 298"/>
          <p:cNvSpPr/>
          <p:nvPr/>
        </p:nvSpPr>
        <p:spPr>
          <a:xfrm>
            <a:off x="4483100" y="4038600"/>
            <a:ext cx="3200400" cy="254000"/>
          </a:xfrm>
          <a:prstGeom prst="rect">
            <a:avLst/>
          </a:prstGeom>
          <a:noFill/>
          <a:ln>
            <a:noFill/>
          </a:ln>
        </p:spPr>
        <p:txBody>
          <a:bodyPr/>
          <a:p>
            <a:pPr/>
            <a:r>
              <a:rPr lang="zh-CN" sz="1200" b="1">
                <a:solidFill>
                  <a:srgbClr val="0070C0"/>
                </a:solidFill>
                <a:latin typeface="微软雅黑" panose="020B0503020204020204" charset="-122"/>
                <a:ea typeface="微软雅黑" panose="020B0503020204020204" charset="-122"/>
                <a:cs typeface="微软雅黑" panose="020B0503020204020204" charset="-122"/>
              </a:rPr>
              <a:t>农产品</a:t>
            </a:r>
            <a:endParaRPr lang="zh-CN" sz="1200" b="1">
              <a:solidFill>
                <a:srgbClr val="0070C0"/>
              </a:solidFill>
              <a:latin typeface="微软雅黑" panose="020B0503020204020204" charset="-122"/>
              <a:ea typeface="微软雅黑" panose="020B0503020204020204" charset="-122"/>
              <a:cs typeface="微软雅黑" panose="020B0503020204020204" charset="-122"/>
            </a:endParaRPr>
          </a:p>
        </p:txBody>
      </p:sp>
      <p:sp>
        <p:nvSpPr>
          <p:cNvPr id="475" name="矩形 299"/>
          <p:cNvSpPr/>
          <p:nvPr/>
        </p:nvSpPr>
        <p:spPr>
          <a:xfrm>
            <a:off x="711200" y="2159000"/>
            <a:ext cx="3200400" cy="457200"/>
          </a:xfrm>
          <a:prstGeom prst="rect">
            <a:avLst/>
          </a:prstGeom>
          <a:noFill/>
          <a:ln>
            <a:noFill/>
          </a:ln>
        </p:spPr>
        <p:txBody>
          <a:bodyPr/>
          <a:p>
            <a:pPr/>
            <a:r>
              <a:rPr lang="zh-CN" sz="2200" b="1">
                <a:solidFill>
                  <a:srgbClr val="1F2933"/>
                </a:solidFill>
                <a:latin typeface="微软雅黑" panose="020B0503020204020204" charset="-122"/>
                <a:ea typeface="微软雅黑" panose="020B0503020204020204" charset="-122"/>
                <a:cs typeface="微软雅黑" panose="020B0503020204020204" charset="-122"/>
              </a:rPr>
              <a:t>升级</a:t>
            </a:r>
            <a:endParaRPr lang="zh-CN" sz="2200" b="1">
              <a:solidFill>
                <a:srgbClr val="1F2933"/>
              </a:solidFill>
              <a:latin typeface="微软雅黑" panose="020B0503020204020204" charset="-122"/>
              <a:ea typeface="微软雅黑" panose="020B0503020204020204" charset="-122"/>
              <a:cs typeface="微软雅黑" panose="020B0503020204020204" charset="-122"/>
            </a:endParaRPr>
          </a:p>
        </p:txBody>
      </p:sp>
      <p:sp>
        <p:nvSpPr>
          <p:cNvPr id="476" name="矩形 300"/>
          <p:cNvSpPr/>
          <p:nvPr/>
        </p:nvSpPr>
        <p:spPr>
          <a:xfrm>
            <a:off x="4483100" y="2159000"/>
            <a:ext cx="3200400" cy="457200"/>
          </a:xfrm>
          <a:prstGeom prst="rect">
            <a:avLst/>
          </a:prstGeom>
          <a:noFill/>
          <a:ln>
            <a:noFill/>
          </a:ln>
        </p:spPr>
        <p:txBody>
          <a:bodyPr/>
          <a:p>
            <a:pPr/>
            <a:r>
              <a:rPr lang="zh-CN" sz="2200" b="1">
                <a:solidFill>
                  <a:srgbClr val="1F2933"/>
                </a:solidFill>
                <a:latin typeface="微软雅黑" panose="020B0503020204020204" charset="-122"/>
                <a:ea typeface="微软雅黑" panose="020B0503020204020204" charset="-122"/>
                <a:cs typeface="微软雅黑" panose="020B0503020204020204" charset="-122"/>
              </a:rPr>
              <a:t>105.83</a:t>
            </a:r>
            <a:endParaRPr lang="zh-CN" sz="2200" b="1">
              <a:solidFill>
                <a:srgbClr val="1F2933"/>
              </a:solidFill>
              <a:latin typeface="微软雅黑" panose="020B0503020204020204" charset="-122"/>
              <a:ea typeface="微软雅黑" panose="020B0503020204020204" charset="-122"/>
              <a:cs typeface="微软雅黑" panose="020B0503020204020204" charset="-122"/>
            </a:endParaRPr>
          </a:p>
        </p:txBody>
      </p:sp>
      <p:sp>
        <p:nvSpPr>
          <p:cNvPr id="477" name="矩形 301"/>
          <p:cNvSpPr/>
          <p:nvPr/>
        </p:nvSpPr>
        <p:spPr>
          <a:xfrm>
            <a:off x="8255000" y="2159000"/>
            <a:ext cx="3200400" cy="457200"/>
          </a:xfrm>
          <a:prstGeom prst="rect">
            <a:avLst/>
          </a:prstGeom>
          <a:noFill/>
          <a:ln>
            <a:noFill/>
          </a:ln>
        </p:spPr>
        <p:txBody>
          <a:bodyPr/>
          <a:p>
            <a:pPr/>
            <a:r>
              <a:rPr lang="zh-CN" sz="2200" b="1">
                <a:solidFill>
                  <a:srgbClr val="1F2933"/>
                </a:solidFill>
                <a:latin typeface="微软雅黑" panose="020B0503020204020204" charset="-122"/>
                <a:ea typeface="微软雅黑" panose="020B0503020204020204" charset="-122"/>
                <a:cs typeface="微软雅黑" panose="020B0503020204020204" charset="-122"/>
              </a:rPr>
              <a:t>4333</a:t>
            </a:r>
            <a:endParaRPr lang="zh-CN" sz="2200" b="1">
              <a:solidFill>
                <a:srgbClr val="1F2933"/>
              </a:solidFill>
              <a:latin typeface="微软雅黑" panose="020B0503020204020204" charset="-122"/>
              <a:ea typeface="微软雅黑" panose="020B0503020204020204" charset="-122"/>
              <a:cs typeface="微软雅黑" panose="020B0503020204020204" charset="-122"/>
            </a:endParaRPr>
          </a:p>
        </p:txBody>
      </p:sp>
      <p:sp>
        <p:nvSpPr>
          <p:cNvPr id="478" name="矩形 302"/>
          <p:cNvSpPr/>
          <p:nvPr/>
        </p:nvSpPr>
        <p:spPr>
          <a:xfrm>
            <a:off x="711200" y="4394200"/>
            <a:ext cx="3200400" cy="457200"/>
          </a:xfrm>
          <a:prstGeom prst="rect">
            <a:avLst/>
          </a:prstGeom>
          <a:noFill/>
          <a:ln>
            <a:noFill/>
          </a:ln>
        </p:spPr>
        <p:txBody>
          <a:bodyPr/>
          <a:p>
            <a:pPr/>
            <a:r>
              <a:rPr lang="zh-CN" sz="2200" b="1">
                <a:solidFill>
                  <a:srgbClr val="1F2933"/>
                </a:solidFill>
                <a:latin typeface="微软雅黑" panose="020B0503020204020204" charset="-122"/>
                <a:ea typeface="微软雅黑" panose="020B0503020204020204" charset="-122"/>
                <a:cs typeface="微软雅黑" panose="020B0503020204020204" charset="-122"/>
              </a:rPr>
              <a:t>14114</a:t>
            </a:r>
            <a:endParaRPr lang="zh-CN" sz="2200" b="1">
              <a:solidFill>
                <a:srgbClr val="1F2933"/>
              </a:solidFill>
              <a:latin typeface="微软雅黑" panose="020B0503020204020204" charset="-122"/>
              <a:ea typeface="微软雅黑" panose="020B0503020204020204" charset="-122"/>
              <a:cs typeface="微软雅黑" panose="020B0503020204020204" charset="-122"/>
            </a:endParaRPr>
          </a:p>
        </p:txBody>
      </p:sp>
      <p:sp>
        <p:nvSpPr>
          <p:cNvPr id="479" name="矩形 303"/>
          <p:cNvSpPr/>
          <p:nvPr/>
        </p:nvSpPr>
        <p:spPr>
          <a:xfrm>
            <a:off x="4483100" y="4394200"/>
            <a:ext cx="3200400" cy="457200"/>
          </a:xfrm>
          <a:prstGeom prst="rect">
            <a:avLst/>
          </a:prstGeom>
          <a:noFill/>
          <a:ln>
            <a:noFill/>
          </a:ln>
        </p:spPr>
        <p:txBody>
          <a:bodyPr/>
          <a:p>
            <a:pPr/>
            <a:r>
              <a:rPr lang="zh-CN" sz="2200" b="1">
                <a:solidFill>
                  <a:srgbClr val="1F2933"/>
                </a:solidFill>
                <a:latin typeface="微软雅黑" panose="020B0503020204020204" charset="-122"/>
                <a:ea typeface="微软雅黑" panose="020B0503020204020204" charset="-122"/>
                <a:cs typeface="微软雅黑" panose="020B0503020204020204" charset="-122"/>
              </a:rPr>
              <a:t>共振</a:t>
            </a:r>
            <a:endParaRPr lang="zh-CN" sz="2200" b="1">
              <a:solidFill>
                <a:srgbClr val="1F2933"/>
              </a:solidFill>
              <a:latin typeface="微软雅黑" panose="020B0503020204020204" charset="-122"/>
              <a:ea typeface="微软雅黑" panose="020B0503020204020204" charset="-122"/>
              <a:cs typeface="微软雅黑" panose="020B0503020204020204" charset="-122"/>
            </a:endParaRPr>
          </a:p>
        </p:txBody>
      </p:sp>
      <p:sp>
        <p:nvSpPr>
          <p:cNvPr id="480" name="矩形 304"/>
          <p:cNvSpPr/>
          <p:nvPr/>
        </p:nvSpPr>
        <p:spPr>
          <a:xfrm>
            <a:off x="711200" y="2768600"/>
            <a:ext cx="3200400" cy="660400"/>
          </a:xfrm>
          <a:prstGeom prst="rect">
            <a:avLst/>
          </a:prstGeom>
          <a:noFill/>
          <a:ln>
            <a:noFill/>
          </a:ln>
        </p:spPr>
        <p:txBody>
          <a:bodyPr/>
          <a:p>
            <a:pPr/>
            <a:r>
              <a:rPr lang="zh-CN" sz="1000">
                <a:solidFill>
                  <a:srgbClr val="595959"/>
                </a:solidFill>
                <a:latin typeface="微软雅黑" panose="020B0503020204020204" charset="-122"/>
                <a:ea typeface="微软雅黑" panose="020B0503020204020204" charset="-122"/>
                <a:cs typeface="微软雅黑" panose="020B0503020204020204" charset="-122"/>
              </a:rPr>
              <a:t>沙特管道遭袭停运 · 美军封锁伊朗</a:t>
            </a:r>
            <a:endParaRPr lang="zh-CN" sz="1000">
              <a:solidFill>
                <a:srgbClr val="595959"/>
              </a:solidFill>
              <a:latin typeface="微软雅黑" panose="020B0503020204020204" charset="-122"/>
              <a:ea typeface="微软雅黑" panose="020B0503020204020204" charset="-122"/>
              <a:cs typeface="微软雅黑" panose="020B0503020204020204" charset="-122"/>
            </a:endParaRPr>
          </a:p>
        </p:txBody>
      </p:sp>
      <p:sp>
        <p:nvSpPr>
          <p:cNvPr id="481" name="矩形 305"/>
          <p:cNvSpPr/>
          <p:nvPr/>
        </p:nvSpPr>
        <p:spPr>
          <a:xfrm>
            <a:off x="4483100" y="2768600"/>
            <a:ext cx="3200400" cy="660400"/>
          </a:xfrm>
          <a:prstGeom prst="rect">
            <a:avLst/>
          </a:prstGeom>
          <a:noFill/>
          <a:ln>
            <a:noFill/>
          </a:ln>
        </p:spPr>
        <p:txBody>
          <a:bodyPr/>
          <a:p>
            <a:pPr/>
            <a:r>
              <a:rPr lang="zh-CN" sz="1000">
                <a:solidFill>
                  <a:srgbClr val="595959"/>
                </a:solidFill>
                <a:latin typeface="微软雅黑" panose="020B0503020204020204" charset="-122"/>
                <a:ea typeface="微软雅黑" panose="020B0503020204020204" charset="-122"/>
                <a:cs typeface="微软雅黑" panose="020B0503020204020204" charset="-122"/>
              </a:rPr>
              <a:t>布伦特108.75｜周涨约17%</a:t>
            </a:r>
            <a:endParaRPr lang="zh-CN" sz="1000">
              <a:solidFill>
                <a:srgbClr val="595959"/>
              </a:solidFill>
              <a:latin typeface="微软雅黑" panose="020B0503020204020204" charset="-122"/>
              <a:ea typeface="微软雅黑" panose="020B0503020204020204" charset="-122"/>
              <a:cs typeface="微软雅黑" panose="020B0503020204020204" charset="-122"/>
            </a:endParaRPr>
          </a:p>
        </p:txBody>
      </p:sp>
      <p:sp>
        <p:nvSpPr>
          <p:cNvPr id="482" name="矩形 306"/>
          <p:cNvSpPr/>
          <p:nvPr/>
        </p:nvSpPr>
        <p:spPr>
          <a:xfrm>
            <a:off x="8255000" y="2768600"/>
            <a:ext cx="3200400" cy="660400"/>
          </a:xfrm>
          <a:prstGeom prst="rect">
            <a:avLst/>
          </a:prstGeom>
          <a:noFill/>
          <a:ln>
            <a:noFill/>
          </a:ln>
        </p:spPr>
        <p:txBody>
          <a:bodyPr/>
          <a:p>
            <a:pPr/>
            <a:r>
              <a:rPr lang="zh-CN" sz="1000">
                <a:solidFill>
                  <a:srgbClr val="595959"/>
                </a:solidFill>
                <a:latin typeface="微软雅黑" panose="020B0503020204020204" charset="-122"/>
                <a:ea typeface="微软雅黑" panose="020B0503020204020204" charset="-122"/>
                <a:cs typeface="微软雅黑" panose="020B0503020204020204" charset="-122"/>
              </a:rPr>
              <a:t>COMEX｜周跌1.4%</a:t>
            </a:r>
            <a:endParaRPr lang="zh-CN" sz="1000">
              <a:solidFill>
                <a:srgbClr val="595959"/>
              </a:solidFill>
              <a:latin typeface="微软雅黑" panose="020B0503020204020204" charset="-122"/>
              <a:ea typeface="微软雅黑" panose="020B0503020204020204" charset="-122"/>
              <a:cs typeface="微软雅黑" panose="020B0503020204020204" charset="-122"/>
            </a:endParaRPr>
          </a:p>
        </p:txBody>
      </p:sp>
      <p:sp>
        <p:nvSpPr>
          <p:cNvPr id="483" name="矩形 307"/>
          <p:cNvSpPr/>
          <p:nvPr/>
        </p:nvSpPr>
        <p:spPr>
          <a:xfrm>
            <a:off x="711200" y="5003800"/>
            <a:ext cx="3200400" cy="660400"/>
          </a:xfrm>
          <a:prstGeom prst="rect">
            <a:avLst/>
          </a:prstGeom>
          <a:noFill/>
          <a:ln>
            <a:noFill/>
          </a:ln>
        </p:spPr>
        <p:txBody>
          <a:bodyPr/>
          <a:p>
            <a:pPr/>
            <a:r>
              <a:rPr lang="zh-CN" sz="1000">
                <a:solidFill>
                  <a:srgbClr val="595959"/>
                </a:solidFill>
                <a:latin typeface="微软雅黑" panose="020B0503020204020204" charset="-122"/>
                <a:ea typeface="微软雅黑" panose="020B0503020204020204" charset="-122"/>
                <a:cs typeface="微软雅黑" panose="020B0503020204020204" charset="-122"/>
              </a:rPr>
              <a:t>年内+11%｜高位回落</a:t>
            </a:r>
            <a:endParaRPr lang="zh-CN" sz="1000">
              <a:solidFill>
                <a:srgbClr val="595959"/>
              </a:solidFill>
              <a:latin typeface="微软雅黑" panose="020B0503020204020204" charset="-122"/>
              <a:ea typeface="微软雅黑" panose="020B0503020204020204" charset="-122"/>
              <a:cs typeface="微软雅黑" panose="020B0503020204020204" charset="-122"/>
            </a:endParaRPr>
          </a:p>
        </p:txBody>
      </p:sp>
      <p:sp>
        <p:nvSpPr>
          <p:cNvPr id="484" name="矩形 308"/>
          <p:cNvSpPr/>
          <p:nvPr/>
        </p:nvSpPr>
        <p:spPr>
          <a:xfrm>
            <a:off x="4483100" y="5003800"/>
            <a:ext cx="3200400" cy="660400"/>
          </a:xfrm>
          <a:prstGeom prst="rect">
            <a:avLst/>
          </a:prstGeom>
          <a:noFill/>
          <a:ln>
            <a:noFill/>
          </a:ln>
        </p:spPr>
        <p:txBody>
          <a:bodyPr/>
          <a:p>
            <a:pPr/>
            <a:r>
              <a:rPr lang="zh-CN" sz="1000">
                <a:solidFill>
                  <a:srgbClr val="595959"/>
                </a:solidFill>
                <a:latin typeface="微软雅黑" panose="020B0503020204020204" charset="-122"/>
                <a:ea typeface="微软雅黑" panose="020B0503020204020204" charset="-122"/>
                <a:cs typeface="微软雅黑" panose="020B0503020204020204" charset="-122"/>
              </a:rPr>
              <a:t>食品指数新高｜小麦玉米三年高</a:t>
            </a:r>
            <a:endParaRPr lang="zh-CN" sz="1000">
              <a:solidFill>
                <a:srgbClr val="595959"/>
              </a:solidFill>
              <a:latin typeface="微软雅黑" panose="020B0503020204020204" charset="-122"/>
              <a:ea typeface="微软雅黑" panose="020B0503020204020204" charset="-122"/>
              <a:cs typeface="微软雅黑" panose="020B0503020204020204" charset="-122"/>
            </a:endParaRPr>
          </a:p>
        </p:txBody>
      </p:sp>
      <p:pic>
        <p:nvPicPr>
          <p:cNvPr id="485" name="参考模板浅蓝背景弧线"/>
          <p:cNvPicPr/>
          <p:nvPr/>
        </p:nvPicPr>
        <p:blipFill>
          <a:blip r:embed="rId2"/>
          <a:stretch>
            <a:fillRect/>
          </a:stretch>
        </p:blipFill>
        <p:spPr>
          <a:xfrm>
            <a:off x="4457700" y="0"/>
            <a:ext cx="3143250" cy="495300"/>
          </a:xfrm>
          <a:prstGeom prst="rect">
            <a:avLst/>
          </a:prstGeom>
          <a:noFill/>
          <a:ln>
            <a:noFill/>
          </a:ln>
        </p:spPr>
      </p:pic>
      <p:pic>
        <p:nvPicPr>
          <p:cNvPr id="486" name="参考模板右上角标识"/>
          <p:cNvPicPr/>
          <p:nvPr/>
        </p:nvPicPr>
        <p:blipFill>
          <a:blip r:embed="rId3"/>
          <a:stretch>
            <a:fillRect/>
          </a:stretch>
        </p:blipFill>
        <p:spPr>
          <a:xfrm>
            <a:off x="9696450" y="209550"/>
            <a:ext cx="1733550" cy="390525"/>
          </a:xfrm>
          <a:prstGeom prst="rect">
            <a:avLst/>
          </a:prstGeom>
          <a:noFill/>
          <a:ln>
            <a:noFill/>
          </a:ln>
        </p:spPr>
      </p:pic>
    </p:spTree>
  </p:cSld>
  <p:clrMapOvr>
    <a:masterClrMapping/>
  </p:clrMapOvr>
</p:sld>
</file>

<file path=ppt/slides/slide7.xml><?xml version="1.0" encoding="utf-8"?>
<p:sld xmlns:r="http://schemas.openxmlformats.org/officeDocument/2006/relationships" xmlns:p="http://schemas.openxmlformats.org/presentationml/2006/main" xmlns:a="http://schemas.openxmlformats.org/drawingml/2006/main">
  <p:cSld>
    <p:spTree>
      <p:nvGrpSpPr>
        <p:cNvPr id="485" name=""/>
        <p:cNvGrpSpPr/>
        <p:nvPr/>
      </p:nvGrpSpPr>
      <p:grpSpPr>
        <a:xfrm>
          <a:off x="0" y="0"/>
          <a:ext cx="0" cy="0"/>
          <a:chOff x="0" y="0"/>
          <a:chExt cx="0" cy="0"/>
        </a:xfrm>
      </p:grpSpPr>
      <p:sp>
        <p:nvSpPr>
          <p:cNvPr id="486" name="Rectangle 1"/>
          <p:cNvSpPr/>
          <p:nvPr/>
        </p:nvSpPr>
        <p:spPr>
          <a:xfrm>
            <a:off x="502920" y="457200"/>
            <a:ext cx="82296" cy="566928"/>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487" name="TextBox 2"/>
          <p:cNvSpPr txBox="1"/>
          <p:nvPr/>
        </p:nvSpPr>
        <p:spPr>
          <a:xfrm>
            <a:off x="713232" y="420624"/>
            <a:ext cx="9601200" cy="640080"/>
          </a:xfrm>
          <a:prstGeom prst="rect">
            <a:avLst/>
          </a:prstGeom>
          <a:noFill/>
        </p:spPr>
        <p:txBody>
          <a:bodyPr wrap="square" lIns="0" tIns="0" rIns="0" bIns="0" anchor="ctr">
            <a:spAutoFit/>
          </a:bodyPr>
          <a:lstStyle/>
          <a:p>
            <a:pPr algn="l">
              <a:lnSpc>
                <a:spcPct val="115000"/>
              </a:lnSpc>
              <a:spcAft>
                <a:spcPts val="600"/>
              </a:spcAft>
            </a:pPr>
            <a:r>
              <a:rPr sz="2600" b="1">
                <a:solidFill>
                  <a:srgbClr val="0070C0"/>
                </a:solidFill>
                <a:latin typeface="微软雅黑" panose="020B0503020204020204" charset="-122"/>
                <a:ea typeface="微软雅黑" panose="020B0503020204020204" charset="-122"/>
                <a:cs typeface="微软雅黑" panose="020B0503020204020204" charset="-122"/>
              </a:rPr>
              <a:t>国内宏观：政策“相机抉择”，宽松有后手</a:t>
            </a:r>
            <a:endParaRPr sz="2600" b="1">
              <a:solidFill>
                <a:srgbClr val="0070C0"/>
              </a:solidFill>
              <a:latin typeface="微软雅黑" panose="020B0503020204020204" charset="-122"/>
              <a:ea typeface="微软雅黑" panose="020B0503020204020204" charset="-122"/>
              <a:cs typeface="微软雅黑" panose="020B0503020204020204" charset="-122"/>
            </a:endParaRPr>
          </a:p>
        </p:txBody>
      </p:sp>
      <p:sp>
        <p:nvSpPr>
          <p:cNvPr id="488" name="TextBox 3"/>
          <p:cNvSpPr txBox="1"/>
          <p:nvPr/>
        </p:nvSpPr>
        <p:spPr>
          <a:xfrm>
            <a:off x="713232" y="1042415"/>
            <a:ext cx="10515600" cy="365760"/>
          </a:xfrm>
          <a:prstGeom prst="rect">
            <a:avLst/>
          </a:prstGeom>
          <a:noFill/>
        </p:spPr>
        <p:txBody>
          <a:bodyPr wrap="square" lIns="0" tIns="0" rIns="0" bIns="0" anchor="t">
            <a:spAutoFit/>
          </a:bodyPr>
          <a:lstStyle/>
          <a:p>
            <a:pPr algn="l">
              <a:lnSpc>
                <a:spcPct val="115000"/>
              </a:lnSpc>
              <a:spcAft>
                <a:spcPts val="600"/>
              </a:spcAft>
            </a:pPr>
            <a:r>
              <a:rPr sz="1100" b="0">
                <a:solidFill>
                  <a:srgbClr val="595959"/>
                </a:solidFill>
                <a:latin typeface="微软雅黑" panose="020B0503020204020204" charset="-122"/>
                <a:ea typeface="微软雅黑" panose="020B0503020204020204" charset="-122"/>
                <a:cs typeface="微软雅黑" panose="020B0503020204020204" charset="-122"/>
              </a:rPr>
              <a:t>政治局会议定调扩内需，总量工具待命，LPR 连续 15 个月不动</a:t>
            </a:r>
            <a:endParaRPr sz="1100" b="0">
              <a:solidFill>
                <a:srgbClr val="595959"/>
              </a:solidFill>
              <a:latin typeface="微软雅黑" panose="020B0503020204020204" charset="-122"/>
              <a:ea typeface="微软雅黑" panose="020B0503020204020204" charset="-122"/>
              <a:cs typeface="微软雅黑" panose="020B0503020204020204" charset="-122"/>
            </a:endParaRPr>
          </a:p>
        </p:txBody>
      </p:sp>
      <p:sp>
        <p:nvSpPr>
          <p:cNvPr id="489" name="Rectangle 4"/>
          <p:cNvSpPr/>
          <p:nvPr/>
        </p:nvSpPr>
        <p:spPr>
          <a:xfrm>
            <a:off x="502920" y="1005840"/>
            <a:ext cx="2011680" cy="27940"/>
          </a:xfrm>
          <a:prstGeom prst="rect">
            <a:avLst/>
          </a:prstGeom>
          <a:solidFill>
            <a:srgbClr val="54B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490" name="Rectangle 5"/>
          <p:cNvSpPr/>
          <p:nvPr/>
        </p:nvSpPr>
        <p:spPr>
          <a:xfrm>
            <a:off x="502920" y="1060704"/>
            <a:ext cx="11183112" cy="11430"/>
          </a:xfrm>
          <a:prstGeom prst="rect">
            <a:avLst/>
          </a:prstGeom>
          <a:solidFill>
            <a:srgbClr val="AED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491" name="Rectangle 16"/>
          <p:cNvSpPr/>
          <p:nvPr/>
        </p:nvSpPr>
        <p:spPr>
          <a:xfrm>
            <a:off x="502920" y="5989320"/>
            <a:ext cx="11183112" cy="658368"/>
          </a:xfrm>
          <a:prstGeom prst="rect">
            <a:avLst/>
          </a:prstGeom>
          <a:solidFill>
            <a:srgbClr val="EA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492" name="Rectangle 17"/>
          <p:cNvSpPr/>
          <p:nvPr/>
        </p:nvSpPr>
        <p:spPr>
          <a:xfrm>
            <a:off x="502920" y="5989320"/>
            <a:ext cx="11183112" cy="658368"/>
          </a:xfrm>
          <a:prstGeom prst="rect">
            <a:avLst/>
          </a:prstGeom>
          <a:solidFill>
            <a:srgbClr val="EAF6FC"/>
          </a:solidFill>
          <a:ln>
            <a:noFill/>
          </a:ln>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l">
              <a:lnSpc>
                <a:spcPct val="110000"/>
              </a:lnSpc>
              <a:spcAft>
                <a:spcPts val="400"/>
              </a:spcAft>
            </a:pPr>
            <a:r>
              <a:rPr lang="zh-CN" sz="1300" b="0">
                <a:solidFill>
                  <a:srgbClr val="0070C0"/>
                </a:solidFill>
                <a:latin typeface="微软雅黑" panose="020B0503020204020204" charset="-122"/>
                <a:ea typeface="微软雅黑" panose="020B0503020204020204" charset="-122"/>
                <a:cs typeface="微软雅黑" panose="020B0503020204020204" charset="-122"/>
              </a:rPr>
              <a:t>以稳为主、相机抉择；资金面平稳（DR007 1.37%）。</a:t>
            </a:r>
            <a:endParaRPr lang="zh-CN" sz="1300" b="0">
              <a:solidFill>
                <a:srgbClr val="0070C0"/>
              </a:solidFill>
              <a:latin typeface="微软雅黑" panose="020B0503020204020204" charset="-122"/>
              <a:ea typeface="微软雅黑" panose="020B0503020204020204" charset="-122"/>
              <a:cs typeface="微软雅黑" panose="020B0503020204020204" charset="-122"/>
            </a:endParaRPr>
          </a:p>
        </p:txBody>
      </p:sp>
      <p:sp>
        <p:nvSpPr>
          <p:cNvPr id="493" name="TextBox 18"/>
          <p:cNvSpPr txBox="1"/>
          <p:nvPr/>
        </p:nvSpPr>
        <p:spPr>
          <a:xfrm>
            <a:off x="502920" y="6455664"/>
            <a:ext cx="7315200" cy="274320"/>
          </a:xfrm>
          <a:prstGeom prst="rect">
            <a:avLst/>
          </a:prstGeom>
          <a:noFill/>
        </p:spPr>
        <p:txBody>
          <a:bodyPr wrap="square" lIns="0" tIns="0" rIns="0" bIns="0" anchor="t">
            <a:spAutoFit/>
          </a:bodyPr>
          <a:lstStyle/>
          <a:p>
            <a:pPr algn="l">
              <a:lnSpc>
                <a:spcPct val="115000"/>
              </a:lnSpc>
              <a:spcAft>
                <a:spcPts val="600"/>
              </a:spcAft>
            </a:pPr>
            <a:r>
              <a:rPr sz="900" b="0">
                <a:solidFill>
                  <a:srgbClr val="595959"/>
                </a:solidFill>
                <a:latin typeface="微软雅黑" panose="020B0503020204020204" charset="-122"/>
                <a:ea typeface="微软雅黑" panose="020B0503020204020204" charset="-122"/>
                <a:cs typeface="微软雅黑" panose="020B0503020204020204" charset="-122"/>
              </a:rPr>
              <a:t>近期宏观变化及资产配置 · 2026.09</a:t>
            </a:r>
            <a:endParaRPr sz="900" b="0">
              <a:solidFill>
                <a:srgbClr val="595959"/>
              </a:solidFill>
              <a:latin typeface="微软雅黑" panose="020B0503020204020204" charset="-122"/>
              <a:ea typeface="微软雅黑" panose="020B0503020204020204" charset="-122"/>
              <a:cs typeface="微软雅黑" panose="020B0503020204020204" charset="-122"/>
            </a:endParaRPr>
          </a:p>
        </p:txBody>
      </p:sp>
      <p:sp>
        <p:nvSpPr>
          <p:cNvPr id="494" name="TextBox 19"/>
          <p:cNvSpPr txBox="1"/>
          <p:nvPr/>
        </p:nvSpPr>
        <p:spPr>
          <a:xfrm>
            <a:off x="10789920" y="6455664"/>
            <a:ext cx="914400" cy="274320"/>
          </a:xfrm>
          <a:prstGeom prst="rect">
            <a:avLst/>
          </a:prstGeom>
          <a:noFill/>
        </p:spPr>
        <p:txBody>
          <a:bodyPr wrap="square" lIns="0" tIns="0" rIns="0" bIns="0" anchor="t">
            <a:spAutoFit/>
          </a:bodyPr>
          <a:lstStyle/>
          <a:p>
            <a:pPr algn="r">
              <a:lnSpc>
                <a:spcPct val="115000"/>
              </a:lnSpc>
              <a:spcAft>
                <a:spcPts val="600"/>
              </a:spcAft>
            </a:pPr>
            <a:r>
              <a:rPr sz="1000" b="0">
                <a:solidFill>
                  <a:srgbClr val="595959"/>
                </a:solidFill>
                <a:latin typeface="微软雅黑" panose="020B0503020204020204" charset="-122"/>
                <a:ea typeface="微软雅黑" panose="020B0503020204020204" charset="-122"/>
                <a:cs typeface="微软雅黑" panose="020B0503020204020204" charset="-122"/>
              </a:rPr>
              <a:t>7</a:t>
            </a:r>
            <a:endParaRPr sz="1000" b="0">
              <a:solidFill>
                <a:srgbClr val="595959"/>
              </a:solidFill>
              <a:latin typeface="微软雅黑" panose="020B0503020204020204" charset="-122"/>
              <a:ea typeface="微软雅黑" panose="020B0503020204020204" charset="-122"/>
              <a:cs typeface="微软雅黑" panose="020B0503020204020204" charset="-122"/>
            </a:endParaRPr>
          </a:p>
        </p:txBody>
      </p:sp>
      <p:sp>
        <p:nvSpPr>
          <p:cNvPr id="495" name="圆角矩形 319"/>
          <p:cNvSpPr/>
          <p:nvPr/>
        </p:nvSpPr>
        <p:spPr>
          <a:xfrm>
            <a:off x="508000" y="1498600"/>
            <a:ext cx="3606800" cy="2057400"/>
          </a:xfrm>
          <a:prstGeom prst="roundRect">
            <a:avLst>
              <a:gd name="adj" fmla="val 4376"/>
            </a:avLst>
          </a:prstGeom>
          <a:solidFill>
            <a:srgbClr val="F4FAFE">
              <a:alpha val="100000"/>
            </a:srgbClr>
          </a:solidFill>
          <a:ln w="12700">
            <a:solidFill>
              <a:srgbClr val="AED5EB">
                <a:alpha val="100000"/>
              </a:srgbClr>
            </a:solidFill>
            <a:prstDash val="solid"/>
          </a:ln>
        </p:spPr>
        <p:txBody>
          <a:bodyPr/>
          <a:p>
            <a:pPr/>
            <a:endParaRPr>
              <a:ea typeface="微软雅黑" panose="020B0503020204020204" charset="-122"/>
              <a:cs typeface="微软雅黑" panose="020B0503020204020204" charset="-122"/>
            </a:endParaRPr>
          </a:p>
        </p:txBody>
      </p:sp>
      <p:sp>
        <p:nvSpPr>
          <p:cNvPr id="496" name="圆角矩形 320"/>
          <p:cNvSpPr/>
          <p:nvPr/>
        </p:nvSpPr>
        <p:spPr>
          <a:xfrm>
            <a:off x="4279900" y="1498600"/>
            <a:ext cx="3606800" cy="2057400"/>
          </a:xfrm>
          <a:prstGeom prst="roundRect">
            <a:avLst>
              <a:gd name="adj" fmla="val 4376"/>
            </a:avLst>
          </a:prstGeom>
          <a:solidFill>
            <a:srgbClr val="F4FAFE">
              <a:alpha val="100000"/>
            </a:srgbClr>
          </a:solidFill>
          <a:ln w="12700">
            <a:solidFill>
              <a:srgbClr val="AED5EB">
                <a:alpha val="100000"/>
              </a:srgbClr>
            </a:solidFill>
            <a:prstDash val="solid"/>
          </a:ln>
        </p:spPr>
        <p:txBody>
          <a:bodyPr/>
          <a:p>
            <a:pPr/>
            <a:endParaRPr>
              <a:ea typeface="微软雅黑" panose="020B0503020204020204" charset="-122"/>
              <a:cs typeface="微软雅黑" panose="020B0503020204020204" charset="-122"/>
            </a:endParaRPr>
          </a:p>
        </p:txBody>
      </p:sp>
      <p:sp>
        <p:nvSpPr>
          <p:cNvPr id="497" name="圆角矩形 321"/>
          <p:cNvSpPr/>
          <p:nvPr/>
        </p:nvSpPr>
        <p:spPr>
          <a:xfrm>
            <a:off x="8051800" y="1498600"/>
            <a:ext cx="3606800" cy="2057400"/>
          </a:xfrm>
          <a:prstGeom prst="roundRect">
            <a:avLst>
              <a:gd name="adj" fmla="val 4376"/>
            </a:avLst>
          </a:prstGeom>
          <a:solidFill>
            <a:srgbClr val="F4FAFE">
              <a:alpha val="100000"/>
            </a:srgbClr>
          </a:solidFill>
          <a:ln w="12700">
            <a:solidFill>
              <a:srgbClr val="AED5EB">
                <a:alpha val="100000"/>
              </a:srgbClr>
            </a:solidFill>
            <a:prstDash val="solid"/>
          </a:ln>
        </p:spPr>
        <p:txBody>
          <a:bodyPr/>
          <a:p>
            <a:pPr/>
            <a:endParaRPr>
              <a:ea typeface="微软雅黑" panose="020B0503020204020204" charset="-122"/>
              <a:cs typeface="微软雅黑" panose="020B0503020204020204" charset="-122"/>
            </a:endParaRPr>
          </a:p>
        </p:txBody>
      </p:sp>
      <p:sp>
        <p:nvSpPr>
          <p:cNvPr id="498" name="圆角矩形 322"/>
          <p:cNvSpPr/>
          <p:nvPr/>
        </p:nvSpPr>
        <p:spPr>
          <a:xfrm>
            <a:off x="508000" y="3733800"/>
            <a:ext cx="3606800" cy="2057400"/>
          </a:xfrm>
          <a:prstGeom prst="roundRect">
            <a:avLst>
              <a:gd name="adj" fmla="val 4376"/>
            </a:avLst>
          </a:prstGeom>
          <a:solidFill>
            <a:srgbClr val="F4FAFE">
              <a:alpha val="100000"/>
            </a:srgbClr>
          </a:solidFill>
          <a:ln w="12700">
            <a:solidFill>
              <a:srgbClr val="AED5EB">
                <a:alpha val="100000"/>
              </a:srgbClr>
            </a:solidFill>
            <a:prstDash val="solid"/>
          </a:ln>
        </p:spPr>
        <p:txBody>
          <a:bodyPr/>
          <a:p>
            <a:pPr/>
            <a:endParaRPr>
              <a:ea typeface="微软雅黑" panose="020B0503020204020204" charset="-122"/>
              <a:cs typeface="微软雅黑" panose="020B0503020204020204" charset="-122"/>
            </a:endParaRPr>
          </a:p>
        </p:txBody>
      </p:sp>
      <p:sp>
        <p:nvSpPr>
          <p:cNvPr id="499" name="圆角矩形 323"/>
          <p:cNvSpPr/>
          <p:nvPr/>
        </p:nvSpPr>
        <p:spPr>
          <a:xfrm>
            <a:off x="4279900" y="3733800"/>
            <a:ext cx="3606800" cy="2057400"/>
          </a:xfrm>
          <a:prstGeom prst="roundRect">
            <a:avLst>
              <a:gd name="adj" fmla="val 4376"/>
            </a:avLst>
          </a:prstGeom>
          <a:solidFill>
            <a:srgbClr val="F4FAFE">
              <a:alpha val="100000"/>
            </a:srgbClr>
          </a:solidFill>
          <a:ln w="12700">
            <a:solidFill>
              <a:srgbClr val="AED5EB">
                <a:alpha val="100000"/>
              </a:srgbClr>
            </a:solidFill>
            <a:prstDash val="solid"/>
          </a:ln>
        </p:spPr>
        <p:txBody>
          <a:bodyPr/>
          <a:p>
            <a:pPr/>
            <a:endParaRPr>
              <a:ea typeface="微软雅黑" panose="020B0503020204020204" charset="-122"/>
              <a:cs typeface="微软雅黑" panose="020B0503020204020204" charset="-122"/>
            </a:endParaRPr>
          </a:p>
        </p:txBody>
      </p:sp>
      <p:sp>
        <p:nvSpPr>
          <p:cNvPr id="500" name="圆角矩形 324"/>
          <p:cNvSpPr/>
          <p:nvPr/>
        </p:nvSpPr>
        <p:spPr>
          <a:xfrm>
            <a:off x="711200" y="1701800"/>
            <a:ext cx="304800" cy="50800"/>
          </a:xfrm>
          <a:prstGeom prst="roundRect">
            <a:avLst>
              <a:gd name="adj" fmla="val 4376"/>
            </a:avLst>
          </a:prstGeom>
          <a:solidFill>
            <a:srgbClr val="0070C0"/>
          </a:solidFill>
          <a:ln>
            <a:noFill/>
          </a:ln>
        </p:spPr>
        <p:txBody>
          <a:bodyPr/>
          <a:p>
            <a:pPr/>
            <a:endParaRPr>
              <a:ea typeface="微软雅黑" panose="020B0503020204020204" charset="-122"/>
              <a:cs typeface="微软雅黑" panose="020B0503020204020204" charset="-122"/>
            </a:endParaRPr>
          </a:p>
        </p:txBody>
      </p:sp>
      <p:sp>
        <p:nvSpPr>
          <p:cNvPr id="501" name="圆角矩形 325"/>
          <p:cNvSpPr/>
          <p:nvPr/>
        </p:nvSpPr>
        <p:spPr>
          <a:xfrm>
            <a:off x="4483100" y="1701800"/>
            <a:ext cx="304800" cy="50800"/>
          </a:xfrm>
          <a:prstGeom prst="roundRect">
            <a:avLst>
              <a:gd name="adj" fmla="val 4376"/>
            </a:avLst>
          </a:prstGeom>
          <a:solidFill>
            <a:srgbClr val="0070C0"/>
          </a:solidFill>
          <a:ln>
            <a:noFill/>
          </a:ln>
        </p:spPr>
        <p:txBody>
          <a:bodyPr/>
          <a:p>
            <a:pPr/>
            <a:endParaRPr>
              <a:ea typeface="微软雅黑" panose="020B0503020204020204" charset="-122"/>
              <a:cs typeface="微软雅黑" panose="020B0503020204020204" charset="-122"/>
            </a:endParaRPr>
          </a:p>
        </p:txBody>
      </p:sp>
      <p:sp>
        <p:nvSpPr>
          <p:cNvPr id="502" name="圆角矩形 326"/>
          <p:cNvSpPr/>
          <p:nvPr/>
        </p:nvSpPr>
        <p:spPr>
          <a:xfrm>
            <a:off x="8255000" y="1701800"/>
            <a:ext cx="304800" cy="50800"/>
          </a:xfrm>
          <a:prstGeom prst="roundRect">
            <a:avLst>
              <a:gd name="adj" fmla="val 4376"/>
            </a:avLst>
          </a:prstGeom>
          <a:solidFill>
            <a:srgbClr val="0070C0"/>
          </a:solidFill>
          <a:ln>
            <a:noFill/>
          </a:ln>
        </p:spPr>
        <p:txBody>
          <a:bodyPr/>
          <a:p>
            <a:pPr/>
            <a:endParaRPr>
              <a:ea typeface="微软雅黑" panose="020B0503020204020204" charset="-122"/>
              <a:cs typeface="微软雅黑" panose="020B0503020204020204" charset="-122"/>
            </a:endParaRPr>
          </a:p>
        </p:txBody>
      </p:sp>
      <p:sp>
        <p:nvSpPr>
          <p:cNvPr id="503" name="圆角矩形 327"/>
          <p:cNvSpPr/>
          <p:nvPr/>
        </p:nvSpPr>
        <p:spPr>
          <a:xfrm>
            <a:off x="711200" y="3937000"/>
            <a:ext cx="304800" cy="50800"/>
          </a:xfrm>
          <a:prstGeom prst="roundRect">
            <a:avLst>
              <a:gd name="adj" fmla="val 4376"/>
            </a:avLst>
          </a:prstGeom>
          <a:solidFill>
            <a:srgbClr val="0070C0"/>
          </a:solidFill>
          <a:ln>
            <a:noFill/>
          </a:ln>
        </p:spPr>
        <p:txBody>
          <a:bodyPr/>
          <a:p>
            <a:pPr/>
            <a:endParaRPr>
              <a:ea typeface="微软雅黑" panose="020B0503020204020204" charset="-122"/>
              <a:cs typeface="微软雅黑" panose="020B0503020204020204" charset="-122"/>
            </a:endParaRPr>
          </a:p>
        </p:txBody>
      </p:sp>
      <p:sp>
        <p:nvSpPr>
          <p:cNvPr id="504" name="圆角矩形 328"/>
          <p:cNvSpPr/>
          <p:nvPr/>
        </p:nvSpPr>
        <p:spPr>
          <a:xfrm>
            <a:off x="4483100" y="3937000"/>
            <a:ext cx="304800" cy="50800"/>
          </a:xfrm>
          <a:prstGeom prst="roundRect">
            <a:avLst>
              <a:gd name="adj" fmla="val 4376"/>
            </a:avLst>
          </a:prstGeom>
          <a:solidFill>
            <a:srgbClr val="0070C0"/>
          </a:solidFill>
          <a:ln>
            <a:noFill/>
          </a:ln>
        </p:spPr>
        <p:txBody>
          <a:bodyPr/>
          <a:p>
            <a:pPr/>
            <a:endParaRPr>
              <a:ea typeface="微软雅黑" panose="020B0503020204020204" charset="-122"/>
              <a:cs typeface="微软雅黑" panose="020B0503020204020204" charset="-122"/>
            </a:endParaRPr>
          </a:p>
        </p:txBody>
      </p:sp>
      <p:sp>
        <p:nvSpPr>
          <p:cNvPr id="505" name="矩形 329"/>
          <p:cNvSpPr/>
          <p:nvPr/>
        </p:nvSpPr>
        <p:spPr>
          <a:xfrm>
            <a:off x="711200" y="1803400"/>
            <a:ext cx="3200400" cy="254000"/>
          </a:xfrm>
          <a:prstGeom prst="rect">
            <a:avLst/>
          </a:prstGeom>
          <a:noFill/>
          <a:ln>
            <a:noFill/>
          </a:ln>
        </p:spPr>
        <p:txBody>
          <a:bodyPr/>
          <a:p>
            <a:pPr/>
            <a:r>
              <a:rPr lang="zh-CN" sz="1200" b="1">
                <a:solidFill>
                  <a:srgbClr val="0070C0"/>
                </a:solidFill>
                <a:latin typeface="微软雅黑" panose="020B0503020204020204" charset="-122"/>
                <a:ea typeface="微软雅黑" panose="020B0503020204020204" charset="-122"/>
                <a:cs typeface="微软雅黑" panose="020B0503020204020204" charset="-122"/>
              </a:rPr>
              <a:t>政治局</a:t>
            </a:r>
            <a:endParaRPr lang="zh-CN" sz="1200" b="1">
              <a:solidFill>
                <a:srgbClr val="0070C0"/>
              </a:solidFill>
              <a:latin typeface="微软雅黑" panose="020B0503020204020204" charset="-122"/>
              <a:ea typeface="微软雅黑" panose="020B0503020204020204" charset="-122"/>
              <a:cs typeface="微软雅黑" panose="020B0503020204020204" charset="-122"/>
            </a:endParaRPr>
          </a:p>
        </p:txBody>
      </p:sp>
      <p:sp>
        <p:nvSpPr>
          <p:cNvPr id="506" name="矩形 330"/>
          <p:cNvSpPr/>
          <p:nvPr/>
        </p:nvSpPr>
        <p:spPr>
          <a:xfrm>
            <a:off x="4483100" y="1803400"/>
            <a:ext cx="3200400" cy="254000"/>
          </a:xfrm>
          <a:prstGeom prst="rect">
            <a:avLst/>
          </a:prstGeom>
          <a:noFill/>
          <a:ln>
            <a:noFill/>
          </a:ln>
        </p:spPr>
        <p:txBody>
          <a:bodyPr/>
          <a:p>
            <a:pPr/>
            <a:r>
              <a:rPr lang="zh-CN" sz="1200" b="1">
                <a:solidFill>
                  <a:srgbClr val="0070C0"/>
                </a:solidFill>
                <a:latin typeface="微软雅黑" panose="020B0503020204020204" charset="-122"/>
                <a:ea typeface="微软雅黑" panose="020B0503020204020204" charset="-122"/>
                <a:cs typeface="微软雅黑" panose="020B0503020204020204" charset="-122"/>
              </a:rPr>
              <a:t>货币政策</a:t>
            </a:r>
            <a:endParaRPr lang="zh-CN" sz="1200" b="1">
              <a:solidFill>
                <a:srgbClr val="0070C0"/>
              </a:solidFill>
              <a:latin typeface="微软雅黑" panose="020B0503020204020204" charset="-122"/>
              <a:ea typeface="微软雅黑" panose="020B0503020204020204" charset="-122"/>
              <a:cs typeface="微软雅黑" panose="020B0503020204020204" charset="-122"/>
            </a:endParaRPr>
          </a:p>
        </p:txBody>
      </p:sp>
      <p:sp>
        <p:nvSpPr>
          <p:cNvPr id="507" name="矩形 331"/>
          <p:cNvSpPr/>
          <p:nvPr/>
        </p:nvSpPr>
        <p:spPr>
          <a:xfrm>
            <a:off x="8255000" y="1803400"/>
            <a:ext cx="3200400" cy="254000"/>
          </a:xfrm>
          <a:prstGeom prst="rect">
            <a:avLst/>
          </a:prstGeom>
          <a:noFill/>
          <a:ln>
            <a:noFill/>
          </a:ln>
        </p:spPr>
        <p:txBody>
          <a:bodyPr/>
          <a:p>
            <a:pPr/>
            <a:r>
              <a:rPr lang="zh-CN" sz="1200" b="1">
                <a:solidFill>
                  <a:srgbClr val="0070C0"/>
                </a:solidFill>
                <a:latin typeface="微软雅黑" panose="020B0503020204020204" charset="-122"/>
                <a:ea typeface="微软雅黑" panose="020B0503020204020204" charset="-122"/>
                <a:cs typeface="微软雅黑" panose="020B0503020204020204" charset="-122"/>
              </a:rPr>
              <a:t>LPR</a:t>
            </a:r>
            <a:endParaRPr lang="zh-CN" sz="1200" b="1">
              <a:solidFill>
                <a:srgbClr val="0070C0"/>
              </a:solidFill>
              <a:latin typeface="微软雅黑" panose="020B0503020204020204" charset="-122"/>
              <a:ea typeface="微软雅黑" panose="020B0503020204020204" charset="-122"/>
              <a:cs typeface="微软雅黑" panose="020B0503020204020204" charset="-122"/>
            </a:endParaRPr>
          </a:p>
        </p:txBody>
      </p:sp>
      <p:sp>
        <p:nvSpPr>
          <p:cNvPr id="508" name="矩形 332"/>
          <p:cNvSpPr/>
          <p:nvPr/>
        </p:nvSpPr>
        <p:spPr>
          <a:xfrm>
            <a:off x="711200" y="4038600"/>
            <a:ext cx="3200400" cy="254000"/>
          </a:xfrm>
          <a:prstGeom prst="rect">
            <a:avLst/>
          </a:prstGeom>
          <a:noFill/>
          <a:ln>
            <a:noFill/>
          </a:ln>
        </p:spPr>
        <p:txBody>
          <a:bodyPr/>
          <a:p>
            <a:pPr/>
            <a:r>
              <a:rPr lang="zh-CN" sz="1200" b="1">
                <a:solidFill>
                  <a:srgbClr val="0070C0"/>
                </a:solidFill>
                <a:latin typeface="微软雅黑" panose="020B0503020204020204" charset="-122"/>
                <a:ea typeface="微软雅黑" panose="020B0503020204020204" charset="-122"/>
                <a:cs typeface="微软雅黑" panose="020B0503020204020204" charset="-122"/>
              </a:rPr>
              <a:t>降准先行</a:t>
            </a:r>
            <a:endParaRPr lang="zh-CN" sz="1200" b="1">
              <a:solidFill>
                <a:srgbClr val="0070C0"/>
              </a:solidFill>
              <a:latin typeface="微软雅黑" panose="020B0503020204020204" charset="-122"/>
              <a:ea typeface="微软雅黑" panose="020B0503020204020204" charset="-122"/>
              <a:cs typeface="微软雅黑" panose="020B0503020204020204" charset="-122"/>
            </a:endParaRPr>
          </a:p>
        </p:txBody>
      </p:sp>
      <p:sp>
        <p:nvSpPr>
          <p:cNvPr id="509" name="矩形 333"/>
          <p:cNvSpPr/>
          <p:nvPr/>
        </p:nvSpPr>
        <p:spPr>
          <a:xfrm>
            <a:off x="4483100" y="4038600"/>
            <a:ext cx="3200400" cy="254000"/>
          </a:xfrm>
          <a:prstGeom prst="rect">
            <a:avLst/>
          </a:prstGeom>
          <a:noFill/>
          <a:ln>
            <a:noFill/>
          </a:ln>
        </p:spPr>
        <p:txBody>
          <a:bodyPr/>
          <a:p>
            <a:pPr/>
            <a:r>
              <a:rPr lang="zh-CN" sz="1200" b="1">
                <a:solidFill>
                  <a:srgbClr val="0070C0"/>
                </a:solidFill>
                <a:latin typeface="微软雅黑" panose="020B0503020204020204" charset="-122"/>
                <a:ea typeface="微软雅黑" panose="020B0503020204020204" charset="-122"/>
                <a:cs typeface="微软雅黑" panose="020B0503020204020204" charset="-122"/>
              </a:rPr>
              <a:t>触发信号</a:t>
            </a:r>
            <a:endParaRPr lang="zh-CN" sz="1200" b="1">
              <a:solidFill>
                <a:srgbClr val="0070C0"/>
              </a:solidFill>
              <a:latin typeface="微软雅黑" panose="020B0503020204020204" charset="-122"/>
              <a:ea typeface="微软雅黑" panose="020B0503020204020204" charset="-122"/>
              <a:cs typeface="微软雅黑" panose="020B0503020204020204" charset="-122"/>
            </a:endParaRPr>
          </a:p>
        </p:txBody>
      </p:sp>
      <p:sp>
        <p:nvSpPr>
          <p:cNvPr id="510" name="矩形 334"/>
          <p:cNvSpPr/>
          <p:nvPr/>
        </p:nvSpPr>
        <p:spPr>
          <a:xfrm>
            <a:off x="711200" y="2159000"/>
            <a:ext cx="3200400" cy="457200"/>
          </a:xfrm>
          <a:prstGeom prst="rect">
            <a:avLst/>
          </a:prstGeom>
          <a:noFill/>
          <a:ln>
            <a:noFill/>
          </a:ln>
        </p:spPr>
        <p:txBody>
          <a:bodyPr/>
          <a:p>
            <a:pPr/>
            <a:r>
              <a:rPr lang="zh-CN" sz="2200" b="1">
                <a:solidFill>
                  <a:srgbClr val="1F2933"/>
                </a:solidFill>
                <a:latin typeface="微软雅黑" panose="020B0503020204020204" charset="-122"/>
                <a:ea typeface="微软雅黑" panose="020B0503020204020204" charset="-122"/>
                <a:cs typeface="微软雅黑" panose="020B0503020204020204" charset="-122"/>
              </a:rPr>
              <a:t>扩内需</a:t>
            </a:r>
            <a:endParaRPr lang="zh-CN" sz="2200" b="1">
              <a:solidFill>
                <a:srgbClr val="1F2933"/>
              </a:solidFill>
              <a:latin typeface="微软雅黑" panose="020B0503020204020204" charset="-122"/>
              <a:ea typeface="微软雅黑" panose="020B0503020204020204" charset="-122"/>
              <a:cs typeface="微软雅黑" panose="020B0503020204020204" charset="-122"/>
            </a:endParaRPr>
          </a:p>
        </p:txBody>
      </p:sp>
      <p:sp>
        <p:nvSpPr>
          <p:cNvPr id="511" name="矩形 335"/>
          <p:cNvSpPr/>
          <p:nvPr/>
        </p:nvSpPr>
        <p:spPr>
          <a:xfrm>
            <a:off x="4483100" y="2159000"/>
            <a:ext cx="3200400" cy="457200"/>
          </a:xfrm>
          <a:prstGeom prst="rect">
            <a:avLst/>
          </a:prstGeom>
          <a:noFill/>
          <a:ln>
            <a:noFill/>
          </a:ln>
        </p:spPr>
        <p:txBody>
          <a:bodyPr/>
          <a:p>
            <a:pPr/>
            <a:r>
              <a:rPr lang="zh-CN" sz="2200" b="1">
                <a:solidFill>
                  <a:srgbClr val="1F2933"/>
                </a:solidFill>
                <a:latin typeface="微软雅黑" panose="020B0503020204020204" charset="-122"/>
                <a:ea typeface="微软雅黑" panose="020B0503020204020204" charset="-122"/>
                <a:cs typeface="微软雅黑" panose="020B0503020204020204" charset="-122"/>
              </a:rPr>
              <a:t>待命</a:t>
            </a:r>
            <a:endParaRPr lang="zh-CN" sz="2200" b="1">
              <a:solidFill>
                <a:srgbClr val="1F2933"/>
              </a:solidFill>
              <a:latin typeface="微软雅黑" panose="020B0503020204020204" charset="-122"/>
              <a:ea typeface="微软雅黑" panose="020B0503020204020204" charset="-122"/>
              <a:cs typeface="微软雅黑" panose="020B0503020204020204" charset="-122"/>
            </a:endParaRPr>
          </a:p>
        </p:txBody>
      </p:sp>
      <p:sp>
        <p:nvSpPr>
          <p:cNvPr id="512" name="矩形 336"/>
          <p:cNvSpPr/>
          <p:nvPr/>
        </p:nvSpPr>
        <p:spPr>
          <a:xfrm>
            <a:off x="8255000" y="2159000"/>
            <a:ext cx="3200400" cy="457200"/>
          </a:xfrm>
          <a:prstGeom prst="rect">
            <a:avLst/>
          </a:prstGeom>
          <a:noFill/>
          <a:ln>
            <a:noFill/>
          </a:ln>
        </p:spPr>
        <p:txBody>
          <a:bodyPr/>
          <a:p>
            <a:pPr/>
            <a:r>
              <a:rPr lang="zh-CN" sz="2200" b="1">
                <a:solidFill>
                  <a:srgbClr val="1F2933"/>
                </a:solidFill>
                <a:latin typeface="微软雅黑" panose="020B0503020204020204" charset="-122"/>
                <a:ea typeface="微软雅黑" panose="020B0503020204020204" charset="-122"/>
                <a:cs typeface="微软雅黑" panose="020B0503020204020204" charset="-122"/>
              </a:rPr>
              <a:t>3.0/3.5%</a:t>
            </a:r>
            <a:endParaRPr lang="zh-CN" sz="2200" b="1">
              <a:solidFill>
                <a:srgbClr val="1F2933"/>
              </a:solidFill>
              <a:latin typeface="微软雅黑" panose="020B0503020204020204" charset="-122"/>
              <a:ea typeface="微软雅黑" panose="020B0503020204020204" charset="-122"/>
              <a:cs typeface="微软雅黑" panose="020B0503020204020204" charset="-122"/>
            </a:endParaRPr>
          </a:p>
        </p:txBody>
      </p:sp>
      <p:sp>
        <p:nvSpPr>
          <p:cNvPr id="513" name="矩形 337"/>
          <p:cNvSpPr/>
          <p:nvPr/>
        </p:nvSpPr>
        <p:spPr>
          <a:xfrm>
            <a:off x="711200" y="4394200"/>
            <a:ext cx="3200400" cy="457200"/>
          </a:xfrm>
          <a:prstGeom prst="rect">
            <a:avLst/>
          </a:prstGeom>
          <a:noFill/>
          <a:ln>
            <a:noFill/>
          </a:ln>
        </p:spPr>
        <p:txBody>
          <a:bodyPr/>
          <a:p>
            <a:pPr/>
            <a:r>
              <a:rPr lang="zh-CN" sz="2200" b="1">
                <a:solidFill>
                  <a:srgbClr val="1F2933"/>
                </a:solidFill>
                <a:latin typeface="微软雅黑" panose="020B0503020204020204" charset="-122"/>
                <a:ea typeface="微软雅黑" panose="020B0503020204020204" charset="-122"/>
                <a:cs typeface="微软雅黑" panose="020B0503020204020204" charset="-122"/>
              </a:rPr>
              <a:t>四季度</a:t>
            </a:r>
            <a:endParaRPr lang="zh-CN" sz="2200" b="1">
              <a:solidFill>
                <a:srgbClr val="1F2933"/>
              </a:solidFill>
              <a:latin typeface="微软雅黑" panose="020B0503020204020204" charset="-122"/>
              <a:ea typeface="微软雅黑" panose="020B0503020204020204" charset="-122"/>
              <a:cs typeface="微软雅黑" panose="020B0503020204020204" charset="-122"/>
            </a:endParaRPr>
          </a:p>
        </p:txBody>
      </p:sp>
      <p:sp>
        <p:nvSpPr>
          <p:cNvPr id="514" name="矩形 338"/>
          <p:cNvSpPr/>
          <p:nvPr/>
        </p:nvSpPr>
        <p:spPr>
          <a:xfrm>
            <a:off x="4483100" y="4394200"/>
            <a:ext cx="3200400" cy="457200"/>
          </a:xfrm>
          <a:prstGeom prst="rect">
            <a:avLst/>
          </a:prstGeom>
          <a:noFill/>
          <a:ln>
            <a:noFill/>
          </a:ln>
        </p:spPr>
        <p:txBody>
          <a:bodyPr/>
          <a:p>
            <a:pPr/>
            <a:r>
              <a:rPr lang="zh-CN" sz="2200" b="1">
                <a:solidFill>
                  <a:srgbClr val="1F2933"/>
                </a:solidFill>
                <a:latin typeface="微软雅黑" panose="020B0503020204020204" charset="-122"/>
                <a:ea typeface="微软雅黑" panose="020B0503020204020204" charset="-122"/>
                <a:cs typeface="微软雅黑" panose="020B0503020204020204" charset="-122"/>
              </a:rPr>
              <a:t>利润转负</a:t>
            </a:r>
            <a:endParaRPr lang="zh-CN" sz="2200" b="1">
              <a:solidFill>
                <a:srgbClr val="1F2933"/>
              </a:solidFill>
              <a:latin typeface="微软雅黑" panose="020B0503020204020204" charset="-122"/>
              <a:ea typeface="微软雅黑" panose="020B0503020204020204" charset="-122"/>
              <a:cs typeface="微软雅黑" panose="020B0503020204020204" charset="-122"/>
            </a:endParaRPr>
          </a:p>
        </p:txBody>
      </p:sp>
      <p:sp>
        <p:nvSpPr>
          <p:cNvPr id="515" name="矩形 339"/>
          <p:cNvSpPr/>
          <p:nvPr/>
        </p:nvSpPr>
        <p:spPr>
          <a:xfrm>
            <a:off x="711200" y="2768600"/>
            <a:ext cx="3200400" cy="660400"/>
          </a:xfrm>
          <a:prstGeom prst="rect">
            <a:avLst/>
          </a:prstGeom>
          <a:noFill/>
          <a:ln>
            <a:noFill/>
          </a:ln>
        </p:spPr>
        <p:txBody>
          <a:bodyPr/>
          <a:p>
            <a:pPr/>
            <a:r>
              <a:rPr lang="zh-CN" sz="1000">
                <a:solidFill>
                  <a:srgbClr val="595959"/>
                </a:solidFill>
                <a:latin typeface="微软雅黑" panose="020B0503020204020204" charset="-122"/>
                <a:ea typeface="微软雅黑" panose="020B0503020204020204" charset="-122"/>
                <a:cs typeface="微软雅黑" panose="020B0503020204020204" charset="-122"/>
              </a:rPr>
              <a:t>加快财政支出与债券使用</a:t>
            </a:r>
            <a:endParaRPr lang="zh-CN" sz="1000">
              <a:solidFill>
                <a:srgbClr val="595959"/>
              </a:solidFill>
              <a:latin typeface="微软雅黑" panose="020B0503020204020204" charset="-122"/>
              <a:ea typeface="微软雅黑" panose="020B0503020204020204" charset="-122"/>
              <a:cs typeface="微软雅黑" panose="020B0503020204020204" charset="-122"/>
            </a:endParaRPr>
          </a:p>
        </p:txBody>
      </p:sp>
      <p:sp>
        <p:nvSpPr>
          <p:cNvPr id="516" name="矩形 340"/>
          <p:cNvSpPr/>
          <p:nvPr/>
        </p:nvSpPr>
        <p:spPr>
          <a:xfrm>
            <a:off x="4483100" y="2768600"/>
            <a:ext cx="3200400" cy="660400"/>
          </a:xfrm>
          <a:prstGeom prst="rect">
            <a:avLst/>
          </a:prstGeom>
          <a:noFill/>
          <a:ln>
            <a:noFill/>
          </a:ln>
        </p:spPr>
        <p:txBody>
          <a:bodyPr/>
          <a:p>
            <a:pPr/>
            <a:r>
              <a:rPr lang="zh-CN" sz="1000">
                <a:solidFill>
                  <a:srgbClr val="595959"/>
                </a:solidFill>
                <a:latin typeface="微软雅黑" panose="020B0503020204020204" charset="-122"/>
                <a:ea typeface="微软雅黑" panose="020B0503020204020204" charset="-122"/>
                <a:cs typeface="微软雅黑" panose="020B0503020204020204" charset="-122"/>
              </a:rPr>
              <a:t>降准降息总量工具</a:t>
            </a:r>
            <a:endParaRPr lang="zh-CN" sz="1000">
              <a:solidFill>
                <a:srgbClr val="595959"/>
              </a:solidFill>
              <a:latin typeface="微软雅黑" panose="020B0503020204020204" charset="-122"/>
              <a:ea typeface="微软雅黑" panose="020B0503020204020204" charset="-122"/>
              <a:cs typeface="微软雅黑" panose="020B0503020204020204" charset="-122"/>
            </a:endParaRPr>
          </a:p>
        </p:txBody>
      </p:sp>
      <p:sp>
        <p:nvSpPr>
          <p:cNvPr id="517" name="矩形 341"/>
          <p:cNvSpPr/>
          <p:nvPr/>
        </p:nvSpPr>
        <p:spPr>
          <a:xfrm>
            <a:off x="8255000" y="2768600"/>
            <a:ext cx="3200400" cy="660400"/>
          </a:xfrm>
          <a:prstGeom prst="rect">
            <a:avLst/>
          </a:prstGeom>
          <a:noFill/>
          <a:ln>
            <a:noFill/>
          </a:ln>
        </p:spPr>
        <p:txBody>
          <a:bodyPr/>
          <a:p>
            <a:pPr/>
            <a:r>
              <a:rPr lang="zh-CN" sz="1000">
                <a:solidFill>
                  <a:srgbClr val="595959"/>
                </a:solidFill>
                <a:latin typeface="微软雅黑" panose="020B0503020204020204" charset="-122"/>
                <a:ea typeface="微软雅黑" panose="020B0503020204020204" charset="-122"/>
                <a:cs typeface="微软雅黑" panose="020B0503020204020204" charset="-122"/>
              </a:rPr>
              <a:t>连续15个月不动</a:t>
            </a:r>
            <a:endParaRPr lang="zh-CN" sz="1000">
              <a:solidFill>
                <a:srgbClr val="595959"/>
              </a:solidFill>
              <a:latin typeface="微软雅黑" panose="020B0503020204020204" charset="-122"/>
              <a:ea typeface="微软雅黑" panose="020B0503020204020204" charset="-122"/>
              <a:cs typeface="微软雅黑" panose="020B0503020204020204" charset="-122"/>
            </a:endParaRPr>
          </a:p>
        </p:txBody>
      </p:sp>
      <p:sp>
        <p:nvSpPr>
          <p:cNvPr id="518" name="矩形 342"/>
          <p:cNvSpPr/>
          <p:nvPr/>
        </p:nvSpPr>
        <p:spPr>
          <a:xfrm>
            <a:off x="711200" y="5003800"/>
            <a:ext cx="3200400" cy="660400"/>
          </a:xfrm>
          <a:prstGeom prst="rect">
            <a:avLst/>
          </a:prstGeom>
          <a:noFill/>
          <a:ln>
            <a:noFill/>
          </a:ln>
        </p:spPr>
        <p:txBody>
          <a:bodyPr/>
          <a:p>
            <a:pPr/>
            <a:r>
              <a:rPr lang="zh-CN" sz="1000">
                <a:solidFill>
                  <a:srgbClr val="595959"/>
                </a:solidFill>
                <a:latin typeface="微软雅黑" panose="020B0503020204020204" charset="-122"/>
                <a:ea typeface="微软雅黑" panose="020B0503020204020204" charset="-122"/>
                <a:cs typeface="微软雅黑" panose="020B0503020204020204" charset="-122"/>
              </a:rPr>
              <a:t>置换式降准概率最高</a:t>
            </a:r>
            <a:endParaRPr lang="zh-CN" sz="1000">
              <a:solidFill>
                <a:srgbClr val="595959"/>
              </a:solidFill>
              <a:latin typeface="微软雅黑" panose="020B0503020204020204" charset="-122"/>
              <a:ea typeface="微软雅黑" panose="020B0503020204020204" charset="-122"/>
              <a:cs typeface="微软雅黑" panose="020B0503020204020204" charset="-122"/>
            </a:endParaRPr>
          </a:p>
        </p:txBody>
      </p:sp>
      <p:sp>
        <p:nvSpPr>
          <p:cNvPr id="519" name="矩形 343"/>
          <p:cNvSpPr/>
          <p:nvPr/>
        </p:nvSpPr>
        <p:spPr>
          <a:xfrm>
            <a:off x="4483100" y="5003800"/>
            <a:ext cx="3200400" cy="660400"/>
          </a:xfrm>
          <a:prstGeom prst="rect">
            <a:avLst/>
          </a:prstGeom>
          <a:noFill/>
          <a:ln>
            <a:noFill/>
          </a:ln>
        </p:spPr>
        <p:txBody>
          <a:bodyPr/>
          <a:p>
            <a:pPr/>
            <a:r>
              <a:rPr lang="zh-CN" sz="1000">
                <a:solidFill>
                  <a:srgbClr val="595959"/>
                </a:solidFill>
                <a:latin typeface="微软雅黑" panose="020B0503020204020204" charset="-122"/>
                <a:ea typeface="微软雅黑" panose="020B0503020204020204" charset="-122"/>
                <a:cs typeface="微软雅黑" panose="020B0503020204020204" charset="-122"/>
              </a:rPr>
              <a:t>或美联储转宽</a:t>
            </a:r>
            <a:endParaRPr lang="zh-CN" sz="1000">
              <a:solidFill>
                <a:srgbClr val="595959"/>
              </a:solidFill>
              <a:latin typeface="微软雅黑" panose="020B0503020204020204" charset="-122"/>
              <a:ea typeface="微软雅黑" panose="020B0503020204020204" charset="-122"/>
              <a:cs typeface="微软雅黑" panose="020B0503020204020204" charset="-122"/>
            </a:endParaRPr>
          </a:p>
        </p:txBody>
      </p:sp>
      <p:pic>
        <p:nvPicPr>
          <p:cNvPr id="520" name="参考模板浅蓝背景弧线"/>
          <p:cNvPicPr/>
          <p:nvPr/>
        </p:nvPicPr>
        <p:blipFill>
          <a:blip r:embed="rId2"/>
          <a:stretch>
            <a:fillRect/>
          </a:stretch>
        </p:blipFill>
        <p:spPr>
          <a:xfrm>
            <a:off x="4457700" y="0"/>
            <a:ext cx="3143250" cy="495300"/>
          </a:xfrm>
          <a:prstGeom prst="rect">
            <a:avLst/>
          </a:prstGeom>
          <a:noFill/>
          <a:ln>
            <a:noFill/>
          </a:ln>
        </p:spPr>
      </p:pic>
      <p:pic>
        <p:nvPicPr>
          <p:cNvPr id="521" name="参考模板右上角标识"/>
          <p:cNvPicPr/>
          <p:nvPr/>
        </p:nvPicPr>
        <p:blipFill>
          <a:blip r:embed="rId3"/>
          <a:stretch>
            <a:fillRect/>
          </a:stretch>
        </p:blipFill>
        <p:spPr>
          <a:xfrm>
            <a:off x="9696450" y="209550"/>
            <a:ext cx="1733550" cy="390525"/>
          </a:xfrm>
          <a:prstGeom prst="rect">
            <a:avLst/>
          </a:prstGeom>
          <a:noFill/>
          <a:ln>
            <a:noFill/>
          </a:ln>
        </p:spPr>
      </p:pic>
    </p:spTree>
  </p:cSld>
  <p:clrMapOvr>
    <a:masterClrMapping/>
  </p:clrMapOvr>
</p:sld>
</file>

<file path=ppt/slides/slide8.xml><?xml version="1.0" encoding="utf-8"?>
<p:sld xmlns:r="http://schemas.openxmlformats.org/officeDocument/2006/relationships" xmlns:p="http://schemas.openxmlformats.org/presentationml/2006/main" xmlns:a="http://schemas.openxmlformats.org/drawingml/2006/main">
  <p:cSld>
    <p:spTree>
      <p:nvGrpSpPr>
        <p:cNvPr id="520" name=""/>
        <p:cNvGrpSpPr/>
        <p:nvPr/>
      </p:nvGrpSpPr>
      <p:grpSpPr>
        <a:xfrm>
          <a:off x="0" y="0"/>
          <a:ext cx="0" cy="0"/>
          <a:chOff x="0" y="0"/>
          <a:chExt cx="0" cy="0"/>
        </a:xfrm>
      </p:grpSpPr>
      <p:sp>
        <p:nvSpPr>
          <p:cNvPr id="521" name="Rectangle 1"/>
          <p:cNvSpPr/>
          <p:nvPr/>
        </p:nvSpPr>
        <p:spPr>
          <a:xfrm>
            <a:off x="502920" y="457200"/>
            <a:ext cx="82296" cy="566928"/>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522" name="TextBox 2"/>
          <p:cNvSpPr txBox="1"/>
          <p:nvPr/>
        </p:nvSpPr>
        <p:spPr>
          <a:xfrm>
            <a:off x="713232" y="420624"/>
            <a:ext cx="9601200" cy="640080"/>
          </a:xfrm>
          <a:prstGeom prst="rect">
            <a:avLst/>
          </a:prstGeom>
          <a:noFill/>
        </p:spPr>
        <p:txBody>
          <a:bodyPr wrap="square" lIns="0" tIns="0" rIns="0" bIns="0" anchor="ctr">
            <a:spAutoFit/>
          </a:bodyPr>
          <a:lstStyle/>
          <a:p>
            <a:pPr algn="l">
              <a:lnSpc>
                <a:spcPct val="115000"/>
              </a:lnSpc>
              <a:spcAft>
                <a:spcPts val="600"/>
              </a:spcAft>
            </a:pPr>
            <a:r>
              <a:rPr sz="2600" b="1">
                <a:solidFill>
                  <a:srgbClr val="0070C0"/>
                </a:solidFill>
                <a:latin typeface="微软雅黑" panose="020B0503020204020204" charset="-122"/>
                <a:ea typeface="微软雅黑" panose="020B0503020204020204" charset="-122"/>
                <a:cs typeface="微软雅黑" panose="020B0503020204020204" charset="-122"/>
              </a:rPr>
              <a:t>国内宏观：8 月物价回暖、外需强劲</a:t>
            </a:r>
            <a:endParaRPr sz="2600" b="1">
              <a:solidFill>
                <a:srgbClr val="0070C0"/>
              </a:solidFill>
              <a:latin typeface="微软雅黑" panose="020B0503020204020204" charset="-122"/>
              <a:ea typeface="微软雅黑" panose="020B0503020204020204" charset="-122"/>
              <a:cs typeface="微软雅黑" panose="020B0503020204020204" charset="-122"/>
            </a:endParaRPr>
          </a:p>
        </p:txBody>
      </p:sp>
      <p:sp>
        <p:nvSpPr>
          <p:cNvPr id="523" name="TextBox 3"/>
          <p:cNvSpPr txBox="1"/>
          <p:nvPr/>
        </p:nvSpPr>
        <p:spPr>
          <a:xfrm>
            <a:off x="713232" y="1042415"/>
            <a:ext cx="10515600" cy="365760"/>
          </a:xfrm>
          <a:prstGeom prst="rect">
            <a:avLst/>
          </a:prstGeom>
          <a:noFill/>
        </p:spPr>
        <p:txBody>
          <a:bodyPr wrap="square" lIns="0" tIns="0" rIns="0" bIns="0" anchor="t">
            <a:spAutoFit/>
          </a:bodyPr>
          <a:lstStyle/>
          <a:p>
            <a:pPr algn="l">
              <a:lnSpc>
                <a:spcPct val="115000"/>
              </a:lnSpc>
              <a:spcAft>
                <a:spcPts val="600"/>
              </a:spcAft>
            </a:pPr>
            <a:r>
              <a:rPr sz="1100" b="0">
                <a:solidFill>
                  <a:srgbClr val="595959"/>
                </a:solidFill>
                <a:latin typeface="微软雅黑" panose="020B0503020204020204" charset="-122"/>
                <a:ea typeface="微软雅黑" panose="020B0503020204020204" charset="-122"/>
                <a:cs typeface="微软雅黑" panose="020B0503020204020204" charset="-122"/>
              </a:rPr>
              <a:t>CPI/PPI 双双回升，出口创单月新高，内需修复仍待发力</a:t>
            </a:r>
            <a:endParaRPr sz="1100" b="0">
              <a:solidFill>
                <a:srgbClr val="595959"/>
              </a:solidFill>
              <a:latin typeface="微软雅黑" panose="020B0503020204020204" charset="-122"/>
              <a:ea typeface="微软雅黑" panose="020B0503020204020204" charset="-122"/>
              <a:cs typeface="微软雅黑" panose="020B0503020204020204" charset="-122"/>
            </a:endParaRPr>
          </a:p>
        </p:txBody>
      </p:sp>
      <p:sp>
        <p:nvSpPr>
          <p:cNvPr id="524" name="Rectangle 4"/>
          <p:cNvSpPr/>
          <p:nvPr/>
        </p:nvSpPr>
        <p:spPr>
          <a:xfrm>
            <a:off x="502920" y="1005840"/>
            <a:ext cx="2011680" cy="27940"/>
          </a:xfrm>
          <a:prstGeom prst="rect">
            <a:avLst/>
          </a:prstGeom>
          <a:solidFill>
            <a:srgbClr val="54B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525" name="Rectangle 5"/>
          <p:cNvSpPr/>
          <p:nvPr/>
        </p:nvSpPr>
        <p:spPr>
          <a:xfrm>
            <a:off x="502920" y="1060704"/>
            <a:ext cx="11183112" cy="11430"/>
          </a:xfrm>
          <a:prstGeom prst="rect">
            <a:avLst/>
          </a:prstGeom>
          <a:solidFill>
            <a:srgbClr val="AED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526" name="Rectangle 16"/>
          <p:cNvSpPr/>
          <p:nvPr/>
        </p:nvSpPr>
        <p:spPr>
          <a:xfrm>
            <a:off x="502920" y="5989320"/>
            <a:ext cx="11183112" cy="658368"/>
          </a:xfrm>
          <a:prstGeom prst="rect">
            <a:avLst/>
          </a:prstGeom>
          <a:solidFill>
            <a:srgbClr val="EA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527" name="Rectangle 17"/>
          <p:cNvSpPr/>
          <p:nvPr/>
        </p:nvSpPr>
        <p:spPr>
          <a:xfrm>
            <a:off x="502920" y="5989320"/>
            <a:ext cx="11183112" cy="658368"/>
          </a:xfrm>
          <a:prstGeom prst="rect">
            <a:avLst/>
          </a:prstGeom>
          <a:solidFill>
            <a:srgbClr val="EAF6FC"/>
          </a:solidFill>
          <a:ln>
            <a:noFill/>
          </a:ln>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l">
              <a:lnSpc>
                <a:spcPct val="110000"/>
              </a:lnSpc>
              <a:spcAft>
                <a:spcPts val="400"/>
              </a:spcAft>
            </a:pPr>
            <a:r>
              <a:rPr lang="zh-CN" sz="1300" b="0">
                <a:solidFill>
                  <a:srgbClr val="0070C0"/>
                </a:solidFill>
                <a:latin typeface="微软雅黑" panose="020B0503020204020204" charset="-122"/>
                <a:ea typeface="微软雅黑" panose="020B0503020204020204" charset="-122"/>
                <a:cs typeface="微软雅黑" panose="020B0503020204020204" charset="-122"/>
              </a:rPr>
              <a:t>外需强、内需弱；价格回升，利好上游与商品。</a:t>
            </a:r>
            <a:endParaRPr lang="zh-CN" sz="1300" b="0">
              <a:solidFill>
                <a:srgbClr val="0070C0"/>
              </a:solidFill>
              <a:latin typeface="微软雅黑" panose="020B0503020204020204" charset="-122"/>
              <a:ea typeface="微软雅黑" panose="020B0503020204020204" charset="-122"/>
              <a:cs typeface="微软雅黑" panose="020B0503020204020204" charset="-122"/>
            </a:endParaRPr>
          </a:p>
        </p:txBody>
      </p:sp>
      <p:sp>
        <p:nvSpPr>
          <p:cNvPr id="528" name="TextBox 18"/>
          <p:cNvSpPr txBox="1"/>
          <p:nvPr/>
        </p:nvSpPr>
        <p:spPr>
          <a:xfrm>
            <a:off x="502920" y="6455664"/>
            <a:ext cx="7315200" cy="274320"/>
          </a:xfrm>
          <a:prstGeom prst="rect">
            <a:avLst/>
          </a:prstGeom>
          <a:noFill/>
        </p:spPr>
        <p:txBody>
          <a:bodyPr wrap="square" lIns="0" tIns="0" rIns="0" bIns="0" anchor="t">
            <a:spAutoFit/>
          </a:bodyPr>
          <a:lstStyle/>
          <a:p>
            <a:pPr algn="l">
              <a:lnSpc>
                <a:spcPct val="115000"/>
              </a:lnSpc>
              <a:spcAft>
                <a:spcPts val="600"/>
              </a:spcAft>
            </a:pPr>
            <a:r>
              <a:rPr sz="900" b="0">
                <a:solidFill>
                  <a:srgbClr val="595959"/>
                </a:solidFill>
                <a:latin typeface="微软雅黑" panose="020B0503020204020204" charset="-122"/>
                <a:ea typeface="微软雅黑" panose="020B0503020204020204" charset="-122"/>
                <a:cs typeface="微软雅黑" panose="020B0503020204020204" charset="-122"/>
              </a:rPr>
              <a:t>近期宏观变化及资产配置 · 2026.09</a:t>
            </a:r>
            <a:endParaRPr sz="900" b="0">
              <a:solidFill>
                <a:srgbClr val="595959"/>
              </a:solidFill>
              <a:latin typeface="微软雅黑" panose="020B0503020204020204" charset="-122"/>
              <a:ea typeface="微软雅黑" panose="020B0503020204020204" charset="-122"/>
              <a:cs typeface="微软雅黑" panose="020B0503020204020204" charset="-122"/>
            </a:endParaRPr>
          </a:p>
        </p:txBody>
      </p:sp>
      <p:sp>
        <p:nvSpPr>
          <p:cNvPr id="529" name="TextBox 19"/>
          <p:cNvSpPr txBox="1"/>
          <p:nvPr/>
        </p:nvSpPr>
        <p:spPr>
          <a:xfrm>
            <a:off x="10789920" y="6455664"/>
            <a:ext cx="914400" cy="274320"/>
          </a:xfrm>
          <a:prstGeom prst="rect">
            <a:avLst/>
          </a:prstGeom>
          <a:noFill/>
        </p:spPr>
        <p:txBody>
          <a:bodyPr wrap="square" lIns="0" tIns="0" rIns="0" bIns="0" anchor="t">
            <a:spAutoFit/>
          </a:bodyPr>
          <a:lstStyle/>
          <a:p>
            <a:pPr algn="r">
              <a:lnSpc>
                <a:spcPct val="115000"/>
              </a:lnSpc>
              <a:spcAft>
                <a:spcPts val="600"/>
              </a:spcAft>
            </a:pPr>
            <a:r>
              <a:rPr sz="1000" b="0">
                <a:solidFill>
                  <a:srgbClr val="595959"/>
                </a:solidFill>
                <a:latin typeface="微软雅黑" panose="020B0503020204020204" charset="-122"/>
                <a:ea typeface="微软雅黑" panose="020B0503020204020204" charset="-122"/>
                <a:cs typeface="微软雅黑" panose="020B0503020204020204" charset="-122"/>
              </a:rPr>
              <a:t>8</a:t>
            </a:r>
            <a:endParaRPr sz="1000" b="0">
              <a:solidFill>
                <a:srgbClr val="595959"/>
              </a:solidFill>
              <a:latin typeface="微软雅黑" panose="020B0503020204020204" charset="-122"/>
              <a:ea typeface="微软雅黑" panose="020B0503020204020204" charset="-122"/>
              <a:cs typeface="微软雅黑" panose="020B0503020204020204" charset="-122"/>
            </a:endParaRPr>
          </a:p>
        </p:txBody>
      </p:sp>
      <p:sp>
        <p:nvSpPr>
          <p:cNvPr id="530" name="圆角矩形 354"/>
          <p:cNvSpPr/>
          <p:nvPr/>
        </p:nvSpPr>
        <p:spPr>
          <a:xfrm>
            <a:off x="508000" y="1498600"/>
            <a:ext cx="3606800" cy="2057400"/>
          </a:xfrm>
          <a:prstGeom prst="roundRect">
            <a:avLst>
              <a:gd name="adj" fmla="val 4376"/>
            </a:avLst>
          </a:prstGeom>
          <a:solidFill>
            <a:srgbClr val="F4FAFE">
              <a:alpha val="100000"/>
            </a:srgbClr>
          </a:solidFill>
          <a:ln w="12700">
            <a:solidFill>
              <a:srgbClr val="AED5EB">
                <a:alpha val="100000"/>
              </a:srgbClr>
            </a:solidFill>
            <a:prstDash val="solid"/>
          </a:ln>
        </p:spPr>
        <p:txBody>
          <a:bodyPr/>
          <a:p>
            <a:pPr/>
            <a:endParaRPr>
              <a:ea typeface="微软雅黑" panose="020B0503020204020204" charset="-122"/>
              <a:cs typeface="微软雅黑" panose="020B0503020204020204" charset="-122"/>
            </a:endParaRPr>
          </a:p>
        </p:txBody>
      </p:sp>
      <p:sp>
        <p:nvSpPr>
          <p:cNvPr id="531" name="圆角矩形 355"/>
          <p:cNvSpPr/>
          <p:nvPr/>
        </p:nvSpPr>
        <p:spPr>
          <a:xfrm>
            <a:off x="4279900" y="1498600"/>
            <a:ext cx="3606800" cy="2057400"/>
          </a:xfrm>
          <a:prstGeom prst="roundRect">
            <a:avLst>
              <a:gd name="adj" fmla="val 4376"/>
            </a:avLst>
          </a:prstGeom>
          <a:solidFill>
            <a:srgbClr val="F4FAFE">
              <a:alpha val="100000"/>
            </a:srgbClr>
          </a:solidFill>
          <a:ln w="12700">
            <a:solidFill>
              <a:srgbClr val="AED5EB">
                <a:alpha val="100000"/>
              </a:srgbClr>
            </a:solidFill>
            <a:prstDash val="solid"/>
          </a:ln>
        </p:spPr>
        <p:txBody>
          <a:bodyPr/>
          <a:p>
            <a:pPr/>
            <a:endParaRPr>
              <a:ea typeface="微软雅黑" panose="020B0503020204020204" charset="-122"/>
              <a:cs typeface="微软雅黑" panose="020B0503020204020204" charset="-122"/>
            </a:endParaRPr>
          </a:p>
        </p:txBody>
      </p:sp>
      <p:sp>
        <p:nvSpPr>
          <p:cNvPr id="532" name="圆角矩形 356"/>
          <p:cNvSpPr/>
          <p:nvPr/>
        </p:nvSpPr>
        <p:spPr>
          <a:xfrm>
            <a:off x="8051800" y="1498600"/>
            <a:ext cx="3606800" cy="2057400"/>
          </a:xfrm>
          <a:prstGeom prst="roundRect">
            <a:avLst>
              <a:gd name="adj" fmla="val 4376"/>
            </a:avLst>
          </a:prstGeom>
          <a:solidFill>
            <a:srgbClr val="F4FAFE">
              <a:alpha val="100000"/>
            </a:srgbClr>
          </a:solidFill>
          <a:ln w="12700">
            <a:solidFill>
              <a:srgbClr val="AED5EB">
                <a:alpha val="100000"/>
              </a:srgbClr>
            </a:solidFill>
            <a:prstDash val="solid"/>
          </a:ln>
        </p:spPr>
        <p:txBody>
          <a:bodyPr/>
          <a:p>
            <a:pPr/>
            <a:endParaRPr>
              <a:ea typeface="微软雅黑" panose="020B0503020204020204" charset="-122"/>
              <a:cs typeface="微软雅黑" panose="020B0503020204020204" charset="-122"/>
            </a:endParaRPr>
          </a:p>
        </p:txBody>
      </p:sp>
      <p:sp>
        <p:nvSpPr>
          <p:cNvPr id="533" name="圆角矩形 357"/>
          <p:cNvSpPr/>
          <p:nvPr/>
        </p:nvSpPr>
        <p:spPr>
          <a:xfrm>
            <a:off x="508000" y="3733800"/>
            <a:ext cx="3606800" cy="2057400"/>
          </a:xfrm>
          <a:prstGeom prst="roundRect">
            <a:avLst>
              <a:gd name="adj" fmla="val 4376"/>
            </a:avLst>
          </a:prstGeom>
          <a:solidFill>
            <a:srgbClr val="F4FAFE">
              <a:alpha val="100000"/>
            </a:srgbClr>
          </a:solidFill>
          <a:ln w="12700">
            <a:solidFill>
              <a:srgbClr val="AED5EB">
                <a:alpha val="100000"/>
              </a:srgbClr>
            </a:solidFill>
            <a:prstDash val="solid"/>
          </a:ln>
        </p:spPr>
        <p:txBody>
          <a:bodyPr/>
          <a:p>
            <a:pPr/>
            <a:endParaRPr>
              <a:ea typeface="微软雅黑" panose="020B0503020204020204" charset="-122"/>
              <a:cs typeface="微软雅黑" panose="020B0503020204020204" charset="-122"/>
            </a:endParaRPr>
          </a:p>
        </p:txBody>
      </p:sp>
      <p:sp>
        <p:nvSpPr>
          <p:cNvPr id="534" name="圆角矩形 358"/>
          <p:cNvSpPr/>
          <p:nvPr/>
        </p:nvSpPr>
        <p:spPr>
          <a:xfrm>
            <a:off x="4279900" y="3733800"/>
            <a:ext cx="3606800" cy="2057400"/>
          </a:xfrm>
          <a:prstGeom prst="roundRect">
            <a:avLst>
              <a:gd name="adj" fmla="val 4376"/>
            </a:avLst>
          </a:prstGeom>
          <a:solidFill>
            <a:srgbClr val="F4FAFE">
              <a:alpha val="100000"/>
            </a:srgbClr>
          </a:solidFill>
          <a:ln w="12700">
            <a:solidFill>
              <a:srgbClr val="AED5EB">
                <a:alpha val="100000"/>
              </a:srgbClr>
            </a:solidFill>
            <a:prstDash val="solid"/>
          </a:ln>
        </p:spPr>
        <p:txBody>
          <a:bodyPr/>
          <a:p>
            <a:pPr/>
            <a:endParaRPr>
              <a:ea typeface="微软雅黑" panose="020B0503020204020204" charset="-122"/>
              <a:cs typeface="微软雅黑" panose="020B0503020204020204" charset="-122"/>
            </a:endParaRPr>
          </a:p>
        </p:txBody>
      </p:sp>
      <p:sp>
        <p:nvSpPr>
          <p:cNvPr id="535" name="圆角矩形 359"/>
          <p:cNvSpPr/>
          <p:nvPr/>
        </p:nvSpPr>
        <p:spPr>
          <a:xfrm>
            <a:off x="711200" y="1701800"/>
            <a:ext cx="304800" cy="50800"/>
          </a:xfrm>
          <a:prstGeom prst="roundRect">
            <a:avLst>
              <a:gd name="adj" fmla="val 4376"/>
            </a:avLst>
          </a:prstGeom>
          <a:solidFill>
            <a:srgbClr val="0070C0"/>
          </a:solidFill>
          <a:ln>
            <a:noFill/>
          </a:ln>
        </p:spPr>
        <p:txBody>
          <a:bodyPr/>
          <a:p>
            <a:pPr/>
            <a:endParaRPr>
              <a:ea typeface="微软雅黑" panose="020B0503020204020204" charset="-122"/>
              <a:cs typeface="微软雅黑" panose="020B0503020204020204" charset="-122"/>
            </a:endParaRPr>
          </a:p>
        </p:txBody>
      </p:sp>
      <p:sp>
        <p:nvSpPr>
          <p:cNvPr id="536" name="圆角矩形 360"/>
          <p:cNvSpPr/>
          <p:nvPr/>
        </p:nvSpPr>
        <p:spPr>
          <a:xfrm>
            <a:off x="4483100" y="1701800"/>
            <a:ext cx="304800" cy="50800"/>
          </a:xfrm>
          <a:prstGeom prst="roundRect">
            <a:avLst>
              <a:gd name="adj" fmla="val 4376"/>
            </a:avLst>
          </a:prstGeom>
          <a:solidFill>
            <a:srgbClr val="0070C0"/>
          </a:solidFill>
          <a:ln>
            <a:noFill/>
          </a:ln>
        </p:spPr>
        <p:txBody>
          <a:bodyPr/>
          <a:p>
            <a:pPr/>
            <a:endParaRPr>
              <a:ea typeface="微软雅黑" panose="020B0503020204020204" charset="-122"/>
              <a:cs typeface="微软雅黑" panose="020B0503020204020204" charset="-122"/>
            </a:endParaRPr>
          </a:p>
        </p:txBody>
      </p:sp>
      <p:sp>
        <p:nvSpPr>
          <p:cNvPr id="537" name="圆角矩形 361"/>
          <p:cNvSpPr/>
          <p:nvPr/>
        </p:nvSpPr>
        <p:spPr>
          <a:xfrm>
            <a:off x="8255000" y="1701800"/>
            <a:ext cx="304800" cy="50800"/>
          </a:xfrm>
          <a:prstGeom prst="roundRect">
            <a:avLst>
              <a:gd name="adj" fmla="val 4376"/>
            </a:avLst>
          </a:prstGeom>
          <a:solidFill>
            <a:srgbClr val="0070C0"/>
          </a:solidFill>
          <a:ln>
            <a:noFill/>
          </a:ln>
        </p:spPr>
        <p:txBody>
          <a:bodyPr/>
          <a:p>
            <a:pPr/>
            <a:endParaRPr>
              <a:ea typeface="微软雅黑" panose="020B0503020204020204" charset="-122"/>
              <a:cs typeface="微软雅黑" panose="020B0503020204020204" charset="-122"/>
            </a:endParaRPr>
          </a:p>
        </p:txBody>
      </p:sp>
      <p:sp>
        <p:nvSpPr>
          <p:cNvPr id="538" name="圆角矩形 362"/>
          <p:cNvSpPr/>
          <p:nvPr/>
        </p:nvSpPr>
        <p:spPr>
          <a:xfrm>
            <a:off x="711200" y="3937000"/>
            <a:ext cx="304800" cy="50800"/>
          </a:xfrm>
          <a:prstGeom prst="roundRect">
            <a:avLst>
              <a:gd name="adj" fmla="val 4376"/>
            </a:avLst>
          </a:prstGeom>
          <a:solidFill>
            <a:srgbClr val="0070C0"/>
          </a:solidFill>
          <a:ln>
            <a:noFill/>
          </a:ln>
        </p:spPr>
        <p:txBody>
          <a:bodyPr/>
          <a:p>
            <a:pPr/>
            <a:endParaRPr>
              <a:ea typeface="微软雅黑" panose="020B0503020204020204" charset="-122"/>
              <a:cs typeface="微软雅黑" panose="020B0503020204020204" charset="-122"/>
            </a:endParaRPr>
          </a:p>
        </p:txBody>
      </p:sp>
      <p:sp>
        <p:nvSpPr>
          <p:cNvPr id="539" name="圆角矩形 363"/>
          <p:cNvSpPr/>
          <p:nvPr/>
        </p:nvSpPr>
        <p:spPr>
          <a:xfrm>
            <a:off x="4483100" y="3937000"/>
            <a:ext cx="304800" cy="50800"/>
          </a:xfrm>
          <a:prstGeom prst="roundRect">
            <a:avLst>
              <a:gd name="adj" fmla="val 4376"/>
            </a:avLst>
          </a:prstGeom>
          <a:solidFill>
            <a:srgbClr val="0070C0"/>
          </a:solidFill>
          <a:ln>
            <a:noFill/>
          </a:ln>
        </p:spPr>
        <p:txBody>
          <a:bodyPr/>
          <a:p>
            <a:pPr/>
            <a:endParaRPr>
              <a:ea typeface="微软雅黑" panose="020B0503020204020204" charset="-122"/>
              <a:cs typeface="微软雅黑" panose="020B0503020204020204" charset="-122"/>
            </a:endParaRPr>
          </a:p>
        </p:txBody>
      </p:sp>
      <p:sp>
        <p:nvSpPr>
          <p:cNvPr id="540" name="矩形 364"/>
          <p:cNvSpPr/>
          <p:nvPr/>
        </p:nvSpPr>
        <p:spPr>
          <a:xfrm>
            <a:off x="711200" y="1803400"/>
            <a:ext cx="3200400" cy="254000"/>
          </a:xfrm>
          <a:prstGeom prst="rect">
            <a:avLst/>
          </a:prstGeom>
          <a:noFill/>
          <a:ln>
            <a:noFill/>
          </a:ln>
        </p:spPr>
        <p:txBody>
          <a:bodyPr/>
          <a:p>
            <a:pPr/>
            <a:r>
              <a:rPr lang="zh-CN" sz="1200" b="1">
                <a:solidFill>
                  <a:srgbClr val="0070C0"/>
                </a:solidFill>
                <a:latin typeface="微软雅黑" panose="020B0503020204020204" charset="-122"/>
                <a:ea typeface="微软雅黑" panose="020B0503020204020204" charset="-122"/>
                <a:cs typeface="微软雅黑" panose="020B0503020204020204" charset="-122"/>
              </a:rPr>
              <a:t>CPI</a:t>
            </a:r>
            <a:endParaRPr lang="zh-CN" sz="1200" b="1">
              <a:solidFill>
                <a:srgbClr val="0070C0"/>
              </a:solidFill>
              <a:latin typeface="微软雅黑" panose="020B0503020204020204" charset="-122"/>
              <a:ea typeface="微软雅黑" panose="020B0503020204020204" charset="-122"/>
              <a:cs typeface="微软雅黑" panose="020B0503020204020204" charset="-122"/>
            </a:endParaRPr>
          </a:p>
        </p:txBody>
      </p:sp>
      <p:sp>
        <p:nvSpPr>
          <p:cNvPr id="541" name="矩形 365"/>
          <p:cNvSpPr/>
          <p:nvPr/>
        </p:nvSpPr>
        <p:spPr>
          <a:xfrm>
            <a:off x="4483100" y="1803400"/>
            <a:ext cx="3200400" cy="254000"/>
          </a:xfrm>
          <a:prstGeom prst="rect">
            <a:avLst/>
          </a:prstGeom>
          <a:noFill/>
          <a:ln>
            <a:noFill/>
          </a:ln>
        </p:spPr>
        <p:txBody>
          <a:bodyPr/>
          <a:p>
            <a:pPr/>
            <a:r>
              <a:rPr lang="zh-CN" sz="1200" b="1">
                <a:solidFill>
                  <a:srgbClr val="0070C0"/>
                </a:solidFill>
                <a:latin typeface="微软雅黑" panose="020B0503020204020204" charset="-122"/>
                <a:ea typeface="微软雅黑" panose="020B0503020204020204" charset="-122"/>
                <a:cs typeface="微软雅黑" panose="020B0503020204020204" charset="-122"/>
              </a:rPr>
              <a:t>PPI</a:t>
            </a:r>
            <a:endParaRPr lang="zh-CN" sz="1200" b="1">
              <a:solidFill>
                <a:srgbClr val="0070C0"/>
              </a:solidFill>
              <a:latin typeface="微软雅黑" panose="020B0503020204020204" charset="-122"/>
              <a:ea typeface="微软雅黑" panose="020B0503020204020204" charset="-122"/>
              <a:cs typeface="微软雅黑" panose="020B0503020204020204" charset="-122"/>
            </a:endParaRPr>
          </a:p>
        </p:txBody>
      </p:sp>
      <p:sp>
        <p:nvSpPr>
          <p:cNvPr id="542" name="矩形 366"/>
          <p:cNvSpPr/>
          <p:nvPr/>
        </p:nvSpPr>
        <p:spPr>
          <a:xfrm>
            <a:off x="8255000" y="1803400"/>
            <a:ext cx="3200400" cy="254000"/>
          </a:xfrm>
          <a:prstGeom prst="rect">
            <a:avLst/>
          </a:prstGeom>
          <a:noFill/>
          <a:ln>
            <a:noFill/>
          </a:ln>
        </p:spPr>
        <p:txBody>
          <a:bodyPr/>
          <a:p>
            <a:pPr/>
            <a:r>
              <a:rPr lang="zh-CN" sz="1200" b="1">
                <a:solidFill>
                  <a:srgbClr val="0070C0"/>
                </a:solidFill>
                <a:latin typeface="微软雅黑" panose="020B0503020204020204" charset="-122"/>
                <a:ea typeface="微软雅黑" panose="020B0503020204020204" charset="-122"/>
                <a:cs typeface="微软雅黑" panose="020B0503020204020204" charset="-122"/>
              </a:rPr>
              <a:t>PMI</a:t>
            </a:r>
            <a:endParaRPr lang="zh-CN" sz="1200" b="1">
              <a:solidFill>
                <a:srgbClr val="0070C0"/>
              </a:solidFill>
              <a:latin typeface="微软雅黑" panose="020B0503020204020204" charset="-122"/>
              <a:ea typeface="微软雅黑" panose="020B0503020204020204" charset="-122"/>
              <a:cs typeface="微软雅黑" panose="020B0503020204020204" charset="-122"/>
            </a:endParaRPr>
          </a:p>
        </p:txBody>
      </p:sp>
      <p:sp>
        <p:nvSpPr>
          <p:cNvPr id="543" name="矩形 367"/>
          <p:cNvSpPr/>
          <p:nvPr/>
        </p:nvSpPr>
        <p:spPr>
          <a:xfrm>
            <a:off x="711200" y="4038600"/>
            <a:ext cx="3200400" cy="254000"/>
          </a:xfrm>
          <a:prstGeom prst="rect">
            <a:avLst/>
          </a:prstGeom>
          <a:noFill/>
          <a:ln>
            <a:noFill/>
          </a:ln>
        </p:spPr>
        <p:txBody>
          <a:bodyPr/>
          <a:p>
            <a:pPr/>
            <a:r>
              <a:rPr lang="zh-CN" sz="1200" b="1">
                <a:solidFill>
                  <a:srgbClr val="0070C0"/>
                </a:solidFill>
                <a:latin typeface="微软雅黑" panose="020B0503020204020204" charset="-122"/>
                <a:ea typeface="微软雅黑" panose="020B0503020204020204" charset="-122"/>
                <a:cs typeface="微软雅黑" panose="020B0503020204020204" charset="-122"/>
              </a:rPr>
              <a:t>出口</a:t>
            </a:r>
            <a:endParaRPr lang="zh-CN" sz="1200" b="1">
              <a:solidFill>
                <a:srgbClr val="0070C0"/>
              </a:solidFill>
              <a:latin typeface="微软雅黑" panose="020B0503020204020204" charset="-122"/>
              <a:ea typeface="微软雅黑" panose="020B0503020204020204" charset="-122"/>
              <a:cs typeface="微软雅黑" panose="020B0503020204020204" charset="-122"/>
            </a:endParaRPr>
          </a:p>
        </p:txBody>
      </p:sp>
      <p:sp>
        <p:nvSpPr>
          <p:cNvPr id="544" name="矩形 368"/>
          <p:cNvSpPr/>
          <p:nvPr/>
        </p:nvSpPr>
        <p:spPr>
          <a:xfrm>
            <a:off x="4483100" y="4038600"/>
            <a:ext cx="3200400" cy="254000"/>
          </a:xfrm>
          <a:prstGeom prst="rect">
            <a:avLst/>
          </a:prstGeom>
          <a:noFill/>
          <a:ln>
            <a:noFill/>
          </a:ln>
        </p:spPr>
        <p:txBody>
          <a:bodyPr/>
          <a:p>
            <a:pPr/>
            <a:r>
              <a:rPr lang="zh-CN" sz="1200" b="1">
                <a:solidFill>
                  <a:srgbClr val="0070C0"/>
                </a:solidFill>
                <a:latin typeface="微软雅黑" panose="020B0503020204020204" charset="-122"/>
                <a:ea typeface="微软雅黑" panose="020B0503020204020204" charset="-122"/>
                <a:cs typeface="微软雅黑" panose="020B0503020204020204" charset="-122"/>
              </a:rPr>
              <a:t>内需</a:t>
            </a:r>
            <a:endParaRPr lang="zh-CN" sz="1200" b="1">
              <a:solidFill>
                <a:srgbClr val="0070C0"/>
              </a:solidFill>
              <a:latin typeface="微软雅黑" panose="020B0503020204020204" charset="-122"/>
              <a:ea typeface="微软雅黑" panose="020B0503020204020204" charset="-122"/>
              <a:cs typeface="微软雅黑" panose="020B0503020204020204" charset="-122"/>
            </a:endParaRPr>
          </a:p>
        </p:txBody>
      </p:sp>
      <p:sp>
        <p:nvSpPr>
          <p:cNvPr id="545" name="矩形 369"/>
          <p:cNvSpPr/>
          <p:nvPr/>
        </p:nvSpPr>
        <p:spPr>
          <a:xfrm>
            <a:off x="711200" y="2159000"/>
            <a:ext cx="3200400" cy="457200"/>
          </a:xfrm>
          <a:prstGeom prst="rect">
            <a:avLst/>
          </a:prstGeom>
          <a:noFill/>
          <a:ln>
            <a:noFill/>
          </a:ln>
        </p:spPr>
        <p:txBody>
          <a:bodyPr/>
          <a:p>
            <a:pPr/>
            <a:r>
              <a:rPr lang="zh-CN" sz="2200" b="1">
                <a:solidFill>
                  <a:srgbClr val="1F2933"/>
                </a:solidFill>
                <a:latin typeface="微软雅黑" panose="020B0503020204020204" charset="-122"/>
                <a:ea typeface="微软雅黑" panose="020B0503020204020204" charset="-122"/>
                <a:cs typeface="微软雅黑" panose="020B0503020204020204" charset="-122"/>
              </a:rPr>
              <a:t>0.8%</a:t>
            </a:r>
            <a:endParaRPr lang="zh-CN" sz="2200" b="1">
              <a:solidFill>
                <a:srgbClr val="1F2933"/>
              </a:solidFill>
              <a:latin typeface="微软雅黑" panose="020B0503020204020204" charset="-122"/>
              <a:ea typeface="微软雅黑" panose="020B0503020204020204" charset="-122"/>
              <a:cs typeface="微软雅黑" panose="020B0503020204020204" charset="-122"/>
            </a:endParaRPr>
          </a:p>
        </p:txBody>
      </p:sp>
      <p:sp>
        <p:nvSpPr>
          <p:cNvPr id="546" name="矩形 370"/>
          <p:cNvSpPr/>
          <p:nvPr/>
        </p:nvSpPr>
        <p:spPr>
          <a:xfrm>
            <a:off x="4483100" y="2159000"/>
            <a:ext cx="3200400" cy="457200"/>
          </a:xfrm>
          <a:prstGeom prst="rect">
            <a:avLst/>
          </a:prstGeom>
          <a:noFill/>
          <a:ln>
            <a:noFill/>
          </a:ln>
        </p:spPr>
        <p:txBody>
          <a:bodyPr/>
          <a:p>
            <a:pPr/>
            <a:r>
              <a:rPr lang="zh-CN" sz="2200" b="1">
                <a:solidFill>
                  <a:srgbClr val="1F2933"/>
                </a:solidFill>
                <a:latin typeface="微软雅黑" panose="020B0503020204020204" charset="-122"/>
                <a:ea typeface="微软雅黑" panose="020B0503020204020204" charset="-122"/>
                <a:cs typeface="微软雅黑" panose="020B0503020204020204" charset="-122"/>
              </a:rPr>
              <a:t>3.8%</a:t>
            </a:r>
            <a:endParaRPr lang="zh-CN" sz="2200" b="1">
              <a:solidFill>
                <a:srgbClr val="1F2933"/>
              </a:solidFill>
              <a:latin typeface="微软雅黑" panose="020B0503020204020204" charset="-122"/>
              <a:ea typeface="微软雅黑" panose="020B0503020204020204" charset="-122"/>
              <a:cs typeface="微软雅黑" panose="020B0503020204020204" charset="-122"/>
            </a:endParaRPr>
          </a:p>
        </p:txBody>
      </p:sp>
      <p:sp>
        <p:nvSpPr>
          <p:cNvPr id="547" name="矩形 371"/>
          <p:cNvSpPr/>
          <p:nvPr/>
        </p:nvSpPr>
        <p:spPr>
          <a:xfrm>
            <a:off x="8255000" y="2159000"/>
            <a:ext cx="3200400" cy="457200"/>
          </a:xfrm>
          <a:prstGeom prst="rect">
            <a:avLst/>
          </a:prstGeom>
          <a:noFill/>
          <a:ln>
            <a:noFill/>
          </a:ln>
        </p:spPr>
        <p:txBody>
          <a:bodyPr/>
          <a:p>
            <a:pPr/>
            <a:r>
              <a:rPr lang="zh-CN" sz="2200" b="1">
                <a:solidFill>
                  <a:srgbClr val="1F2933"/>
                </a:solidFill>
                <a:latin typeface="微软雅黑" panose="020B0503020204020204" charset="-122"/>
                <a:ea typeface="微软雅黑" panose="020B0503020204020204" charset="-122"/>
                <a:cs typeface="微软雅黑" panose="020B0503020204020204" charset="-122"/>
              </a:rPr>
              <a:t>49.8%</a:t>
            </a:r>
            <a:endParaRPr lang="zh-CN" sz="2200" b="1">
              <a:solidFill>
                <a:srgbClr val="1F2933"/>
              </a:solidFill>
              <a:latin typeface="微软雅黑" panose="020B0503020204020204" charset="-122"/>
              <a:ea typeface="微软雅黑" panose="020B0503020204020204" charset="-122"/>
              <a:cs typeface="微软雅黑" panose="020B0503020204020204" charset="-122"/>
            </a:endParaRPr>
          </a:p>
        </p:txBody>
      </p:sp>
      <p:sp>
        <p:nvSpPr>
          <p:cNvPr id="548" name="矩形 372"/>
          <p:cNvSpPr/>
          <p:nvPr/>
        </p:nvSpPr>
        <p:spPr>
          <a:xfrm>
            <a:off x="711200" y="4394200"/>
            <a:ext cx="3200400" cy="457200"/>
          </a:xfrm>
          <a:prstGeom prst="rect">
            <a:avLst/>
          </a:prstGeom>
          <a:noFill/>
          <a:ln>
            <a:noFill/>
          </a:ln>
        </p:spPr>
        <p:txBody>
          <a:bodyPr/>
          <a:p>
            <a:pPr/>
            <a:r>
              <a:rPr lang="zh-CN" sz="2200" b="1">
                <a:solidFill>
                  <a:srgbClr val="1F2933"/>
                </a:solidFill>
                <a:latin typeface="微软雅黑" panose="020B0503020204020204" charset="-122"/>
                <a:ea typeface="微软雅黑" panose="020B0503020204020204" charset="-122"/>
                <a:cs typeface="微软雅黑" panose="020B0503020204020204" charset="-122"/>
              </a:rPr>
              <a:t>+25%</a:t>
            </a:r>
            <a:endParaRPr lang="zh-CN" sz="2200" b="1">
              <a:solidFill>
                <a:srgbClr val="1F2933"/>
              </a:solidFill>
              <a:latin typeface="微软雅黑" panose="020B0503020204020204" charset="-122"/>
              <a:ea typeface="微软雅黑" panose="020B0503020204020204" charset="-122"/>
              <a:cs typeface="微软雅黑" panose="020B0503020204020204" charset="-122"/>
            </a:endParaRPr>
          </a:p>
        </p:txBody>
      </p:sp>
      <p:sp>
        <p:nvSpPr>
          <p:cNvPr id="549" name="矩形 373"/>
          <p:cNvSpPr/>
          <p:nvPr/>
        </p:nvSpPr>
        <p:spPr>
          <a:xfrm>
            <a:off x="4483100" y="4394200"/>
            <a:ext cx="3200400" cy="457200"/>
          </a:xfrm>
          <a:prstGeom prst="rect">
            <a:avLst/>
          </a:prstGeom>
          <a:noFill/>
          <a:ln>
            <a:noFill/>
          </a:ln>
        </p:spPr>
        <p:txBody>
          <a:bodyPr/>
          <a:p>
            <a:pPr/>
            <a:r>
              <a:rPr lang="zh-CN" sz="2200" b="1">
                <a:solidFill>
                  <a:srgbClr val="1F2933"/>
                </a:solidFill>
                <a:latin typeface="微软雅黑" panose="020B0503020204020204" charset="-122"/>
                <a:ea typeface="微软雅黑" panose="020B0503020204020204" charset="-122"/>
                <a:cs typeface="微软雅黑" panose="020B0503020204020204" charset="-122"/>
              </a:rPr>
              <a:t>偏弱</a:t>
            </a:r>
            <a:endParaRPr lang="zh-CN" sz="2200" b="1">
              <a:solidFill>
                <a:srgbClr val="1F2933"/>
              </a:solidFill>
              <a:latin typeface="微软雅黑" panose="020B0503020204020204" charset="-122"/>
              <a:ea typeface="微软雅黑" panose="020B0503020204020204" charset="-122"/>
              <a:cs typeface="微软雅黑" panose="020B0503020204020204" charset="-122"/>
            </a:endParaRPr>
          </a:p>
        </p:txBody>
      </p:sp>
      <p:sp>
        <p:nvSpPr>
          <p:cNvPr id="550" name="矩形 374"/>
          <p:cNvSpPr/>
          <p:nvPr/>
        </p:nvSpPr>
        <p:spPr>
          <a:xfrm>
            <a:off x="711200" y="2768600"/>
            <a:ext cx="3200400" cy="660400"/>
          </a:xfrm>
          <a:prstGeom prst="rect">
            <a:avLst/>
          </a:prstGeom>
          <a:noFill/>
          <a:ln>
            <a:noFill/>
          </a:ln>
        </p:spPr>
        <p:txBody>
          <a:bodyPr/>
          <a:p>
            <a:pPr/>
            <a:r>
              <a:rPr lang="zh-CN" sz="1000">
                <a:solidFill>
                  <a:srgbClr val="595959"/>
                </a:solidFill>
                <a:latin typeface="微软雅黑" panose="020B0503020204020204" charset="-122"/>
                <a:ea typeface="微软雅黑" panose="020B0503020204020204" charset="-122"/>
                <a:cs typeface="微软雅黑" panose="020B0503020204020204" charset="-122"/>
              </a:rPr>
              <a:t>前值0.5%｜环比+0.4%</a:t>
            </a:r>
            <a:endParaRPr lang="zh-CN" sz="1000">
              <a:solidFill>
                <a:srgbClr val="595959"/>
              </a:solidFill>
              <a:latin typeface="微软雅黑" panose="020B0503020204020204" charset="-122"/>
              <a:ea typeface="微软雅黑" panose="020B0503020204020204" charset="-122"/>
              <a:cs typeface="微软雅黑" panose="020B0503020204020204" charset="-122"/>
            </a:endParaRPr>
          </a:p>
        </p:txBody>
      </p:sp>
      <p:sp>
        <p:nvSpPr>
          <p:cNvPr id="551" name="矩形 375"/>
          <p:cNvSpPr/>
          <p:nvPr/>
        </p:nvSpPr>
        <p:spPr>
          <a:xfrm>
            <a:off x="4483100" y="2768600"/>
            <a:ext cx="3200400" cy="660400"/>
          </a:xfrm>
          <a:prstGeom prst="rect">
            <a:avLst/>
          </a:prstGeom>
          <a:noFill/>
          <a:ln>
            <a:noFill/>
          </a:ln>
        </p:spPr>
        <p:txBody>
          <a:bodyPr/>
          <a:p>
            <a:pPr/>
            <a:r>
              <a:rPr lang="zh-CN" sz="1000">
                <a:solidFill>
                  <a:srgbClr val="595959"/>
                </a:solidFill>
                <a:latin typeface="微软雅黑" panose="020B0503020204020204" charset="-122"/>
                <a:ea typeface="微软雅黑" panose="020B0503020204020204" charset="-122"/>
                <a:cs typeface="微软雅黑" panose="020B0503020204020204" charset="-122"/>
              </a:rPr>
              <a:t>前值3.5%｜环比+0.4%</a:t>
            </a:r>
            <a:endParaRPr lang="zh-CN" sz="1000">
              <a:solidFill>
                <a:srgbClr val="595959"/>
              </a:solidFill>
              <a:latin typeface="微软雅黑" panose="020B0503020204020204" charset="-122"/>
              <a:ea typeface="微软雅黑" panose="020B0503020204020204" charset="-122"/>
              <a:cs typeface="微软雅黑" panose="020B0503020204020204" charset="-122"/>
            </a:endParaRPr>
          </a:p>
        </p:txBody>
      </p:sp>
      <p:sp>
        <p:nvSpPr>
          <p:cNvPr id="552" name="矩形 376"/>
          <p:cNvSpPr/>
          <p:nvPr/>
        </p:nvSpPr>
        <p:spPr>
          <a:xfrm>
            <a:off x="8255000" y="2768600"/>
            <a:ext cx="3200400" cy="660400"/>
          </a:xfrm>
          <a:prstGeom prst="rect">
            <a:avLst/>
          </a:prstGeom>
          <a:noFill/>
          <a:ln>
            <a:noFill/>
          </a:ln>
        </p:spPr>
        <p:txBody>
          <a:bodyPr/>
          <a:p>
            <a:pPr/>
            <a:r>
              <a:rPr lang="zh-CN" sz="1000">
                <a:solidFill>
                  <a:srgbClr val="595959"/>
                </a:solidFill>
                <a:latin typeface="微软雅黑" panose="020B0503020204020204" charset="-122"/>
                <a:ea typeface="微软雅黑" panose="020B0503020204020204" charset="-122"/>
                <a:cs typeface="微软雅黑" panose="020B0503020204020204" charset="-122"/>
              </a:rPr>
              <a:t>新订单+2.1pct</a:t>
            </a:r>
            <a:endParaRPr lang="zh-CN" sz="1000">
              <a:solidFill>
                <a:srgbClr val="595959"/>
              </a:solidFill>
              <a:latin typeface="微软雅黑" panose="020B0503020204020204" charset="-122"/>
              <a:ea typeface="微软雅黑" panose="020B0503020204020204" charset="-122"/>
              <a:cs typeface="微软雅黑" panose="020B0503020204020204" charset="-122"/>
            </a:endParaRPr>
          </a:p>
        </p:txBody>
      </p:sp>
      <p:sp>
        <p:nvSpPr>
          <p:cNvPr id="553" name="矩形 377"/>
          <p:cNvSpPr/>
          <p:nvPr/>
        </p:nvSpPr>
        <p:spPr>
          <a:xfrm>
            <a:off x="711200" y="5003800"/>
            <a:ext cx="3200400" cy="660400"/>
          </a:xfrm>
          <a:prstGeom prst="rect">
            <a:avLst/>
          </a:prstGeom>
          <a:noFill/>
          <a:ln>
            <a:noFill/>
          </a:ln>
        </p:spPr>
        <p:txBody>
          <a:bodyPr/>
          <a:p>
            <a:pPr/>
            <a:r>
              <a:rPr lang="zh-CN" sz="1000">
                <a:solidFill>
                  <a:srgbClr val="595959"/>
                </a:solidFill>
                <a:latin typeface="微软雅黑" panose="020B0503020204020204" charset="-122"/>
                <a:ea typeface="微软雅黑" panose="020B0503020204020204" charset="-122"/>
                <a:cs typeface="微软雅黑" panose="020B0503020204020204" charset="-122"/>
              </a:rPr>
              <a:t>顺差1190.9亿美元</a:t>
            </a:r>
            <a:endParaRPr lang="zh-CN" sz="1000">
              <a:solidFill>
                <a:srgbClr val="595959"/>
              </a:solidFill>
              <a:latin typeface="微软雅黑" panose="020B0503020204020204" charset="-122"/>
              <a:ea typeface="微软雅黑" panose="020B0503020204020204" charset="-122"/>
              <a:cs typeface="微软雅黑" panose="020B0503020204020204" charset="-122"/>
            </a:endParaRPr>
          </a:p>
        </p:txBody>
      </p:sp>
      <p:sp>
        <p:nvSpPr>
          <p:cNvPr id="554" name="矩形 378"/>
          <p:cNvSpPr/>
          <p:nvPr/>
        </p:nvSpPr>
        <p:spPr>
          <a:xfrm>
            <a:off x="4483100" y="5003800"/>
            <a:ext cx="3200400" cy="660400"/>
          </a:xfrm>
          <a:prstGeom prst="rect">
            <a:avLst/>
          </a:prstGeom>
          <a:noFill/>
          <a:ln>
            <a:noFill/>
          </a:ln>
        </p:spPr>
        <p:txBody>
          <a:bodyPr/>
          <a:p>
            <a:pPr/>
            <a:r>
              <a:rPr lang="zh-CN" sz="1000">
                <a:solidFill>
                  <a:srgbClr val="595959"/>
                </a:solidFill>
                <a:latin typeface="微软雅黑" panose="020B0503020204020204" charset="-122"/>
                <a:ea typeface="微软雅黑" panose="020B0503020204020204" charset="-122"/>
                <a:cs typeface="微软雅黑" panose="020B0503020204020204" charset="-122"/>
              </a:rPr>
              <a:t>30城转负｜汽车降幅扩大</a:t>
            </a:r>
            <a:endParaRPr lang="zh-CN" sz="1000">
              <a:solidFill>
                <a:srgbClr val="595959"/>
              </a:solidFill>
              <a:latin typeface="微软雅黑" panose="020B0503020204020204" charset="-122"/>
              <a:ea typeface="微软雅黑" panose="020B0503020204020204" charset="-122"/>
              <a:cs typeface="微软雅黑" panose="020B0503020204020204" charset="-122"/>
            </a:endParaRPr>
          </a:p>
        </p:txBody>
      </p:sp>
      <p:pic>
        <p:nvPicPr>
          <p:cNvPr id="555" name="参考模板浅蓝背景弧线"/>
          <p:cNvPicPr/>
          <p:nvPr/>
        </p:nvPicPr>
        <p:blipFill>
          <a:blip r:embed="rId2"/>
          <a:stretch>
            <a:fillRect/>
          </a:stretch>
        </p:blipFill>
        <p:spPr>
          <a:xfrm>
            <a:off x="4457700" y="0"/>
            <a:ext cx="3143250" cy="495300"/>
          </a:xfrm>
          <a:prstGeom prst="rect">
            <a:avLst/>
          </a:prstGeom>
          <a:noFill/>
          <a:ln>
            <a:noFill/>
          </a:ln>
        </p:spPr>
      </p:pic>
      <p:pic>
        <p:nvPicPr>
          <p:cNvPr id="556" name="参考模板右上角标识"/>
          <p:cNvPicPr/>
          <p:nvPr/>
        </p:nvPicPr>
        <p:blipFill>
          <a:blip r:embed="rId3"/>
          <a:stretch>
            <a:fillRect/>
          </a:stretch>
        </p:blipFill>
        <p:spPr>
          <a:xfrm>
            <a:off x="9696450" y="209550"/>
            <a:ext cx="1733550" cy="390525"/>
          </a:xfrm>
          <a:prstGeom prst="rect">
            <a:avLst/>
          </a:prstGeom>
          <a:noFill/>
          <a:ln>
            <a:noFill/>
          </a:ln>
        </p:spPr>
      </p:pic>
    </p:spTree>
  </p:cSld>
  <p:clrMapOvr>
    <a:masterClrMapping/>
  </p:clrMapOvr>
</p:sld>
</file>

<file path=ppt/slides/slide9.xml><?xml version="1.0" encoding="utf-8"?>
<p:sld xmlns:r="http://schemas.openxmlformats.org/officeDocument/2006/relationships" xmlns:p="http://schemas.openxmlformats.org/presentationml/2006/main" xmlns:a="http://schemas.openxmlformats.org/drawingml/2006/main">
  <p:cSld>
    <p:spTree>
      <p:nvGrpSpPr>
        <p:cNvPr id="555" name=""/>
        <p:cNvGrpSpPr/>
        <p:nvPr/>
      </p:nvGrpSpPr>
      <p:grpSpPr>
        <a:xfrm>
          <a:off x="0" y="0"/>
          <a:ext cx="0" cy="0"/>
          <a:chOff x="0" y="0"/>
          <a:chExt cx="0" cy="0"/>
        </a:xfrm>
      </p:grpSpPr>
      <p:sp>
        <p:nvSpPr>
          <p:cNvPr id="556" name="Rectangle 1"/>
          <p:cNvSpPr/>
          <p:nvPr/>
        </p:nvSpPr>
        <p:spPr>
          <a:xfrm>
            <a:off x="502920" y="457200"/>
            <a:ext cx="82296" cy="566928"/>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557" name="TextBox 2"/>
          <p:cNvSpPr txBox="1"/>
          <p:nvPr/>
        </p:nvSpPr>
        <p:spPr>
          <a:xfrm>
            <a:off x="713232" y="420624"/>
            <a:ext cx="9601200" cy="640080"/>
          </a:xfrm>
          <a:prstGeom prst="rect">
            <a:avLst/>
          </a:prstGeom>
          <a:noFill/>
        </p:spPr>
        <p:txBody>
          <a:bodyPr wrap="square" lIns="0" tIns="0" rIns="0" bIns="0" anchor="ctr">
            <a:spAutoFit/>
          </a:bodyPr>
          <a:lstStyle/>
          <a:p>
            <a:pPr algn="l">
              <a:lnSpc>
                <a:spcPct val="115000"/>
              </a:lnSpc>
              <a:spcAft>
                <a:spcPts val="600"/>
              </a:spcAft>
            </a:pPr>
            <a:r>
              <a:rPr sz="2600" b="1">
                <a:solidFill>
                  <a:srgbClr val="0070C0"/>
                </a:solidFill>
                <a:latin typeface="微软雅黑" panose="020B0503020204020204" charset="-122"/>
                <a:ea typeface="微软雅黑" panose="020B0503020204020204" charset="-122"/>
                <a:cs typeface="微软雅黑" panose="020B0503020204020204" charset="-122"/>
              </a:rPr>
              <a:t>宏观小结</a:t>
            </a:r>
            <a:endParaRPr sz="2600" b="1">
              <a:solidFill>
                <a:srgbClr val="0070C0"/>
              </a:solidFill>
              <a:latin typeface="微软雅黑" panose="020B0503020204020204" charset="-122"/>
              <a:ea typeface="微软雅黑" panose="020B0503020204020204" charset="-122"/>
              <a:cs typeface="微软雅黑" panose="020B0503020204020204" charset="-122"/>
            </a:endParaRPr>
          </a:p>
        </p:txBody>
      </p:sp>
      <p:sp>
        <p:nvSpPr>
          <p:cNvPr id="558" name="TextBox 3"/>
          <p:cNvSpPr txBox="1"/>
          <p:nvPr/>
        </p:nvSpPr>
        <p:spPr>
          <a:xfrm>
            <a:off x="713232" y="1042415"/>
            <a:ext cx="10515600" cy="365760"/>
          </a:xfrm>
          <a:prstGeom prst="rect">
            <a:avLst/>
          </a:prstGeom>
          <a:noFill/>
        </p:spPr>
        <p:txBody>
          <a:bodyPr wrap="square" lIns="0" tIns="0" rIns="0" bIns="0" anchor="t">
            <a:spAutoFit/>
          </a:bodyPr>
          <a:lstStyle/>
          <a:p>
            <a:pPr algn="l">
              <a:lnSpc>
                <a:spcPct val="115000"/>
              </a:lnSpc>
              <a:spcAft>
                <a:spcPts val="600"/>
              </a:spcAft>
            </a:pPr>
            <a:r>
              <a:rPr sz="1100" b="0">
                <a:solidFill>
                  <a:srgbClr val="595959"/>
                </a:solidFill>
                <a:latin typeface="微软雅黑" panose="020B0503020204020204" charset="-122"/>
                <a:ea typeface="微软雅黑" panose="020B0503020204020204" charset="-122"/>
                <a:cs typeface="微软雅黑" panose="020B0503020204020204" charset="-122"/>
              </a:rPr>
              <a:t>海外紧缩 + 地缘扰动，国内稳增长有后手、资产相对独立</a:t>
            </a:r>
            <a:endParaRPr sz="1100" b="0">
              <a:solidFill>
                <a:srgbClr val="595959"/>
              </a:solidFill>
              <a:latin typeface="微软雅黑" panose="020B0503020204020204" charset="-122"/>
              <a:ea typeface="微软雅黑" panose="020B0503020204020204" charset="-122"/>
              <a:cs typeface="微软雅黑" panose="020B0503020204020204" charset="-122"/>
            </a:endParaRPr>
          </a:p>
        </p:txBody>
      </p:sp>
      <p:sp>
        <p:nvSpPr>
          <p:cNvPr id="559" name="Rectangle 4"/>
          <p:cNvSpPr/>
          <p:nvPr/>
        </p:nvSpPr>
        <p:spPr>
          <a:xfrm>
            <a:off x="502920" y="1005840"/>
            <a:ext cx="2011680" cy="27940"/>
          </a:xfrm>
          <a:prstGeom prst="rect">
            <a:avLst/>
          </a:prstGeom>
          <a:solidFill>
            <a:srgbClr val="54B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560" name="Rectangle 5"/>
          <p:cNvSpPr/>
          <p:nvPr/>
        </p:nvSpPr>
        <p:spPr>
          <a:xfrm>
            <a:off x="502920" y="1060704"/>
            <a:ext cx="11183112" cy="11430"/>
          </a:xfrm>
          <a:prstGeom prst="rect">
            <a:avLst/>
          </a:prstGeom>
          <a:solidFill>
            <a:srgbClr val="AED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561" name="Rectangle 6"/>
          <p:cNvSpPr/>
          <p:nvPr/>
        </p:nvSpPr>
        <p:spPr>
          <a:xfrm>
            <a:off x="502920" y="1645920"/>
            <a:ext cx="3639312" cy="50292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562" name="Rectangle 7"/>
          <p:cNvSpPr/>
          <p:nvPr/>
        </p:nvSpPr>
        <p:spPr>
          <a:xfrm>
            <a:off x="502920" y="1645920"/>
            <a:ext cx="3639312" cy="50292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ctr">
              <a:lnSpc>
                <a:spcPct val="110000"/>
              </a:lnSpc>
              <a:spcAft>
                <a:spcPts val="400"/>
              </a:spcAft>
            </a:pPr>
            <a:r>
              <a:rPr sz="1600" b="1">
                <a:solidFill>
                  <a:srgbClr val="FFFFFF"/>
                </a:solidFill>
                <a:latin typeface="微软雅黑" panose="020B0503020204020204" charset="-122"/>
                <a:ea typeface="微软雅黑" panose="020B0503020204020204" charset="-122"/>
                <a:cs typeface="微软雅黑" panose="020B0503020204020204" charset="-122"/>
              </a:rPr>
              <a:t>海外</a:t>
            </a:r>
            <a:endParaRPr sz="1600"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563" name="TextBox 8"/>
          <p:cNvSpPr txBox="1"/>
          <p:nvPr/>
        </p:nvSpPr>
        <p:spPr>
          <a:xfrm>
            <a:off x="640080" y="2286000"/>
            <a:ext cx="2691765" cy="1423035"/>
          </a:xfrm>
          <a:prstGeom prst="rect">
            <a:avLst/>
          </a:prstGeom>
          <a:noFill/>
        </p:spPr>
        <p:txBody>
          <a:bodyPr wrap="square" lIns="0" tIns="0" rIns="0" bIns="0" anchor="t">
            <a:spAutoFit/>
          </a:bodyPr>
          <a:lstStyle/>
          <a:p>
            <a:pPr algn="l">
              <a:lnSpc>
                <a:spcPct val="140000"/>
              </a:lnSpc>
              <a:spcAft>
                <a:spcPts val="600"/>
              </a:spcAft>
            </a:pPr>
            <a:r>
              <a:rPr sz="1250" b="0">
                <a:solidFill>
                  <a:srgbClr val="1F2933"/>
                </a:solidFill>
                <a:latin typeface="微软雅黑" panose="020B0503020204020204" charset="-122"/>
                <a:ea typeface="微软雅黑" panose="020B0503020204020204" charset="-122"/>
                <a:cs typeface="微软雅黑" panose="020B0503020204020204" charset="-122"/>
              </a:rPr>
              <a:t>· 加息预期升温 + 中东油价，全球风险偏好承压，滞胀担忧抬头
</a:t>
            </a:r>
            <a:endParaRPr sz="1250" b="0">
              <a:solidFill>
                <a:srgbClr val="1F2933"/>
              </a:solidFill>
              <a:latin typeface="微软雅黑" panose="020B0503020204020204" charset="-122"/>
              <a:ea typeface="微软雅黑" panose="020B0503020204020204" charset="-122"/>
              <a:cs typeface="微软雅黑" panose="020B0503020204020204" charset="-122"/>
            </a:endParaRPr>
          </a:p>
          <a:p>
            <a:pPr algn="l">
              <a:lnSpc>
                <a:spcPct val="140000"/>
              </a:lnSpc>
              <a:spcAft>
                <a:spcPts val="600"/>
              </a:spcAft>
            </a:pPr>
            <a:r>
              <a:rPr sz="1250" b="0">
                <a:solidFill>
                  <a:srgbClr val="1F2933"/>
                </a:solidFill>
                <a:latin typeface="微软雅黑" panose="020B0503020204020204" charset="-122"/>
                <a:ea typeface="微软雅黑" panose="020B0503020204020204" charset="-122"/>
                <a:cs typeface="微软雅黑" panose="020B0503020204020204" charset="-122"/>
              </a:rPr>
              <a:t>· 但美元偏弱、人民币与铜强势，体现中国资产相对优势</a:t>
            </a:r>
            <a:endParaRPr sz="1250" b="0">
              <a:solidFill>
                <a:srgbClr val="1F2933"/>
              </a:solidFill>
              <a:latin typeface="微软雅黑" panose="020B0503020204020204" charset="-122"/>
              <a:ea typeface="微软雅黑" panose="020B0503020204020204" charset="-122"/>
              <a:cs typeface="微软雅黑" panose="020B0503020204020204" charset="-122"/>
            </a:endParaRPr>
          </a:p>
        </p:txBody>
      </p:sp>
      <p:sp>
        <p:nvSpPr>
          <p:cNvPr id="564" name="Rectangle 9"/>
          <p:cNvSpPr/>
          <p:nvPr/>
        </p:nvSpPr>
        <p:spPr>
          <a:xfrm>
            <a:off x="4279392" y="1645920"/>
            <a:ext cx="3639312" cy="50292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565" name="Rectangle 10"/>
          <p:cNvSpPr/>
          <p:nvPr/>
        </p:nvSpPr>
        <p:spPr>
          <a:xfrm>
            <a:off x="4279392" y="1645920"/>
            <a:ext cx="3639312" cy="50292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ctr">
              <a:lnSpc>
                <a:spcPct val="110000"/>
              </a:lnSpc>
              <a:spcAft>
                <a:spcPts val="400"/>
              </a:spcAft>
            </a:pPr>
            <a:r>
              <a:rPr sz="1600" b="1">
                <a:solidFill>
                  <a:srgbClr val="FFFFFF"/>
                </a:solidFill>
                <a:latin typeface="微软雅黑" panose="020B0503020204020204" charset="-122"/>
                <a:ea typeface="微软雅黑" panose="020B0503020204020204" charset="-122"/>
                <a:cs typeface="微软雅黑" panose="020B0503020204020204" charset="-122"/>
              </a:rPr>
              <a:t>国内</a:t>
            </a:r>
            <a:endParaRPr sz="1600"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566" name="TextBox 11"/>
          <p:cNvSpPr txBox="1"/>
          <p:nvPr/>
        </p:nvSpPr>
        <p:spPr>
          <a:xfrm>
            <a:off x="4416552" y="2286000"/>
            <a:ext cx="3364992" cy="1153795"/>
          </a:xfrm>
          <a:prstGeom prst="rect">
            <a:avLst/>
          </a:prstGeom>
          <a:noFill/>
        </p:spPr>
        <p:txBody>
          <a:bodyPr wrap="square" lIns="0" tIns="0" rIns="0" bIns="0" anchor="t">
            <a:spAutoFit/>
          </a:bodyPr>
          <a:lstStyle/>
          <a:p>
            <a:pPr algn="l">
              <a:lnSpc>
                <a:spcPct val="140000"/>
              </a:lnSpc>
              <a:spcAft>
                <a:spcPts val="600"/>
              </a:spcAft>
            </a:pPr>
            <a:r>
              <a:rPr sz="1250" b="0">
                <a:solidFill>
                  <a:srgbClr val="1F2933"/>
                </a:solidFill>
                <a:latin typeface="微软雅黑" panose="020B0503020204020204" charset="-122"/>
                <a:ea typeface="微软雅黑" panose="020B0503020204020204" charset="-122"/>
                <a:cs typeface="微软雅黑" panose="020B0503020204020204" charset="-122"/>
              </a:rPr>
              <a:t>· 物价温和回暖、外需强劲，政策“相机抉择”留有后手</a:t>
            </a:r>
            <a:endParaRPr sz="1250" b="0">
              <a:solidFill>
                <a:srgbClr val="1F2933"/>
              </a:solidFill>
              <a:latin typeface="微软雅黑" panose="020B0503020204020204" charset="-122"/>
              <a:ea typeface="微软雅黑" panose="020B0503020204020204" charset="-122"/>
              <a:cs typeface="微软雅黑" panose="020B0503020204020204" charset="-122"/>
            </a:endParaRPr>
          </a:p>
          <a:p>
            <a:pPr algn="l">
              <a:lnSpc>
                <a:spcPct val="140000"/>
              </a:lnSpc>
              <a:spcAft>
                <a:spcPts val="600"/>
              </a:spcAft>
            </a:pPr>
            <a:r>
              <a:rPr sz="1250" b="0">
                <a:solidFill>
                  <a:srgbClr val="1F2933"/>
                </a:solidFill>
                <a:latin typeface="微软雅黑" panose="020B0503020204020204" charset="-122"/>
                <a:ea typeface="微软雅黑" panose="020B0503020204020204" charset="-122"/>
                <a:cs typeface="微软雅黑" panose="020B0503020204020204" charset="-122"/>
              </a:rPr>
              <a:t>
· 内需与地产仍弱，总量宽松延后但未缺席</a:t>
            </a:r>
            <a:endParaRPr sz="1250" b="0">
              <a:solidFill>
                <a:srgbClr val="1F2933"/>
              </a:solidFill>
              <a:latin typeface="微软雅黑" panose="020B0503020204020204" charset="-122"/>
              <a:ea typeface="微软雅黑" panose="020B0503020204020204" charset="-122"/>
              <a:cs typeface="微软雅黑" panose="020B0503020204020204" charset="-122"/>
            </a:endParaRPr>
          </a:p>
        </p:txBody>
      </p:sp>
      <p:sp>
        <p:nvSpPr>
          <p:cNvPr id="567" name="Rectangle 12"/>
          <p:cNvSpPr/>
          <p:nvPr/>
        </p:nvSpPr>
        <p:spPr>
          <a:xfrm>
            <a:off x="8055864" y="1645920"/>
            <a:ext cx="3639312" cy="50292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568" name="Rectangle 13"/>
          <p:cNvSpPr/>
          <p:nvPr/>
        </p:nvSpPr>
        <p:spPr>
          <a:xfrm>
            <a:off x="8055864" y="1645920"/>
            <a:ext cx="3639312" cy="50292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ctr">
              <a:lnSpc>
                <a:spcPct val="110000"/>
              </a:lnSpc>
              <a:spcAft>
                <a:spcPts val="400"/>
              </a:spcAft>
            </a:pPr>
            <a:r>
              <a:rPr sz="1600" b="1">
                <a:solidFill>
                  <a:srgbClr val="FFFFFF"/>
                </a:solidFill>
                <a:latin typeface="微软雅黑" panose="020B0503020204020204" charset="-122"/>
                <a:ea typeface="微软雅黑" panose="020B0503020204020204" charset="-122"/>
                <a:cs typeface="微软雅黑" panose="020B0503020204020204" charset="-122"/>
              </a:rPr>
              <a:t>对资产的启示</a:t>
            </a:r>
            <a:endParaRPr sz="1600"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569" name="TextBox 14"/>
          <p:cNvSpPr txBox="1"/>
          <p:nvPr/>
        </p:nvSpPr>
        <p:spPr>
          <a:xfrm>
            <a:off x="8193024" y="2286000"/>
            <a:ext cx="3511296" cy="3462020"/>
          </a:xfrm>
          <a:prstGeom prst="rect">
            <a:avLst/>
          </a:prstGeom>
          <a:noFill/>
        </p:spPr>
        <p:txBody>
          <a:bodyPr wrap="square" lIns="0" tIns="0" rIns="0" bIns="0" anchor="t">
            <a:spAutoFit/>
          </a:bodyPr>
          <a:lstStyle/>
          <a:p>
            <a:pPr algn="l">
              <a:lnSpc>
                <a:spcPct val="140000"/>
              </a:lnSpc>
              <a:spcAft>
                <a:spcPts val="600"/>
              </a:spcAft>
            </a:pPr>
            <a:r>
              <a:rPr lang="zh-CN" sz="1250" b="0">
                <a:solidFill>
                  <a:srgbClr val="1F2933"/>
                </a:solidFill>
                <a:latin typeface="微软雅黑" panose="020B0503020204020204" charset="-122"/>
                <a:ea typeface="微软雅黑" panose="020B0503020204020204" charset="-122"/>
                <a:cs typeface="微软雅黑" panose="020B0503020204020204" charset="-122"/>
              </a:rPr>
              <a:t>· 权益：指数震荡筑底、结构轮动，指增承压、中性/对冲相对受益；三季度起资金从追逐弹性转向高胜率、低波策略
</a:t>
            </a:r>
            <a:endParaRPr lang="zh-CN" sz="1250" b="0">
              <a:solidFill>
                <a:srgbClr val="1F2933"/>
              </a:solidFill>
              <a:latin typeface="微软雅黑" panose="020B0503020204020204" charset="-122"/>
              <a:ea typeface="微软雅黑" panose="020B0503020204020204" charset="-122"/>
              <a:cs typeface="微软雅黑" panose="020B0503020204020204" charset="-122"/>
            </a:endParaRPr>
          </a:p>
          <a:p>
            <a:pPr algn="l">
              <a:lnSpc>
                <a:spcPct val="140000"/>
              </a:lnSpc>
              <a:spcAft>
                <a:spcPts val="600"/>
              </a:spcAft>
            </a:pPr>
            <a:r>
              <a:rPr lang="zh-CN" sz="1250" b="0">
                <a:solidFill>
                  <a:srgbClr val="1F2933"/>
                </a:solidFill>
                <a:latin typeface="微软雅黑" panose="020B0503020204020204" charset="-122"/>
                <a:ea typeface="微软雅黑" panose="020B0503020204020204" charset="-122"/>
                <a:cs typeface="微软雅黑" panose="020B0503020204020204" charset="-122"/>
              </a:rPr>
              <a:t>· 固收：国内债市低位震荡，票息与稳健策略仍具配置价值
</a:t>
            </a:r>
            <a:endParaRPr lang="zh-CN" sz="1250" b="0">
              <a:solidFill>
                <a:srgbClr val="1F2933"/>
              </a:solidFill>
              <a:latin typeface="微软雅黑" panose="020B0503020204020204" charset="-122"/>
              <a:ea typeface="微软雅黑" panose="020B0503020204020204" charset="-122"/>
              <a:cs typeface="微软雅黑" panose="020B0503020204020204" charset="-122"/>
            </a:endParaRPr>
          </a:p>
          <a:p>
            <a:pPr algn="l">
              <a:lnSpc>
                <a:spcPct val="140000"/>
              </a:lnSpc>
              <a:spcAft>
                <a:spcPts val="600"/>
              </a:spcAft>
            </a:pPr>
            <a:r>
              <a:rPr lang="zh-CN" sz="1250" b="0">
                <a:solidFill>
                  <a:srgbClr val="1F2933"/>
                </a:solidFill>
                <a:latin typeface="微软雅黑" panose="020B0503020204020204" charset="-122"/>
                <a:ea typeface="微软雅黑" panose="020B0503020204020204" charset="-122"/>
                <a:cs typeface="微软雅黑" panose="020B0503020204020204" charset="-122"/>
              </a:rPr>
              <a:t>· 商品/CTA：价格弹性修复 + 趋势行情，策略环境边际改善
</a:t>
            </a:r>
            <a:endParaRPr lang="zh-CN" sz="1250" b="0">
              <a:solidFill>
                <a:srgbClr val="1F2933"/>
              </a:solidFill>
              <a:latin typeface="微软雅黑" panose="020B0503020204020204" charset="-122"/>
              <a:ea typeface="微软雅黑" panose="020B0503020204020204" charset="-122"/>
              <a:cs typeface="微软雅黑" panose="020B0503020204020204" charset="-122"/>
            </a:endParaRPr>
          </a:p>
          <a:p>
            <a:pPr algn="l">
              <a:lnSpc>
                <a:spcPct val="140000"/>
              </a:lnSpc>
              <a:spcAft>
                <a:spcPts val="600"/>
              </a:spcAft>
            </a:pPr>
            <a:r>
              <a:rPr lang="zh-CN" sz="1250" b="0">
                <a:solidFill>
                  <a:srgbClr val="1F2933"/>
                </a:solidFill>
                <a:latin typeface="微软雅黑" panose="020B0503020204020204" charset="-122"/>
                <a:ea typeface="微软雅黑" panose="020B0503020204020204" charset="-122"/>
                <a:cs typeface="微软雅黑" panose="020B0503020204020204" charset="-122"/>
              </a:rPr>
              <a:t>· 黄金：中长期配置价值仍在，短期受加息预期扰动</a:t>
            </a:r>
            <a:endParaRPr lang="zh-CN" sz="1250" b="0">
              <a:solidFill>
                <a:srgbClr val="1F2933"/>
              </a:solidFill>
              <a:latin typeface="微软雅黑" panose="020B0503020204020204" charset="-122"/>
              <a:ea typeface="微软雅黑" panose="020B0503020204020204" charset="-122"/>
              <a:cs typeface="微软雅黑" panose="020B0503020204020204" charset="-122"/>
            </a:endParaRPr>
          </a:p>
        </p:txBody>
      </p:sp>
      <p:sp>
        <p:nvSpPr>
          <p:cNvPr id="570" name="TextBox 15"/>
          <p:cNvSpPr txBox="1"/>
          <p:nvPr/>
        </p:nvSpPr>
        <p:spPr>
          <a:xfrm>
            <a:off x="502920" y="6455664"/>
            <a:ext cx="7315200" cy="274320"/>
          </a:xfrm>
          <a:prstGeom prst="rect">
            <a:avLst/>
          </a:prstGeom>
          <a:noFill/>
        </p:spPr>
        <p:txBody>
          <a:bodyPr wrap="square" lIns="0" tIns="0" rIns="0" bIns="0" anchor="t">
            <a:spAutoFit/>
          </a:bodyPr>
          <a:lstStyle/>
          <a:p>
            <a:pPr algn="l">
              <a:lnSpc>
                <a:spcPct val="115000"/>
              </a:lnSpc>
              <a:spcAft>
                <a:spcPts val="600"/>
              </a:spcAft>
            </a:pPr>
            <a:r>
              <a:rPr sz="900" b="0">
                <a:solidFill>
                  <a:srgbClr val="595959"/>
                </a:solidFill>
                <a:latin typeface="微软雅黑" panose="020B0503020204020204" charset="-122"/>
                <a:ea typeface="微软雅黑" panose="020B0503020204020204" charset="-122"/>
                <a:cs typeface="微软雅黑" panose="020B0503020204020204" charset="-122"/>
              </a:rPr>
              <a:t>近期宏观变化及资产配置 · 2026.09</a:t>
            </a:r>
            <a:endParaRPr sz="900" b="0">
              <a:solidFill>
                <a:srgbClr val="595959"/>
              </a:solidFill>
              <a:latin typeface="微软雅黑" panose="020B0503020204020204" charset="-122"/>
              <a:ea typeface="微软雅黑" panose="020B0503020204020204" charset="-122"/>
              <a:cs typeface="微软雅黑" panose="020B0503020204020204" charset="-122"/>
            </a:endParaRPr>
          </a:p>
        </p:txBody>
      </p:sp>
      <p:sp>
        <p:nvSpPr>
          <p:cNvPr id="571" name="TextBox 16"/>
          <p:cNvSpPr txBox="1"/>
          <p:nvPr/>
        </p:nvSpPr>
        <p:spPr>
          <a:xfrm>
            <a:off x="10789920" y="6455664"/>
            <a:ext cx="914400" cy="274320"/>
          </a:xfrm>
          <a:prstGeom prst="rect">
            <a:avLst/>
          </a:prstGeom>
          <a:noFill/>
        </p:spPr>
        <p:txBody>
          <a:bodyPr wrap="square" lIns="0" tIns="0" rIns="0" bIns="0" anchor="t">
            <a:spAutoFit/>
          </a:bodyPr>
          <a:lstStyle/>
          <a:p>
            <a:pPr algn="r">
              <a:lnSpc>
                <a:spcPct val="115000"/>
              </a:lnSpc>
              <a:spcAft>
                <a:spcPts val="600"/>
              </a:spcAft>
            </a:pPr>
            <a:r>
              <a:rPr sz="1000" b="0">
                <a:solidFill>
                  <a:srgbClr val="595959"/>
                </a:solidFill>
                <a:latin typeface="微软雅黑" panose="020B0503020204020204" charset="-122"/>
                <a:ea typeface="微软雅黑" panose="020B0503020204020204" charset="-122"/>
                <a:cs typeface="微软雅黑" panose="020B0503020204020204" charset="-122"/>
              </a:rPr>
              <a:t>9</a:t>
            </a:r>
            <a:endParaRPr sz="1000" b="0">
              <a:solidFill>
                <a:srgbClr val="595959"/>
              </a:solidFill>
              <a:latin typeface="微软雅黑" panose="020B0503020204020204" charset="-122"/>
              <a:ea typeface="微软雅黑" panose="020B0503020204020204" charset="-122"/>
              <a:cs typeface="微软雅黑" panose="020B0503020204020204" charset="-122"/>
            </a:endParaRPr>
          </a:p>
        </p:txBody>
      </p:sp>
      <p:pic>
        <p:nvPicPr>
          <p:cNvPr id="572" name="参考模板浅蓝背景弧线"/>
          <p:cNvPicPr/>
          <p:nvPr/>
        </p:nvPicPr>
        <p:blipFill>
          <a:blip r:embed="rId2"/>
          <a:stretch>
            <a:fillRect/>
          </a:stretch>
        </p:blipFill>
        <p:spPr>
          <a:xfrm>
            <a:off x="4457700" y="0"/>
            <a:ext cx="3143250" cy="495300"/>
          </a:xfrm>
          <a:prstGeom prst="rect">
            <a:avLst/>
          </a:prstGeom>
          <a:noFill/>
          <a:ln>
            <a:noFill/>
          </a:ln>
        </p:spPr>
      </p:pic>
      <p:pic>
        <p:nvPicPr>
          <p:cNvPr id="573" name="参考模板右上角标识"/>
          <p:cNvPicPr/>
          <p:nvPr/>
        </p:nvPicPr>
        <p:blipFill>
          <a:blip r:embed="rId3"/>
          <a:stretch>
            <a:fillRect/>
          </a:stretch>
        </p:blipFill>
        <p:spPr>
          <a:xfrm>
            <a:off x="9696450" y="209550"/>
            <a:ext cx="1733550" cy="390525"/>
          </a:xfrm>
          <a:prstGeom prst="rect">
            <a:avLst/>
          </a:prstGeom>
          <a:noFill/>
          <a:ln>
            <a:noFill/>
          </a:ln>
        </p:spPr>
      </p:pic>
    </p:spTree>
  </p:cSld>
  <p:clrMapOvr>
    <a:masterClrMapping/>
  </p:clrMapOvr>
</p:sld>
</file>

<file path=ppt/slides/slide10.xml><?xml version="1.0" encoding="utf-8"?>
<p:sld xmlns:r="http://schemas.openxmlformats.org/officeDocument/2006/relationships" xmlns:p="http://schemas.openxmlformats.org/presentationml/2006/main" xmlns:a="http://schemas.openxmlformats.org/drawingml/2006/main">
  <p:cSld>
    <p:spTree>
      <p:nvGrpSpPr>
        <p:cNvPr id="10" name=""/>
        <p:cNvGrpSpPr/>
        <p:nvPr/>
      </p:nvGrpSpPr>
      <p:grpSpPr>
        <a:xfrm>
          <a:off x="0" y="0"/>
          <a:ext cx="0" cy="0"/>
          <a:chOff x="0" y="0"/>
          <a:chExt cx="0" cy="0"/>
        </a:xfrm>
      </p:grpSpPr>
      <p:sp>
        <p:nvSpPr>
          <p:cNvPr id="11" name="Rectangle 1"/>
          <p:cNvSpPr/>
          <p:nvPr/>
        </p:nvSpPr>
        <p:spPr>
          <a:xfrm>
            <a:off x="0" y="0"/>
            <a:ext cx="12191695" cy="6858000"/>
          </a:xfrm>
          <a:prstGeom prst="rect">
            <a:avLst/>
          </a:prstGeom>
          <a:solidFill>
            <a:srgbClr val="EAF6FC"/>
          </a:solidFill>
          <a:ln>
            <a:noFill/>
          </a:ln>
          <a:effectLst/>
        </p:spPr>
        <p:style>
          <a:lnRef idx="1">
            <a:srgbClr val="0070C0"/>
          </a:lnRef>
          <a:fillRef idx="3">
            <a:srgbClr val="0070C0"/>
          </a:fillRef>
          <a:effectRef idx="2">
            <a:srgbClr val="0070C0"/>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12" name="Rectangle 2"/>
          <p:cNvSpPr/>
          <p:nvPr/>
        </p:nvSpPr>
        <p:spPr>
          <a:xfrm>
            <a:off x="822960" y="2148840"/>
            <a:ext cx="128016" cy="2468880"/>
          </a:xfrm>
          <a:prstGeom prst="rect">
            <a:avLst/>
          </a:prstGeom>
          <a:solidFill>
            <a:srgbClr val="54B0E0"/>
          </a:solidFill>
          <a:ln>
            <a:noFill/>
          </a:ln>
          <a:effectLst/>
        </p:spPr>
        <p:style>
          <a:lnRef idx="1">
            <a:srgbClr val="0070C0"/>
          </a:lnRef>
          <a:fillRef idx="3">
            <a:srgbClr val="0070C0"/>
          </a:fillRef>
          <a:effectRef idx="2">
            <a:srgbClr val="0070C0"/>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13" name="TextBox 3"/>
          <p:cNvSpPr txBox="1"/>
          <p:nvPr/>
        </p:nvSpPr>
        <p:spPr>
          <a:xfrm>
            <a:off x="1280160" y="1920240"/>
            <a:ext cx="4572000" cy="1280160"/>
          </a:xfrm>
          <a:prstGeom prst="rect">
            <a:avLst/>
          </a:prstGeom>
          <a:noFill/>
        </p:spPr>
        <p:txBody>
          <a:bodyPr wrap="square" lIns="0" tIns="0" rIns="0" bIns="0" anchor="t">
            <a:spAutoFit/>
          </a:bodyPr>
          <a:lstStyle/>
          <a:p>
            <a:pPr algn="l">
              <a:lnSpc>
                <a:spcPct val="115000"/>
              </a:lnSpc>
              <a:spcAft>
                <a:spcPts val="600"/>
              </a:spcAft>
            </a:pPr>
            <a:r>
              <a:rPr sz="2200" b="1">
                <a:solidFill>
                  <a:srgbClr val="1C4274"/>
                </a:solidFill>
                <a:latin typeface="微软雅黑" panose="020B0503020204020204" charset="-122"/>
                <a:ea typeface="微软雅黑" panose="020B0503020204020204" charset="-122"/>
                <a:cs typeface="微软雅黑" panose="020B0503020204020204" charset="-122"/>
              </a:rPr>
              <a:t>PART 02</a:t>
            </a:r>
            <a:endParaRPr sz="2200" b="1">
              <a:solidFill>
                <a:srgbClr val="1C4274"/>
              </a:solidFill>
              <a:latin typeface="微软雅黑" panose="020B0503020204020204" charset="-122"/>
              <a:ea typeface="微软雅黑" panose="020B0503020204020204" charset="-122"/>
              <a:cs typeface="微软雅黑" panose="020B0503020204020204" charset="-122"/>
            </a:endParaRPr>
          </a:p>
        </p:txBody>
      </p:sp>
      <p:sp>
        <p:nvSpPr>
          <p:cNvPr id="14" name="TextBox 4"/>
          <p:cNvSpPr txBox="1"/>
          <p:nvPr/>
        </p:nvSpPr>
        <p:spPr>
          <a:xfrm>
            <a:off x="1280160" y="3017520"/>
            <a:ext cx="6400800" cy="1280160"/>
          </a:xfrm>
          <a:prstGeom prst="rect">
            <a:avLst/>
          </a:prstGeom>
          <a:noFill/>
        </p:spPr>
        <p:txBody>
          <a:bodyPr wrap="square" lIns="0" tIns="0" rIns="0" bIns="0" anchor="t">
            <a:spAutoFit/>
          </a:bodyPr>
          <a:lstStyle/>
          <a:p>
            <a:pPr algn="l">
              <a:lnSpc>
                <a:spcPct val="115000"/>
              </a:lnSpc>
              <a:spcAft>
                <a:spcPts val="600"/>
              </a:spcAft>
            </a:pPr>
            <a:r>
              <a:rPr sz="5200" b="1">
                <a:solidFill>
                  <a:srgbClr val="1C4274"/>
                </a:solidFill>
                <a:latin typeface="微软雅黑" panose="020B0503020204020204" charset="-122"/>
                <a:ea typeface="微软雅黑" panose="020B0503020204020204" charset="-122"/>
                <a:cs typeface="微软雅黑" panose="020B0503020204020204" charset="-122"/>
              </a:rPr>
              <a:t>大类资产配置</a:t>
            </a:r>
            <a:endParaRPr sz="5200" b="1">
              <a:solidFill>
                <a:srgbClr val="1C4274"/>
              </a:solidFill>
              <a:latin typeface="微软雅黑" panose="020B0503020204020204" charset="-122"/>
              <a:ea typeface="微软雅黑" panose="020B0503020204020204" charset="-122"/>
              <a:cs typeface="微软雅黑" panose="020B0503020204020204" charset="-122"/>
            </a:endParaRPr>
          </a:p>
        </p:txBody>
      </p:sp>
      <p:sp>
        <p:nvSpPr>
          <p:cNvPr id="15" name="TextBox 5"/>
          <p:cNvSpPr txBox="1"/>
          <p:nvPr/>
        </p:nvSpPr>
        <p:spPr>
          <a:xfrm>
            <a:off x="1280160" y="4572000"/>
            <a:ext cx="7315200" cy="457200"/>
          </a:xfrm>
          <a:prstGeom prst="rect">
            <a:avLst/>
          </a:prstGeom>
          <a:noFill/>
        </p:spPr>
        <p:txBody>
          <a:bodyPr wrap="square" lIns="0" tIns="0" rIns="0" bIns="0" anchor="t">
            <a:spAutoFit/>
          </a:bodyPr>
          <a:lstStyle/>
          <a:p>
            <a:pPr algn="l">
              <a:lnSpc>
                <a:spcPct val="115000"/>
              </a:lnSpc>
              <a:spcAft>
                <a:spcPts val="600"/>
              </a:spcAft>
            </a:pPr>
            <a:r>
              <a:rPr sz="1300" b="0">
                <a:solidFill>
                  <a:srgbClr val="1C4274"/>
                </a:solidFill>
                <a:latin typeface="微软雅黑" panose="020B0503020204020204" charset="-122"/>
                <a:ea typeface="微软雅黑" panose="020B0503020204020204" charset="-122"/>
                <a:cs typeface="微软雅黑" panose="020B0503020204020204" charset="-122"/>
              </a:rPr>
              <a:t>Chapter 02  ·  Asset Allocation</a:t>
            </a:r>
            <a:endParaRPr sz="1300" b="0">
              <a:solidFill>
                <a:srgbClr val="1C4274"/>
              </a:solidFill>
              <a:latin typeface="微软雅黑" panose="020B0503020204020204" charset="-122"/>
              <a:ea typeface="微软雅黑" panose="020B0503020204020204" charset="-122"/>
              <a:cs typeface="微软雅黑" panose="020B0503020204020204" charset="-122"/>
            </a:endParaRPr>
          </a:p>
        </p:txBody>
      </p:sp>
      <p:sp>
        <p:nvSpPr>
          <p:cNvPr id="16" name="TextBox 6"/>
          <p:cNvSpPr txBox="1"/>
          <p:nvPr/>
        </p:nvSpPr>
        <p:spPr>
          <a:xfrm>
            <a:off x="8229600" y="2377440"/>
            <a:ext cx="3200400" cy="2286000"/>
          </a:xfrm>
          <a:prstGeom prst="rect">
            <a:avLst/>
          </a:prstGeom>
          <a:noFill/>
        </p:spPr>
        <p:txBody>
          <a:bodyPr wrap="square" lIns="0" tIns="0" rIns="0" bIns="0" anchor="t">
            <a:spAutoFit/>
          </a:bodyPr>
          <a:lstStyle/>
          <a:p>
            <a:pPr algn="l">
              <a:lnSpc>
                <a:spcPct val="115000"/>
              </a:lnSpc>
              <a:spcAft>
                <a:spcPts val="600"/>
              </a:spcAft>
            </a:pPr>
            <a:r>
              <a:rPr sz="16000" b="1">
                <a:solidFill>
                  <a:srgbClr val="1C4274"/>
                </a:solidFill>
                <a:latin typeface="微软雅黑" panose="020B0503020204020204" charset="-122"/>
                <a:ea typeface="微软雅黑" panose="020B0503020204020204" charset="-122"/>
                <a:cs typeface="微软雅黑" panose="020B0503020204020204" charset="-122"/>
              </a:rPr>
              <a:t>02</a:t>
            </a:r>
            <a:endParaRPr sz="16000" b="1">
              <a:solidFill>
                <a:srgbClr val="1C4274"/>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11.xml><?xml version="1.0" encoding="utf-8"?>
<p:sld xmlns:r="http://schemas.openxmlformats.org/officeDocument/2006/relationships" xmlns:p="http://schemas.openxmlformats.org/presentationml/2006/main" xmlns:a="http://schemas.openxmlformats.org/drawingml/2006/main">
  <p:cSld>
    <p:spTree>
      <p:nvGrpSpPr>
        <p:cNvPr id="17" name=""/>
        <p:cNvGrpSpPr/>
        <p:nvPr/>
      </p:nvGrpSpPr>
      <p:grpSpPr>
        <a:xfrm>
          <a:off x="0" y="0"/>
          <a:ext cx="0" cy="0"/>
          <a:chOff x="0" y="0"/>
          <a:chExt cx="0" cy="0"/>
        </a:xfrm>
      </p:grpSpPr>
      <p:sp>
        <p:nvSpPr>
          <p:cNvPr id="18" name="Rectangle 1"/>
          <p:cNvSpPr/>
          <p:nvPr/>
        </p:nvSpPr>
        <p:spPr>
          <a:xfrm>
            <a:off x="502920" y="457200"/>
            <a:ext cx="82296" cy="566928"/>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19" name="TextBox 2"/>
          <p:cNvSpPr txBox="1"/>
          <p:nvPr/>
        </p:nvSpPr>
        <p:spPr>
          <a:xfrm>
            <a:off x="713232" y="420624"/>
            <a:ext cx="9601200" cy="640080"/>
          </a:xfrm>
          <a:prstGeom prst="rect">
            <a:avLst/>
          </a:prstGeom>
          <a:noFill/>
        </p:spPr>
        <p:txBody>
          <a:bodyPr wrap="square" lIns="0" tIns="0" rIns="0" bIns="0" anchor="ctr">
            <a:spAutoFit/>
          </a:bodyPr>
          <a:lstStyle/>
          <a:p>
            <a:pPr algn="l">
              <a:lnSpc>
                <a:spcPct val="115000"/>
              </a:lnSpc>
              <a:spcAft>
                <a:spcPts val="600"/>
              </a:spcAft>
            </a:pPr>
            <a:r>
              <a:rPr sz="2600" b="1">
                <a:solidFill>
                  <a:srgbClr val="0070C0"/>
                </a:solidFill>
                <a:latin typeface="微软雅黑" panose="020B0503020204020204" charset="-122"/>
                <a:ea typeface="微软雅黑" panose="020B0503020204020204" charset="-122"/>
                <a:cs typeface="微软雅黑" panose="020B0503020204020204" charset="-122"/>
              </a:rPr>
              <a:t>大类资产现状及展望（一）固收 · 权益</a:t>
            </a:r>
            <a:endParaRPr sz="2600" b="1">
              <a:solidFill>
                <a:srgbClr val="0070C0"/>
              </a:solidFill>
              <a:latin typeface="微软雅黑" panose="020B0503020204020204" charset="-122"/>
              <a:ea typeface="微软雅黑" panose="020B0503020204020204" charset="-122"/>
              <a:cs typeface="微软雅黑" panose="020B0503020204020204" charset="-122"/>
            </a:endParaRPr>
          </a:p>
        </p:txBody>
      </p:sp>
      <p:sp>
        <p:nvSpPr>
          <p:cNvPr id="20" name="TextBox 3"/>
          <p:cNvSpPr txBox="1"/>
          <p:nvPr/>
        </p:nvSpPr>
        <p:spPr>
          <a:xfrm>
            <a:off x="713232" y="1042415"/>
            <a:ext cx="10515600" cy="365760"/>
          </a:xfrm>
          <a:prstGeom prst="rect">
            <a:avLst/>
          </a:prstGeom>
          <a:noFill/>
        </p:spPr>
        <p:txBody>
          <a:bodyPr wrap="square" lIns="0" tIns="0" rIns="0" bIns="0" anchor="t">
            <a:spAutoFit/>
          </a:bodyPr>
          <a:lstStyle/>
          <a:p>
            <a:pPr algn="l">
              <a:lnSpc>
                <a:spcPct val="115000"/>
              </a:lnSpc>
              <a:spcAft>
                <a:spcPts val="600"/>
              </a:spcAft>
            </a:pPr>
            <a:r>
              <a:rPr lang="zh-CN" sz="1100" b="0">
                <a:solidFill>
                  <a:srgbClr val="595959"/>
                </a:solidFill>
                <a:latin typeface="微软雅黑" panose="020B0503020204020204" charset="-122"/>
                <a:ea typeface="微软雅黑" panose="020B0503020204020204" charset="-122"/>
                <a:cs typeface="微软雅黑" panose="020B0503020204020204" charset="-122"/>
              </a:rPr>
              <a:t>数据截至 2026 年 9 月 8 日  ·  以「逻辑—判断—操作」闭环梳理组合核心仓位</a:t>
            </a:r>
            <a:endParaRPr lang="zh-CN" sz="1100" b="0">
              <a:solidFill>
                <a:srgbClr val="595959"/>
              </a:solidFill>
              <a:latin typeface="微软雅黑" panose="020B0503020204020204" charset="-122"/>
              <a:ea typeface="微软雅黑" panose="020B0503020204020204" charset="-122"/>
              <a:cs typeface="微软雅黑" panose="020B0503020204020204" charset="-122"/>
            </a:endParaRPr>
          </a:p>
        </p:txBody>
      </p:sp>
      <p:sp>
        <p:nvSpPr>
          <p:cNvPr id="21" name="Rectangle 4"/>
          <p:cNvSpPr/>
          <p:nvPr/>
        </p:nvSpPr>
        <p:spPr>
          <a:xfrm>
            <a:off x="502920" y="1005840"/>
            <a:ext cx="2011680" cy="27940"/>
          </a:xfrm>
          <a:prstGeom prst="rect">
            <a:avLst/>
          </a:prstGeom>
          <a:solidFill>
            <a:srgbClr val="54B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22" name="Rectangle 5"/>
          <p:cNvSpPr/>
          <p:nvPr/>
        </p:nvSpPr>
        <p:spPr>
          <a:xfrm>
            <a:off x="502920" y="1060704"/>
            <a:ext cx="11183112" cy="11430"/>
          </a:xfrm>
          <a:prstGeom prst="rect">
            <a:avLst/>
          </a:prstGeom>
          <a:solidFill>
            <a:srgbClr val="AED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23" name="TextBox 7"/>
          <p:cNvSpPr txBox="1"/>
          <p:nvPr/>
        </p:nvSpPr>
        <p:spPr>
          <a:xfrm>
            <a:off x="502920" y="6455664"/>
            <a:ext cx="7315200" cy="274320"/>
          </a:xfrm>
          <a:prstGeom prst="rect">
            <a:avLst/>
          </a:prstGeom>
          <a:noFill/>
        </p:spPr>
        <p:txBody>
          <a:bodyPr wrap="square" lIns="0" tIns="0" rIns="0" bIns="0" anchor="t">
            <a:spAutoFit/>
          </a:bodyPr>
          <a:lstStyle/>
          <a:p>
            <a:pPr algn="l">
              <a:lnSpc>
                <a:spcPct val="115000"/>
              </a:lnSpc>
              <a:spcAft>
                <a:spcPts val="600"/>
              </a:spcAft>
            </a:pPr>
            <a:r>
              <a:rPr sz="900" b="0">
                <a:solidFill>
                  <a:srgbClr val="595959"/>
                </a:solidFill>
                <a:latin typeface="微软雅黑" panose="020B0503020204020204" charset="-122"/>
                <a:ea typeface="微软雅黑" panose="020B0503020204020204" charset="-122"/>
                <a:cs typeface="微软雅黑" panose="020B0503020204020204" charset="-122"/>
              </a:rPr>
              <a:t>近期宏观变化及资产配置 · 2026.09</a:t>
            </a:r>
            <a:endParaRPr sz="900" b="0">
              <a:solidFill>
                <a:srgbClr val="595959"/>
              </a:solidFill>
              <a:latin typeface="微软雅黑" panose="020B0503020204020204" charset="-122"/>
              <a:ea typeface="微软雅黑" panose="020B0503020204020204" charset="-122"/>
              <a:cs typeface="微软雅黑" panose="020B0503020204020204" charset="-122"/>
            </a:endParaRPr>
          </a:p>
        </p:txBody>
      </p:sp>
      <p:sp>
        <p:nvSpPr>
          <p:cNvPr id="24" name="TextBox 8"/>
          <p:cNvSpPr txBox="1"/>
          <p:nvPr/>
        </p:nvSpPr>
        <p:spPr>
          <a:xfrm>
            <a:off x="10789920" y="6455664"/>
            <a:ext cx="914400" cy="274320"/>
          </a:xfrm>
          <a:prstGeom prst="rect">
            <a:avLst/>
          </a:prstGeom>
          <a:noFill/>
        </p:spPr>
        <p:txBody>
          <a:bodyPr wrap="square" lIns="0" tIns="0" rIns="0" bIns="0" anchor="t">
            <a:spAutoFit/>
          </a:bodyPr>
          <a:lstStyle/>
          <a:p>
            <a:pPr algn="r">
              <a:lnSpc>
                <a:spcPct val="115000"/>
              </a:lnSpc>
              <a:spcAft>
                <a:spcPts val="600"/>
              </a:spcAft>
            </a:pPr>
            <a:r>
              <a:rPr sz="1000" b="0">
                <a:solidFill>
                  <a:srgbClr val="595959"/>
                </a:solidFill>
                <a:latin typeface="微软雅黑" panose="020B0503020204020204" charset="-122"/>
                <a:ea typeface="微软雅黑" panose="020B0503020204020204" charset="-122"/>
                <a:cs typeface="微软雅黑" panose="020B0503020204020204" charset="-122"/>
              </a:rPr>
              <a:t>11</a:t>
            </a:r>
            <a:endParaRPr sz="1000" b="0">
              <a:solidFill>
                <a:srgbClr val="595959"/>
              </a:solidFill>
              <a:latin typeface="微软雅黑" panose="020B0503020204020204" charset="-122"/>
              <a:ea typeface="微软雅黑" panose="020B0503020204020204" charset="-122"/>
              <a:cs typeface="微软雅黑" panose="020B0503020204020204" charset="-122"/>
            </a:endParaRPr>
          </a:p>
        </p:txBody>
      </p:sp>
      <p:sp>
        <p:nvSpPr>
          <p:cNvPr id="25" name="Rectangle 25"/>
          <p:cNvSpPr/>
          <p:nvPr/>
        </p:nvSpPr>
        <p:spPr>
          <a:xfrm>
            <a:off x="508000" y="1549400"/>
            <a:ext cx="11176000" cy="457200"/>
          </a:xfrm>
          <a:prstGeom prst="rect">
            <a:avLst/>
          </a:prstGeom>
          <a:solidFill>
            <a:srgbClr val="F4F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26" name="Rectangle 26"/>
          <p:cNvSpPr/>
          <p:nvPr/>
        </p:nvSpPr>
        <p:spPr>
          <a:xfrm>
            <a:off x="508000" y="1549400"/>
            <a:ext cx="63500" cy="45720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27" name="TextBox 27"/>
          <p:cNvSpPr txBox="1"/>
          <p:nvPr/>
        </p:nvSpPr>
        <p:spPr>
          <a:xfrm>
            <a:off x="711200" y="1549400"/>
            <a:ext cx="10769600" cy="457200"/>
          </a:xfrm>
          <a:prstGeom prst="rect">
            <a:avLst/>
          </a:prstGeom>
          <a:noFill/>
        </p:spPr>
        <p:txBody>
          <a:bodyPr wrap="square" anchor="ctr">
            <a:spAutoFit/>
          </a:bodyPr>
          <a:lstStyle/>
          <a:p>
            <a:pPr/>
            <a:r>
              <a:rPr sz="1400" b="1">
                <a:solidFill>
                  <a:srgbClr val="1F2933"/>
                </a:solidFill>
                <a:latin typeface="微软雅黑" panose="020B0503020204020204" charset="-122"/>
                <a:ea typeface="微软雅黑" panose="020B0503020204020204" charset="-122"/>
                <a:cs typeface="微软雅黑" panose="020B0503020204020204" charset="-122"/>
              </a:rPr>
              <a:t>固收类</a:t>
            </a:r>
            <a:r>
              <a:rPr sz="1250" b="1">
                <a:solidFill>
                  <a:srgbClr val="0070C0"/>
                </a:solidFill>
                <a:latin typeface="微软雅黑" panose="020B0503020204020204" charset="-122"/>
                <a:ea typeface="微软雅黑" panose="020B0503020204020204" charset="-122"/>
                <a:cs typeface="微软雅黑" panose="020B0503020204020204" charset="-122"/>
              </a:rPr>
              <a:t>　｜　维持高配 · 票息为主，不做久期博弈</a:t>
            </a:r>
            <a:endParaRPr sz="1250" b="1">
              <a:solidFill>
                <a:srgbClr val="0070C0"/>
              </a:solidFill>
              <a:latin typeface="微软雅黑" panose="020B0503020204020204" charset="-122"/>
              <a:ea typeface="微软雅黑" panose="020B0503020204020204" charset="-122"/>
              <a:cs typeface="微软雅黑" panose="020B0503020204020204" charset="-122"/>
            </a:endParaRPr>
          </a:p>
        </p:txBody>
      </p:sp>
      <p:sp>
        <p:nvSpPr>
          <p:cNvPr id="28" name="TextBox 28"/>
          <p:cNvSpPr txBox="1"/>
          <p:nvPr/>
        </p:nvSpPr>
        <p:spPr>
          <a:xfrm>
            <a:off x="711200" y="2133600"/>
            <a:ext cx="14408150" cy="1574800"/>
          </a:xfrm>
          <a:prstGeom prst="rect">
            <a:avLst/>
          </a:prstGeom>
          <a:noFill/>
        </p:spPr>
        <p:txBody>
          <a:bodyPr wrap="square" anchor="t">
            <a:spAutoFit/>
          </a:bodyPr>
          <a:lstStyle/>
          <a:p>
            <a:pPr>
              <a:lnSpc>
                <a:spcPct val="118000"/>
              </a:lnSpc>
              <a:spcAft>
                <a:spcPts val="1000"/>
              </a:spcAft>
            </a:pPr>
            <a:r>
              <a:rPr lang="zh-CN" sz="1150" b="0">
                <a:solidFill>
                  <a:srgbClr val="007DC2"/>
                </a:solidFill>
                <a:latin typeface="微软雅黑" panose="020B0503020204020204" charset="-122"/>
                <a:ea typeface="微软雅黑" panose="020B0503020204020204" charset="-122"/>
                <a:cs typeface="微软雅黑" panose="020B0503020204020204" charset="-122"/>
              </a:rPr>
              <a:t>【现状】 10Y 国债 1.68% 低位徘徊；信用债票息稳定、资产荒延续；摊余成本法债基二批申报扩围，预计约1300亿增量配债需求，利好中久期信用债；美债 10Y 4.79% 长端高位。
【驱动】 国内宽松预期仍在但利率已低，下行赔率不足；美债受加息与财政双压，更深一层：利息驱动已取代财政扩张成美债膨胀主导，联储+外资合计占比从69%降至45%，两大刚性买家退潮，长端利率中枢系统性上移。
【展望逻辑】 利率低位 → 久期无性价比；票息最确定 → 利率债中性、信用债稳健正收益、美债承压。
【操作】 固收维持 80%+ 高比例压舱；信用债为主、利率债中性，规避美债与长久期风险。</a:t>
            </a:r>
            <a:endParaRPr lang="zh-CN" sz="1150" b="0">
              <a:solidFill>
                <a:srgbClr val="007DC2"/>
              </a:solidFill>
              <a:latin typeface="微软雅黑" panose="020B0503020204020204" charset="-122"/>
              <a:ea typeface="微软雅黑" panose="020B0503020204020204" charset="-122"/>
              <a:cs typeface="微软雅黑" panose="020B0503020204020204" charset="-122"/>
            </a:endParaRPr>
          </a:p>
        </p:txBody>
      </p:sp>
      <p:sp>
        <p:nvSpPr>
          <p:cNvPr id="29" name="Rectangle 29"/>
          <p:cNvSpPr/>
          <p:nvPr/>
        </p:nvSpPr>
        <p:spPr>
          <a:xfrm>
            <a:off x="508000" y="3886200"/>
            <a:ext cx="11176000" cy="457200"/>
          </a:xfrm>
          <a:prstGeom prst="rect">
            <a:avLst/>
          </a:prstGeom>
          <a:solidFill>
            <a:srgbClr val="F4F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30" name="Rectangle 30"/>
          <p:cNvSpPr/>
          <p:nvPr/>
        </p:nvSpPr>
        <p:spPr>
          <a:xfrm>
            <a:off x="508000" y="3886200"/>
            <a:ext cx="63500" cy="45720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31" name="TextBox 31"/>
          <p:cNvSpPr txBox="1"/>
          <p:nvPr/>
        </p:nvSpPr>
        <p:spPr>
          <a:xfrm>
            <a:off x="711200" y="3886200"/>
            <a:ext cx="10769600" cy="457200"/>
          </a:xfrm>
          <a:prstGeom prst="rect">
            <a:avLst/>
          </a:prstGeom>
          <a:noFill/>
        </p:spPr>
        <p:txBody>
          <a:bodyPr wrap="square" anchor="ctr">
            <a:spAutoFit/>
          </a:bodyPr>
          <a:lstStyle/>
          <a:p>
            <a:pPr/>
            <a:r>
              <a:rPr sz="1400" b="1">
                <a:solidFill>
                  <a:srgbClr val="1F2933"/>
                </a:solidFill>
                <a:latin typeface="微软雅黑" panose="020B0503020204020204" charset="-122"/>
                <a:ea typeface="微软雅黑" panose="020B0503020204020204" charset="-122"/>
                <a:cs typeface="微软雅黑" panose="020B0503020204020204" charset="-122"/>
              </a:rPr>
              <a:t>权益</a:t>
            </a:r>
            <a:r>
              <a:rPr sz="1250" b="1">
                <a:solidFill>
                  <a:srgbClr val="0070C0"/>
                </a:solidFill>
                <a:latin typeface="微软雅黑" panose="020B0503020204020204" charset="-122"/>
                <a:ea typeface="微软雅黑" panose="020B0503020204020204" charset="-122"/>
                <a:cs typeface="微软雅黑" panose="020B0503020204020204" charset="-122"/>
              </a:rPr>
              <a:t>　｜　标配 · 结构 &gt; 指数，中性偏积极</a:t>
            </a:r>
            <a:endParaRPr sz="1250" b="1">
              <a:solidFill>
                <a:srgbClr val="0070C0"/>
              </a:solidFill>
              <a:latin typeface="微软雅黑" panose="020B0503020204020204" charset="-122"/>
              <a:ea typeface="微软雅黑" panose="020B0503020204020204" charset="-122"/>
              <a:cs typeface="微软雅黑" panose="020B0503020204020204" charset="-122"/>
            </a:endParaRPr>
          </a:p>
        </p:txBody>
      </p:sp>
      <p:sp>
        <p:nvSpPr>
          <p:cNvPr id="32" name="TextBox 32"/>
          <p:cNvSpPr txBox="1"/>
          <p:nvPr/>
        </p:nvSpPr>
        <p:spPr>
          <a:xfrm>
            <a:off x="711200" y="4470400"/>
            <a:ext cx="10769600" cy="1574800"/>
          </a:xfrm>
          <a:prstGeom prst="rect">
            <a:avLst/>
          </a:prstGeom>
          <a:noFill/>
        </p:spPr>
        <p:txBody>
          <a:bodyPr wrap="square" anchor="t">
            <a:spAutoFit/>
          </a:bodyPr>
          <a:lstStyle/>
          <a:p>
            <a:pPr>
              <a:lnSpc>
                <a:spcPct val="118000"/>
              </a:lnSpc>
              <a:spcAft>
                <a:spcPts val="1000"/>
              </a:spcAft>
            </a:pPr>
            <a:r>
              <a:rPr sz="1150" b="1">
                <a:solidFill>
                  <a:srgbClr val="007DC2"/>
                </a:solidFill>
                <a:latin typeface="微软雅黑" panose="020B0503020204020204" charset="-122"/>
                <a:ea typeface="微软雅黑" panose="020B0503020204020204" charset="-122"/>
                <a:cs typeface="微软雅黑" panose="020B0503020204020204" charset="-122"/>
              </a:rPr>
              <a:t>【现状】</a:t>
            </a:r>
            <a:r>
              <a:rPr sz="1150" b="0">
                <a:solidFill>
                  <a:srgbClr val="1F2933"/>
                </a:solidFill>
                <a:latin typeface="微软雅黑" panose="020B0503020204020204" charset="-122"/>
                <a:ea typeface="微软雅黑" panose="020B0503020204020204" charset="-122"/>
                <a:cs typeface="微软雅黑" panose="020B0503020204020204" charset="-122"/>
              </a:rPr>
              <a:t> 上证 3940 震荡筑底、周期强科技弱；恒指 25300 区间震荡；成交 1.98 万亿、结构轮动活跃。</a:t>
            </a:r>
            <a:endParaRPr sz="1150" b="0">
              <a:solidFill>
                <a:srgbClr val="1F2933"/>
              </a:solidFill>
              <a:latin typeface="微软雅黑" panose="020B0503020204020204" charset="-122"/>
              <a:ea typeface="微软雅黑" panose="020B0503020204020204" charset="-122"/>
              <a:cs typeface="微软雅黑" panose="020B0503020204020204" charset="-122"/>
            </a:endParaRPr>
          </a:p>
          <a:p>
            <a:pPr>
              <a:lnSpc>
                <a:spcPct val="118000"/>
              </a:lnSpc>
              <a:spcAft>
                <a:spcPts val="1000"/>
              </a:spcAft>
            </a:pPr>
            <a:r>
              <a:rPr sz="1150" b="1">
                <a:solidFill>
                  <a:srgbClr val="007DC2"/>
                </a:solidFill>
                <a:latin typeface="微软雅黑" panose="020B0503020204020204" charset="-122"/>
                <a:ea typeface="微软雅黑" panose="020B0503020204020204" charset="-122"/>
                <a:cs typeface="微软雅黑" panose="020B0503020204020204" charset="-122"/>
              </a:rPr>
              <a:t>【驱动】</a:t>
            </a:r>
            <a:r>
              <a:rPr sz="1150" b="0">
                <a:solidFill>
                  <a:srgbClr val="1F2933"/>
                </a:solidFill>
                <a:latin typeface="微软雅黑" panose="020B0503020204020204" charset="-122"/>
                <a:ea typeface="微软雅黑" panose="020B0503020204020204" charset="-122"/>
                <a:cs typeface="微软雅黑" panose="020B0503020204020204" charset="-122"/>
              </a:rPr>
              <a:t> 人民币逆势走强 + 出口创新高 → 中国资产相对占优；但全球加息预期压制整体风险偏好。</a:t>
            </a:r>
            <a:endParaRPr sz="1150" b="0">
              <a:solidFill>
                <a:srgbClr val="1F2933"/>
              </a:solidFill>
              <a:latin typeface="微软雅黑" panose="020B0503020204020204" charset="-122"/>
              <a:ea typeface="微软雅黑" panose="020B0503020204020204" charset="-122"/>
              <a:cs typeface="微软雅黑" panose="020B0503020204020204" charset="-122"/>
            </a:endParaRPr>
          </a:p>
          <a:p>
            <a:pPr>
              <a:lnSpc>
                <a:spcPct val="118000"/>
              </a:lnSpc>
              <a:spcAft>
                <a:spcPts val="1000"/>
              </a:spcAft>
            </a:pPr>
            <a:r>
              <a:rPr sz="1150" b="1">
                <a:solidFill>
                  <a:srgbClr val="007DC2"/>
                </a:solidFill>
                <a:latin typeface="微软雅黑" panose="020B0503020204020204" charset="-122"/>
                <a:ea typeface="微软雅黑" panose="020B0503020204020204" charset="-122"/>
                <a:cs typeface="微软雅黑" panose="020B0503020204020204" charset="-122"/>
              </a:rPr>
              <a:t>【展望逻辑】</a:t>
            </a:r>
            <a:r>
              <a:rPr sz="1150" b="0">
                <a:solidFill>
                  <a:srgbClr val="1F2933"/>
                </a:solidFill>
                <a:latin typeface="微软雅黑" panose="020B0503020204020204" charset="-122"/>
                <a:ea typeface="微软雅黑" panose="020B0503020204020204" charset="-122"/>
                <a:cs typeface="微软雅黑" panose="020B0503020204020204" charset="-122"/>
              </a:rPr>
              <a:t> 指数缺增量资金 → 贝塔难有趋势；轮动活跃 → 阿尔法有空间 → 指数中性、结构有机会，中性/对冲策略相对受益。</a:t>
            </a:r>
            <a:endParaRPr sz="1150" b="0">
              <a:solidFill>
                <a:srgbClr val="1F2933"/>
              </a:solidFill>
              <a:latin typeface="微软雅黑" panose="020B0503020204020204" charset="-122"/>
              <a:ea typeface="微软雅黑" panose="020B0503020204020204" charset="-122"/>
              <a:cs typeface="微软雅黑" panose="020B0503020204020204" charset="-122"/>
            </a:endParaRPr>
          </a:p>
          <a:p>
            <a:pPr>
              <a:lnSpc>
                <a:spcPct val="118000"/>
              </a:lnSpc>
              <a:spcAft>
                <a:spcPts val="1000"/>
              </a:spcAft>
            </a:pPr>
            <a:r>
              <a:rPr sz="1150" b="1">
                <a:solidFill>
                  <a:srgbClr val="007DC2"/>
                </a:solidFill>
                <a:latin typeface="微软雅黑" panose="020B0503020204020204" charset="-122"/>
                <a:ea typeface="微软雅黑" panose="020B0503020204020204" charset="-122"/>
                <a:cs typeface="微软雅黑" panose="020B0503020204020204" charset="-122"/>
              </a:rPr>
              <a:t>【操作】</a:t>
            </a:r>
            <a:r>
              <a:rPr sz="1150" b="0">
                <a:solidFill>
                  <a:srgbClr val="1F2933"/>
                </a:solidFill>
                <a:latin typeface="微软雅黑" panose="020B0503020204020204" charset="-122"/>
                <a:ea typeface="微软雅黑" panose="020B0503020204020204" charset="-122"/>
                <a:cs typeface="微软雅黑" panose="020B0503020204020204" charset="-122"/>
              </a:rPr>
              <a:t> 权益仓位中性、不追指数；以中性/对冲策略赚结构阿尔法，控制回撤。</a:t>
            </a:r>
            <a:endParaRPr sz="1150" b="0">
              <a:solidFill>
                <a:srgbClr val="1F2933"/>
              </a:solidFill>
              <a:latin typeface="微软雅黑" panose="020B0503020204020204" charset="-122"/>
              <a:ea typeface="微软雅黑" panose="020B0503020204020204" charset="-122"/>
              <a:cs typeface="微软雅黑" panose="020B0503020204020204" charset="-122"/>
            </a:endParaRPr>
          </a:p>
        </p:txBody>
      </p:sp>
      <p:pic>
        <p:nvPicPr>
          <p:cNvPr id="33" name="参考模板浅蓝背景弧线"/>
          <p:cNvPicPr/>
          <p:nvPr/>
        </p:nvPicPr>
        <p:blipFill>
          <a:blip r:embed="rId2"/>
          <a:stretch>
            <a:fillRect/>
          </a:stretch>
        </p:blipFill>
        <p:spPr>
          <a:xfrm>
            <a:off x="4457700" y="0"/>
            <a:ext cx="3143250" cy="495300"/>
          </a:xfrm>
          <a:prstGeom prst="rect">
            <a:avLst/>
          </a:prstGeom>
          <a:noFill/>
          <a:ln>
            <a:noFill/>
          </a:ln>
        </p:spPr>
      </p:pic>
      <p:pic>
        <p:nvPicPr>
          <p:cNvPr id="34" name="参考模板右上角标识"/>
          <p:cNvPicPr/>
          <p:nvPr/>
        </p:nvPicPr>
        <p:blipFill>
          <a:blip r:embed="rId3"/>
          <a:stretch>
            <a:fillRect/>
          </a:stretch>
        </p:blipFill>
        <p:spPr>
          <a:xfrm>
            <a:off x="9696450" y="209550"/>
            <a:ext cx="1733550" cy="390525"/>
          </a:xfrm>
          <a:prstGeom prst="rect">
            <a:avLst/>
          </a:prstGeom>
          <a:noFill/>
          <a:ln>
            <a:noFill/>
          </a:ln>
        </p:spPr>
      </p:pic>
    </p:spTree>
  </p:cSld>
  <p:clrMapOvr>
    <a:masterClrMapping/>
  </p:clrMapOvr>
</p:sld>
</file>

<file path=ppt/slides/slide12.xml><?xml version="1.0" encoding="utf-8"?>
<p:sld xmlns:r="http://schemas.openxmlformats.org/officeDocument/2006/relationships" xmlns:p="http://schemas.openxmlformats.org/presentationml/2006/main" xmlns:a="http://schemas.openxmlformats.org/drawingml/2006/main">
  <p:cSld>
    <p:spTree>
      <p:nvGrpSpPr>
        <p:cNvPr id="33" name=""/>
        <p:cNvGrpSpPr/>
        <p:nvPr/>
      </p:nvGrpSpPr>
      <p:grpSpPr>
        <a:xfrm>
          <a:off x="0" y="0"/>
          <a:ext cx="0" cy="0"/>
          <a:chOff x="0" y="0"/>
          <a:chExt cx="0" cy="0"/>
        </a:xfrm>
      </p:grpSpPr>
      <p:sp>
        <p:nvSpPr>
          <p:cNvPr id="34" name="Rectangle 1"/>
          <p:cNvSpPr/>
          <p:nvPr/>
        </p:nvSpPr>
        <p:spPr>
          <a:xfrm>
            <a:off x="502920" y="457200"/>
            <a:ext cx="82296" cy="566928"/>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35" name="TextBox 2"/>
          <p:cNvSpPr txBox="1"/>
          <p:nvPr/>
        </p:nvSpPr>
        <p:spPr>
          <a:xfrm>
            <a:off x="713232" y="420624"/>
            <a:ext cx="9601200" cy="640080"/>
          </a:xfrm>
          <a:prstGeom prst="rect">
            <a:avLst/>
          </a:prstGeom>
          <a:noFill/>
        </p:spPr>
        <p:txBody>
          <a:bodyPr wrap="square" lIns="0" tIns="0" rIns="0" bIns="0" anchor="ctr">
            <a:spAutoFit/>
          </a:bodyPr>
          <a:lstStyle/>
          <a:p>
            <a:pPr algn="l">
              <a:lnSpc>
                <a:spcPct val="115000"/>
              </a:lnSpc>
              <a:spcAft>
                <a:spcPts val="600"/>
              </a:spcAft>
            </a:pPr>
            <a:r>
              <a:rPr sz="2600" b="1">
                <a:solidFill>
                  <a:srgbClr val="0070C0"/>
                </a:solidFill>
                <a:latin typeface="微软雅黑" panose="020B0503020204020204" charset="-122"/>
                <a:ea typeface="微软雅黑" panose="020B0503020204020204" charset="-122"/>
                <a:cs typeface="微软雅黑" panose="020B0503020204020204" charset="-122"/>
              </a:rPr>
              <a:t>大类资产现状及展望（二）贵金属 · 商品</a:t>
            </a:r>
            <a:endParaRPr sz="2600" b="1">
              <a:solidFill>
                <a:srgbClr val="0070C0"/>
              </a:solidFill>
              <a:latin typeface="微软雅黑" panose="020B0503020204020204" charset="-122"/>
              <a:ea typeface="微软雅黑" panose="020B0503020204020204" charset="-122"/>
              <a:cs typeface="微软雅黑" panose="020B0503020204020204" charset="-122"/>
            </a:endParaRPr>
          </a:p>
        </p:txBody>
      </p:sp>
      <p:sp>
        <p:nvSpPr>
          <p:cNvPr id="36" name="TextBox 3"/>
          <p:cNvSpPr txBox="1"/>
          <p:nvPr/>
        </p:nvSpPr>
        <p:spPr>
          <a:xfrm>
            <a:off x="713232" y="1042415"/>
            <a:ext cx="10515600" cy="365760"/>
          </a:xfrm>
          <a:prstGeom prst="rect">
            <a:avLst/>
          </a:prstGeom>
          <a:noFill/>
        </p:spPr>
        <p:txBody>
          <a:bodyPr wrap="square" lIns="0" tIns="0" rIns="0" bIns="0" anchor="t">
            <a:spAutoFit/>
          </a:bodyPr>
          <a:lstStyle/>
          <a:p>
            <a:pPr algn="l">
              <a:lnSpc>
                <a:spcPct val="115000"/>
              </a:lnSpc>
              <a:spcAft>
                <a:spcPts val="600"/>
              </a:spcAft>
            </a:pPr>
            <a:r>
              <a:rPr lang="zh-CN" sz="1100" b="0">
                <a:solidFill>
                  <a:srgbClr val="595959"/>
                </a:solidFill>
                <a:latin typeface="微软雅黑" panose="020B0503020204020204" charset="-122"/>
                <a:ea typeface="微软雅黑" panose="020B0503020204020204" charset="-122"/>
                <a:cs typeface="微软雅黑" panose="020B0503020204020204" charset="-122"/>
              </a:rPr>
              <a:t>数据截至 2026 年 9 月 8 日  ·  以「逻辑—判断—操作」闭环梳理组合卫星仓位</a:t>
            </a:r>
            <a:endParaRPr lang="zh-CN" sz="1100" b="0">
              <a:solidFill>
                <a:srgbClr val="595959"/>
              </a:solidFill>
              <a:latin typeface="微软雅黑" panose="020B0503020204020204" charset="-122"/>
              <a:ea typeface="微软雅黑" panose="020B0503020204020204" charset="-122"/>
              <a:cs typeface="微软雅黑" panose="020B0503020204020204" charset="-122"/>
            </a:endParaRPr>
          </a:p>
        </p:txBody>
      </p:sp>
      <p:sp>
        <p:nvSpPr>
          <p:cNvPr id="37" name="Rectangle 4"/>
          <p:cNvSpPr/>
          <p:nvPr/>
        </p:nvSpPr>
        <p:spPr>
          <a:xfrm>
            <a:off x="502920" y="1005840"/>
            <a:ext cx="2011680" cy="27940"/>
          </a:xfrm>
          <a:prstGeom prst="rect">
            <a:avLst/>
          </a:prstGeom>
          <a:solidFill>
            <a:srgbClr val="54B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38" name="Rectangle 5"/>
          <p:cNvSpPr/>
          <p:nvPr/>
        </p:nvSpPr>
        <p:spPr>
          <a:xfrm>
            <a:off x="502920" y="1060704"/>
            <a:ext cx="11183112" cy="11430"/>
          </a:xfrm>
          <a:prstGeom prst="rect">
            <a:avLst/>
          </a:prstGeom>
          <a:solidFill>
            <a:srgbClr val="AED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39" name="TextBox 7"/>
          <p:cNvSpPr txBox="1"/>
          <p:nvPr/>
        </p:nvSpPr>
        <p:spPr>
          <a:xfrm>
            <a:off x="502920" y="6455664"/>
            <a:ext cx="7315200" cy="274320"/>
          </a:xfrm>
          <a:prstGeom prst="rect">
            <a:avLst/>
          </a:prstGeom>
          <a:noFill/>
        </p:spPr>
        <p:txBody>
          <a:bodyPr wrap="square" lIns="0" tIns="0" rIns="0" bIns="0" anchor="t">
            <a:spAutoFit/>
          </a:bodyPr>
          <a:lstStyle/>
          <a:p>
            <a:pPr algn="l">
              <a:lnSpc>
                <a:spcPct val="115000"/>
              </a:lnSpc>
              <a:spcAft>
                <a:spcPts val="600"/>
              </a:spcAft>
            </a:pPr>
            <a:r>
              <a:rPr sz="900" b="0">
                <a:solidFill>
                  <a:srgbClr val="595959"/>
                </a:solidFill>
                <a:latin typeface="微软雅黑" panose="020B0503020204020204" charset="-122"/>
                <a:ea typeface="微软雅黑" panose="020B0503020204020204" charset="-122"/>
                <a:cs typeface="微软雅黑" panose="020B0503020204020204" charset="-122"/>
              </a:rPr>
              <a:t>近期宏观变化及资产配置 · 2026.09</a:t>
            </a:r>
            <a:endParaRPr sz="900" b="0">
              <a:solidFill>
                <a:srgbClr val="595959"/>
              </a:solidFill>
              <a:latin typeface="微软雅黑" panose="020B0503020204020204" charset="-122"/>
              <a:ea typeface="微软雅黑" panose="020B0503020204020204" charset="-122"/>
              <a:cs typeface="微软雅黑" panose="020B0503020204020204" charset="-122"/>
            </a:endParaRPr>
          </a:p>
        </p:txBody>
      </p:sp>
      <p:sp>
        <p:nvSpPr>
          <p:cNvPr id="40" name="TextBox 8"/>
          <p:cNvSpPr txBox="1"/>
          <p:nvPr/>
        </p:nvSpPr>
        <p:spPr>
          <a:xfrm>
            <a:off x="10789920" y="6455664"/>
            <a:ext cx="914400" cy="274320"/>
          </a:xfrm>
          <a:prstGeom prst="rect">
            <a:avLst/>
          </a:prstGeom>
          <a:noFill/>
        </p:spPr>
        <p:txBody>
          <a:bodyPr wrap="square" lIns="0" tIns="0" rIns="0" bIns="0" anchor="t">
            <a:spAutoFit/>
          </a:bodyPr>
          <a:lstStyle/>
          <a:p>
            <a:pPr algn="r">
              <a:lnSpc>
                <a:spcPct val="115000"/>
              </a:lnSpc>
              <a:spcAft>
                <a:spcPts val="600"/>
              </a:spcAft>
            </a:pPr>
            <a:r>
              <a:rPr sz="1000" b="0">
                <a:solidFill>
                  <a:srgbClr val="595959"/>
                </a:solidFill>
                <a:latin typeface="微软雅黑" panose="020B0503020204020204" charset="-122"/>
                <a:ea typeface="微软雅黑" panose="020B0503020204020204" charset="-122"/>
                <a:cs typeface="微软雅黑" panose="020B0503020204020204" charset="-122"/>
              </a:rPr>
              <a:t>12</a:t>
            </a:r>
            <a:endParaRPr sz="1000" b="0">
              <a:solidFill>
                <a:srgbClr val="595959"/>
              </a:solidFill>
              <a:latin typeface="微软雅黑" panose="020B0503020204020204" charset="-122"/>
              <a:ea typeface="微软雅黑" panose="020B0503020204020204" charset="-122"/>
              <a:cs typeface="微软雅黑" panose="020B0503020204020204" charset="-122"/>
            </a:endParaRPr>
          </a:p>
        </p:txBody>
      </p:sp>
      <p:sp>
        <p:nvSpPr>
          <p:cNvPr id="41" name="Rectangle 34"/>
          <p:cNvSpPr/>
          <p:nvPr/>
        </p:nvSpPr>
        <p:spPr>
          <a:xfrm>
            <a:off x="508000" y="1549400"/>
            <a:ext cx="11176000" cy="457200"/>
          </a:xfrm>
          <a:prstGeom prst="rect">
            <a:avLst/>
          </a:prstGeom>
          <a:solidFill>
            <a:srgbClr val="F4F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42" name="Rectangle 35"/>
          <p:cNvSpPr/>
          <p:nvPr/>
        </p:nvSpPr>
        <p:spPr>
          <a:xfrm>
            <a:off x="508000" y="1549400"/>
            <a:ext cx="63500" cy="45720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43" name="TextBox 36"/>
          <p:cNvSpPr txBox="1"/>
          <p:nvPr/>
        </p:nvSpPr>
        <p:spPr>
          <a:xfrm>
            <a:off x="711200" y="1549400"/>
            <a:ext cx="10769600" cy="457200"/>
          </a:xfrm>
          <a:prstGeom prst="rect">
            <a:avLst/>
          </a:prstGeom>
          <a:noFill/>
        </p:spPr>
        <p:txBody>
          <a:bodyPr wrap="square" anchor="ctr">
            <a:spAutoFit/>
          </a:bodyPr>
          <a:lstStyle/>
          <a:p>
            <a:pPr/>
            <a:r>
              <a:rPr sz="1400" b="1">
                <a:solidFill>
                  <a:srgbClr val="1F2933"/>
                </a:solidFill>
                <a:latin typeface="微软雅黑" panose="020B0503020204020204" charset="-122"/>
                <a:ea typeface="微软雅黑" panose="020B0503020204020204" charset="-122"/>
                <a:cs typeface="微软雅黑" panose="020B0503020204020204" charset="-122"/>
              </a:rPr>
              <a:t>贵金属</a:t>
            </a:r>
            <a:r>
              <a:rPr sz="1250" b="1">
                <a:solidFill>
                  <a:srgbClr val="0070C0"/>
                </a:solidFill>
                <a:latin typeface="微软雅黑" panose="020B0503020204020204" charset="-122"/>
                <a:ea typeface="微软雅黑" panose="020B0503020204020204" charset="-122"/>
                <a:cs typeface="微软雅黑" panose="020B0503020204020204" charset="-122"/>
              </a:rPr>
              <a:t>　｜　中长期多头 · 回调即配置窗口</a:t>
            </a:r>
            <a:endParaRPr sz="1250" b="1">
              <a:solidFill>
                <a:srgbClr val="0070C0"/>
              </a:solidFill>
              <a:latin typeface="微软雅黑" panose="020B0503020204020204" charset="-122"/>
              <a:ea typeface="微软雅黑" panose="020B0503020204020204" charset="-122"/>
              <a:cs typeface="微软雅黑" panose="020B0503020204020204" charset="-122"/>
            </a:endParaRPr>
          </a:p>
        </p:txBody>
      </p:sp>
      <p:sp>
        <p:nvSpPr>
          <p:cNvPr id="44" name="TextBox 37"/>
          <p:cNvSpPr txBox="1"/>
          <p:nvPr/>
        </p:nvSpPr>
        <p:spPr>
          <a:xfrm>
            <a:off x="711200" y="2133600"/>
            <a:ext cx="10769600" cy="1309370"/>
          </a:xfrm>
          <a:prstGeom prst="rect">
            <a:avLst/>
          </a:prstGeom>
          <a:noFill/>
        </p:spPr>
        <p:txBody>
          <a:bodyPr wrap="square" anchor="t">
            <a:spAutoFit/>
          </a:bodyPr>
          <a:lstStyle/>
          <a:p>
            <a:pPr>
              <a:lnSpc>
                <a:spcPct val="118000"/>
              </a:lnSpc>
              <a:spcAft>
                <a:spcPts val="1000"/>
              </a:spcAft>
            </a:pPr>
            <a:r>
              <a:rPr lang="zh-CN" sz="1150" b="0">
                <a:solidFill>
                  <a:srgbClr val="007DC2"/>
                </a:solidFill>
                <a:latin typeface="微软雅黑" panose="020B0503020204020204" charset="-122"/>
                <a:ea typeface="微软雅黑" panose="020B0503020204020204" charset="-122"/>
                <a:cs typeface="微软雅黑" panose="020B0503020204020204" charset="-122"/>
              </a:rPr>
              <a:t>【现状】 COMEX 黄金 4394 美元/盎司，高位震荡、周跌 1.2%。
【驱动】 地缘避险 + 去美元化与央行购金构成中长期支撑；美元在全球外储占比已从71%降至约57%，去美元化方向明确；短期受加息预期压制。
【展望逻辑】 加息是短期扰动，不改避险与美元信用对冲主线 → 短期高位震荡、中长期向上 → 回调是增配机会而非离场信号。
【操作】 抗通胀与避险卫星仓，控制单一仓位上限，贵金属虽长周期看多但还是需要遴选对其没有多头执念的管理人，因每次短期回调都很剧烈。</a:t>
            </a:r>
            <a:endParaRPr lang="zh-CN" sz="1150" b="0">
              <a:solidFill>
                <a:srgbClr val="007DC2"/>
              </a:solidFill>
              <a:latin typeface="微软雅黑" panose="020B0503020204020204" charset="-122"/>
              <a:ea typeface="微软雅黑" panose="020B0503020204020204" charset="-122"/>
              <a:cs typeface="微软雅黑" panose="020B0503020204020204" charset="-122"/>
            </a:endParaRPr>
          </a:p>
        </p:txBody>
      </p:sp>
      <p:sp>
        <p:nvSpPr>
          <p:cNvPr id="45" name="Rectangle 38"/>
          <p:cNvSpPr/>
          <p:nvPr/>
        </p:nvSpPr>
        <p:spPr>
          <a:xfrm>
            <a:off x="508000" y="3886200"/>
            <a:ext cx="11176000" cy="457200"/>
          </a:xfrm>
          <a:prstGeom prst="rect">
            <a:avLst/>
          </a:prstGeom>
          <a:solidFill>
            <a:srgbClr val="F4F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46" name="Rectangle 39"/>
          <p:cNvSpPr/>
          <p:nvPr/>
        </p:nvSpPr>
        <p:spPr>
          <a:xfrm>
            <a:off x="508000" y="3886200"/>
            <a:ext cx="63500" cy="45720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47" name="TextBox 40"/>
          <p:cNvSpPr txBox="1"/>
          <p:nvPr/>
        </p:nvSpPr>
        <p:spPr>
          <a:xfrm>
            <a:off x="711200" y="3961448"/>
            <a:ext cx="10769600" cy="306705"/>
          </a:xfrm>
          <a:prstGeom prst="rect">
            <a:avLst/>
          </a:prstGeom>
          <a:noFill/>
        </p:spPr>
        <p:txBody>
          <a:bodyPr wrap="square" anchor="ctr">
            <a:spAutoFit/>
          </a:bodyPr>
          <a:lstStyle/>
          <a:p>
            <a:pPr/>
            <a:r>
              <a:rPr sz="1400" b="1">
                <a:solidFill>
                  <a:srgbClr val="1F2933"/>
                </a:solidFill>
                <a:latin typeface="微软雅黑" panose="020B0503020204020204" charset="-122"/>
                <a:ea typeface="微软雅黑" panose="020B0503020204020204" charset="-122"/>
                <a:cs typeface="微软雅黑" panose="020B0503020204020204" charset="-122"/>
              </a:rPr>
              <a:t>商品</a:t>
            </a:r>
            <a:r>
              <a:rPr sz="1250" b="1">
                <a:solidFill>
                  <a:srgbClr val="0070C0"/>
                </a:solidFill>
                <a:latin typeface="微软雅黑" panose="020B0503020204020204" charset="-122"/>
                <a:ea typeface="微软雅黑" panose="020B0503020204020204" charset="-122"/>
                <a:cs typeface="微软雅黑" panose="020B0503020204020204" charset="-122"/>
              </a:rPr>
              <a:t>　｜　趋势偏强 · 用 CTA </a:t>
            </a:r>
            <a:r>
              <a:rPr lang="zh-CN" sz="1250" b="1">
                <a:solidFill>
                  <a:srgbClr val="0070C0"/>
                </a:solidFill>
                <a:latin typeface="微软雅黑" panose="020B0503020204020204" charset="-122"/>
                <a:ea typeface="微软雅黑" panose="020B0503020204020204" charset="-122"/>
                <a:cs typeface="微软雅黑" panose="020B0503020204020204" charset="-122"/>
              </a:rPr>
              <a:t>复合</a:t>
            </a:r>
            <a:r>
              <a:rPr sz="1250" b="1">
                <a:solidFill>
                  <a:srgbClr val="0070C0"/>
                </a:solidFill>
                <a:latin typeface="微软雅黑" panose="020B0503020204020204" charset="-122"/>
                <a:ea typeface="微软雅黑" panose="020B0503020204020204" charset="-122"/>
                <a:cs typeface="微软雅黑" panose="020B0503020204020204" charset="-122"/>
              </a:rPr>
              <a:t>趋势</a:t>
            </a:r>
            <a:r>
              <a:rPr lang="en-US" sz="1250" b="1">
                <a:solidFill>
                  <a:srgbClr val="0070C0"/>
                </a:solidFill>
                <a:latin typeface="微软雅黑" panose="020B0503020204020204" charset="-122"/>
                <a:ea typeface="微软雅黑" panose="020B0503020204020204" charset="-122"/>
                <a:cs typeface="微软雅黑" panose="020B0503020204020204" charset="-122"/>
              </a:rPr>
              <a:t> + </a:t>
            </a:r>
            <a:r>
              <a:rPr lang="zh-CN" altLang="en-US" sz="1250" b="1">
                <a:solidFill>
                  <a:srgbClr val="0070C0"/>
                </a:solidFill>
                <a:latin typeface="微软雅黑" panose="020B0503020204020204" charset="-122"/>
                <a:ea typeface="微软雅黑" panose="020B0503020204020204" charset="-122"/>
                <a:cs typeface="微软雅黑" panose="020B0503020204020204" charset="-122"/>
              </a:rPr>
              <a:t>主观</a:t>
            </a:r>
            <a:r>
              <a:rPr sz="1250" b="1">
                <a:solidFill>
                  <a:srgbClr val="0070C0"/>
                </a:solidFill>
                <a:latin typeface="微软雅黑" panose="020B0503020204020204" charset="-122"/>
                <a:ea typeface="微软雅黑" panose="020B0503020204020204" charset="-122"/>
                <a:cs typeface="微软雅黑" panose="020B0503020204020204" charset="-122"/>
              </a:rPr>
              <a:t>策略参与</a:t>
            </a:r>
            <a:endParaRPr sz="1250" b="1">
              <a:solidFill>
                <a:srgbClr val="0070C0"/>
              </a:solidFill>
              <a:latin typeface="微软雅黑" panose="020B0503020204020204" charset="-122"/>
              <a:ea typeface="微软雅黑" panose="020B0503020204020204" charset="-122"/>
              <a:cs typeface="微软雅黑" panose="020B0503020204020204" charset="-122"/>
            </a:endParaRPr>
          </a:p>
        </p:txBody>
      </p:sp>
      <p:sp>
        <p:nvSpPr>
          <p:cNvPr id="48" name="TextBox 41"/>
          <p:cNvSpPr txBox="1"/>
          <p:nvPr/>
        </p:nvSpPr>
        <p:spPr>
          <a:xfrm>
            <a:off x="711200" y="4470400"/>
            <a:ext cx="10769600" cy="1645920"/>
          </a:xfrm>
          <a:prstGeom prst="rect">
            <a:avLst/>
          </a:prstGeom>
          <a:noFill/>
        </p:spPr>
        <p:txBody>
          <a:bodyPr wrap="square" anchor="t">
            <a:spAutoFit/>
          </a:bodyPr>
          <a:lstStyle/>
          <a:p>
            <a:pPr>
              <a:lnSpc>
                <a:spcPct val="118000"/>
              </a:lnSpc>
              <a:spcAft>
                <a:spcPts val="1000"/>
              </a:spcAft>
            </a:pPr>
            <a:r>
              <a:rPr sz="1150" b="1">
                <a:solidFill>
                  <a:srgbClr val="007DC2"/>
                </a:solidFill>
                <a:latin typeface="微软雅黑" panose="020B0503020204020204" charset="-122"/>
                <a:ea typeface="微软雅黑" panose="020B0503020204020204" charset="-122"/>
                <a:cs typeface="微软雅黑" panose="020B0503020204020204" charset="-122"/>
              </a:rPr>
              <a:t>【现状】</a:t>
            </a:r>
            <a:r>
              <a:rPr sz="1150" b="0">
                <a:solidFill>
                  <a:srgbClr val="1F2933"/>
                </a:solidFill>
                <a:latin typeface="微软雅黑" panose="020B0503020204020204" charset="-122"/>
                <a:ea typeface="微软雅黑" panose="020B0503020204020204" charset="-122"/>
                <a:cs typeface="微软雅黑" panose="020B0503020204020204" charset="-122"/>
              </a:rPr>
              <a:t> WTI 93 美元六连涨、布伦特逼近 100；LME 铜 14708 美元历史新高、年内 +17%。</a:t>
            </a:r>
            <a:endParaRPr sz="1150" b="0">
              <a:solidFill>
                <a:srgbClr val="1F2933"/>
              </a:solidFill>
              <a:latin typeface="微软雅黑" panose="020B0503020204020204" charset="-122"/>
              <a:ea typeface="微软雅黑" panose="020B0503020204020204" charset="-122"/>
              <a:cs typeface="微软雅黑" panose="020B0503020204020204" charset="-122"/>
            </a:endParaRPr>
          </a:p>
          <a:p>
            <a:pPr>
              <a:lnSpc>
                <a:spcPct val="118000"/>
              </a:lnSpc>
              <a:spcAft>
                <a:spcPts val="1000"/>
              </a:spcAft>
            </a:pPr>
            <a:r>
              <a:rPr sz="1150" b="1">
                <a:solidFill>
                  <a:srgbClr val="007DC2"/>
                </a:solidFill>
                <a:latin typeface="微软雅黑" panose="020B0503020204020204" charset="-122"/>
                <a:ea typeface="微软雅黑" panose="020B0503020204020204" charset="-122"/>
                <a:cs typeface="微软雅黑" panose="020B0503020204020204" charset="-122"/>
              </a:rPr>
              <a:t>【驱动】</a:t>
            </a:r>
            <a:r>
              <a:rPr sz="1150" b="0">
                <a:solidFill>
                  <a:srgbClr val="1F2933"/>
                </a:solidFill>
                <a:latin typeface="微软雅黑" panose="020B0503020204020204" charset="-122"/>
                <a:ea typeface="微软雅黑" panose="020B0503020204020204" charset="-122"/>
                <a:cs typeface="微软雅黑" panose="020B0503020204020204" charset="-122"/>
              </a:rPr>
              <a:t> 油价由中东地缘主导、高波动；铜受矿端紧张与 AI 需求双驱动。</a:t>
            </a:r>
            <a:endParaRPr sz="1150" b="0">
              <a:solidFill>
                <a:srgbClr val="1F2933"/>
              </a:solidFill>
              <a:latin typeface="微软雅黑" panose="020B0503020204020204" charset="-122"/>
              <a:ea typeface="微软雅黑" panose="020B0503020204020204" charset="-122"/>
              <a:cs typeface="微软雅黑" panose="020B0503020204020204" charset="-122"/>
            </a:endParaRPr>
          </a:p>
          <a:p>
            <a:pPr>
              <a:lnSpc>
                <a:spcPct val="118000"/>
              </a:lnSpc>
              <a:spcAft>
                <a:spcPts val="1000"/>
              </a:spcAft>
            </a:pPr>
            <a:r>
              <a:rPr sz="1150" b="1">
                <a:solidFill>
                  <a:srgbClr val="007DC2"/>
                </a:solidFill>
                <a:latin typeface="微软雅黑" panose="020B0503020204020204" charset="-122"/>
                <a:ea typeface="微软雅黑" panose="020B0503020204020204" charset="-122"/>
                <a:cs typeface="微软雅黑" panose="020B0503020204020204" charset="-122"/>
              </a:rPr>
              <a:t>【展望逻辑】</a:t>
            </a:r>
            <a:r>
              <a:rPr sz="1150" b="0">
                <a:solidFill>
                  <a:srgbClr val="1F2933"/>
                </a:solidFill>
                <a:latin typeface="微软雅黑" panose="020B0503020204020204" charset="-122"/>
                <a:ea typeface="微软雅黑" panose="020B0503020204020204" charset="-122"/>
                <a:cs typeface="微软雅黑" panose="020B0503020204020204" charset="-122"/>
              </a:rPr>
              <a:t> 油价地缘主导、难预判 → </a:t>
            </a:r>
            <a:r>
              <a:rPr lang="zh-CN" sz="1150" b="0">
                <a:solidFill>
                  <a:srgbClr val="1F2933"/>
                </a:solidFill>
                <a:latin typeface="微软雅黑" panose="020B0503020204020204" charset="-122"/>
                <a:ea typeface="微软雅黑" panose="020B0503020204020204" charset="-122"/>
                <a:cs typeface="微软雅黑" panose="020B0503020204020204" charset="-122"/>
              </a:rPr>
              <a:t>纯长周期趋势策略风险高；</a:t>
            </a:r>
            <a:endParaRPr lang="zh-CN" sz="1150" b="0">
              <a:solidFill>
                <a:srgbClr val="1F2933"/>
              </a:solidFill>
              <a:latin typeface="微软雅黑" panose="020B0503020204020204" charset="-122"/>
              <a:ea typeface="微软雅黑" panose="020B0503020204020204" charset="-122"/>
              <a:cs typeface="微软雅黑" panose="020B0503020204020204" charset="-122"/>
            </a:endParaRPr>
          </a:p>
          <a:p>
            <a:pPr>
              <a:lnSpc>
                <a:spcPct val="118000"/>
              </a:lnSpc>
              <a:spcAft>
                <a:spcPts val="1000"/>
              </a:spcAft>
            </a:pPr>
            <a:r>
              <a:rPr lang="zh-CN" sz="1150" b="0">
                <a:solidFill>
                  <a:srgbClr val="1F2933"/>
                </a:solidFill>
                <a:latin typeface="微软雅黑" panose="020B0503020204020204" charset="-122"/>
                <a:ea typeface="微软雅黑" panose="020B0503020204020204" charset="-122"/>
                <a:cs typeface="微软雅黑" panose="020B0503020204020204" charset="-122"/>
              </a:rPr>
              <a:t> </a:t>
            </a:r>
            <a:r>
              <a:rPr lang="en-US" altLang="zh-CN" sz="1150" b="0">
                <a:solidFill>
                  <a:srgbClr val="1F2933"/>
                </a:solidFill>
                <a:latin typeface="微软雅黑" panose="020B0503020204020204" charset="-122"/>
                <a:ea typeface="微软雅黑" panose="020B0503020204020204" charset="-122"/>
                <a:cs typeface="微软雅黑" panose="020B0503020204020204" charset="-122"/>
              </a:rPr>
              <a:t>            </a:t>
            </a:r>
            <a:r>
              <a:rPr lang="zh-CN" sz="1150" b="0">
                <a:solidFill>
                  <a:srgbClr val="1F2933"/>
                </a:solidFill>
                <a:latin typeface="微软雅黑" panose="020B0503020204020204" charset="-122"/>
                <a:ea typeface="微软雅黑" panose="020B0503020204020204" charset="-122"/>
                <a:cs typeface="微软雅黑" panose="020B0503020204020204" charset="-122"/>
              </a:rPr>
              <a:t>部分品种</a:t>
            </a:r>
            <a:r>
              <a:rPr sz="1150" b="0">
                <a:solidFill>
                  <a:srgbClr val="1F2933"/>
                </a:solidFill>
                <a:latin typeface="微软雅黑" panose="020B0503020204020204" charset="-122"/>
                <a:ea typeface="微软雅黑" panose="020B0503020204020204" charset="-122"/>
                <a:cs typeface="微软雅黑" panose="020B0503020204020204" charset="-122"/>
              </a:rPr>
              <a:t>供给约束 + 真实需求</a:t>
            </a:r>
            <a:r>
              <a:rPr lang="en-US" sz="1150" b="0">
                <a:solidFill>
                  <a:srgbClr val="1F2933"/>
                </a:solidFill>
                <a:latin typeface="微软雅黑" panose="020B0503020204020204" charset="-122"/>
                <a:ea typeface="微软雅黑" panose="020B0503020204020204" charset="-122"/>
                <a:cs typeface="微软雅黑" panose="020B0503020204020204" charset="-122"/>
              </a:rPr>
              <a:t> + </a:t>
            </a:r>
            <a:r>
              <a:rPr lang="zh-CN" altLang="en-US" sz="1150" b="0">
                <a:solidFill>
                  <a:srgbClr val="1F2933"/>
                </a:solidFill>
                <a:latin typeface="微软雅黑" panose="020B0503020204020204" charset="-122"/>
                <a:ea typeface="微软雅黑" panose="020B0503020204020204" charset="-122"/>
                <a:cs typeface="微软雅黑" panose="020B0503020204020204" charset="-122"/>
              </a:rPr>
              <a:t>逆全球化格局</a:t>
            </a:r>
            <a:r>
              <a:rPr sz="1150" b="0">
                <a:solidFill>
                  <a:srgbClr val="1F2933"/>
                </a:solidFill>
                <a:latin typeface="微软雅黑" panose="020B0503020204020204" charset="-122"/>
                <a:ea typeface="微软雅黑" panose="020B0503020204020204" charset="-122"/>
                <a:cs typeface="微软雅黑" panose="020B0503020204020204" charset="-122"/>
              </a:rPr>
              <a:t> → </a:t>
            </a:r>
            <a:r>
              <a:rPr lang="zh-CN" sz="1150" b="0">
                <a:solidFill>
                  <a:srgbClr val="1F2933"/>
                </a:solidFill>
                <a:latin typeface="微软雅黑" panose="020B0503020204020204" charset="-122"/>
                <a:ea typeface="微软雅黑" panose="020B0503020204020204" charset="-122"/>
                <a:cs typeface="微软雅黑" panose="020B0503020204020204" charset="-122"/>
              </a:rPr>
              <a:t>波动率抬升，商品价格高企</a:t>
            </a:r>
            <a:r>
              <a:rPr sz="1150" b="0">
                <a:solidFill>
                  <a:srgbClr val="1F2933"/>
                </a:solidFill>
                <a:latin typeface="微软雅黑" panose="020B0503020204020204" charset="-122"/>
                <a:ea typeface="微软雅黑" panose="020B0503020204020204" charset="-122"/>
                <a:cs typeface="微软雅黑" panose="020B0503020204020204" charset="-122"/>
              </a:rPr>
              <a:t> → 用</a:t>
            </a:r>
            <a:r>
              <a:rPr lang="zh-CN" sz="1150" b="0">
                <a:solidFill>
                  <a:srgbClr val="1F2933"/>
                </a:solidFill>
                <a:latin typeface="微软雅黑" panose="020B0503020204020204" charset="-122"/>
                <a:ea typeface="微软雅黑" panose="020B0503020204020204" charset="-122"/>
                <a:cs typeface="微软雅黑" panose="020B0503020204020204" charset="-122"/>
              </a:rPr>
              <a:t>短周期</a:t>
            </a:r>
            <a:r>
              <a:rPr sz="1150" b="0">
                <a:solidFill>
                  <a:srgbClr val="1F2933"/>
                </a:solidFill>
                <a:latin typeface="微软雅黑" panose="020B0503020204020204" charset="-122"/>
                <a:ea typeface="微软雅黑" panose="020B0503020204020204" charset="-122"/>
                <a:cs typeface="微软雅黑" panose="020B0503020204020204" charset="-122"/>
              </a:rPr>
              <a:t>趋势策略吃波动、</a:t>
            </a:r>
            <a:r>
              <a:rPr lang="zh-CN" sz="1150" b="0">
                <a:solidFill>
                  <a:srgbClr val="1F2933"/>
                </a:solidFill>
                <a:latin typeface="微软雅黑" panose="020B0503020204020204" charset="-122"/>
                <a:ea typeface="微软雅黑" panose="020B0503020204020204" charset="-122"/>
                <a:cs typeface="微软雅黑" panose="020B0503020204020204" charset="-122"/>
              </a:rPr>
              <a:t>部分长周期策略捕捉大行情</a:t>
            </a:r>
            <a:r>
              <a:rPr sz="1150" b="0">
                <a:solidFill>
                  <a:srgbClr val="1F2933"/>
                </a:solidFill>
                <a:latin typeface="微软雅黑" panose="020B0503020204020204" charset="-122"/>
                <a:ea typeface="微软雅黑" panose="020B0503020204020204" charset="-122"/>
                <a:cs typeface="微软雅黑" panose="020B0503020204020204" charset="-122"/>
              </a:rPr>
              <a:t>。</a:t>
            </a:r>
            <a:endParaRPr sz="1150" b="0">
              <a:solidFill>
                <a:srgbClr val="1F2933"/>
              </a:solidFill>
              <a:latin typeface="微软雅黑" panose="020B0503020204020204" charset="-122"/>
              <a:ea typeface="微软雅黑" panose="020B0503020204020204" charset="-122"/>
              <a:cs typeface="微软雅黑" panose="020B0503020204020204" charset="-122"/>
            </a:endParaRPr>
          </a:p>
          <a:p>
            <a:pPr>
              <a:lnSpc>
                <a:spcPct val="118000"/>
              </a:lnSpc>
              <a:spcAft>
                <a:spcPts val="1000"/>
              </a:spcAft>
            </a:pPr>
            <a:r>
              <a:rPr sz="1150" b="1">
                <a:solidFill>
                  <a:srgbClr val="007DC2"/>
                </a:solidFill>
                <a:latin typeface="微软雅黑" panose="020B0503020204020204" charset="-122"/>
                <a:ea typeface="微软雅黑" panose="020B0503020204020204" charset="-122"/>
                <a:cs typeface="微软雅黑" panose="020B0503020204020204" charset="-122"/>
              </a:rPr>
              <a:t>【操作】</a:t>
            </a:r>
            <a:r>
              <a:rPr sz="1150" b="0">
                <a:solidFill>
                  <a:srgbClr val="1F2933"/>
                </a:solidFill>
                <a:latin typeface="微软雅黑" panose="020B0503020204020204" charset="-122"/>
                <a:ea typeface="微软雅黑" panose="020B0503020204020204" charset="-122"/>
                <a:cs typeface="微软雅黑" panose="020B0503020204020204" charset="-122"/>
              </a:rPr>
              <a:t> 商品通过量化 CTA </a:t>
            </a:r>
            <a:r>
              <a:rPr lang="zh-CN" sz="1150" b="0">
                <a:solidFill>
                  <a:srgbClr val="1F2933"/>
                </a:solidFill>
                <a:latin typeface="微软雅黑" panose="020B0503020204020204" charset="-122"/>
                <a:ea typeface="微软雅黑" panose="020B0503020204020204" charset="-122"/>
                <a:cs typeface="微软雅黑" panose="020B0503020204020204" charset="-122"/>
              </a:rPr>
              <a:t>复合</a:t>
            </a:r>
            <a:r>
              <a:rPr sz="1150" b="0">
                <a:solidFill>
                  <a:srgbClr val="1F2933"/>
                </a:solidFill>
                <a:latin typeface="微软雅黑" panose="020B0503020204020204" charset="-122"/>
                <a:ea typeface="微软雅黑" panose="020B0503020204020204" charset="-122"/>
                <a:cs typeface="微软雅黑" panose="020B0503020204020204" charset="-122"/>
              </a:rPr>
              <a:t>趋势策略参与，捕捉价格弹性修复，规避地缘单边风险</a:t>
            </a:r>
            <a:r>
              <a:rPr lang="zh-CN" sz="1150" b="0">
                <a:solidFill>
                  <a:srgbClr val="1F2933"/>
                </a:solidFill>
                <a:latin typeface="微软雅黑" panose="020B0503020204020204" charset="-122"/>
                <a:ea typeface="微软雅黑" panose="020B0503020204020204" charset="-122"/>
                <a:cs typeface="微软雅黑" panose="020B0503020204020204" charset="-122"/>
              </a:rPr>
              <a:t>，同时精选宏观能力</a:t>
            </a:r>
            <a:r>
              <a:rPr lang="en-US" altLang="zh-CN" sz="1150" b="0">
                <a:solidFill>
                  <a:srgbClr val="1F2933"/>
                </a:solidFill>
                <a:latin typeface="微软雅黑" panose="020B0503020204020204" charset="-122"/>
                <a:ea typeface="微软雅黑" panose="020B0503020204020204" charset="-122"/>
                <a:cs typeface="微软雅黑" panose="020B0503020204020204" charset="-122"/>
              </a:rPr>
              <a:t>+</a:t>
            </a:r>
            <a:r>
              <a:rPr lang="zh-CN" altLang="en-US" sz="1150" b="0">
                <a:solidFill>
                  <a:srgbClr val="1F2933"/>
                </a:solidFill>
                <a:latin typeface="微软雅黑" panose="020B0503020204020204" charset="-122"/>
                <a:ea typeface="微软雅黑" panose="020B0503020204020204" charset="-122"/>
                <a:cs typeface="微软雅黑" panose="020B0503020204020204" charset="-122"/>
              </a:rPr>
              <a:t>基本面研究</a:t>
            </a:r>
            <a:r>
              <a:rPr lang="zh-CN" sz="1150" b="0">
                <a:solidFill>
                  <a:srgbClr val="1F2933"/>
                </a:solidFill>
                <a:latin typeface="微软雅黑" panose="020B0503020204020204" charset="-122"/>
                <a:ea typeface="微软雅黑" panose="020B0503020204020204" charset="-122"/>
                <a:cs typeface="微软雅黑" panose="020B0503020204020204" charset="-122"/>
              </a:rPr>
              <a:t>强的主观管理人捕捉基本面主导行情。</a:t>
            </a:r>
            <a:endParaRPr lang="zh-CN" sz="1150" b="0">
              <a:solidFill>
                <a:srgbClr val="1F2933"/>
              </a:solidFill>
              <a:latin typeface="微软雅黑" panose="020B0503020204020204" charset="-122"/>
              <a:ea typeface="微软雅黑" panose="020B0503020204020204" charset="-122"/>
              <a:cs typeface="微软雅黑" panose="020B0503020204020204" charset="-122"/>
            </a:endParaRPr>
          </a:p>
        </p:txBody>
      </p:sp>
      <p:pic>
        <p:nvPicPr>
          <p:cNvPr id="49" name="参考模板浅蓝背景弧线"/>
          <p:cNvPicPr/>
          <p:nvPr/>
        </p:nvPicPr>
        <p:blipFill>
          <a:blip r:embed="rId2"/>
          <a:stretch>
            <a:fillRect/>
          </a:stretch>
        </p:blipFill>
        <p:spPr>
          <a:xfrm>
            <a:off x="4457700" y="0"/>
            <a:ext cx="3143250" cy="495300"/>
          </a:xfrm>
          <a:prstGeom prst="rect">
            <a:avLst/>
          </a:prstGeom>
          <a:noFill/>
          <a:ln>
            <a:noFill/>
          </a:ln>
        </p:spPr>
      </p:pic>
      <p:pic>
        <p:nvPicPr>
          <p:cNvPr id="50" name="参考模板右上角标识"/>
          <p:cNvPicPr/>
          <p:nvPr/>
        </p:nvPicPr>
        <p:blipFill>
          <a:blip r:embed="rId3"/>
          <a:stretch>
            <a:fillRect/>
          </a:stretch>
        </p:blipFill>
        <p:spPr>
          <a:xfrm>
            <a:off x="9696450" y="209550"/>
            <a:ext cx="1733550" cy="390525"/>
          </a:xfrm>
          <a:prstGeom prst="rect">
            <a:avLst/>
          </a:prstGeom>
          <a:noFill/>
          <a:ln>
            <a:noFill/>
          </a:ln>
        </p:spPr>
      </p:pic>
    </p:spTree>
  </p:cSld>
  <p:clrMapOvr>
    <a:masterClrMapping/>
  </p:clrMapOvr>
</p:sld>
</file>

<file path=ppt/slides/slide13.xml><?xml version="1.0" encoding="utf-8"?>
<p:sld xmlns:p="http://schemas.openxmlformats.org/presentationml/2006/main" xmlns:r="http://schemas.openxmlformats.org/officeDocument/2006/relationships" xmlns:a="http://schemas.openxmlformats.org/drawingml/2006/main" xmlns:asvg="http://schemas.microsoft.com/office/drawing/2016/SVG/main" xmlns:mc="http://schemas.openxmlformats.org/markup-compatibility/2006" mc:Ignorable="asvg">
  <p:cSld>
    <p:spTree>
      <p:nvGrpSpPr>
        <p:cNvPr id="49" name=""/>
        <p:cNvGrpSpPr/>
        <p:nvPr/>
      </p:nvGrpSpPr>
      <p:grpSpPr>
        <a:xfrm>
          <a:off x="0" y="0"/>
          <a:ext cx="0" cy="0"/>
          <a:chOff x="0" y="0"/>
          <a:chExt cx="0" cy="0"/>
        </a:xfrm>
      </p:grpSpPr>
      <p:sp>
        <p:nvSpPr>
          <p:cNvPr id="50" name="Rectangle 1"/>
          <p:cNvSpPr/>
          <p:nvPr/>
        </p:nvSpPr>
        <p:spPr>
          <a:xfrm>
            <a:off x="502920" y="457200"/>
            <a:ext cx="82296" cy="566928"/>
          </a:xfrm>
          <a:prstGeom prst="rect">
            <a:avLst/>
          </a:prstGeom>
          <a:solidFill>
            <a:srgbClr val="0070C0"/>
          </a:solidFill>
          <a:ln>
            <a:noFill/>
          </a:ln>
          <a:effectLst/>
        </p:spPr>
        <p:style>
          <a:lnRef idx="1">
            <a:srgbClr val="0070C0"/>
          </a:lnRef>
          <a:fillRef idx="3">
            <a:srgbClr val="0070C0"/>
          </a:fillRef>
          <a:effectRef idx="2">
            <a:srgbClr val="0070C0"/>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51" name="TextBox 2"/>
          <p:cNvSpPr txBox="1"/>
          <p:nvPr/>
        </p:nvSpPr>
        <p:spPr>
          <a:xfrm>
            <a:off x="713232" y="480949"/>
            <a:ext cx="9601200" cy="519430"/>
          </a:xfrm>
          <a:prstGeom prst="rect">
            <a:avLst/>
          </a:prstGeom>
          <a:noFill/>
        </p:spPr>
        <p:txBody>
          <a:bodyPr wrap="square" lIns="0" tIns="0" rIns="0" bIns="0" anchor="ctr">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lang="zh-CN" altLang="en-US" sz="2600" b="1" noProof="0" dirty="0">
                <a:ln>
                  <a:noFill/>
                </a:ln>
                <a:solidFill>
                  <a:srgbClr val="1C4274"/>
                </a:solidFill>
                <a:effectLst/>
                <a:uLnTx/>
                <a:uFillTx/>
                <a:latin typeface="微软雅黑" panose="020B0503020204020204" charset="-122"/>
                <a:ea typeface="微软雅黑" panose="020B0503020204020204" charset="-122"/>
                <a:sym typeface="Poppins"/>
              </a:rPr>
              <a:t>为什么明年要重视商品的配置</a:t>
            </a:r>
            <a:r>
              <a:rPr lang="en-US" altLang="zh-CN" sz="2600" b="1" noProof="0" dirty="0">
                <a:ln>
                  <a:noFill/>
                </a:ln>
                <a:solidFill>
                  <a:srgbClr val="1C4274"/>
                </a:solidFill>
                <a:effectLst/>
                <a:uLnTx/>
                <a:uFillTx/>
                <a:latin typeface="微软雅黑" panose="020B0503020204020204" charset="-122"/>
                <a:ea typeface="微软雅黑" panose="020B0503020204020204" charset="-122"/>
                <a:sym typeface="Poppins"/>
              </a:rPr>
              <a:t>-</a:t>
            </a:r>
            <a:r>
              <a:rPr lang="zh-CN" altLang="en-US" sz="2600" b="1" noProof="0" dirty="0" err="1">
                <a:ln>
                  <a:noFill/>
                </a:ln>
                <a:solidFill>
                  <a:srgbClr val="1C4274"/>
                </a:solidFill>
                <a:effectLst/>
                <a:uLnTx/>
                <a:uFillTx/>
                <a:latin typeface="微软雅黑" panose="020B0503020204020204" charset="-122"/>
                <a:ea typeface="微软雅黑" panose="020B0503020204020204" charset="-122"/>
                <a:sym typeface="Poppins"/>
              </a:rPr>
              <a:t>政治</a:t>
            </a:r>
            <a:r>
              <a:rPr lang="en-US" altLang="zh-CN" sz="2600" b="1" noProof="0" dirty="0" err="1">
                <a:ln>
                  <a:noFill/>
                </a:ln>
                <a:solidFill>
                  <a:srgbClr val="1C4274"/>
                </a:solidFill>
                <a:effectLst/>
                <a:uLnTx/>
                <a:uFillTx/>
                <a:latin typeface="微软雅黑" panose="020B0503020204020204" charset="-122"/>
                <a:ea typeface="微软雅黑" panose="020B0503020204020204" charset="-122"/>
                <a:sym typeface="Poppins"/>
              </a:rPr>
              <a:t>博弈</a:t>
            </a:r>
            <a:endParaRPr lang="en-US" altLang="zh-CN" sz="2600" b="1" noProof="0" dirty="0">
              <a:ln>
                <a:noFill/>
              </a:ln>
              <a:solidFill>
                <a:srgbClr val="1C4274"/>
              </a:solidFill>
              <a:effectLst/>
              <a:uLnTx/>
              <a:uFillTx/>
              <a:latin typeface="微软雅黑" panose="020B0503020204020204" charset="-122"/>
              <a:ea typeface="微软雅黑" panose="020B0503020204020204" charset="-122"/>
              <a:sym typeface="Poppins"/>
            </a:endParaRPr>
          </a:p>
        </p:txBody>
      </p:sp>
      <p:sp>
        <p:nvSpPr>
          <p:cNvPr id="52" name="Rectangle 4"/>
          <p:cNvSpPr/>
          <p:nvPr/>
        </p:nvSpPr>
        <p:spPr>
          <a:xfrm>
            <a:off x="502920" y="1005840"/>
            <a:ext cx="2011680" cy="27940"/>
          </a:xfrm>
          <a:prstGeom prst="rect">
            <a:avLst/>
          </a:prstGeom>
          <a:solidFill>
            <a:srgbClr val="54B0E0"/>
          </a:solidFill>
          <a:ln>
            <a:noFill/>
          </a:ln>
          <a:effectLst/>
        </p:spPr>
        <p:style>
          <a:lnRef idx="1">
            <a:srgbClr val="0070C0"/>
          </a:lnRef>
          <a:fillRef idx="3">
            <a:srgbClr val="0070C0"/>
          </a:fillRef>
          <a:effectRef idx="2">
            <a:srgbClr val="0070C0"/>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53" name="Rectangle 5"/>
          <p:cNvSpPr/>
          <p:nvPr/>
        </p:nvSpPr>
        <p:spPr>
          <a:xfrm>
            <a:off x="502920" y="1060704"/>
            <a:ext cx="11183112" cy="11430"/>
          </a:xfrm>
          <a:prstGeom prst="rect">
            <a:avLst/>
          </a:prstGeom>
          <a:solidFill>
            <a:srgbClr val="AED5EB"/>
          </a:solidFill>
          <a:ln>
            <a:noFill/>
          </a:ln>
          <a:effectLst/>
        </p:spPr>
        <p:style>
          <a:lnRef idx="1">
            <a:srgbClr val="0070C0"/>
          </a:lnRef>
          <a:fillRef idx="3">
            <a:srgbClr val="0070C0"/>
          </a:fillRef>
          <a:effectRef idx="2">
            <a:srgbClr val="0070C0"/>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54" name="TextBox 8"/>
          <p:cNvSpPr txBox="1"/>
          <p:nvPr/>
        </p:nvSpPr>
        <p:spPr>
          <a:xfrm>
            <a:off x="502920" y="6455664"/>
            <a:ext cx="7315200" cy="274320"/>
          </a:xfrm>
          <a:prstGeom prst="rect">
            <a:avLst/>
          </a:prstGeom>
          <a:noFill/>
        </p:spPr>
        <p:txBody>
          <a:bodyPr wrap="square" lIns="0" tIns="0" rIns="0" bIns="0" anchor="t">
            <a:spAutoFit/>
          </a:bodyPr>
          <a:lstStyle/>
          <a:p>
            <a:pPr algn="l">
              <a:lnSpc>
                <a:spcPct val="115000"/>
              </a:lnSpc>
              <a:spcAft>
                <a:spcPts val="600"/>
              </a:spcAft>
            </a:pPr>
            <a:r>
              <a:rPr sz="900" b="0">
                <a:solidFill>
                  <a:srgbClr val="1C4274"/>
                </a:solidFill>
                <a:latin typeface="微软雅黑" panose="020B0503020204020204" charset="-122"/>
                <a:ea typeface="微软雅黑" panose="020B0503020204020204" charset="-122"/>
                <a:cs typeface="微软雅黑" panose="020B0503020204020204" charset="-122"/>
              </a:rPr>
              <a:t>近期宏观变化及资产配置 · 2026.09</a:t>
            </a:r>
            <a:endParaRPr sz="900" b="0">
              <a:solidFill>
                <a:srgbClr val="1C4274"/>
              </a:solidFill>
              <a:latin typeface="微软雅黑" panose="020B0503020204020204" charset="-122"/>
              <a:ea typeface="微软雅黑" panose="020B0503020204020204" charset="-122"/>
              <a:cs typeface="微软雅黑" panose="020B0503020204020204" charset="-122"/>
            </a:endParaRPr>
          </a:p>
        </p:txBody>
      </p:sp>
      <p:sp>
        <p:nvSpPr>
          <p:cNvPr id="55" name="TextBox 9"/>
          <p:cNvSpPr txBox="1"/>
          <p:nvPr/>
        </p:nvSpPr>
        <p:spPr>
          <a:xfrm>
            <a:off x="10789920" y="6455664"/>
            <a:ext cx="914400" cy="274320"/>
          </a:xfrm>
          <a:prstGeom prst="rect">
            <a:avLst/>
          </a:prstGeom>
          <a:noFill/>
        </p:spPr>
        <p:txBody>
          <a:bodyPr wrap="square" lIns="0" tIns="0" rIns="0" bIns="0" anchor="t">
            <a:spAutoFit/>
          </a:bodyPr>
          <a:lstStyle/>
          <a:p>
            <a:pPr algn="r">
              <a:lnSpc>
                <a:spcPct val="115000"/>
              </a:lnSpc>
              <a:spcAft>
                <a:spcPts val="600"/>
              </a:spcAft>
            </a:pPr>
            <a:r>
              <a:rPr sz="1000" b="0">
                <a:solidFill>
                  <a:srgbClr val="1C4274"/>
                </a:solidFill>
                <a:latin typeface="微软雅黑" panose="020B0503020204020204" charset="-122"/>
                <a:ea typeface="微软雅黑" panose="020B0503020204020204" charset="-122"/>
                <a:cs typeface="微软雅黑" panose="020B0503020204020204" charset="-122"/>
              </a:rPr>
              <a:t>14</a:t>
            </a:r>
            <a:endParaRPr sz="1000" b="0">
              <a:solidFill>
                <a:srgbClr val="1C4274"/>
              </a:solidFill>
              <a:latin typeface="微软雅黑" panose="020B0503020204020204" charset="-122"/>
              <a:ea typeface="微软雅黑" panose="020B0503020204020204" charset="-122"/>
              <a:cs typeface="微软雅黑" panose="020B0503020204020204" charset="-122"/>
            </a:endParaRPr>
          </a:p>
        </p:txBody>
      </p:sp>
      <p:pic>
        <p:nvPicPr>
          <p:cNvPr id="56" name="Picture 4"/>
          <p:cNvPicPr>
            <a:picLocks noChangeAspect="1"/>
          </p:cNvPicPr>
          <p:nvPr/>
        </p:nvPicPr>
        <p:blipFill>
          <a:blip>
            <a:duotone>
              <a:srgbClr val="1C4274"/>
              <a:srgbClr val="EAF6FC"/>
            </a:duotone>
            <a:extLst>
              <a:ext uri="{96DAC541-7B7A-43D3-8B79-37D633B846F1}">
                <asvg:svgBlip r:embed="rId2"/>
              </a:ext>
            </a:extLst>
          </a:blip>
          <a:stretch>
            <a:fillRect/>
          </a:stretch>
        </p:blipFill>
        <p:spPr>
          <a:xfrm>
            <a:off x="762000" y="1676400"/>
            <a:ext cx="355600" cy="355600"/>
          </a:xfrm>
          <a:prstGeom prst="rect">
            <a:avLst/>
          </a:prstGeom>
        </p:spPr>
      </p:pic>
      <p:sp>
        <p:nvSpPr>
          <p:cNvPr id="57" name="AutoShape 5"/>
          <p:cNvSpPr/>
          <p:nvPr/>
        </p:nvSpPr>
        <p:spPr>
          <a:xfrm>
            <a:off x="1320800" y="1676400"/>
            <a:ext cx="4826000" cy="3048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Tx/>
              <a:buSzTx/>
              <a:buFontTx/>
              <a:buNone/>
              <a:defRPr/>
            </a:pPr>
            <a:r>
              <a:rPr kumimoji="0" lang="en-US" sz="1800" b="1" i="0" u="none" strike="noStrike" kern="1200" cap="none" spc="0" normalizeH="0" baseline="0" noProof="0">
                <a:ln>
                  <a:noFill/>
                </a:ln>
                <a:solidFill>
                  <a:srgbClr val="1C4274"/>
                </a:solidFill>
                <a:effectLst/>
                <a:uLnTx/>
                <a:uFillTx/>
                <a:latin typeface="微软雅黑" panose="020B0503020204020204" charset="-122"/>
                <a:ea typeface="微软雅黑" panose="020B0503020204020204" charset="-122"/>
                <a:cs typeface="Poppins"/>
                <a:sym typeface="Poppins"/>
              </a:rPr>
              <a:t>关键矿产争夺</a:t>
            </a:r>
            <a:endParaRPr kumimoji="0" lang="en-US" sz="1100" b="0" i="0" u="none" strike="noStrike" kern="1200" cap="none" spc="0" normalizeH="0" baseline="0" noProof="0">
              <a:ln>
                <a:noFill/>
              </a:ln>
              <a:solidFill>
                <a:srgbClr val="1C4274"/>
              </a:solidFill>
              <a:effectLst/>
              <a:uLnTx/>
              <a:uFillTx/>
              <a:latin typeface="微软雅黑" panose="020B0503020204020204" charset="-122"/>
              <a:ea typeface="微软雅黑" panose="020B0503020204020204" charset="-122"/>
              <a:cs typeface="+mn-cs"/>
            </a:endParaRPr>
          </a:p>
        </p:txBody>
      </p:sp>
      <p:sp>
        <p:nvSpPr>
          <p:cNvPr id="58" name="AutoShape 6"/>
          <p:cNvSpPr/>
          <p:nvPr/>
        </p:nvSpPr>
        <p:spPr>
          <a:xfrm>
            <a:off x="1320800" y="2082800"/>
            <a:ext cx="4165600" cy="838200"/>
          </a:xfrm>
          <a:prstGeom prst="rect">
            <a:avLst/>
          </a:prstGeom>
          <a:noFill/>
          <a:ln w="12700" cap="flat" cmpd="sng">
            <a:noFill/>
            <a:prstDash val="solid"/>
            <a:round/>
          </a:ln>
        </p:spPr>
        <p:txBody>
          <a:bodyPr vert="horz" wrap="square" lIns="0" tIns="0" rIns="0" bIns="0" rtlCol="0" anchor="t" anchorCtr="0"/>
          <a:lstStyle/>
          <a:p>
            <a:pPr marL="0" marR="0" lvl="0" indent="0" algn="l" defTabSz="914400" rtl="0" eaLnBrk="1" fontAlgn="auto" latinLnBrk="0" hangingPunct="1">
              <a:lnSpc>
                <a:spcPct val="125000"/>
              </a:lnSpc>
              <a:spcBef>
                <a:spcPts val="0"/>
              </a:spcBef>
              <a:spcAft>
                <a:spcPts val="0"/>
              </a:spcAft>
              <a:buClrTx/>
              <a:buSzTx/>
              <a:buFontTx/>
              <a:buNone/>
              <a:defRPr/>
            </a:pPr>
            <a:r>
              <a:rPr kumimoji="0" lang="en-US" sz="1400" b="0" i="0" u="none" strike="noStrike" kern="1200" cap="none" spc="0" normalizeH="0" baseline="0" noProof="0" dirty="0" err="1">
                <a:ln>
                  <a:noFill/>
                </a:ln>
                <a:solidFill>
                  <a:srgbClr val="1C4274"/>
                </a:solidFill>
                <a:effectLst/>
                <a:uLnTx/>
                <a:uFillTx/>
                <a:latin typeface="微软雅黑" panose="020B0503020204020204" charset="-122"/>
                <a:ea typeface="微软雅黑" panose="020B0503020204020204" charset="-122"/>
                <a:cs typeface="Poppins"/>
                <a:sym typeface="Poppins"/>
              </a:rPr>
              <a:t>中美两国都将稀土、锂、钴、铜等关键矿产</a:t>
            </a:r>
            <a:r>
              <a:rPr kumimoji="0" lang="zh-CN" altLang="en-US" sz="1400" b="0" i="0" u="none" strike="noStrike" kern="1200" cap="none" spc="0" normalizeH="0" baseline="0" noProof="0" dirty="0" err="1">
                <a:ln>
                  <a:noFill/>
                </a:ln>
                <a:solidFill>
                  <a:srgbClr val="1C4274"/>
                </a:solidFill>
                <a:effectLst/>
                <a:uLnTx/>
                <a:uFillTx/>
                <a:latin typeface="微软雅黑" panose="020B0503020204020204" charset="-122"/>
                <a:ea typeface="微软雅黑" panose="020B0503020204020204" charset="-122"/>
                <a:cs typeface="Poppins"/>
                <a:sym typeface="Poppins"/>
              </a:rPr>
              <a:t>上升安全议题</a:t>
            </a:r>
            <a:r>
              <a:rPr kumimoji="0" lang="en-US" sz="1400" b="0" i="0" u="none" strike="noStrike" kern="1200" cap="none" spc="0" normalizeH="0" baseline="0" noProof="0" dirty="0" err="1">
                <a:ln>
                  <a:noFill/>
                </a:ln>
                <a:solidFill>
                  <a:srgbClr val="1C4274"/>
                </a:solidFill>
                <a:effectLst/>
                <a:uLnTx/>
                <a:uFillTx/>
                <a:latin typeface="微软雅黑" panose="020B0503020204020204" charset="-122"/>
                <a:ea typeface="微软雅黑" panose="020B0503020204020204" charset="-122"/>
                <a:cs typeface="Poppins"/>
                <a:sym typeface="Poppins"/>
              </a:rPr>
              <a:t>，并在全球范围内展开了激烈的争夺</a:t>
            </a:r>
            <a:r>
              <a:rPr kumimoji="0" lang="en-US" sz="1400" b="0" i="0" u="none" strike="noStrike" kern="1200" cap="none" spc="0" normalizeH="0" baseline="0" noProof="0" dirty="0">
                <a:ln>
                  <a:noFill/>
                </a:ln>
                <a:solidFill>
                  <a:srgbClr val="1C4274"/>
                </a:solidFill>
                <a:effectLst/>
                <a:uLnTx/>
                <a:uFillTx/>
                <a:latin typeface="微软雅黑" panose="020B0503020204020204" charset="-122"/>
                <a:ea typeface="微软雅黑" panose="020B0503020204020204" charset="-122"/>
                <a:cs typeface="Poppins"/>
                <a:sym typeface="Poppins"/>
              </a:rPr>
              <a:t>。</a:t>
            </a:r>
            <a:endParaRPr kumimoji="0" lang="en-US" sz="1100" b="0" i="0" u="none" strike="noStrike" kern="1200" cap="none" spc="0" normalizeH="0" baseline="0" noProof="0" dirty="0">
              <a:ln>
                <a:noFill/>
              </a:ln>
              <a:solidFill>
                <a:srgbClr val="1C4274"/>
              </a:solidFill>
              <a:effectLst/>
              <a:uLnTx/>
              <a:uFillTx/>
              <a:latin typeface="微软雅黑" panose="020B0503020204020204" charset="-122"/>
              <a:ea typeface="微软雅黑" panose="020B0503020204020204" charset="-122"/>
              <a:cs typeface="+mn-cs"/>
            </a:endParaRPr>
          </a:p>
        </p:txBody>
      </p:sp>
      <p:pic>
        <p:nvPicPr>
          <p:cNvPr id="59" name="Picture 7"/>
          <p:cNvPicPr>
            <a:picLocks noChangeAspect="1"/>
          </p:cNvPicPr>
          <p:nvPr/>
        </p:nvPicPr>
        <p:blipFill>
          <a:blip>
            <a:duotone>
              <a:srgbClr val="1C4274"/>
              <a:srgbClr val="EAF6FC"/>
            </a:duotone>
            <a:extLst>
              <a:ext uri="{96DAC541-7B7A-43D3-8B79-37D633B846F1}">
                <asvg:svgBlip r:embed="rId3"/>
              </a:ext>
            </a:extLst>
          </a:blip>
          <a:stretch>
            <a:fillRect/>
          </a:stretch>
        </p:blipFill>
        <p:spPr>
          <a:xfrm>
            <a:off x="762000" y="3175000"/>
            <a:ext cx="355600" cy="355600"/>
          </a:xfrm>
          <a:prstGeom prst="rect">
            <a:avLst/>
          </a:prstGeom>
        </p:spPr>
      </p:pic>
      <p:sp>
        <p:nvSpPr>
          <p:cNvPr id="60" name="AutoShape 8"/>
          <p:cNvSpPr/>
          <p:nvPr/>
        </p:nvSpPr>
        <p:spPr>
          <a:xfrm>
            <a:off x="1320800" y="3200400"/>
            <a:ext cx="4826000" cy="3048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Tx/>
              <a:buSzTx/>
              <a:buFontTx/>
              <a:buNone/>
              <a:defRPr/>
            </a:pPr>
            <a:r>
              <a:rPr kumimoji="0" lang="en-US" sz="1800" b="1" i="0" u="none" strike="noStrike" kern="1200" cap="none" spc="0" normalizeH="0" baseline="0" noProof="0">
                <a:ln>
                  <a:noFill/>
                </a:ln>
                <a:solidFill>
                  <a:srgbClr val="1C4274"/>
                </a:solidFill>
                <a:effectLst/>
                <a:uLnTx/>
                <a:uFillTx/>
                <a:latin typeface="微软雅黑" panose="020B0503020204020204" charset="-122"/>
                <a:ea typeface="微软雅黑" panose="020B0503020204020204" charset="-122"/>
                <a:cs typeface="Poppins"/>
                <a:sym typeface="Poppins"/>
              </a:rPr>
              <a:t>供应链脱钩</a:t>
            </a:r>
            <a:endParaRPr kumimoji="0" lang="en-US" sz="1100" b="0" i="0" u="none" strike="noStrike" kern="1200" cap="none" spc="0" normalizeH="0" baseline="0" noProof="0">
              <a:ln>
                <a:noFill/>
              </a:ln>
              <a:solidFill>
                <a:srgbClr val="1C4274"/>
              </a:solidFill>
              <a:effectLst/>
              <a:uLnTx/>
              <a:uFillTx/>
              <a:latin typeface="微软雅黑" panose="020B0503020204020204" charset="-122"/>
              <a:ea typeface="微软雅黑" panose="020B0503020204020204" charset="-122"/>
              <a:cs typeface="+mn-cs"/>
            </a:endParaRPr>
          </a:p>
        </p:txBody>
      </p:sp>
      <p:sp>
        <p:nvSpPr>
          <p:cNvPr id="61" name="AutoShape 9"/>
          <p:cNvSpPr/>
          <p:nvPr/>
        </p:nvSpPr>
        <p:spPr>
          <a:xfrm>
            <a:off x="1320800" y="3606800"/>
            <a:ext cx="4165600" cy="838200"/>
          </a:xfrm>
          <a:prstGeom prst="rect">
            <a:avLst/>
          </a:prstGeom>
          <a:noFill/>
          <a:ln w="12700" cap="flat" cmpd="sng">
            <a:noFill/>
            <a:prstDash val="solid"/>
            <a:round/>
          </a:ln>
        </p:spPr>
        <p:txBody>
          <a:bodyPr vert="horz" wrap="square" lIns="0" tIns="0" rIns="0" bIns="0" rtlCol="0" anchor="t" anchorCtr="0"/>
          <a:lstStyle/>
          <a:p>
            <a:pPr marL="0" marR="0" lvl="0" indent="0" algn="l" defTabSz="914400" rtl="0" eaLnBrk="1" fontAlgn="auto" latinLnBrk="0" hangingPunct="1">
              <a:lnSpc>
                <a:spcPct val="125000"/>
              </a:lnSpc>
              <a:spcBef>
                <a:spcPts val="0"/>
              </a:spcBef>
              <a:spcAft>
                <a:spcPts val="0"/>
              </a:spcAft>
              <a:buClrTx/>
              <a:buSzTx/>
              <a:buFontTx/>
              <a:buNone/>
              <a:defRPr/>
            </a:pPr>
            <a:r>
              <a:rPr kumimoji="0" lang="en-US" sz="1400" b="0" i="0" u="none" strike="noStrike" kern="1200" cap="none" spc="0" normalizeH="0" baseline="0" noProof="0" dirty="0" err="1">
                <a:ln>
                  <a:noFill/>
                </a:ln>
                <a:solidFill>
                  <a:srgbClr val="1C4274"/>
                </a:solidFill>
                <a:effectLst/>
                <a:uLnTx/>
                <a:uFillTx/>
                <a:latin typeface="微软雅黑" panose="020B0503020204020204" charset="-122"/>
                <a:ea typeface="微软雅黑" panose="020B0503020204020204" charset="-122"/>
                <a:cs typeface="Poppins"/>
                <a:sym typeface="Poppins"/>
              </a:rPr>
              <a:t>为降低依赖，</a:t>
            </a:r>
            <a:r>
              <a:rPr kumimoji="0" lang="zh-CN" altLang="en-US" sz="1400" b="0" i="0" u="none" strike="noStrike" kern="1200" cap="none" spc="0" normalizeH="0" baseline="0" noProof="0" dirty="0" err="1">
                <a:ln>
                  <a:noFill/>
                </a:ln>
                <a:solidFill>
                  <a:srgbClr val="1C4274"/>
                </a:solidFill>
                <a:effectLst/>
                <a:uLnTx/>
                <a:uFillTx/>
                <a:latin typeface="微软雅黑" panose="020B0503020204020204" charset="-122"/>
                <a:ea typeface="微软雅黑" panose="020B0503020204020204" charset="-122"/>
                <a:cs typeface="Poppins"/>
                <a:sym typeface="Poppins"/>
              </a:rPr>
              <a:t>中美等大国</a:t>
            </a:r>
            <a:r>
              <a:rPr kumimoji="0" lang="en-US" sz="1400" b="0" i="0" u="none" strike="noStrike" kern="1200" cap="none" spc="0" normalizeH="0" baseline="0" noProof="0" dirty="0" err="1">
                <a:ln>
                  <a:noFill/>
                </a:ln>
                <a:solidFill>
                  <a:srgbClr val="1C4274"/>
                </a:solidFill>
                <a:effectLst/>
                <a:uLnTx/>
                <a:uFillTx/>
                <a:latin typeface="微软雅黑" panose="020B0503020204020204" charset="-122"/>
                <a:ea typeface="微软雅黑" panose="020B0503020204020204" charset="-122"/>
                <a:cs typeface="Poppins"/>
                <a:sym typeface="Poppins"/>
              </a:rPr>
              <a:t>推动供应链本土化或区域化，这增加了成本，并可能导致资源错配</a:t>
            </a:r>
            <a:r>
              <a:rPr kumimoji="0" lang="zh-CN" altLang="en-US" sz="1400" b="0" i="0" u="none" strike="noStrike" kern="1200" cap="none" spc="0" normalizeH="0" baseline="0" noProof="0" dirty="0" err="1">
                <a:ln>
                  <a:noFill/>
                </a:ln>
                <a:solidFill>
                  <a:srgbClr val="1C4274"/>
                </a:solidFill>
                <a:effectLst/>
                <a:uLnTx/>
                <a:uFillTx/>
                <a:latin typeface="微软雅黑" panose="020B0503020204020204" charset="-122"/>
                <a:ea typeface="微软雅黑" panose="020B0503020204020204" charset="-122"/>
                <a:cs typeface="Poppins"/>
                <a:sym typeface="Poppins"/>
              </a:rPr>
              <a:t>；</a:t>
            </a:r>
            <a:r>
              <a:rPr kumimoji="0" lang="zh-CN" altLang="en-US" sz="1400" b="0" i="0" u="none" strike="noStrike" kern="1200" cap="none" spc="0" normalizeH="0" baseline="0" noProof="0" dirty="0">
                <a:ln>
                  <a:noFill/>
                </a:ln>
                <a:solidFill>
                  <a:srgbClr val="1C4274"/>
                </a:solidFill>
                <a:effectLst/>
                <a:uLnTx/>
                <a:uFillTx/>
                <a:latin typeface="微软雅黑" panose="020B0503020204020204" charset="-122"/>
                <a:ea typeface="微软雅黑" panose="020B0503020204020204" charset="-122"/>
                <a:cs typeface="Poppins"/>
                <a:sym typeface="Poppins"/>
              </a:rPr>
              <a:t>供给侧的扰动已经成为常态变量，而不是尾部风险；</a:t>
            </a:r>
            <a:endParaRPr kumimoji="0" lang="zh-CN" altLang="en-US" sz="1400" b="0" i="0" u="none" strike="noStrike" kern="1200" cap="none" spc="0" normalizeH="0" baseline="0" noProof="0" dirty="0">
              <a:ln>
                <a:noFill/>
              </a:ln>
              <a:solidFill>
                <a:srgbClr val="1C4274"/>
              </a:solidFill>
              <a:effectLst/>
              <a:uLnTx/>
              <a:uFillTx/>
              <a:latin typeface="微软雅黑" panose="020B0503020204020204" charset="-122"/>
              <a:ea typeface="微软雅黑" panose="020B0503020204020204" charset="-122"/>
              <a:cs typeface="Poppins"/>
              <a:sym typeface="Poppins"/>
            </a:endParaRPr>
          </a:p>
        </p:txBody>
      </p:sp>
      <p:pic>
        <p:nvPicPr>
          <p:cNvPr id="62" name="Picture 10"/>
          <p:cNvPicPr>
            <a:picLocks noChangeAspect="1"/>
          </p:cNvPicPr>
          <p:nvPr/>
        </p:nvPicPr>
        <p:blipFill>
          <a:blip>
            <a:duotone>
              <a:srgbClr val="1C4274"/>
              <a:srgbClr val="EAF6FC"/>
            </a:duotone>
            <a:extLst>
              <a:ext uri="{96DAC541-7B7A-43D3-8B79-37D633B846F1}">
                <asvg:svgBlip r:embed="rId4"/>
              </a:ext>
            </a:extLst>
          </a:blip>
          <a:stretch>
            <a:fillRect/>
          </a:stretch>
        </p:blipFill>
        <p:spPr>
          <a:xfrm>
            <a:off x="762000" y="4727575"/>
            <a:ext cx="355600" cy="355600"/>
          </a:xfrm>
          <a:prstGeom prst="rect">
            <a:avLst/>
          </a:prstGeom>
        </p:spPr>
      </p:pic>
      <p:sp>
        <p:nvSpPr>
          <p:cNvPr id="63" name="AutoShape 11"/>
          <p:cNvSpPr/>
          <p:nvPr/>
        </p:nvSpPr>
        <p:spPr>
          <a:xfrm>
            <a:off x="1320800" y="4724400"/>
            <a:ext cx="4826000" cy="3048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Tx/>
              <a:buSzTx/>
              <a:buFontTx/>
              <a:buNone/>
              <a:defRPr/>
            </a:pPr>
            <a:r>
              <a:rPr kumimoji="0" lang="en-US" sz="1800" b="1" i="0" u="none" strike="noStrike" kern="1200" cap="none" spc="0" normalizeH="0" baseline="0" noProof="0">
                <a:ln>
                  <a:noFill/>
                </a:ln>
                <a:solidFill>
                  <a:srgbClr val="1C4274"/>
                </a:solidFill>
                <a:effectLst/>
                <a:uLnTx/>
                <a:uFillTx/>
                <a:latin typeface="微软雅黑" panose="020B0503020204020204" charset="-122"/>
                <a:ea typeface="微软雅黑" panose="020B0503020204020204" charset="-122"/>
                <a:cs typeface="Poppins"/>
                <a:sym typeface="Poppins"/>
              </a:rPr>
              <a:t>地缘风险溢价</a:t>
            </a:r>
            <a:endParaRPr kumimoji="0" lang="en-US" sz="1100" b="0" i="0" u="none" strike="noStrike" kern="1200" cap="none" spc="0" normalizeH="0" baseline="0" noProof="0">
              <a:ln>
                <a:noFill/>
              </a:ln>
              <a:solidFill>
                <a:srgbClr val="1C4274"/>
              </a:solidFill>
              <a:effectLst/>
              <a:uLnTx/>
              <a:uFillTx/>
              <a:latin typeface="微软雅黑" panose="020B0503020204020204" charset="-122"/>
              <a:ea typeface="微软雅黑" panose="020B0503020204020204" charset="-122"/>
              <a:cs typeface="+mn-cs"/>
            </a:endParaRPr>
          </a:p>
        </p:txBody>
      </p:sp>
      <p:sp>
        <p:nvSpPr>
          <p:cNvPr id="64" name="AutoShape 12"/>
          <p:cNvSpPr/>
          <p:nvPr/>
        </p:nvSpPr>
        <p:spPr>
          <a:xfrm>
            <a:off x="1320800" y="5130800"/>
            <a:ext cx="4165600" cy="838200"/>
          </a:xfrm>
          <a:prstGeom prst="rect">
            <a:avLst/>
          </a:prstGeom>
          <a:noFill/>
          <a:ln w="12700" cap="flat" cmpd="sng">
            <a:noFill/>
            <a:prstDash val="solid"/>
            <a:round/>
          </a:ln>
        </p:spPr>
        <p:txBody>
          <a:bodyPr vert="horz" wrap="square" lIns="0" tIns="0" rIns="0" bIns="0" rtlCol="0" anchor="t" anchorCtr="0"/>
          <a:lstStyle/>
          <a:p>
            <a:pPr marL="0" marR="0" lvl="0" indent="0" algn="l" defTabSz="914400" rtl="0" eaLnBrk="1" fontAlgn="auto" latinLnBrk="0" hangingPunct="1">
              <a:lnSpc>
                <a:spcPct val="125000"/>
              </a:lnSpc>
              <a:spcBef>
                <a:spcPts val="0"/>
              </a:spcBef>
              <a:spcAft>
                <a:spcPts val="0"/>
              </a:spcAft>
              <a:buClrTx/>
              <a:buSzTx/>
              <a:buFontTx/>
              <a:buNone/>
              <a:defRPr/>
            </a:pPr>
            <a:r>
              <a:rPr kumimoji="0" lang="en-US" sz="1400" b="0" i="0" u="none" strike="noStrike" kern="1200" cap="none" spc="0" normalizeH="0" baseline="0" noProof="0" dirty="0" err="1">
                <a:ln>
                  <a:noFill/>
                </a:ln>
                <a:solidFill>
                  <a:srgbClr val="1C4274"/>
                </a:solidFill>
                <a:effectLst/>
                <a:uLnTx/>
                <a:uFillTx/>
                <a:latin typeface="微软雅黑" panose="020B0503020204020204" charset="-122"/>
                <a:ea typeface="微软雅黑" panose="020B0503020204020204" charset="-122"/>
                <a:cs typeface="Poppins"/>
                <a:sym typeface="Poppins"/>
              </a:rPr>
              <a:t>大国博弈加剧，地缘政治风险成为影响大宗商品价格的重要因素，带来持续的风险溢价</a:t>
            </a:r>
            <a:r>
              <a:rPr kumimoji="0" lang="en-US" sz="1400" b="0" i="0" u="none" strike="noStrike" kern="1200" cap="none" spc="0" normalizeH="0" baseline="0" noProof="0" dirty="0">
                <a:ln>
                  <a:noFill/>
                </a:ln>
                <a:solidFill>
                  <a:srgbClr val="1C4274"/>
                </a:solidFill>
                <a:effectLst/>
                <a:uLnTx/>
                <a:uFillTx/>
                <a:latin typeface="微软雅黑" panose="020B0503020204020204" charset="-122"/>
                <a:ea typeface="微软雅黑" panose="020B0503020204020204" charset="-122"/>
                <a:cs typeface="Poppins"/>
                <a:sym typeface="Poppins"/>
              </a:rPr>
              <a:t>。</a:t>
            </a:r>
            <a:r>
              <a:rPr kumimoji="0" lang="zh-CN" altLang="en-US" sz="1400" b="0" i="0" u="none" strike="noStrike" kern="1200" cap="none" spc="0" normalizeH="0" baseline="0" noProof="0" dirty="0">
                <a:ln>
                  <a:noFill/>
                </a:ln>
                <a:solidFill>
                  <a:srgbClr val="1C4274"/>
                </a:solidFill>
                <a:effectLst/>
                <a:uLnTx/>
                <a:uFillTx/>
                <a:latin typeface="微软雅黑" panose="020B0503020204020204" charset="-122"/>
                <a:ea typeface="微软雅黑" panose="020B0503020204020204" charset="-122"/>
                <a:cs typeface="Poppins"/>
                <a:sym typeface="Poppins"/>
              </a:rPr>
              <a:t>突发地缘扰动</a:t>
            </a:r>
            <a:r>
              <a:rPr kumimoji="0" lang="zh-CN" altLang="en-US" sz="1400" b="0" i="0" u="none" strike="noStrike" kern="1200" cap="none" spc="0" normalizeH="0" baseline="0" noProof="0" dirty="0">
                <a:ln>
                  <a:noFill/>
                </a:ln>
                <a:solidFill>
                  <a:srgbClr val="1C4274"/>
                </a:solidFill>
                <a:effectLst/>
                <a:uLnTx/>
                <a:uFillTx/>
                <a:latin typeface="微软雅黑" panose="020B0503020204020204" charset="-122"/>
                <a:ea typeface="微软雅黑" panose="020B0503020204020204" charset="-122"/>
                <a:cs typeface="Poppins"/>
                <a:sym typeface="Poppins"/>
              </a:rPr>
              <a:t>带动商品脉冲式行情冲击；</a:t>
            </a:r>
            <a:endParaRPr kumimoji="0" lang="en-US" sz="1100" b="0" i="0" u="none" strike="noStrike" kern="1200" cap="none" spc="0" normalizeH="0" baseline="0" noProof="0" dirty="0">
              <a:ln>
                <a:noFill/>
              </a:ln>
              <a:solidFill>
                <a:srgbClr val="1C4274"/>
              </a:solidFill>
              <a:effectLst/>
              <a:uLnTx/>
              <a:uFillTx/>
              <a:latin typeface="微软雅黑" panose="020B0503020204020204" charset="-122"/>
              <a:ea typeface="微软雅黑" panose="020B0503020204020204" charset="-122"/>
              <a:cs typeface="+mn-cs"/>
            </a:endParaRPr>
          </a:p>
        </p:txBody>
      </p:sp>
      <p:pic>
        <p:nvPicPr>
          <p:cNvPr id="65" name="图片 5"/>
          <p:cNvPicPr>
            <a:picLocks noChangeAspect="1"/>
          </p:cNvPicPr>
          <p:nvPr/>
        </p:nvPicPr>
        <p:blipFill>
          <a:blip r:embed="rId5">
            <a:duotone>
              <a:srgbClr val="1C4274"/>
              <a:srgbClr val="EAF6FC"/>
            </a:duotone>
          </a:blip>
          <a:stretch>
            <a:fillRect/>
          </a:stretch>
        </p:blipFill>
        <p:spPr>
          <a:xfrm>
            <a:off x="5993765" y="1887855"/>
            <a:ext cx="5466080" cy="4276090"/>
          </a:xfrm>
          <a:prstGeom prst="rect">
            <a:avLst/>
          </a:prstGeom>
        </p:spPr>
      </p:pic>
      <p:pic>
        <p:nvPicPr>
          <p:cNvPr id="66" name="参考模板浅蓝背景弧线"/>
          <p:cNvPicPr/>
          <p:nvPr/>
        </p:nvPicPr>
        <p:blipFill>
          <a:blip r:embed="rId6">
            <a:duotone>
              <a:srgbClr val="1C4274"/>
              <a:srgbClr val="EAF6FC"/>
            </a:duotone>
          </a:blip>
          <a:stretch>
            <a:fillRect/>
          </a:stretch>
        </p:blipFill>
        <p:spPr>
          <a:xfrm>
            <a:off x="4457700" y="0"/>
            <a:ext cx="3143250" cy="495300"/>
          </a:xfrm>
          <a:prstGeom prst="rect">
            <a:avLst/>
          </a:prstGeom>
          <a:noFill/>
          <a:ln>
            <a:noFill/>
          </a:ln>
        </p:spPr>
      </p:pic>
      <p:pic>
        <p:nvPicPr>
          <p:cNvPr id="67" name="参考模板右上角标识"/>
          <p:cNvPicPr/>
          <p:nvPr/>
        </p:nvPicPr>
        <p:blipFill>
          <a:blip r:embed="rId7">
            <a:duotone>
              <a:srgbClr val="1C4274"/>
              <a:srgbClr val="EAF6FC"/>
            </a:duotone>
          </a:blip>
          <a:stretch>
            <a:fillRect/>
          </a:stretch>
        </p:blipFill>
        <p:spPr>
          <a:xfrm>
            <a:off x="9696450" y="209550"/>
            <a:ext cx="1733550" cy="390525"/>
          </a:xfrm>
          <a:prstGeom prst="rect">
            <a:avLst/>
          </a:prstGeom>
          <a:noFill/>
          <a:ln>
            <a:noFill/>
          </a:ln>
        </p:spPr>
      </p:pic>
    </p:spTree>
  </p:cSld>
  <p:clrMapOvr>
    <a:masterClrMapping/>
  </p:clrMapOvr>
</p:sld>
</file>

<file path=ppt/slides/slide14.xml><?xml version="1.0" encoding="utf-8"?>
<p:sld xmlns:p="http://schemas.openxmlformats.org/presentationml/2006/main" xmlns:r="http://schemas.openxmlformats.org/officeDocument/2006/relationships" xmlns:a="http://schemas.openxmlformats.org/drawingml/2006/main" xmlns:asvg="http://schemas.microsoft.com/office/drawing/2016/SVG/main" xmlns:mc="http://schemas.openxmlformats.org/markup-compatibility/2006" mc:Ignorable="asvg">
  <p:cSld>
    <p:spTree>
      <p:nvGrpSpPr>
        <p:cNvPr id="66" name=""/>
        <p:cNvGrpSpPr/>
        <p:nvPr/>
      </p:nvGrpSpPr>
      <p:grpSpPr>
        <a:xfrm>
          <a:off x="0" y="0"/>
          <a:ext cx="0" cy="0"/>
          <a:chOff x="0" y="0"/>
          <a:chExt cx="0" cy="0"/>
        </a:xfrm>
      </p:grpSpPr>
      <p:sp>
        <p:nvSpPr>
          <p:cNvPr id="67" name="Rectangle 1"/>
          <p:cNvSpPr/>
          <p:nvPr/>
        </p:nvSpPr>
        <p:spPr>
          <a:xfrm>
            <a:off x="502920" y="457200"/>
            <a:ext cx="82296" cy="566928"/>
          </a:xfrm>
          <a:prstGeom prst="rect">
            <a:avLst/>
          </a:prstGeom>
          <a:solidFill>
            <a:srgbClr val="0070C0"/>
          </a:solidFill>
          <a:ln>
            <a:noFill/>
          </a:ln>
          <a:effectLst/>
        </p:spPr>
        <p:style>
          <a:lnRef idx="1">
            <a:srgbClr val="0070C0"/>
          </a:lnRef>
          <a:fillRef idx="3">
            <a:srgbClr val="0070C0"/>
          </a:fillRef>
          <a:effectRef idx="2">
            <a:srgbClr val="0070C0"/>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68" name="Rectangle 4"/>
          <p:cNvSpPr/>
          <p:nvPr/>
        </p:nvSpPr>
        <p:spPr>
          <a:xfrm>
            <a:off x="502920" y="1005840"/>
            <a:ext cx="2011680" cy="27940"/>
          </a:xfrm>
          <a:prstGeom prst="rect">
            <a:avLst/>
          </a:prstGeom>
          <a:solidFill>
            <a:srgbClr val="54B0E0"/>
          </a:solidFill>
          <a:ln>
            <a:noFill/>
          </a:ln>
          <a:effectLst/>
        </p:spPr>
        <p:style>
          <a:lnRef idx="1">
            <a:srgbClr val="0070C0"/>
          </a:lnRef>
          <a:fillRef idx="3">
            <a:srgbClr val="0070C0"/>
          </a:fillRef>
          <a:effectRef idx="2">
            <a:srgbClr val="0070C0"/>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69" name="Rectangle 5"/>
          <p:cNvSpPr/>
          <p:nvPr/>
        </p:nvSpPr>
        <p:spPr>
          <a:xfrm>
            <a:off x="502920" y="1060704"/>
            <a:ext cx="11183112" cy="11430"/>
          </a:xfrm>
          <a:prstGeom prst="rect">
            <a:avLst/>
          </a:prstGeom>
          <a:solidFill>
            <a:srgbClr val="AED5EB"/>
          </a:solidFill>
          <a:ln>
            <a:noFill/>
          </a:ln>
          <a:effectLst/>
        </p:spPr>
        <p:style>
          <a:lnRef idx="1">
            <a:srgbClr val="0070C0"/>
          </a:lnRef>
          <a:fillRef idx="3">
            <a:srgbClr val="0070C0"/>
          </a:fillRef>
          <a:effectRef idx="2">
            <a:srgbClr val="0070C0"/>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70" name="TextBox 8"/>
          <p:cNvSpPr txBox="1"/>
          <p:nvPr/>
        </p:nvSpPr>
        <p:spPr>
          <a:xfrm>
            <a:off x="502920" y="6455664"/>
            <a:ext cx="7315200" cy="274320"/>
          </a:xfrm>
          <a:prstGeom prst="rect">
            <a:avLst/>
          </a:prstGeom>
          <a:noFill/>
        </p:spPr>
        <p:txBody>
          <a:bodyPr wrap="square" lIns="0" tIns="0" rIns="0" bIns="0" anchor="t">
            <a:spAutoFit/>
          </a:bodyPr>
          <a:lstStyle/>
          <a:p>
            <a:pPr algn="l">
              <a:lnSpc>
                <a:spcPct val="115000"/>
              </a:lnSpc>
              <a:spcAft>
                <a:spcPts val="600"/>
              </a:spcAft>
            </a:pPr>
            <a:r>
              <a:rPr sz="900" b="0">
                <a:solidFill>
                  <a:srgbClr val="1C4274"/>
                </a:solidFill>
                <a:latin typeface="微软雅黑" panose="020B0503020204020204" charset="-122"/>
                <a:ea typeface="微软雅黑" panose="020B0503020204020204" charset="-122"/>
                <a:cs typeface="微软雅黑" panose="020B0503020204020204" charset="-122"/>
              </a:rPr>
              <a:t>近期宏观变化及资产配置 · 2026.09</a:t>
            </a:r>
            <a:endParaRPr sz="900" b="0">
              <a:solidFill>
                <a:srgbClr val="1C4274"/>
              </a:solidFill>
              <a:latin typeface="微软雅黑" panose="020B0503020204020204" charset="-122"/>
              <a:ea typeface="微软雅黑" panose="020B0503020204020204" charset="-122"/>
              <a:cs typeface="微软雅黑" panose="020B0503020204020204" charset="-122"/>
            </a:endParaRPr>
          </a:p>
        </p:txBody>
      </p:sp>
      <p:sp>
        <p:nvSpPr>
          <p:cNvPr id="71" name="TextBox 9"/>
          <p:cNvSpPr txBox="1"/>
          <p:nvPr/>
        </p:nvSpPr>
        <p:spPr>
          <a:xfrm>
            <a:off x="10789920" y="6455664"/>
            <a:ext cx="914400" cy="274320"/>
          </a:xfrm>
          <a:prstGeom prst="rect">
            <a:avLst/>
          </a:prstGeom>
          <a:noFill/>
        </p:spPr>
        <p:txBody>
          <a:bodyPr wrap="square" lIns="0" tIns="0" rIns="0" bIns="0" anchor="t">
            <a:spAutoFit/>
          </a:bodyPr>
          <a:lstStyle/>
          <a:p>
            <a:pPr algn="r">
              <a:lnSpc>
                <a:spcPct val="115000"/>
              </a:lnSpc>
              <a:spcAft>
                <a:spcPts val="600"/>
              </a:spcAft>
            </a:pPr>
            <a:r>
              <a:rPr sz="1000" b="0">
                <a:solidFill>
                  <a:srgbClr val="1C4274"/>
                </a:solidFill>
                <a:latin typeface="微软雅黑" panose="020B0503020204020204" charset="-122"/>
                <a:ea typeface="微软雅黑" panose="020B0503020204020204" charset="-122"/>
                <a:cs typeface="微软雅黑" panose="020B0503020204020204" charset="-122"/>
              </a:rPr>
              <a:t>14</a:t>
            </a:r>
            <a:endParaRPr sz="1000" b="0">
              <a:solidFill>
                <a:srgbClr val="1C4274"/>
              </a:solidFill>
              <a:latin typeface="微软雅黑" panose="020B0503020204020204" charset="-122"/>
              <a:ea typeface="微软雅黑" panose="020B0503020204020204" charset="-122"/>
              <a:cs typeface="微软雅黑" panose="020B0503020204020204" charset="-122"/>
            </a:endParaRPr>
          </a:p>
        </p:txBody>
      </p:sp>
      <p:sp>
        <p:nvSpPr>
          <p:cNvPr id="72" name="文本框 1"/>
          <p:cNvSpPr txBox="1"/>
          <p:nvPr/>
        </p:nvSpPr>
        <p:spPr>
          <a:xfrm>
            <a:off x="618743" y="429768"/>
            <a:ext cx="8637900" cy="570865"/>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2400" b="1" i="0" u="none" strike="noStrike" kern="1200" cap="none" spc="0" normalizeH="0" baseline="0" noProof="0" dirty="0">
                <a:ln>
                  <a:noFill/>
                </a:ln>
                <a:solidFill>
                  <a:srgbClr val="1C4274"/>
                </a:solidFill>
                <a:effectLst/>
                <a:uLnTx/>
                <a:uFillTx/>
                <a:latin typeface="微软雅黑" panose="020B0503020204020204" charset="-122"/>
                <a:ea typeface="微软雅黑" panose="020B0503020204020204" charset="-122"/>
                <a:cs typeface="+mn-cs"/>
              </a:rPr>
              <a:t>地缘冲突：能源与供应链的脆弱性不容忽视，供应风险常态化</a:t>
            </a:r>
            <a:endParaRPr kumimoji="0" lang="zh-CN" altLang="en-US" sz="2400" b="1" i="0" u="none" strike="noStrike" kern="1200" cap="none" spc="0" normalizeH="0" baseline="0" noProof="0" dirty="0">
              <a:ln>
                <a:noFill/>
              </a:ln>
              <a:solidFill>
                <a:srgbClr val="1C4274"/>
              </a:solidFill>
              <a:effectLst/>
              <a:uLnTx/>
              <a:uFillTx/>
              <a:latin typeface="微软雅黑" panose="020B0503020204020204" charset="-122"/>
              <a:ea typeface="微软雅黑" panose="020B0503020204020204" charset="-122"/>
              <a:cs typeface="+mn-cs"/>
            </a:endParaRPr>
          </a:p>
        </p:txBody>
      </p:sp>
      <p:pic>
        <p:nvPicPr>
          <p:cNvPr id="73" name="Picture 7"/>
          <p:cNvPicPr>
            <a:picLocks noChangeAspect="1"/>
          </p:cNvPicPr>
          <p:nvPr/>
        </p:nvPicPr>
        <p:blipFill>
          <a:blip>
            <a:duotone>
              <a:srgbClr val="1C4274"/>
              <a:srgbClr val="EAF6FC"/>
            </a:duotone>
          </a:blip>
          <a:stretch>
            <a:fillRect/>
          </a:stretch>
        </p:blipFill>
        <p:spPr>
          <a:xfrm>
            <a:off x="549275" y="1376680"/>
            <a:ext cx="304800" cy="304800"/>
          </a:xfrm>
          <a:prstGeom prst="rect">
            <a:avLst/>
          </a:prstGeom>
        </p:spPr>
      </p:pic>
      <p:sp>
        <p:nvSpPr>
          <p:cNvPr id="74" name="AutoShape 8"/>
          <p:cNvSpPr/>
          <p:nvPr/>
        </p:nvSpPr>
        <p:spPr>
          <a:xfrm>
            <a:off x="930275" y="1233805"/>
            <a:ext cx="4572000" cy="2794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1600" b="1" i="0" u="none" strike="noStrike" kern="1200" cap="none" spc="0" normalizeH="0" baseline="0" noProof="0">
                <a:ln>
                  <a:noFill/>
                </a:ln>
                <a:solidFill>
                  <a:srgbClr val="1C4274"/>
                </a:solidFill>
                <a:effectLst/>
                <a:uLnTx/>
                <a:uFillTx/>
                <a:latin typeface="微软雅黑" panose="020B0503020204020204" charset="-122"/>
                <a:ea typeface="微软雅黑" panose="020B0503020204020204" charset="-122"/>
                <a:cs typeface="Poppins"/>
                <a:sym typeface="Poppins"/>
              </a:rPr>
              <a:t>地缘冲突频发，供应扰动影响深远且持久</a:t>
            </a:r>
            <a:endParaRPr kumimoji="0" lang="zh-CN" altLang="en-US" sz="1600" b="1" i="0" u="none" strike="noStrike" kern="1200" cap="none" spc="0" normalizeH="0" baseline="0" noProof="0">
              <a:ln>
                <a:noFill/>
              </a:ln>
              <a:solidFill>
                <a:srgbClr val="1C4274"/>
              </a:solidFill>
              <a:effectLst/>
              <a:uLnTx/>
              <a:uFillTx/>
              <a:latin typeface="微软雅黑" panose="020B0503020204020204" charset="-122"/>
              <a:ea typeface="微软雅黑" panose="020B0503020204020204" charset="-122"/>
              <a:cs typeface="Poppins"/>
              <a:sym typeface="Poppins"/>
            </a:endParaRPr>
          </a:p>
        </p:txBody>
      </p:sp>
      <p:sp>
        <p:nvSpPr>
          <p:cNvPr id="75" name="AutoShape 9"/>
          <p:cNvSpPr/>
          <p:nvPr/>
        </p:nvSpPr>
        <p:spPr>
          <a:xfrm>
            <a:off x="930275" y="1570990"/>
            <a:ext cx="5219700" cy="1353185"/>
          </a:xfrm>
          <a:prstGeom prst="rect">
            <a:avLst/>
          </a:prstGeom>
          <a:noFill/>
          <a:ln w="12700" cap="flat" cmpd="sng">
            <a:noFill/>
            <a:prstDash val="solid"/>
            <a:round/>
          </a:ln>
        </p:spPr>
        <p:txBody>
          <a:bodyPr vert="horz" wrap="square" lIns="0" tIns="0" rIns="0" bIns="0" rtlCol="0" anchor="t" anchorCtr="0"/>
          <a:lstStyle/>
          <a:p>
            <a:pPr marL="285750" marR="0" lvl="0" indent="-285750" algn="l" defTabSz="914400" rtl="0" eaLnBrk="1" fontAlgn="auto" latinLnBrk="0" hangingPunct="1">
              <a:lnSpc>
                <a:spcPct val="150000"/>
              </a:lnSpc>
              <a:spcBef>
                <a:spcPts val="0"/>
              </a:spcBef>
              <a:spcAft>
                <a:spcPts val="0"/>
              </a:spcAft>
              <a:buClr>
                <a:srgbClr val="123B5D"/>
              </a:buClr>
              <a:buSzTx/>
              <a:buFont typeface="Wingdings" panose="05000000000000000000" pitchFamily="2" charset="2"/>
              <a:buChar char="l"/>
              <a:defRPr/>
            </a:pPr>
            <a:r>
              <a:rPr lang="zh-CN" sz="1400" noProof="0" dirty="0">
                <a:ln>
                  <a:noFill/>
                </a:ln>
                <a:solidFill>
                  <a:srgbClr val="1C4274"/>
                </a:solidFill>
                <a:effectLst/>
                <a:uLnTx/>
                <a:uFillTx/>
                <a:latin typeface="微软雅黑" panose="020B0503020204020204" charset="-122"/>
                <a:ea typeface="微软雅黑" panose="020B0503020204020204" charset="-122"/>
                <a:cs typeface="Noto Sans SC" panose="020B0200000000000000" charset="-122"/>
                <a:sym typeface="Noto Sans SC" panose="020B0200000000000000" charset="-122"/>
              </a:rPr>
              <a:t>俄乌冲突爆发后，高度依赖俄罗斯能源的欧盟陷入能源危机，不得不高价采购高成本的美国天然气；去俄化成本高昂揭示了供应来源多元化与自主能源转型的必要性，欧盟随即加码新能源基础设置投入与</a:t>
            </a:r>
            <a:r>
              <a:rPr lang="en-US" altLang="zh-CN" sz="1400" noProof="0" dirty="0">
                <a:ln>
                  <a:noFill/>
                </a:ln>
                <a:solidFill>
                  <a:srgbClr val="1C4274"/>
                </a:solidFill>
                <a:effectLst/>
                <a:uLnTx/>
                <a:uFillTx/>
                <a:latin typeface="微软雅黑" panose="020B0503020204020204" charset="-122"/>
                <a:ea typeface="微软雅黑" panose="020B0503020204020204" charset="-122"/>
                <a:cs typeface="Noto Sans SC" panose="020B0200000000000000" charset="-122"/>
                <a:sym typeface="Noto Sans SC" panose="020B0200000000000000" charset="-122"/>
              </a:rPr>
              <a:t>REPowerEI</a:t>
            </a:r>
            <a:r>
              <a:rPr lang="zh-CN" altLang="en-US" sz="1400" noProof="0" dirty="0">
                <a:ln>
                  <a:noFill/>
                </a:ln>
                <a:solidFill>
                  <a:srgbClr val="1C4274"/>
                </a:solidFill>
                <a:effectLst/>
                <a:uLnTx/>
                <a:uFillTx/>
                <a:latin typeface="微软雅黑" panose="020B0503020204020204" charset="-122"/>
                <a:ea typeface="微软雅黑" panose="020B0503020204020204" charset="-122"/>
                <a:cs typeface="Noto Sans SC" panose="020B0200000000000000" charset="-122"/>
                <a:sym typeface="Noto Sans SC" panose="020B0200000000000000" charset="-122"/>
              </a:rPr>
              <a:t>计划</a:t>
            </a:r>
            <a:r>
              <a:rPr lang="zh-CN" sz="1400" noProof="0" dirty="0">
                <a:ln>
                  <a:noFill/>
                </a:ln>
                <a:solidFill>
                  <a:srgbClr val="1C4274"/>
                </a:solidFill>
                <a:effectLst/>
                <a:uLnTx/>
                <a:uFillTx/>
                <a:latin typeface="微软雅黑" panose="020B0503020204020204" charset="-122"/>
                <a:ea typeface="微软雅黑" panose="020B0503020204020204" charset="-122"/>
                <a:cs typeface="Noto Sans SC" panose="020B0200000000000000" charset="-122"/>
                <a:sym typeface="Noto Sans SC" panose="020B0200000000000000" charset="-122"/>
              </a:rPr>
              <a:t>；</a:t>
            </a:r>
            <a:endParaRPr lang="zh-CN" sz="1400" noProof="0" dirty="0">
              <a:ln>
                <a:noFill/>
              </a:ln>
              <a:solidFill>
                <a:srgbClr val="1C4274"/>
              </a:solidFill>
              <a:effectLst/>
              <a:uLnTx/>
              <a:uFillTx/>
              <a:latin typeface="微软雅黑" panose="020B0503020204020204" charset="-122"/>
              <a:ea typeface="微软雅黑" panose="020B0503020204020204" charset="-122"/>
              <a:cs typeface="Noto Sans SC" panose="020B0200000000000000" charset="-122"/>
              <a:sym typeface="Noto Sans SC" panose="020B0200000000000000" charset="-122"/>
            </a:endParaRPr>
          </a:p>
          <a:p>
            <a:pPr marL="285750" marR="0" lvl="0" indent="-285750" algn="l" defTabSz="914400" rtl="0" eaLnBrk="1" fontAlgn="auto" latinLnBrk="0" hangingPunct="1">
              <a:lnSpc>
                <a:spcPct val="150000"/>
              </a:lnSpc>
              <a:spcBef>
                <a:spcPts val="0"/>
              </a:spcBef>
              <a:spcAft>
                <a:spcPts val="0"/>
              </a:spcAft>
              <a:buClr>
                <a:srgbClr val="123B5D"/>
              </a:buClr>
              <a:buSzTx/>
              <a:buFont typeface="Wingdings" panose="05000000000000000000" pitchFamily="2" charset="2"/>
              <a:buChar char="l"/>
              <a:defRPr/>
            </a:pPr>
            <a:r>
              <a:rPr kumimoji="0" lang="zh-CN" sz="1400" b="0" i="0" u="none" strike="noStrike" kern="1200" cap="none" spc="0" normalizeH="0" baseline="0" noProof="0" dirty="0">
                <a:ln>
                  <a:noFill/>
                </a:ln>
                <a:solidFill>
                  <a:srgbClr val="1C4274"/>
                </a:solidFill>
                <a:effectLst/>
                <a:uLnTx/>
                <a:uFillTx/>
                <a:latin typeface="微软雅黑" panose="020B0503020204020204" charset="-122"/>
                <a:ea typeface="微软雅黑" panose="020B0503020204020204" charset="-122"/>
                <a:cs typeface="Noto Sans SC" panose="020B0200000000000000" charset="-122"/>
                <a:sym typeface="Noto Sans SC" panose="020B0200000000000000" charset="-122"/>
              </a:rPr>
              <a:t>美伊冲突升级，霍尔木兹海峡通行受阻，对日韩能源进口影响较大，日韩重启核电布局，能源自主从可选项变为必选项；</a:t>
            </a:r>
            <a:endParaRPr kumimoji="0" lang="zh-CN" sz="1400" b="0" i="0" u="none" strike="noStrike" kern="1200" cap="none" spc="0" normalizeH="0" baseline="0" noProof="0" dirty="0">
              <a:ln>
                <a:noFill/>
              </a:ln>
              <a:solidFill>
                <a:srgbClr val="1C4274"/>
              </a:solidFill>
              <a:effectLst/>
              <a:uLnTx/>
              <a:uFillTx/>
              <a:latin typeface="微软雅黑" panose="020B0503020204020204" charset="-122"/>
              <a:ea typeface="微软雅黑" panose="020B0503020204020204" charset="-122"/>
              <a:cs typeface="Noto Sans SC" panose="020B0200000000000000" charset="-122"/>
              <a:sym typeface="Noto Sans SC" panose="020B0200000000000000" charset="-122"/>
            </a:endParaRPr>
          </a:p>
        </p:txBody>
      </p:sp>
      <p:pic>
        <p:nvPicPr>
          <p:cNvPr id="76" name="Picture 10"/>
          <p:cNvPicPr>
            <a:picLocks noChangeAspect="1"/>
          </p:cNvPicPr>
          <p:nvPr/>
        </p:nvPicPr>
        <p:blipFill>
          <a:blip>
            <a:duotone>
              <a:srgbClr val="1C4274"/>
              <a:srgbClr val="EAF6FC"/>
            </a:duotone>
          </a:blip>
          <a:stretch>
            <a:fillRect/>
          </a:stretch>
        </p:blipFill>
        <p:spPr>
          <a:xfrm>
            <a:off x="549275" y="3830955"/>
            <a:ext cx="304800" cy="304800"/>
          </a:xfrm>
          <a:prstGeom prst="rect">
            <a:avLst/>
          </a:prstGeom>
        </p:spPr>
      </p:pic>
      <p:sp>
        <p:nvSpPr>
          <p:cNvPr id="77" name="AutoShape 12"/>
          <p:cNvSpPr/>
          <p:nvPr/>
        </p:nvSpPr>
        <p:spPr>
          <a:xfrm>
            <a:off x="930275" y="3890010"/>
            <a:ext cx="4781550" cy="508000"/>
          </a:xfrm>
          <a:prstGeom prst="rect">
            <a:avLst/>
          </a:prstGeom>
          <a:noFill/>
          <a:ln w="12700" cap="flat" cmpd="sng">
            <a:noFill/>
            <a:prstDash val="solid"/>
            <a:round/>
          </a:ln>
        </p:spPr>
        <p:txBody>
          <a:bodyPr vert="horz" wrap="square" lIns="0" tIns="0" rIns="0" bIns="0" rtlCol="0" anchor="t" anchorCtr="0"/>
          <a:lstStyle/>
          <a:p>
            <a:pPr marL="285750" marR="0" lvl="0" indent="-285750" algn="l" defTabSz="914400" rtl="0" eaLnBrk="1" fontAlgn="auto" latinLnBrk="0" hangingPunct="1">
              <a:lnSpc>
                <a:spcPct val="150000"/>
              </a:lnSpc>
              <a:spcBef>
                <a:spcPts val="0"/>
              </a:spcBef>
              <a:spcAft>
                <a:spcPts val="0"/>
              </a:spcAft>
              <a:buClr>
                <a:srgbClr val="123B5D"/>
              </a:buClr>
              <a:buSzTx/>
              <a:buFont typeface="Wingdings" panose="05000000000000000000" pitchFamily="2" charset="2"/>
              <a:buChar char="l"/>
              <a:defRPr/>
            </a:pPr>
            <a:r>
              <a:rPr lang="zh-CN" sz="1400" noProof="0" dirty="0">
                <a:ln>
                  <a:noFill/>
                </a:ln>
                <a:solidFill>
                  <a:srgbClr val="1C4274"/>
                </a:solidFill>
                <a:effectLst/>
                <a:uLnTx/>
                <a:uFillTx/>
                <a:latin typeface="微软雅黑" panose="020B0503020204020204" charset="-122"/>
                <a:ea typeface="微软雅黑" panose="020B0503020204020204" charset="-122"/>
                <a:cs typeface="Noto Sans SC" panose="020B0200000000000000" charset="-122"/>
                <a:sym typeface="Noto Sans SC" panose="020B0200000000000000" charset="-122"/>
              </a:rPr>
              <a:t>能源供应的</a:t>
            </a:r>
            <a:r>
              <a:rPr lang="en-US" altLang="zh-CN" sz="1400" noProof="0" dirty="0">
                <a:ln>
                  <a:noFill/>
                </a:ln>
                <a:solidFill>
                  <a:srgbClr val="1C4274"/>
                </a:solidFill>
                <a:effectLst/>
                <a:uLnTx/>
                <a:uFillTx/>
                <a:latin typeface="微软雅黑" panose="020B0503020204020204" charset="-122"/>
                <a:ea typeface="微软雅黑" panose="020B0503020204020204" charset="-122"/>
                <a:cs typeface="Noto Sans SC" panose="020B0200000000000000" charset="-122"/>
                <a:sym typeface="Noto Sans SC" panose="020B0200000000000000" charset="-122"/>
              </a:rPr>
              <a:t>“</a:t>
            </a:r>
            <a:r>
              <a:rPr lang="zh-CN" altLang="en-US" sz="1400" noProof="0" dirty="0">
                <a:ln>
                  <a:noFill/>
                </a:ln>
                <a:solidFill>
                  <a:srgbClr val="1C4274"/>
                </a:solidFill>
                <a:effectLst/>
                <a:uLnTx/>
                <a:uFillTx/>
                <a:latin typeface="微软雅黑" panose="020B0503020204020204" charset="-122"/>
                <a:ea typeface="微软雅黑" panose="020B0503020204020204" charset="-122"/>
                <a:cs typeface="Noto Sans SC" panose="020B0200000000000000" charset="-122"/>
                <a:sym typeface="Noto Sans SC" panose="020B0200000000000000" charset="-122"/>
              </a:rPr>
              <a:t>安全模式</a:t>
            </a:r>
            <a:r>
              <a:rPr lang="en-US" altLang="zh-CN" sz="1400" noProof="0" dirty="0">
                <a:ln>
                  <a:noFill/>
                </a:ln>
                <a:solidFill>
                  <a:srgbClr val="1C4274"/>
                </a:solidFill>
                <a:effectLst/>
                <a:uLnTx/>
                <a:uFillTx/>
                <a:latin typeface="微软雅黑" panose="020B0503020204020204" charset="-122"/>
                <a:ea typeface="微软雅黑" panose="020B0503020204020204" charset="-122"/>
                <a:cs typeface="Noto Sans SC" panose="020B0200000000000000" charset="-122"/>
                <a:sym typeface="Noto Sans SC" panose="020B0200000000000000" charset="-122"/>
              </a:rPr>
              <a:t>”</a:t>
            </a:r>
            <a:r>
              <a:rPr lang="zh-CN" altLang="en-US" sz="1400" noProof="0" dirty="0">
                <a:ln>
                  <a:noFill/>
                </a:ln>
                <a:solidFill>
                  <a:srgbClr val="1C4274"/>
                </a:solidFill>
                <a:effectLst/>
                <a:uLnTx/>
                <a:uFillTx/>
                <a:latin typeface="微软雅黑" panose="020B0503020204020204" charset="-122"/>
                <a:ea typeface="微软雅黑" panose="020B0503020204020204" charset="-122"/>
                <a:cs typeface="Noto Sans SC" panose="020B0200000000000000" charset="-122"/>
                <a:sym typeface="Noto Sans SC" panose="020B0200000000000000" charset="-122"/>
              </a:rPr>
              <a:t>已经改变，</a:t>
            </a:r>
            <a:r>
              <a:rPr lang="zh-CN" sz="1400" noProof="0" dirty="0">
                <a:ln>
                  <a:noFill/>
                </a:ln>
                <a:solidFill>
                  <a:srgbClr val="1C4274"/>
                </a:solidFill>
                <a:effectLst/>
                <a:uLnTx/>
                <a:uFillTx/>
                <a:latin typeface="微软雅黑" panose="020B0503020204020204" charset="-122"/>
                <a:ea typeface="微软雅黑" panose="020B0503020204020204" charset="-122"/>
                <a:cs typeface="Noto Sans SC" panose="020B0200000000000000" charset="-122"/>
                <a:sym typeface="Noto Sans SC" panose="020B0200000000000000" charset="-122"/>
              </a:rPr>
              <a:t>霍尔木兹海峡战前承担约</a:t>
            </a:r>
            <a:r>
              <a:rPr lang="en-US" altLang="zh-CN" sz="1400" noProof="0" dirty="0">
                <a:ln>
                  <a:noFill/>
                </a:ln>
                <a:solidFill>
                  <a:srgbClr val="1C4274"/>
                </a:solidFill>
                <a:effectLst/>
                <a:uLnTx/>
                <a:uFillTx/>
                <a:latin typeface="微软雅黑" panose="020B0503020204020204" charset="-122"/>
                <a:ea typeface="微软雅黑" panose="020B0503020204020204" charset="-122"/>
                <a:cs typeface="Noto Sans SC" panose="020B0200000000000000" charset="-122"/>
                <a:sym typeface="Noto Sans SC" panose="020B0200000000000000" charset="-122"/>
              </a:rPr>
              <a:t>1500</a:t>
            </a:r>
            <a:r>
              <a:rPr lang="zh-CN" altLang="en-US" sz="1400" noProof="0" dirty="0">
                <a:ln>
                  <a:noFill/>
                </a:ln>
                <a:solidFill>
                  <a:srgbClr val="1C4274"/>
                </a:solidFill>
                <a:effectLst/>
                <a:uLnTx/>
                <a:uFillTx/>
                <a:latin typeface="微软雅黑" panose="020B0503020204020204" charset="-122"/>
                <a:ea typeface="微软雅黑" panose="020B0503020204020204" charset="-122"/>
                <a:cs typeface="Noto Sans SC" panose="020B0200000000000000" charset="-122"/>
                <a:sym typeface="Noto Sans SC" panose="020B0200000000000000" charset="-122"/>
              </a:rPr>
              <a:t>万桶的原油运输</a:t>
            </a:r>
            <a:r>
              <a:rPr lang="zh-CN" sz="1400" noProof="0" dirty="0">
                <a:ln>
                  <a:noFill/>
                </a:ln>
                <a:solidFill>
                  <a:srgbClr val="1C4274"/>
                </a:solidFill>
                <a:effectLst/>
                <a:uLnTx/>
                <a:uFillTx/>
                <a:latin typeface="微软雅黑" panose="020B0503020204020204" charset="-122"/>
                <a:ea typeface="微软雅黑" panose="020B0503020204020204" charset="-122"/>
                <a:cs typeface="Noto Sans SC" panose="020B0200000000000000" charset="-122"/>
                <a:sym typeface="Noto Sans SC" panose="020B0200000000000000" charset="-122"/>
              </a:rPr>
              <a:t>，极端事件下通道的脆弱性、运输通道</a:t>
            </a:r>
            <a:r>
              <a:rPr lang="en-US" altLang="zh-CN" sz="1400" noProof="0" dirty="0">
                <a:ln>
                  <a:noFill/>
                </a:ln>
                <a:solidFill>
                  <a:srgbClr val="1C4274"/>
                </a:solidFill>
                <a:effectLst/>
                <a:uLnTx/>
                <a:uFillTx/>
                <a:latin typeface="微软雅黑" panose="020B0503020204020204" charset="-122"/>
                <a:ea typeface="微软雅黑" panose="020B0503020204020204" charset="-122"/>
                <a:cs typeface="Noto Sans SC" panose="020B0200000000000000" charset="-122"/>
                <a:sym typeface="Noto Sans SC" panose="020B0200000000000000" charset="-122"/>
              </a:rPr>
              <a:t>“</a:t>
            </a:r>
            <a:r>
              <a:rPr lang="zh-CN" altLang="en-US" sz="1400" noProof="0" dirty="0">
                <a:ln>
                  <a:noFill/>
                </a:ln>
                <a:solidFill>
                  <a:srgbClr val="1C4274"/>
                </a:solidFill>
                <a:effectLst/>
                <a:uLnTx/>
                <a:uFillTx/>
                <a:latin typeface="微软雅黑" panose="020B0503020204020204" charset="-122"/>
                <a:ea typeface="微软雅黑" panose="020B0503020204020204" charset="-122"/>
                <a:cs typeface="Noto Sans SC" panose="020B0200000000000000" charset="-122"/>
                <a:sym typeface="Noto Sans SC" panose="020B0200000000000000" charset="-122"/>
              </a:rPr>
              <a:t>武器化</a:t>
            </a:r>
            <a:r>
              <a:rPr lang="en-US" altLang="zh-CN" sz="1400" noProof="0" dirty="0">
                <a:ln>
                  <a:noFill/>
                </a:ln>
                <a:solidFill>
                  <a:srgbClr val="1C4274"/>
                </a:solidFill>
                <a:effectLst/>
                <a:uLnTx/>
                <a:uFillTx/>
                <a:latin typeface="微软雅黑" panose="020B0503020204020204" charset="-122"/>
                <a:ea typeface="微软雅黑" panose="020B0503020204020204" charset="-122"/>
                <a:cs typeface="Noto Sans SC" panose="020B0200000000000000" charset="-122"/>
                <a:sym typeface="Noto Sans SC" panose="020B0200000000000000" charset="-122"/>
              </a:rPr>
              <a:t>”</a:t>
            </a:r>
            <a:r>
              <a:rPr lang="zh-CN" altLang="en-US" sz="1400" noProof="0" dirty="0">
                <a:ln>
                  <a:noFill/>
                </a:ln>
                <a:solidFill>
                  <a:srgbClr val="1C4274"/>
                </a:solidFill>
                <a:effectLst/>
                <a:uLnTx/>
                <a:uFillTx/>
                <a:latin typeface="微软雅黑" panose="020B0503020204020204" charset="-122"/>
                <a:ea typeface="微软雅黑" panose="020B0503020204020204" charset="-122"/>
                <a:cs typeface="Noto Sans SC" panose="020B0200000000000000" charset="-122"/>
                <a:sym typeface="Noto Sans SC" panose="020B0200000000000000" charset="-122"/>
              </a:rPr>
              <a:t>的现实概率已经充分暴露；</a:t>
            </a:r>
            <a:endParaRPr lang="zh-CN" sz="1400" noProof="0" dirty="0">
              <a:ln>
                <a:noFill/>
              </a:ln>
              <a:solidFill>
                <a:srgbClr val="1C4274"/>
              </a:solidFill>
              <a:effectLst/>
              <a:uLnTx/>
              <a:uFillTx/>
              <a:latin typeface="微软雅黑" panose="020B0503020204020204" charset="-122"/>
              <a:ea typeface="微软雅黑" panose="020B0503020204020204" charset="-122"/>
              <a:cs typeface="Noto Sans SC" panose="020B0200000000000000" charset="-122"/>
              <a:sym typeface="Noto Sans SC" panose="020B0200000000000000" charset="-122"/>
            </a:endParaRPr>
          </a:p>
          <a:p>
            <a:pPr marL="285750" marR="0" lvl="0" indent="-285750" algn="l" defTabSz="914400" rtl="0" eaLnBrk="1" fontAlgn="auto" latinLnBrk="0" hangingPunct="1">
              <a:lnSpc>
                <a:spcPct val="150000"/>
              </a:lnSpc>
              <a:spcBef>
                <a:spcPts val="0"/>
              </a:spcBef>
              <a:spcAft>
                <a:spcPts val="0"/>
              </a:spcAft>
              <a:buClr>
                <a:srgbClr val="123B5D"/>
              </a:buClr>
              <a:buSzTx/>
              <a:buFont typeface="Wingdings" panose="05000000000000000000" pitchFamily="2" charset="2"/>
              <a:buChar char="l"/>
              <a:defRPr/>
            </a:pPr>
            <a:r>
              <a:rPr lang="zh-CN" altLang="en-US" sz="1400" noProof="0" dirty="0">
                <a:ln>
                  <a:noFill/>
                </a:ln>
                <a:solidFill>
                  <a:srgbClr val="1C4274"/>
                </a:solidFill>
                <a:effectLst/>
                <a:uLnTx/>
                <a:uFillTx/>
                <a:latin typeface="微软雅黑" panose="020B0503020204020204" charset="-122"/>
                <a:ea typeface="微软雅黑" panose="020B0503020204020204" charset="-122"/>
                <a:cs typeface="Noto Sans SC" panose="020B0200000000000000" charset="-122"/>
                <a:sym typeface="Noto Sans SC" panose="020B0200000000000000" charset="-122"/>
              </a:rPr>
              <a:t> 海湾产油国启用并扩容富查伊拉、东西输油等绕行管道，扩充原油储备与储运设施，规划新通道，安全冗余从应急措施转变为长期制度；冲突代价是永久性的：绕行运距拉长、战争险保费重定价、冗余库存与闲置产能的持有成本，都将结构性抬升成本中枢；</a:t>
            </a:r>
            <a:endParaRPr lang="zh-CN" altLang="en-US" sz="1400" noProof="0" dirty="0">
              <a:ln>
                <a:noFill/>
              </a:ln>
              <a:solidFill>
                <a:srgbClr val="1C4274"/>
              </a:solidFill>
              <a:effectLst/>
              <a:uLnTx/>
              <a:uFillTx/>
              <a:latin typeface="微软雅黑" panose="020B0503020204020204" charset="-122"/>
              <a:ea typeface="微软雅黑" panose="020B0503020204020204" charset="-122"/>
              <a:cs typeface="Noto Sans SC" panose="020B0200000000000000" charset="-122"/>
              <a:sym typeface="Noto Sans SC" panose="020B0200000000000000" charset="-122"/>
            </a:endParaRPr>
          </a:p>
        </p:txBody>
      </p:sp>
      <p:pic>
        <p:nvPicPr>
          <p:cNvPr id="78" name="Picture 7"/>
          <p:cNvPicPr>
            <a:picLocks noChangeAspect="1"/>
          </p:cNvPicPr>
          <p:nvPr/>
        </p:nvPicPr>
        <p:blipFill>
          <a:blip>
            <a:duotone>
              <a:srgbClr val="1C4274"/>
              <a:srgbClr val="EAF6FC"/>
            </a:duotone>
            <a:extLst>
              <a:ext uri="{96DAC541-7B7A-43D3-8B79-37D633B846F1}">
                <asvg:svgBlip r:embed="rId2"/>
              </a:ext>
            </a:extLst>
          </a:blip>
          <a:stretch>
            <a:fillRect/>
          </a:stretch>
        </p:blipFill>
        <p:spPr>
          <a:xfrm>
            <a:off x="549275" y="1233805"/>
            <a:ext cx="304800" cy="304800"/>
          </a:xfrm>
          <a:prstGeom prst="rect">
            <a:avLst/>
          </a:prstGeom>
        </p:spPr>
      </p:pic>
      <p:pic>
        <p:nvPicPr>
          <p:cNvPr id="79" name="Picture 18"/>
          <p:cNvPicPr>
            <a:picLocks noChangeAspect="1"/>
          </p:cNvPicPr>
          <p:nvPr/>
        </p:nvPicPr>
        <p:blipFill>
          <a:blip>
            <a:duotone>
              <a:srgbClr val="1C4274"/>
              <a:srgbClr val="EAF6FC"/>
            </a:duotone>
            <a:extLst>
              <a:ext uri="{96DAC541-7B7A-43D3-8B79-37D633B846F1}">
                <asvg:svgBlip r:embed="rId3"/>
              </a:ext>
            </a:extLst>
          </a:blip>
          <a:stretch>
            <a:fillRect/>
          </a:stretch>
        </p:blipFill>
        <p:spPr>
          <a:xfrm>
            <a:off x="549275" y="3585210"/>
            <a:ext cx="304800" cy="304800"/>
          </a:xfrm>
          <a:prstGeom prst="rect">
            <a:avLst/>
          </a:prstGeom>
        </p:spPr>
      </p:pic>
      <p:pic>
        <p:nvPicPr>
          <p:cNvPr id="80" name="图片 7"/>
          <p:cNvPicPr>
            <a:picLocks noChangeAspect="1"/>
          </p:cNvPicPr>
          <p:nvPr/>
        </p:nvPicPr>
        <p:blipFill>
          <a:blip r:embed="rId4">
            <a:duotone>
              <a:srgbClr val="1C4274"/>
              <a:srgbClr val="EAF6FC"/>
            </a:duotone>
          </a:blip>
          <a:stretch>
            <a:fillRect/>
          </a:stretch>
        </p:blipFill>
        <p:spPr>
          <a:xfrm>
            <a:off x="6612255" y="1174115"/>
            <a:ext cx="4657090" cy="2847340"/>
          </a:xfrm>
          <a:prstGeom prst="rect">
            <a:avLst/>
          </a:prstGeom>
        </p:spPr>
      </p:pic>
      <p:pic>
        <p:nvPicPr>
          <p:cNvPr id="81" name="图片 15"/>
          <p:cNvPicPr>
            <a:picLocks noChangeAspect="1"/>
          </p:cNvPicPr>
          <p:nvPr/>
        </p:nvPicPr>
        <p:blipFill>
          <a:blip r:embed="rId5">
            <a:duotone>
              <a:srgbClr val="1C4274"/>
              <a:srgbClr val="EAF6FC"/>
            </a:duotone>
          </a:blip>
          <a:stretch>
            <a:fillRect/>
          </a:stretch>
        </p:blipFill>
        <p:spPr>
          <a:xfrm>
            <a:off x="6612255" y="3996055"/>
            <a:ext cx="4600575" cy="2733675"/>
          </a:xfrm>
          <a:prstGeom prst="rect">
            <a:avLst/>
          </a:prstGeom>
        </p:spPr>
      </p:pic>
      <p:pic>
        <p:nvPicPr>
          <p:cNvPr id="82" name="参考模板浅蓝背景弧线"/>
          <p:cNvPicPr/>
          <p:nvPr/>
        </p:nvPicPr>
        <p:blipFill>
          <a:blip r:embed="rId6">
            <a:duotone>
              <a:srgbClr val="1C4274"/>
              <a:srgbClr val="EAF6FC"/>
            </a:duotone>
          </a:blip>
          <a:stretch>
            <a:fillRect/>
          </a:stretch>
        </p:blipFill>
        <p:spPr>
          <a:xfrm>
            <a:off x="4457700" y="0"/>
            <a:ext cx="3143250" cy="495300"/>
          </a:xfrm>
          <a:prstGeom prst="rect">
            <a:avLst/>
          </a:prstGeom>
          <a:noFill/>
          <a:ln>
            <a:noFill/>
          </a:ln>
        </p:spPr>
      </p:pic>
      <p:pic>
        <p:nvPicPr>
          <p:cNvPr id="83" name="参考模板右上角标识"/>
          <p:cNvPicPr/>
          <p:nvPr/>
        </p:nvPicPr>
        <p:blipFill>
          <a:blip r:embed="rId7">
            <a:duotone>
              <a:srgbClr val="1C4274"/>
              <a:srgbClr val="EAF6FC"/>
            </a:duotone>
          </a:blip>
          <a:stretch>
            <a:fillRect/>
          </a:stretch>
        </p:blipFill>
        <p:spPr>
          <a:xfrm>
            <a:off x="9696450" y="209550"/>
            <a:ext cx="1733550" cy="390525"/>
          </a:xfrm>
          <a:prstGeom prst="rect">
            <a:avLst/>
          </a:prstGeom>
          <a:noFill/>
          <a:ln>
            <a:noFill/>
          </a:ln>
        </p:spPr>
      </p:pic>
    </p:spTree>
  </p:cSld>
  <p:clrMapOvr>
    <a:masterClrMapping/>
  </p:clrMapOvr>
</p:sld>
</file>

<file path=ppt/slides/slide15.xml><?xml version="1.0" encoding="utf-8"?>
<p:sld xmlns:p="http://schemas.openxmlformats.org/presentationml/2006/main" xmlns:r="http://schemas.openxmlformats.org/officeDocument/2006/relationships" xmlns:a="http://schemas.openxmlformats.org/drawingml/2006/main" xmlns:asvg="http://schemas.microsoft.com/office/drawing/2016/SVG/main" xmlns:mc="http://schemas.openxmlformats.org/markup-compatibility/2006" mc:Ignorable="asvg">
  <p:cSld>
    <p:spTree>
      <p:nvGrpSpPr>
        <p:cNvPr id="82" name=""/>
        <p:cNvGrpSpPr/>
        <p:nvPr/>
      </p:nvGrpSpPr>
      <p:grpSpPr>
        <a:xfrm>
          <a:off x="0" y="0"/>
          <a:ext cx="0" cy="0"/>
          <a:chOff x="0" y="0"/>
          <a:chExt cx="0" cy="0"/>
        </a:xfrm>
      </p:grpSpPr>
      <p:sp>
        <p:nvSpPr>
          <p:cNvPr id="83" name="Rectangle 1"/>
          <p:cNvSpPr/>
          <p:nvPr/>
        </p:nvSpPr>
        <p:spPr>
          <a:xfrm>
            <a:off x="502920" y="457200"/>
            <a:ext cx="82296" cy="566928"/>
          </a:xfrm>
          <a:prstGeom prst="rect">
            <a:avLst/>
          </a:prstGeom>
          <a:solidFill>
            <a:srgbClr val="0070C0"/>
          </a:solidFill>
          <a:ln>
            <a:noFill/>
          </a:ln>
          <a:effectLst/>
        </p:spPr>
        <p:style>
          <a:lnRef idx="1">
            <a:srgbClr val="0070C0"/>
          </a:lnRef>
          <a:fillRef idx="3">
            <a:srgbClr val="0070C0"/>
          </a:fillRef>
          <a:effectRef idx="2">
            <a:srgbClr val="0070C0"/>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84" name="Rectangle 4"/>
          <p:cNvSpPr/>
          <p:nvPr/>
        </p:nvSpPr>
        <p:spPr>
          <a:xfrm>
            <a:off x="502920" y="1005840"/>
            <a:ext cx="2011680" cy="27940"/>
          </a:xfrm>
          <a:prstGeom prst="rect">
            <a:avLst/>
          </a:prstGeom>
          <a:solidFill>
            <a:srgbClr val="54B0E0"/>
          </a:solidFill>
          <a:ln>
            <a:noFill/>
          </a:ln>
          <a:effectLst/>
        </p:spPr>
        <p:style>
          <a:lnRef idx="1">
            <a:srgbClr val="0070C0"/>
          </a:lnRef>
          <a:fillRef idx="3">
            <a:srgbClr val="0070C0"/>
          </a:fillRef>
          <a:effectRef idx="2">
            <a:srgbClr val="0070C0"/>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85" name="Rectangle 5"/>
          <p:cNvSpPr/>
          <p:nvPr/>
        </p:nvSpPr>
        <p:spPr>
          <a:xfrm>
            <a:off x="502920" y="1060704"/>
            <a:ext cx="11183112" cy="11430"/>
          </a:xfrm>
          <a:prstGeom prst="rect">
            <a:avLst/>
          </a:prstGeom>
          <a:solidFill>
            <a:srgbClr val="AED5EB"/>
          </a:solidFill>
          <a:ln>
            <a:noFill/>
          </a:ln>
          <a:effectLst/>
        </p:spPr>
        <p:style>
          <a:lnRef idx="1">
            <a:srgbClr val="0070C0"/>
          </a:lnRef>
          <a:fillRef idx="3">
            <a:srgbClr val="0070C0"/>
          </a:fillRef>
          <a:effectRef idx="2">
            <a:srgbClr val="0070C0"/>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86" name="文本框 1"/>
          <p:cNvSpPr txBox="1"/>
          <p:nvPr/>
        </p:nvSpPr>
        <p:spPr>
          <a:xfrm>
            <a:off x="585723" y="438023"/>
            <a:ext cx="8637900" cy="570865"/>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2400" b="1" i="0" u="none" strike="noStrike" kern="1200" cap="none" spc="0" normalizeH="0" baseline="0" noProof="0" dirty="0">
                <a:ln>
                  <a:noFill/>
                </a:ln>
                <a:solidFill>
                  <a:srgbClr val="1C4274"/>
                </a:solidFill>
                <a:effectLst/>
                <a:uLnTx/>
                <a:uFillTx/>
                <a:latin typeface="微软雅黑" panose="020B0503020204020204" charset="-122"/>
                <a:ea typeface="微软雅黑" panose="020B0503020204020204" charset="-122"/>
                <a:cs typeface="+mn-cs"/>
              </a:rPr>
              <a:t>资源保护主义迅速抬头，正演化为全球性问题</a:t>
            </a:r>
            <a:endParaRPr kumimoji="0" lang="zh-CN" altLang="en-US" sz="2400" b="1" i="0" u="none" strike="noStrike" kern="1200" cap="none" spc="0" normalizeH="0" baseline="0" noProof="0" dirty="0">
              <a:ln>
                <a:noFill/>
              </a:ln>
              <a:solidFill>
                <a:srgbClr val="1C4274"/>
              </a:solidFill>
              <a:effectLst/>
              <a:uLnTx/>
              <a:uFillTx/>
              <a:latin typeface="微软雅黑" panose="020B0503020204020204" charset="-122"/>
              <a:ea typeface="微软雅黑" panose="020B0503020204020204" charset="-122"/>
              <a:cs typeface="+mn-cs"/>
            </a:endParaRPr>
          </a:p>
        </p:txBody>
      </p:sp>
      <p:pic>
        <p:nvPicPr>
          <p:cNvPr id="87" name="Picture 7"/>
          <p:cNvPicPr>
            <a:picLocks noChangeAspect="1"/>
          </p:cNvPicPr>
          <p:nvPr/>
        </p:nvPicPr>
        <p:blipFill>
          <a:blip>
            <a:duotone>
              <a:srgbClr val="1C4274"/>
              <a:srgbClr val="EAF6FC"/>
            </a:duotone>
            <a:extLst>
              <a:ext uri="{96DAC541-7B7A-43D3-8B79-37D633B846F1}">
                <asvg:svgBlip r:embed="rId2"/>
              </a:ext>
            </a:extLst>
          </a:blip>
          <a:stretch>
            <a:fillRect/>
          </a:stretch>
        </p:blipFill>
        <p:spPr>
          <a:xfrm>
            <a:off x="495300" y="1460500"/>
            <a:ext cx="304800" cy="304800"/>
          </a:xfrm>
          <a:prstGeom prst="rect">
            <a:avLst/>
          </a:prstGeom>
        </p:spPr>
      </p:pic>
      <p:sp>
        <p:nvSpPr>
          <p:cNvPr id="88" name="AutoShape 8"/>
          <p:cNvSpPr/>
          <p:nvPr/>
        </p:nvSpPr>
        <p:spPr>
          <a:xfrm>
            <a:off x="876300" y="1460500"/>
            <a:ext cx="4572000" cy="2794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1600" b="1" i="0" u="none" strike="noStrike" kern="1200" cap="none" spc="0" normalizeH="0" baseline="0" noProof="0">
                <a:ln>
                  <a:noFill/>
                </a:ln>
                <a:solidFill>
                  <a:srgbClr val="1C4274"/>
                </a:solidFill>
                <a:effectLst/>
                <a:uLnTx/>
                <a:uFillTx/>
                <a:latin typeface="微软雅黑" panose="020B0503020204020204" charset="-122"/>
                <a:ea typeface="微软雅黑" panose="020B0503020204020204" charset="-122"/>
                <a:cs typeface="Poppins"/>
                <a:sym typeface="Poppins"/>
              </a:rPr>
              <a:t>关键矿产的稀缺性、分布不均衡</a:t>
            </a:r>
            <a:endParaRPr kumimoji="0" lang="zh-CN" altLang="en-US" sz="1600" b="1" i="0" u="none" strike="noStrike" kern="1200" cap="none" spc="0" normalizeH="0" baseline="0" noProof="0">
              <a:ln>
                <a:noFill/>
              </a:ln>
              <a:solidFill>
                <a:srgbClr val="1C4274"/>
              </a:solidFill>
              <a:effectLst/>
              <a:uLnTx/>
              <a:uFillTx/>
              <a:latin typeface="微软雅黑" panose="020B0503020204020204" charset="-122"/>
              <a:ea typeface="微软雅黑" panose="020B0503020204020204" charset="-122"/>
              <a:cs typeface="Poppins"/>
              <a:sym typeface="Poppins"/>
            </a:endParaRPr>
          </a:p>
        </p:txBody>
      </p:sp>
      <p:sp>
        <p:nvSpPr>
          <p:cNvPr id="89" name="AutoShape 9"/>
          <p:cNvSpPr/>
          <p:nvPr/>
        </p:nvSpPr>
        <p:spPr>
          <a:xfrm>
            <a:off x="876300" y="1889125"/>
            <a:ext cx="4572000" cy="508000"/>
          </a:xfrm>
          <a:prstGeom prst="rect">
            <a:avLst/>
          </a:prstGeom>
          <a:noFill/>
          <a:ln w="12700" cap="flat" cmpd="sng">
            <a:noFill/>
            <a:prstDash val="solid"/>
            <a:round/>
          </a:ln>
        </p:spPr>
        <p:txBody>
          <a:bodyPr vert="horz" wrap="square" lIns="0" tIns="0" rIns="0" bIns="0" rtlCol="0" anchor="t" anchorCtr="0"/>
          <a:lstStyle/>
          <a:p>
            <a:pPr marL="285750" marR="0" lvl="0" indent="-285750" algn="l" defTabSz="914400" rtl="0" eaLnBrk="1" fontAlgn="auto" latinLnBrk="0" hangingPunct="1">
              <a:lnSpc>
                <a:spcPct val="150000"/>
              </a:lnSpc>
              <a:spcBef>
                <a:spcPts val="0"/>
              </a:spcBef>
              <a:spcAft>
                <a:spcPts val="0"/>
              </a:spcAft>
              <a:buClr>
                <a:srgbClr val="123B5D"/>
              </a:buClr>
              <a:buSzTx/>
              <a:buFont typeface="Wingdings" panose="05000000000000000000" pitchFamily="2" charset="2"/>
              <a:buChar char="l"/>
              <a:defRPr/>
            </a:pPr>
            <a:r>
              <a:rPr lang="zh-CN" sz="1400" noProof="0" dirty="0">
                <a:ln>
                  <a:noFill/>
                </a:ln>
                <a:solidFill>
                  <a:srgbClr val="1C4274"/>
                </a:solidFill>
                <a:effectLst/>
                <a:uLnTx/>
                <a:uFillTx/>
                <a:latin typeface="微软雅黑" panose="020B0503020204020204" charset="-122"/>
                <a:ea typeface="微软雅黑" panose="020B0503020204020204" charset="-122"/>
                <a:cs typeface="Noto Sans SC" panose="020B0200000000000000" charset="-122"/>
                <a:sym typeface="Noto Sans SC" panose="020B0200000000000000" charset="-122"/>
              </a:rPr>
              <a:t>能源转型推动锂、钴、镍等关键矿产需求预期急速膨胀；</a:t>
            </a:r>
            <a:endParaRPr lang="zh-CN" sz="1400" noProof="0" dirty="0">
              <a:ln>
                <a:noFill/>
              </a:ln>
              <a:solidFill>
                <a:srgbClr val="1C4274"/>
              </a:solidFill>
              <a:effectLst/>
              <a:uLnTx/>
              <a:uFillTx/>
              <a:latin typeface="微软雅黑" panose="020B0503020204020204" charset="-122"/>
              <a:ea typeface="微软雅黑" panose="020B0503020204020204" charset="-122"/>
              <a:cs typeface="Noto Sans SC" panose="020B0200000000000000" charset="-122"/>
              <a:sym typeface="Noto Sans SC" panose="020B0200000000000000" charset="-122"/>
            </a:endParaRPr>
          </a:p>
          <a:p>
            <a:pPr marL="285750" marR="0" lvl="0" indent="-285750" algn="l" defTabSz="914400" rtl="0" eaLnBrk="1" fontAlgn="auto" latinLnBrk="0" hangingPunct="1">
              <a:lnSpc>
                <a:spcPct val="150000"/>
              </a:lnSpc>
              <a:spcBef>
                <a:spcPts val="0"/>
              </a:spcBef>
              <a:spcAft>
                <a:spcPts val="0"/>
              </a:spcAft>
              <a:buClr>
                <a:srgbClr val="123B5D"/>
              </a:buClr>
              <a:buSzTx/>
              <a:buFont typeface="Wingdings" panose="05000000000000000000" pitchFamily="2" charset="2"/>
              <a:buChar char="l"/>
              <a:defRPr/>
            </a:pPr>
            <a:r>
              <a:rPr lang="zh-CN" altLang="en-US" sz="1400" dirty="0">
                <a:solidFill>
                  <a:srgbClr val="1C4274"/>
                </a:solidFill>
                <a:latin typeface="微软雅黑" panose="020B0503020204020204" charset="-122"/>
                <a:ea typeface="微软雅黑" panose="020B0503020204020204" charset="-122"/>
                <a:cs typeface="Noto Sans SC" panose="020B0200000000000000" charset="-122"/>
                <a:sym typeface="Noto Sans SC" panose="020B0200000000000000" charset="-122"/>
              </a:rPr>
              <a:t>资源分布天然失衡，少部分国家掌握大部分矿产供给：印尼镍矿产量占全球</a:t>
            </a:r>
            <a:r>
              <a:rPr lang="en-US" altLang="zh-CN" sz="1400" dirty="0">
                <a:solidFill>
                  <a:srgbClr val="1C4274"/>
                </a:solidFill>
                <a:latin typeface="微软雅黑" panose="020B0503020204020204" charset="-122"/>
                <a:ea typeface="微软雅黑" panose="020B0503020204020204" charset="-122"/>
                <a:cs typeface="Noto Sans SC" panose="020B0200000000000000" charset="-122"/>
                <a:sym typeface="Noto Sans SC" panose="020B0200000000000000" charset="-122"/>
              </a:rPr>
              <a:t>6-7</a:t>
            </a:r>
            <a:r>
              <a:rPr lang="zh-CN" altLang="en-US" sz="1400" dirty="0">
                <a:solidFill>
                  <a:srgbClr val="1C4274"/>
                </a:solidFill>
                <a:latin typeface="微软雅黑" panose="020B0503020204020204" charset="-122"/>
                <a:ea typeface="微软雅黑" panose="020B0503020204020204" charset="-122"/>
                <a:cs typeface="Noto Sans SC" panose="020B0200000000000000" charset="-122"/>
                <a:sym typeface="Noto Sans SC" panose="020B0200000000000000" charset="-122"/>
              </a:rPr>
              <a:t>成、刚果钴资源占全球约四分之三；</a:t>
            </a:r>
            <a:endParaRPr lang="zh-CN" altLang="en-US" sz="1400" dirty="0">
              <a:solidFill>
                <a:srgbClr val="1C4274"/>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a:p>
            <a:pPr marL="285750" marR="0" lvl="0" indent="-285750" algn="l" defTabSz="914400" rtl="0" eaLnBrk="1" fontAlgn="auto" latinLnBrk="0" hangingPunct="1">
              <a:lnSpc>
                <a:spcPct val="150000"/>
              </a:lnSpc>
              <a:spcBef>
                <a:spcPts val="0"/>
              </a:spcBef>
              <a:spcAft>
                <a:spcPts val="0"/>
              </a:spcAft>
              <a:buClr>
                <a:srgbClr val="123B5D"/>
              </a:buClr>
              <a:buSzTx/>
              <a:buFont typeface="Wingdings" panose="05000000000000000000" pitchFamily="2" charset="2"/>
              <a:buChar char="l"/>
              <a:defRPr/>
            </a:pPr>
            <a:r>
              <a:rPr kumimoji="0" lang="zh-CN" altLang="en-US" sz="1400" b="0" i="0" u="none" strike="noStrike" kern="1200" cap="none" spc="0" normalizeH="0" baseline="0" noProof="0" dirty="0">
                <a:ln>
                  <a:noFill/>
                </a:ln>
                <a:solidFill>
                  <a:srgbClr val="1C4274"/>
                </a:solidFill>
                <a:effectLst/>
                <a:uLnTx/>
                <a:uFillTx/>
                <a:latin typeface="微软雅黑" panose="020B0503020204020204" charset="-122"/>
                <a:ea typeface="微软雅黑" panose="020B0503020204020204" charset="-122"/>
                <a:cs typeface="Noto Sans SC" panose="020B0200000000000000" charset="-122"/>
                <a:sym typeface="Noto Sans SC" panose="020B0200000000000000" charset="-122"/>
              </a:rPr>
              <a:t>供应集中意味着政策杠杆极高，单一资源国的政策调整足以重塑全球平衡表；</a:t>
            </a:r>
            <a:endParaRPr kumimoji="0" lang="zh-CN" altLang="en-US" sz="1400" b="0" i="0" u="none" strike="noStrike" kern="1200" cap="none" spc="0" normalizeH="0" baseline="0" noProof="0" dirty="0">
              <a:ln>
                <a:noFill/>
              </a:ln>
              <a:solidFill>
                <a:srgbClr val="1C4274"/>
              </a:solidFill>
              <a:effectLst/>
              <a:uLnTx/>
              <a:uFillTx/>
              <a:latin typeface="微软雅黑" panose="020B0503020204020204" charset="-122"/>
              <a:ea typeface="微软雅黑" panose="020B0503020204020204" charset="-122"/>
              <a:cs typeface="Noto Sans SC" panose="020B0200000000000000" charset="-122"/>
              <a:sym typeface="Noto Sans SC" panose="020B0200000000000000" charset="-122"/>
            </a:endParaRPr>
          </a:p>
        </p:txBody>
      </p:sp>
      <p:pic>
        <p:nvPicPr>
          <p:cNvPr id="90" name="Picture 10"/>
          <p:cNvPicPr>
            <a:picLocks noChangeAspect="1"/>
          </p:cNvPicPr>
          <p:nvPr/>
        </p:nvPicPr>
        <p:blipFill>
          <a:blip>
            <a:duotone>
              <a:srgbClr val="1C4274"/>
              <a:srgbClr val="EAF6FC"/>
            </a:duotone>
            <a:extLst>
              <a:ext uri="{96DAC541-7B7A-43D3-8B79-37D633B846F1}">
                <asvg:svgBlip r:embed="rId3"/>
              </a:ext>
            </a:extLst>
          </a:blip>
          <a:stretch>
            <a:fillRect/>
          </a:stretch>
        </p:blipFill>
        <p:spPr>
          <a:xfrm>
            <a:off x="495300" y="3975100"/>
            <a:ext cx="304800" cy="304800"/>
          </a:xfrm>
          <a:prstGeom prst="rect">
            <a:avLst/>
          </a:prstGeom>
        </p:spPr>
      </p:pic>
      <p:sp>
        <p:nvSpPr>
          <p:cNvPr id="91" name="AutoShape 11"/>
          <p:cNvSpPr/>
          <p:nvPr/>
        </p:nvSpPr>
        <p:spPr>
          <a:xfrm>
            <a:off x="875665" y="3965575"/>
            <a:ext cx="4798060" cy="2794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1600" b="1" i="0" u="none" strike="noStrike" kern="1200" cap="none" spc="0" normalizeH="0" baseline="0" noProof="0">
                <a:ln>
                  <a:noFill/>
                </a:ln>
                <a:solidFill>
                  <a:srgbClr val="1C4274"/>
                </a:solidFill>
                <a:effectLst/>
                <a:uLnTx/>
                <a:uFillTx/>
                <a:latin typeface="微软雅黑" panose="020B0503020204020204" charset="-122"/>
                <a:ea typeface="微软雅黑" panose="020B0503020204020204" charset="-122"/>
                <a:cs typeface="Poppins"/>
                <a:sym typeface="Poppins"/>
              </a:rPr>
              <a:t>经济格局打破，从</a:t>
            </a:r>
            <a:r>
              <a:rPr kumimoji="0" lang="en-US" altLang="zh-CN" sz="1600" b="1" i="0" u="none" strike="noStrike" kern="1200" cap="none" spc="0" normalizeH="0" baseline="0" noProof="0">
                <a:ln>
                  <a:noFill/>
                </a:ln>
                <a:solidFill>
                  <a:srgbClr val="1C4274"/>
                </a:solidFill>
                <a:effectLst/>
                <a:uLnTx/>
                <a:uFillTx/>
                <a:latin typeface="微软雅黑" panose="020B0503020204020204" charset="-122"/>
                <a:ea typeface="微软雅黑" panose="020B0503020204020204" charset="-122"/>
                <a:cs typeface="Poppins"/>
                <a:sym typeface="Poppins"/>
              </a:rPr>
              <a:t>“</a:t>
            </a:r>
            <a:r>
              <a:rPr kumimoji="0" lang="zh-CN" altLang="en-US" sz="1600" b="1" i="0" u="none" strike="noStrike" kern="1200" cap="none" spc="0" normalizeH="0" baseline="0" noProof="0">
                <a:ln>
                  <a:noFill/>
                </a:ln>
                <a:solidFill>
                  <a:srgbClr val="1C4274"/>
                </a:solidFill>
                <a:effectLst/>
                <a:uLnTx/>
                <a:uFillTx/>
                <a:latin typeface="微软雅黑" panose="020B0503020204020204" charset="-122"/>
                <a:ea typeface="微软雅黑" panose="020B0503020204020204" charset="-122"/>
                <a:cs typeface="Poppins"/>
                <a:sym typeface="Poppins"/>
              </a:rPr>
              <a:t>贸易便利化</a:t>
            </a:r>
            <a:r>
              <a:rPr kumimoji="0" lang="en-US" altLang="zh-CN" sz="1600" b="1" i="0" u="none" strike="noStrike" kern="1200" cap="none" spc="0" normalizeH="0" baseline="0" noProof="0">
                <a:ln>
                  <a:noFill/>
                </a:ln>
                <a:solidFill>
                  <a:srgbClr val="1C4274"/>
                </a:solidFill>
                <a:effectLst/>
                <a:uLnTx/>
                <a:uFillTx/>
                <a:latin typeface="微软雅黑" panose="020B0503020204020204" charset="-122"/>
                <a:ea typeface="微软雅黑" panose="020B0503020204020204" charset="-122"/>
                <a:cs typeface="Poppins"/>
                <a:sym typeface="Poppins"/>
              </a:rPr>
              <a:t>”</a:t>
            </a:r>
            <a:r>
              <a:rPr kumimoji="0" lang="zh-CN" altLang="en-US" sz="1600" b="1" i="0" u="none" strike="noStrike" kern="1200" cap="none" spc="0" normalizeH="0" baseline="0" noProof="0">
                <a:ln>
                  <a:noFill/>
                </a:ln>
                <a:solidFill>
                  <a:srgbClr val="1C4274"/>
                </a:solidFill>
                <a:effectLst/>
                <a:uLnTx/>
                <a:uFillTx/>
                <a:latin typeface="微软雅黑" panose="020B0503020204020204" charset="-122"/>
                <a:ea typeface="微软雅黑" panose="020B0503020204020204" charset="-122"/>
                <a:cs typeface="Poppins"/>
                <a:sym typeface="Poppins"/>
              </a:rPr>
              <a:t>转向</a:t>
            </a:r>
            <a:r>
              <a:rPr kumimoji="0" lang="en-US" altLang="zh-CN" sz="1600" b="1" i="0" u="none" strike="noStrike" kern="1200" cap="none" spc="0" normalizeH="0" baseline="0" noProof="0">
                <a:ln>
                  <a:noFill/>
                </a:ln>
                <a:solidFill>
                  <a:srgbClr val="1C4274"/>
                </a:solidFill>
                <a:effectLst/>
                <a:uLnTx/>
                <a:uFillTx/>
                <a:latin typeface="微软雅黑" panose="020B0503020204020204" charset="-122"/>
                <a:ea typeface="微软雅黑" panose="020B0503020204020204" charset="-122"/>
                <a:cs typeface="Poppins"/>
                <a:sym typeface="Poppins"/>
              </a:rPr>
              <a:t>“</a:t>
            </a:r>
            <a:r>
              <a:rPr kumimoji="0" lang="zh-CN" altLang="en-US" sz="1600" b="1" i="0" u="none" strike="noStrike" kern="1200" cap="none" spc="0" normalizeH="0" baseline="0" noProof="0">
                <a:ln>
                  <a:noFill/>
                </a:ln>
                <a:solidFill>
                  <a:srgbClr val="1C4274"/>
                </a:solidFill>
                <a:effectLst/>
                <a:uLnTx/>
                <a:uFillTx/>
                <a:latin typeface="微软雅黑" panose="020B0503020204020204" charset="-122"/>
                <a:ea typeface="微软雅黑" panose="020B0503020204020204" charset="-122"/>
                <a:cs typeface="Poppins"/>
                <a:sym typeface="Poppins"/>
              </a:rPr>
              <a:t>资源政治化</a:t>
            </a:r>
            <a:r>
              <a:rPr kumimoji="0" lang="en-US" altLang="zh-CN" sz="1600" b="1" i="0" u="none" strike="noStrike" kern="1200" cap="none" spc="0" normalizeH="0" baseline="0" noProof="0">
                <a:ln>
                  <a:noFill/>
                </a:ln>
                <a:solidFill>
                  <a:srgbClr val="1C4274"/>
                </a:solidFill>
                <a:effectLst/>
                <a:uLnTx/>
                <a:uFillTx/>
                <a:latin typeface="微软雅黑" panose="020B0503020204020204" charset="-122"/>
                <a:ea typeface="微软雅黑" panose="020B0503020204020204" charset="-122"/>
                <a:cs typeface="Poppins"/>
                <a:sym typeface="Poppins"/>
              </a:rPr>
              <a:t>”</a:t>
            </a:r>
            <a:endParaRPr kumimoji="0" lang="en-US" altLang="zh-CN" sz="1600" b="1" i="0" u="none" strike="noStrike" kern="1200" cap="none" spc="0" normalizeH="0" baseline="0" noProof="0">
              <a:ln>
                <a:noFill/>
              </a:ln>
              <a:solidFill>
                <a:srgbClr val="1C4274"/>
              </a:solidFill>
              <a:effectLst/>
              <a:uLnTx/>
              <a:uFillTx/>
              <a:latin typeface="微软雅黑" panose="020B0503020204020204" charset="-122"/>
              <a:ea typeface="微软雅黑" panose="020B0503020204020204" charset="-122"/>
              <a:cs typeface="Poppins"/>
              <a:sym typeface="Poppins"/>
            </a:endParaRPr>
          </a:p>
        </p:txBody>
      </p:sp>
      <p:sp>
        <p:nvSpPr>
          <p:cNvPr id="92" name="AutoShape 12"/>
          <p:cNvSpPr/>
          <p:nvPr/>
        </p:nvSpPr>
        <p:spPr>
          <a:xfrm>
            <a:off x="876300" y="4403725"/>
            <a:ext cx="4572000" cy="508000"/>
          </a:xfrm>
          <a:prstGeom prst="rect">
            <a:avLst/>
          </a:prstGeom>
          <a:noFill/>
          <a:ln w="12700" cap="flat" cmpd="sng">
            <a:noFill/>
            <a:prstDash val="solid"/>
            <a:round/>
          </a:ln>
        </p:spPr>
        <p:txBody>
          <a:bodyPr vert="horz" wrap="square" lIns="0" tIns="0" rIns="0" bIns="0" rtlCol="0" anchor="t" anchorCtr="0"/>
          <a:lstStyle/>
          <a:p>
            <a:pPr marL="285750" marR="0" lvl="0" indent="-285750" algn="l" defTabSz="914400" rtl="0" eaLnBrk="1" fontAlgn="auto" latinLnBrk="0" hangingPunct="1">
              <a:lnSpc>
                <a:spcPct val="150000"/>
              </a:lnSpc>
              <a:spcBef>
                <a:spcPts val="0"/>
              </a:spcBef>
              <a:spcAft>
                <a:spcPts val="0"/>
              </a:spcAft>
              <a:buClr>
                <a:srgbClr val="123B5D"/>
              </a:buClr>
              <a:buSzTx/>
              <a:buFont typeface="Wingdings" panose="05000000000000000000" pitchFamily="2" charset="2"/>
              <a:buChar char="l"/>
              <a:defRPr/>
            </a:pPr>
            <a:r>
              <a:rPr lang="zh-CN" sz="1400" noProof="0" dirty="0">
                <a:ln>
                  <a:noFill/>
                </a:ln>
                <a:solidFill>
                  <a:srgbClr val="1C4274"/>
                </a:solidFill>
                <a:effectLst/>
                <a:uLnTx/>
                <a:uFillTx/>
                <a:latin typeface="微软雅黑" panose="020B0503020204020204" charset="-122"/>
                <a:ea typeface="微软雅黑" panose="020B0503020204020204" charset="-122"/>
                <a:cs typeface="Noto Sans SC" panose="020B0200000000000000" charset="-122"/>
                <a:sym typeface="Noto Sans SC" panose="020B0200000000000000" charset="-122"/>
              </a:rPr>
              <a:t>资源国通过出口管制、配额、税收与产业政策配套等多元化政策工具强化国家对矿产资源的控制力：印尼镍矿出口禁令、津巴布韦锂矿出口限制；</a:t>
            </a:r>
            <a:endParaRPr lang="zh-CN" sz="1400" noProof="0" dirty="0">
              <a:ln>
                <a:noFill/>
              </a:ln>
              <a:solidFill>
                <a:srgbClr val="1C4274"/>
              </a:solidFill>
              <a:effectLst/>
              <a:uLnTx/>
              <a:uFillTx/>
              <a:latin typeface="微软雅黑" panose="020B0503020204020204" charset="-122"/>
              <a:ea typeface="微软雅黑" panose="020B0503020204020204" charset="-122"/>
              <a:cs typeface="Noto Sans SC" panose="020B0200000000000000" charset="-122"/>
              <a:sym typeface="Noto Sans SC" panose="020B0200000000000000" charset="-122"/>
            </a:endParaRPr>
          </a:p>
          <a:p>
            <a:pPr marL="285750" marR="0" lvl="0" indent="-285750" algn="l" defTabSz="914400" rtl="0" eaLnBrk="1" fontAlgn="auto" latinLnBrk="0" hangingPunct="1">
              <a:lnSpc>
                <a:spcPct val="150000"/>
              </a:lnSpc>
              <a:spcBef>
                <a:spcPts val="0"/>
              </a:spcBef>
              <a:spcAft>
                <a:spcPts val="0"/>
              </a:spcAft>
              <a:buClr>
                <a:srgbClr val="123B5D"/>
              </a:buClr>
              <a:buSzTx/>
              <a:buFont typeface="Wingdings" panose="05000000000000000000" pitchFamily="2" charset="2"/>
              <a:buChar char="l"/>
              <a:defRPr/>
            </a:pPr>
            <a:r>
              <a:rPr lang="zh-CN" altLang="en-US" sz="1400" dirty="0">
                <a:solidFill>
                  <a:srgbClr val="1C4274"/>
                </a:solidFill>
                <a:latin typeface="微软雅黑" panose="020B0503020204020204" charset="-122"/>
                <a:ea typeface="微软雅黑" panose="020B0503020204020204" charset="-122"/>
                <a:cs typeface="Noto Sans SC" panose="020B0200000000000000" charset="-122"/>
                <a:sym typeface="Noto Sans SC" panose="020B0200000000000000" charset="-122"/>
              </a:rPr>
              <a:t>资源国不满足于原矿形式出口资源换取有限收入，而是希望复制产业升级路径，以资源吸引加工产业落地；</a:t>
            </a:r>
            <a:endParaRPr lang="zh-CN" altLang="en-US" sz="1400" dirty="0">
              <a:solidFill>
                <a:srgbClr val="1C4274"/>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a:p>
            <a:pPr marL="285750" marR="0" lvl="0" indent="-285750" algn="l" defTabSz="914400" rtl="0" eaLnBrk="1" fontAlgn="auto" latinLnBrk="0" hangingPunct="1">
              <a:lnSpc>
                <a:spcPct val="150000"/>
              </a:lnSpc>
              <a:spcBef>
                <a:spcPts val="0"/>
              </a:spcBef>
              <a:spcAft>
                <a:spcPts val="0"/>
              </a:spcAft>
              <a:buClr>
                <a:srgbClr val="123B5D"/>
              </a:buClr>
              <a:buSzTx/>
              <a:buFont typeface="Wingdings" panose="05000000000000000000" pitchFamily="2" charset="2"/>
              <a:buChar char="l"/>
              <a:defRPr/>
            </a:pPr>
            <a:r>
              <a:rPr kumimoji="0" lang="zh-CN" sz="1400" b="0" i="0" u="none" strike="noStrike" kern="1200" cap="none" spc="0" normalizeH="0" baseline="0" noProof="0" dirty="0">
                <a:ln>
                  <a:noFill/>
                </a:ln>
                <a:solidFill>
                  <a:srgbClr val="1C4274"/>
                </a:solidFill>
                <a:effectLst/>
                <a:uLnTx/>
                <a:uFillTx/>
                <a:latin typeface="微软雅黑" panose="020B0503020204020204" charset="-122"/>
                <a:ea typeface="微软雅黑" panose="020B0503020204020204" charset="-122"/>
                <a:cs typeface="Noto Sans SC" panose="020B0200000000000000" charset="-122"/>
              </a:rPr>
              <a:t>全球贸易规则让位于资源政治，供给曲线的“政策成本”永久性上升，供给侧定价权向资源国转移；</a:t>
            </a:r>
            <a:endParaRPr kumimoji="0" lang="zh-CN" sz="1400" b="0" i="0" u="none" strike="noStrike" kern="1200" cap="none" spc="0" normalizeH="0" baseline="0" noProof="0" dirty="0">
              <a:ln>
                <a:noFill/>
              </a:ln>
              <a:solidFill>
                <a:srgbClr val="1C4274"/>
              </a:solidFill>
              <a:effectLst/>
              <a:uLnTx/>
              <a:uFillTx/>
              <a:latin typeface="微软雅黑" panose="020B0503020204020204" charset="-122"/>
              <a:ea typeface="微软雅黑" panose="020B0503020204020204" charset="-122"/>
              <a:cs typeface="Noto Sans SC" panose="020B0200000000000000" charset="-122"/>
            </a:endParaRPr>
          </a:p>
        </p:txBody>
      </p:sp>
      <p:pic>
        <p:nvPicPr>
          <p:cNvPr id="93" name="图片 11"/>
          <p:cNvPicPr>
            <a:picLocks noChangeAspect="1"/>
          </p:cNvPicPr>
          <p:nvPr/>
        </p:nvPicPr>
        <p:blipFill>
          <a:blip r:embed="rId4">
            <a:duotone>
              <a:srgbClr val="1C4274"/>
              <a:srgbClr val="EAF6FC"/>
            </a:duotone>
          </a:blip>
          <a:stretch>
            <a:fillRect/>
          </a:stretch>
        </p:blipFill>
        <p:spPr>
          <a:xfrm>
            <a:off x="5674995" y="1115695"/>
            <a:ext cx="5928995" cy="2143125"/>
          </a:xfrm>
          <a:prstGeom prst="rect">
            <a:avLst/>
          </a:prstGeom>
        </p:spPr>
      </p:pic>
      <p:pic>
        <p:nvPicPr>
          <p:cNvPr id="94" name="图片 12"/>
          <p:cNvPicPr>
            <a:picLocks noChangeAspect="1"/>
          </p:cNvPicPr>
          <p:nvPr/>
        </p:nvPicPr>
        <p:blipFill>
          <a:blip r:embed="rId5">
            <a:duotone>
              <a:srgbClr val="1C4274"/>
              <a:srgbClr val="EAF6FC"/>
            </a:duotone>
          </a:blip>
          <a:stretch>
            <a:fillRect/>
          </a:stretch>
        </p:blipFill>
        <p:spPr>
          <a:xfrm>
            <a:off x="5749290" y="3221355"/>
            <a:ext cx="5854700" cy="3514090"/>
          </a:xfrm>
          <a:prstGeom prst="rect">
            <a:avLst/>
          </a:prstGeom>
        </p:spPr>
      </p:pic>
      <p:pic>
        <p:nvPicPr>
          <p:cNvPr id="95" name="参考模板浅蓝背景弧线"/>
          <p:cNvPicPr/>
          <p:nvPr/>
        </p:nvPicPr>
        <p:blipFill>
          <a:blip r:embed="rId6">
            <a:duotone>
              <a:srgbClr val="1C4274"/>
              <a:srgbClr val="EAF6FC"/>
            </a:duotone>
          </a:blip>
          <a:stretch>
            <a:fillRect/>
          </a:stretch>
        </p:blipFill>
        <p:spPr>
          <a:xfrm>
            <a:off x="4457700" y="0"/>
            <a:ext cx="3143250" cy="495300"/>
          </a:xfrm>
          <a:prstGeom prst="rect">
            <a:avLst/>
          </a:prstGeom>
          <a:noFill/>
          <a:ln>
            <a:noFill/>
          </a:ln>
        </p:spPr>
      </p:pic>
      <p:pic>
        <p:nvPicPr>
          <p:cNvPr id="96" name="参考模板右上角标识"/>
          <p:cNvPicPr/>
          <p:nvPr/>
        </p:nvPicPr>
        <p:blipFill>
          <a:blip r:embed="rId7">
            <a:duotone>
              <a:srgbClr val="1C4274"/>
              <a:srgbClr val="EAF6FC"/>
            </a:duotone>
          </a:blip>
          <a:stretch>
            <a:fillRect/>
          </a:stretch>
        </p:blipFill>
        <p:spPr>
          <a:xfrm>
            <a:off x="9696450" y="209550"/>
            <a:ext cx="1733550" cy="390525"/>
          </a:xfrm>
          <a:prstGeom prst="rect">
            <a:avLst/>
          </a:prstGeom>
          <a:noFill/>
          <a:ln>
            <a:noFill/>
          </a:ln>
        </p:spPr>
      </p:pic>
    </p:spTree>
  </p:cSld>
  <p:clrMapOvr>
    <a:masterClrMapping/>
  </p:clrMapOvr>
</p:sld>
</file>

<file path=ppt/slides/slide16.xml><?xml version="1.0" encoding="utf-8"?>
<p:sld xmlns:p="http://schemas.openxmlformats.org/presentationml/2006/main" xmlns:r="http://schemas.openxmlformats.org/officeDocument/2006/relationships" xmlns:a="http://schemas.openxmlformats.org/drawingml/2006/main" xmlns:asvg="http://schemas.microsoft.com/office/drawing/2016/SVG/main" xmlns:mc="http://schemas.openxmlformats.org/markup-compatibility/2006" mc:Ignorable="asvg">
  <p:cSld>
    <p:spTree>
      <p:nvGrpSpPr>
        <p:cNvPr id="95" name=""/>
        <p:cNvGrpSpPr/>
        <p:nvPr/>
      </p:nvGrpSpPr>
      <p:grpSpPr>
        <a:xfrm>
          <a:off x="0" y="0"/>
          <a:ext cx="0" cy="0"/>
          <a:chOff x="0" y="0"/>
          <a:chExt cx="0" cy="0"/>
        </a:xfrm>
      </p:grpSpPr>
      <p:sp>
        <p:nvSpPr>
          <p:cNvPr id="96" name="Rectangle 1"/>
          <p:cNvSpPr/>
          <p:nvPr/>
        </p:nvSpPr>
        <p:spPr>
          <a:xfrm>
            <a:off x="502920" y="457200"/>
            <a:ext cx="82296" cy="566928"/>
          </a:xfrm>
          <a:prstGeom prst="rect">
            <a:avLst/>
          </a:prstGeom>
          <a:solidFill>
            <a:srgbClr val="0070C0"/>
          </a:solidFill>
          <a:ln>
            <a:noFill/>
          </a:ln>
          <a:effectLst/>
        </p:spPr>
        <p:style>
          <a:lnRef idx="1">
            <a:srgbClr val="0070C0"/>
          </a:lnRef>
          <a:fillRef idx="3">
            <a:srgbClr val="0070C0"/>
          </a:fillRef>
          <a:effectRef idx="2">
            <a:srgbClr val="0070C0"/>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97" name="TextBox 2"/>
          <p:cNvSpPr txBox="1"/>
          <p:nvPr/>
        </p:nvSpPr>
        <p:spPr>
          <a:xfrm>
            <a:off x="713232" y="480949"/>
            <a:ext cx="9601200" cy="519430"/>
          </a:xfrm>
          <a:prstGeom prst="rect">
            <a:avLst/>
          </a:prstGeom>
          <a:noFill/>
        </p:spPr>
        <p:txBody>
          <a:bodyPr wrap="square" lIns="0" tIns="0" rIns="0" bIns="0" anchor="ctr">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lang="en-US" altLang="zh-CN" sz="2600" b="1" noProof="0" dirty="0" err="1">
                <a:ln>
                  <a:noFill/>
                </a:ln>
                <a:solidFill>
                  <a:srgbClr val="1C4274"/>
                </a:solidFill>
                <a:effectLst/>
                <a:uLnTx/>
                <a:uFillTx/>
                <a:latin typeface="微软雅黑" panose="020B0503020204020204" charset="-122"/>
                <a:ea typeface="微软雅黑" panose="020B0503020204020204" charset="-122"/>
                <a:sym typeface="Poppins"/>
              </a:rPr>
              <a:t>供需格局：供应约束叠加需求</a:t>
            </a:r>
            <a:r>
              <a:rPr lang="zh-CN" altLang="en-US" sz="2600" b="1" noProof="0" dirty="0">
                <a:ln>
                  <a:noFill/>
                </a:ln>
                <a:solidFill>
                  <a:srgbClr val="1C4274"/>
                </a:solidFill>
                <a:effectLst/>
                <a:uLnTx/>
                <a:uFillTx/>
                <a:latin typeface="微软雅黑" panose="020B0503020204020204" charset="-122"/>
                <a:ea typeface="微软雅黑" panose="020B0503020204020204" charset="-122"/>
                <a:sym typeface="Poppins"/>
              </a:rPr>
              <a:t>爆发</a:t>
            </a:r>
            <a:endParaRPr lang="zh-CN" altLang="en-US" sz="2600" b="1">
              <a:solidFill>
                <a:srgbClr val="0070C0"/>
              </a:solidFill>
              <a:latin typeface="微软雅黑" panose="020B0503020204020204" charset="-122"/>
              <a:ea typeface="微软雅黑" panose="020B0503020204020204" charset="-122"/>
              <a:cs typeface="微软雅黑" panose="020B0503020204020204" charset="-122"/>
            </a:endParaRPr>
          </a:p>
        </p:txBody>
      </p:sp>
      <p:sp>
        <p:nvSpPr>
          <p:cNvPr id="98" name="Rectangle 4"/>
          <p:cNvSpPr/>
          <p:nvPr/>
        </p:nvSpPr>
        <p:spPr>
          <a:xfrm>
            <a:off x="502920" y="1005840"/>
            <a:ext cx="2011680" cy="27940"/>
          </a:xfrm>
          <a:prstGeom prst="rect">
            <a:avLst/>
          </a:prstGeom>
          <a:solidFill>
            <a:srgbClr val="54B0E0"/>
          </a:solidFill>
          <a:ln>
            <a:noFill/>
          </a:ln>
          <a:effectLst/>
        </p:spPr>
        <p:style>
          <a:lnRef idx="1">
            <a:srgbClr val="0070C0"/>
          </a:lnRef>
          <a:fillRef idx="3">
            <a:srgbClr val="0070C0"/>
          </a:fillRef>
          <a:effectRef idx="2">
            <a:srgbClr val="0070C0"/>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99" name="Rectangle 5"/>
          <p:cNvSpPr/>
          <p:nvPr/>
        </p:nvSpPr>
        <p:spPr>
          <a:xfrm>
            <a:off x="502920" y="1060704"/>
            <a:ext cx="11183112" cy="11430"/>
          </a:xfrm>
          <a:prstGeom prst="rect">
            <a:avLst/>
          </a:prstGeom>
          <a:solidFill>
            <a:srgbClr val="AED5EB"/>
          </a:solidFill>
          <a:ln>
            <a:noFill/>
          </a:ln>
          <a:effectLst/>
        </p:spPr>
        <p:style>
          <a:lnRef idx="1">
            <a:srgbClr val="0070C0"/>
          </a:lnRef>
          <a:fillRef idx="3">
            <a:srgbClr val="0070C0"/>
          </a:fillRef>
          <a:effectRef idx="2">
            <a:srgbClr val="0070C0"/>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100" name="TextBox 8"/>
          <p:cNvSpPr txBox="1"/>
          <p:nvPr/>
        </p:nvSpPr>
        <p:spPr>
          <a:xfrm>
            <a:off x="502920" y="6455664"/>
            <a:ext cx="7315200" cy="274320"/>
          </a:xfrm>
          <a:prstGeom prst="rect">
            <a:avLst/>
          </a:prstGeom>
          <a:noFill/>
        </p:spPr>
        <p:txBody>
          <a:bodyPr wrap="square" lIns="0" tIns="0" rIns="0" bIns="0" anchor="t">
            <a:spAutoFit/>
          </a:bodyPr>
          <a:lstStyle/>
          <a:p>
            <a:pPr algn="l">
              <a:lnSpc>
                <a:spcPct val="115000"/>
              </a:lnSpc>
              <a:spcAft>
                <a:spcPts val="600"/>
              </a:spcAft>
            </a:pPr>
            <a:r>
              <a:rPr sz="900" b="0">
                <a:solidFill>
                  <a:srgbClr val="1C4274"/>
                </a:solidFill>
                <a:latin typeface="微软雅黑" panose="020B0503020204020204" charset="-122"/>
                <a:ea typeface="微软雅黑" panose="020B0503020204020204" charset="-122"/>
                <a:cs typeface="微软雅黑" panose="020B0503020204020204" charset="-122"/>
              </a:rPr>
              <a:t>近期宏观变化及资产配置 · 2026.09</a:t>
            </a:r>
            <a:endParaRPr sz="900" b="0">
              <a:solidFill>
                <a:srgbClr val="1C4274"/>
              </a:solidFill>
              <a:latin typeface="微软雅黑" panose="020B0503020204020204" charset="-122"/>
              <a:ea typeface="微软雅黑" panose="020B0503020204020204" charset="-122"/>
              <a:cs typeface="微软雅黑" panose="020B0503020204020204" charset="-122"/>
            </a:endParaRPr>
          </a:p>
        </p:txBody>
      </p:sp>
      <p:sp>
        <p:nvSpPr>
          <p:cNvPr id="101" name="TextBox 9"/>
          <p:cNvSpPr txBox="1"/>
          <p:nvPr/>
        </p:nvSpPr>
        <p:spPr>
          <a:xfrm>
            <a:off x="10789920" y="6455664"/>
            <a:ext cx="914400" cy="274320"/>
          </a:xfrm>
          <a:prstGeom prst="rect">
            <a:avLst/>
          </a:prstGeom>
          <a:noFill/>
        </p:spPr>
        <p:txBody>
          <a:bodyPr wrap="square" lIns="0" tIns="0" rIns="0" bIns="0" anchor="t">
            <a:spAutoFit/>
          </a:bodyPr>
          <a:lstStyle/>
          <a:p>
            <a:pPr algn="r">
              <a:lnSpc>
                <a:spcPct val="115000"/>
              </a:lnSpc>
              <a:spcAft>
                <a:spcPts val="600"/>
              </a:spcAft>
            </a:pPr>
            <a:r>
              <a:rPr sz="1000" b="0">
                <a:solidFill>
                  <a:srgbClr val="1C4274"/>
                </a:solidFill>
                <a:latin typeface="微软雅黑" panose="020B0503020204020204" charset="-122"/>
                <a:ea typeface="微软雅黑" panose="020B0503020204020204" charset="-122"/>
                <a:cs typeface="微软雅黑" panose="020B0503020204020204" charset="-122"/>
              </a:rPr>
              <a:t>14</a:t>
            </a:r>
            <a:endParaRPr sz="1000" b="0">
              <a:solidFill>
                <a:srgbClr val="1C4274"/>
              </a:solidFill>
              <a:latin typeface="微软雅黑" panose="020B0503020204020204" charset="-122"/>
              <a:ea typeface="微软雅黑" panose="020B0503020204020204" charset="-122"/>
              <a:cs typeface="微软雅黑" panose="020B0503020204020204" charset="-122"/>
            </a:endParaRPr>
          </a:p>
        </p:txBody>
      </p:sp>
      <p:sp>
        <p:nvSpPr>
          <p:cNvPr id="102" name="AutoShape 6"/>
          <p:cNvSpPr/>
          <p:nvPr/>
        </p:nvSpPr>
        <p:spPr>
          <a:xfrm>
            <a:off x="749300" y="1341755"/>
            <a:ext cx="5080000" cy="3556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Tx/>
              <a:buSzTx/>
              <a:buFontTx/>
              <a:buNone/>
              <a:defRPr/>
            </a:pPr>
            <a:r>
              <a:rPr kumimoji="0" lang="en-US" sz="2000" b="1" i="0" u="none" strike="noStrike" kern="1200" cap="none" spc="0" normalizeH="0" baseline="0" noProof="0">
                <a:ln>
                  <a:noFill/>
                </a:ln>
                <a:solidFill>
                  <a:srgbClr val="1C4274"/>
                </a:solidFill>
                <a:effectLst/>
                <a:uLnTx/>
                <a:uFillTx/>
                <a:latin typeface="微软雅黑" panose="020B0503020204020204" charset="-122"/>
                <a:ea typeface="微软雅黑" panose="020B0503020204020204" charset="-122"/>
                <a:cs typeface="Poppins"/>
                <a:sym typeface="Poppins"/>
              </a:rPr>
              <a:t>供应端约束</a:t>
            </a:r>
            <a:endParaRPr kumimoji="0" lang="en-US" sz="1100" b="0" i="0" u="none" strike="noStrike" kern="1200" cap="none" spc="0" normalizeH="0" baseline="0" noProof="0">
              <a:ln>
                <a:noFill/>
              </a:ln>
              <a:solidFill>
                <a:srgbClr val="1C4274"/>
              </a:solidFill>
              <a:effectLst/>
              <a:uLnTx/>
              <a:uFillTx/>
              <a:latin typeface="微软雅黑" panose="020B0503020204020204" charset="-122"/>
              <a:ea typeface="微软雅黑" panose="020B0503020204020204" charset="-122"/>
              <a:cs typeface="+mn-cs"/>
            </a:endParaRPr>
          </a:p>
        </p:txBody>
      </p:sp>
      <p:pic>
        <p:nvPicPr>
          <p:cNvPr id="103" name="Picture 7"/>
          <p:cNvPicPr>
            <a:picLocks noChangeAspect="1"/>
          </p:cNvPicPr>
          <p:nvPr/>
        </p:nvPicPr>
        <p:blipFill>
          <a:blip>
            <a:duotone>
              <a:srgbClr val="1C4274"/>
              <a:srgbClr val="EAF6FC"/>
            </a:duotone>
            <a:extLst>
              <a:ext uri="{96DAC541-7B7A-43D3-8B79-37D633B846F1}">
                <asvg:svgBlip r:embed="rId2"/>
              </a:ext>
            </a:extLst>
          </a:blip>
          <a:stretch>
            <a:fillRect/>
          </a:stretch>
        </p:blipFill>
        <p:spPr>
          <a:xfrm>
            <a:off x="762000" y="1925320"/>
            <a:ext cx="304800" cy="304800"/>
          </a:xfrm>
          <a:prstGeom prst="rect">
            <a:avLst/>
          </a:prstGeom>
        </p:spPr>
      </p:pic>
      <p:sp>
        <p:nvSpPr>
          <p:cNvPr id="104" name="AutoShape 8"/>
          <p:cNvSpPr/>
          <p:nvPr/>
        </p:nvSpPr>
        <p:spPr>
          <a:xfrm>
            <a:off x="1162050" y="1930400"/>
            <a:ext cx="4572000" cy="2794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Tx/>
              <a:buSzTx/>
              <a:buFontTx/>
              <a:buNone/>
              <a:defRPr/>
            </a:pPr>
            <a:r>
              <a:rPr kumimoji="0" lang="en-US" sz="1600" b="1" i="0" u="none" strike="noStrike" kern="1200" cap="none" spc="0" normalizeH="0" baseline="0" noProof="0">
                <a:ln>
                  <a:noFill/>
                </a:ln>
                <a:solidFill>
                  <a:srgbClr val="1C4274"/>
                </a:solidFill>
                <a:effectLst/>
                <a:uLnTx/>
                <a:uFillTx/>
                <a:latin typeface="微软雅黑" panose="020B0503020204020204" charset="-122"/>
                <a:ea typeface="微软雅黑" panose="020B0503020204020204" charset="-122"/>
                <a:cs typeface="Poppins"/>
                <a:sym typeface="Poppins"/>
              </a:rPr>
              <a:t>投资不足，产能有限</a:t>
            </a:r>
            <a:endParaRPr kumimoji="0" lang="en-US" sz="1100" b="0" i="0" u="none" strike="noStrike" kern="1200" cap="none" spc="0" normalizeH="0" baseline="0" noProof="0">
              <a:ln>
                <a:noFill/>
              </a:ln>
              <a:solidFill>
                <a:srgbClr val="1C4274"/>
              </a:solidFill>
              <a:effectLst/>
              <a:uLnTx/>
              <a:uFillTx/>
              <a:latin typeface="微软雅黑" panose="020B0503020204020204" charset="-122"/>
              <a:ea typeface="微软雅黑" panose="020B0503020204020204" charset="-122"/>
              <a:cs typeface="+mn-cs"/>
            </a:endParaRPr>
          </a:p>
        </p:txBody>
      </p:sp>
      <p:sp>
        <p:nvSpPr>
          <p:cNvPr id="105" name="AutoShape 9"/>
          <p:cNvSpPr/>
          <p:nvPr/>
        </p:nvSpPr>
        <p:spPr>
          <a:xfrm>
            <a:off x="1190625" y="2277745"/>
            <a:ext cx="4305412" cy="508000"/>
          </a:xfrm>
          <a:prstGeom prst="rect">
            <a:avLst/>
          </a:prstGeom>
          <a:noFill/>
          <a:ln w="12700" cap="flat" cmpd="sng">
            <a:noFill/>
            <a:prstDash val="solid"/>
            <a:round/>
          </a:ln>
        </p:spPr>
        <p:txBody>
          <a:bodyPr vert="horz" wrap="square" lIns="0" tIns="0" rIns="0" bIns="0" rtlCol="0" anchor="t" anchorCtr="0"/>
          <a:lstStyle/>
          <a:p>
            <a:pPr marL="0" marR="0" lvl="0" indent="0" algn="l" defTabSz="914400" rtl="0" eaLnBrk="1" fontAlgn="auto" latinLnBrk="0" hangingPunct="1">
              <a:lnSpc>
                <a:spcPct val="117000"/>
              </a:lnSpc>
              <a:spcBef>
                <a:spcPts val="0"/>
              </a:spcBef>
              <a:spcAft>
                <a:spcPts val="0"/>
              </a:spcAft>
              <a:buClrTx/>
              <a:buSzTx/>
              <a:buFontTx/>
              <a:buNone/>
              <a:defRPr/>
            </a:pPr>
            <a:r>
              <a:rPr kumimoji="0" lang="en-US" sz="1400" b="0" i="0" u="none" strike="noStrike" kern="1200" cap="none" spc="0" normalizeH="0" baseline="0" noProof="0" dirty="0" err="1">
                <a:ln>
                  <a:noFill/>
                </a:ln>
                <a:solidFill>
                  <a:srgbClr val="1C4274"/>
                </a:solidFill>
                <a:effectLst/>
                <a:uLnTx/>
                <a:uFillTx/>
                <a:latin typeface="微软雅黑" panose="020B0503020204020204" charset="-122"/>
                <a:ea typeface="微软雅黑" panose="020B0503020204020204" charset="-122"/>
                <a:cs typeface="Poppins"/>
                <a:sym typeface="Poppins"/>
              </a:rPr>
              <a:t>过去数年全球大宗商品投资严重不足，导致新增产能受限</a:t>
            </a:r>
            <a:r>
              <a:rPr kumimoji="0" lang="zh-CN" altLang="en-US" sz="1400" b="0" i="0" u="none" strike="noStrike" kern="1200" cap="none" spc="0" normalizeH="0" baseline="0" noProof="0" dirty="0" err="1">
                <a:ln>
                  <a:noFill/>
                </a:ln>
                <a:solidFill>
                  <a:srgbClr val="1C4274"/>
                </a:solidFill>
                <a:effectLst/>
                <a:uLnTx/>
                <a:uFillTx/>
                <a:latin typeface="微软雅黑" panose="020B0503020204020204" charset="-122"/>
                <a:ea typeface="微软雅黑" panose="020B0503020204020204" charset="-122"/>
                <a:cs typeface="Poppins"/>
                <a:sym typeface="Poppins"/>
              </a:rPr>
              <a:t>，尤其矿类品种投资到生产周期较长；</a:t>
            </a:r>
            <a:endParaRPr kumimoji="0" lang="en-US" sz="1100" b="0" i="0" u="none" strike="noStrike" kern="1200" cap="none" spc="0" normalizeH="0" baseline="0" noProof="0" dirty="0">
              <a:ln>
                <a:noFill/>
              </a:ln>
              <a:solidFill>
                <a:srgbClr val="1C4274"/>
              </a:solidFill>
              <a:effectLst/>
              <a:uLnTx/>
              <a:uFillTx/>
              <a:latin typeface="微软雅黑" panose="020B0503020204020204" charset="-122"/>
              <a:ea typeface="微软雅黑" panose="020B0503020204020204" charset="-122"/>
              <a:cs typeface="+mn-cs"/>
            </a:endParaRPr>
          </a:p>
        </p:txBody>
      </p:sp>
      <p:pic>
        <p:nvPicPr>
          <p:cNvPr id="106" name="Picture 10"/>
          <p:cNvPicPr>
            <a:picLocks noChangeAspect="1"/>
          </p:cNvPicPr>
          <p:nvPr/>
        </p:nvPicPr>
        <p:blipFill>
          <a:blip>
            <a:duotone>
              <a:srgbClr val="1C4274"/>
              <a:srgbClr val="EAF6FC"/>
            </a:duotone>
            <a:extLst>
              <a:ext uri="{96DAC541-7B7A-43D3-8B79-37D633B846F1}">
                <asvg:svgBlip r:embed="rId3"/>
              </a:ext>
            </a:extLst>
          </a:blip>
          <a:stretch>
            <a:fillRect/>
          </a:stretch>
        </p:blipFill>
        <p:spPr>
          <a:xfrm>
            <a:off x="762000" y="3000375"/>
            <a:ext cx="304800" cy="304800"/>
          </a:xfrm>
          <a:prstGeom prst="rect">
            <a:avLst/>
          </a:prstGeom>
        </p:spPr>
      </p:pic>
      <p:sp>
        <p:nvSpPr>
          <p:cNvPr id="107" name="AutoShape 11"/>
          <p:cNvSpPr/>
          <p:nvPr/>
        </p:nvSpPr>
        <p:spPr>
          <a:xfrm>
            <a:off x="1162050" y="2970530"/>
            <a:ext cx="4572000" cy="2794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Tx/>
              <a:buSzTx/>
              <a:buFontTx/>
              <a:buNone/>
              <a:defRPr/>
            </a:pPr>
            <a:r>
              <a:rPr kumimoji="0" lang="en-US" sz="1600" b="1" i="0" u="none" strike="noStrike" kern="1200" cap="none" spc="0" normalizeH="0" baseline="0" noProof="0">
                <a:ln>
                  <a:noFill/>
                </a:ln>
                <a:solidFill>
                  <a:srgbClr val="1C4274"/>
                </a:solidFill>
                <a:effectLst/>
                <a:uLnTx/>
                <a:uFillTx/>
                <a:latin typeface="微软雅黑" panose="020B0503020204020204" charset="-122"/>
                <a:ea typeface="微软雅黑" panose="020B0503020204020204" charset="-122"/>
                <a:cs typeface="Poppins"/>
                <a:sym typeface="Poppins"/>
              </a:rPr>
              <a:t>资源民族主义抬头</a:t>
            </a:r>
            <a:endParaRPr kumimoji="0" lang="en-US" sz="1100" b="0" i="0" u="none" strike="noStrike" kern="1200" cap="none" spc="0" normalizeH="0" baseline="0" noProof="0">
              <a:ln>
                <a:noFill/>
              </a:ln>
              <a:solidFill>
                <a:srgbClr val="1C4274"/>
              </a:solidFill>
              <a:effectLst/>
              <a:uLnTx/>
              <a:uFillTx/>
              <a:latin typeface="微软雅黑" panose="020B0503020204020204" charset="-122"/>
              <a:ea typeface="微软雅黑" panose="020B0503020204020204" charset="-122"/>
              <a:cs typeface="+mn-cs"/>
            </a:endParaRPr>
          </a:p>
        </p:txBody>
      </p:sp>
      <p:sp>
        <p:nvSpPr>
          <p:cNvPr id="108" name="AutoShape 12"/>
          <p:cNvSpPr/>
          <p:nvPr/>
        </p:nvSpPr>
        <p:spPr>
          <a:xfrm>
            <a:off x="1190625" y="3366135"/>
            <a:ext cx="4572000" cy="508000"/>
          </a:xfrm>
          <a:prstGeom prst="rect">
            <a:avLst/>
          </a:prstGeom>
          <a:noFill/>
          <a:ln w="12700" cap="flat" cmpd="sng">
            <a:noFill/>
            <a:prstDash val="solid"/>
            <a:round/>
          </a:ln>
        </p:spPr>
        <p:txBody>
          <a:bodyPr vert="horz" wrap="square" lIns="0" tIns="0" rIns="0" bIns="0" rtlCol="0" anchor="t" anchorCtr="0"/>
          <a:lstStyle/>
          <a:p>
            <a:pPr marL="0" marR="0" lvl="0" indent="0" algn="l" defTabSz="914400" rtl="0" eaLnBrk="1" fontAlgn="auto" latinLnBrk="0" hangingPunct="1">
              <a:lnSpc>
                <a:spcPct val="117000"/>
              </a:lnSpc>
              <a:spcBef>
                <a:spcPts val="0"/>
              </a:spcBef>
              <a:spcAft>
                <a:spcPts val="0"/>
              </a:spcAft>
              <a:buClrTx/>
              <a:buSzTx/>
              <a:buFontTx/>
              <a:buNone/>
              <a:defRPr/>
            </a:pPr>
            <a:r>
              <a:rPr kumimoji="0" lang="en-US" sz="1400" b="0" i="0" u="none" strike="noStrike" kern="1200" cap="none" spc="0" normalizeH="0" baseline="0" noProof="0">
                <a:ln>
                  <a:noFill/>
                </a:ln>
                <a:solidFill>
                  <a:srgbClr val="1C4274"/>
                </a:solidFill>
                <a:effectLst/>
                <a:uLnTx/>
                <a:uFillTx/>
                <a:latin typeface="微软雅黑" panose="020B0503020204020204" charset="-122"/>
                <a:ea typeface="微软雅黑" panose="020B0503020204020204" charset="-122"/>
                <a:cs typeface="Poppins"/>
                <a:sym typeface="Poppins"/>
              </a:rPr>
              <a:t>部分国家加强战略资源出口管制，</a:t>
            </a:r>
            <a:r>
              <a:rPr kumimoji="0" lang="zh-CN" altLang="en-US" sz="1400" b="0" i="0" u="none" strike="noStrike" kern="1200" cap="none" spc="0" normalizeH="0" baseline="0" noProof="0">
                <a:ln>
                  <a:noFill/>
                </a:ln>
                <a:solidFill>
                  <a:srgbClr val="1C4274"/>
                </a:solidFill>
                <a:effectLst/>
                <a:uLnTx/>
                <a:uFillTx/>
                <a:latin typeface="微软雅黑" panose="020B0503020204020204" charset="-122"/>
                <a:ea typeface="微软雅黑" panose="020B0503020204020204" charset="-122"/>
                <a:cs typeface="Poppins"/>
                <a:sym typeface="Poppins"/>
              </a:rPr>
              <a:t>欠发达国家以资源换工业倒逼产业链本土化，短期</a:t>
            </a:r>
            <a:r>
              <a:rPr kumimoji="0" lang="en-US" sz="1400" b="0" i="0" u="none" strike="noStrike" kern="1200" cap="none" spc="0" normalizeH="0" baseline="0" noProof="0">
                <a:ln>
                  <a:noFill/>
                </a:ln>
                <a:solidFill>
                  <a:srgbClr val="1C4274"/>
                </a:solidFill>
                <a:effectLst/>
                <a:uLnTx/>
                <a:uFillTx/>
                <a:latin typeface="微软雅黑" panose="020B0503020204020204" charset="-122"/>
                <a:ea typeface="微软雅黑" panose="020B0503020204020204" charset="-122"/>
                <a:cs typeface="Poppins"/>
                <a:sym typeface="Poppins"/>
              </a:rPr>
              <a:t>加剧供应紧张。</a:t>
            </a:r>
            <a:endParaRPr kumimoji="0" lang="en-US" sz="1100" b="0" i="0" u="none" strike="noStrike" kern="1200" cap="none" spc="0" normalizeH="0" baseline="0" noProof="0">
              <a:ln>
                <a:noFill/>
              </a:ln>
              <a:solidFill>
                <a:srgbClr val="1C4274"/>
              </a:solidFill>
              <a:effectLst/>
              <a:uLnTx/>
              <a:uFillTx/>
              <a:latin typeface="微软雅黑" panose="020B0503020204020204" charset="-122"/>
              <a:ea typeface="微软雅黑" panose="020B0503020204020204" charset="-122"/>
              <a:cs typeface="+mn-cs"/>
            </a:endParaRPr>
          </a:p>
        </p:txBody>
      </p:sp>
      <p:cxnSp>
        <p:nvCxnSpPr>
          <p:cNvPr id="109" name="Connector 13"/>
          <p:cNvCxnSpPr/>
          <p:nvPr/>
        </p:nvCxnSpPr>
        <p:spPr>
          <a:xfrm rot="5382811">
            <a:off x="4572001" y="2787634"/>
            <a:ext cx="2540000" cy="12700"/>
          </a:xfrm>
          <a:prstGeom prst="straightConnector1">
            <a:avLst/>
          </a:prstGeom>
          <a:solidFill>
            <a:srgbClr val="EAF6FC">
              <a:alpha val="100000"/>
            </a:srgbClr>
          </a:solidFill>
          <a:ln w="12700" cap="flat" cmpd="sng">
            <a:solidFill>
              <a:srgbClr val="1C4274">
                <a:alpha val="30000"/>
              </a:srgbClr>
            </a:solidFill>
            <a:prstDash val="dash"/>
            <a:round/>
            <a:headEnd type="none" w="med" len="med"/>
            <a:tailEnd type="none" w="med" len="med"/>
          </a:ln>
        </p:spPr>
      </p:cxnSp>
      <p:sp>
        <p:nvSpPr>
          <p:cNvPr id="110" name="AutoShape 14"/>
          <p:cNvSpPr/>
          <p:nvPr/>
        </p:nvSpPr>
        <p:spPr>
          <a:xfrm>
            <a:off x="6477000" y="1341755"/>
            <a:ext cx="5080000" cy="3556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Tx/>
              <a:buSzTx/>
              <a:buFontTx/>
              <a:buNone/>
              <a:defRPr/>
            </a:pPr>
            <a:r>
              <a:rPr kumimoji="0" lang="en-US" sz="2000" b="1" i="0" u="none" strike="noStrike" kern="1200" cap="none" spc="0" normalizeH="0" baseline="0" noProof="0">
                <a:ln>
                  <a:noFill/>
                </a:ln>
                <a:solidFill>
                  <a:srgbClr val="1C4274"/>
                </a:solidFill>
                <a:effectLst/>
                <a:uLnTx/>
                <a:uFillTx/>
                <a:latin typeface="微软雅黑" panose="020B0503020204020204" charset="-122"/>
                <a:ea typeface="微软雅黑" panose="020B0503020204020204" charset="-122"/>
                <a:cs typeface="Poppins"/>
                <a:sym typeface="Poppins"/>
              </a:rPr>
              <a:t>需求端爆发</a:t>
            </a:r>
            <a:endParaRPr kumimoji="0" lang="en-US" sz="1100" b="0" i="0" u="none" strike="noStrike" kern="1200" cap="none" spc="0" normalizeH="0" baseline="0" noProof="0">
              <a:ln>
                <a:noFill/>
              </a:ln>
              <a:solidFill>
                <a:srgbClr val="1C4274"/>
              </a:solidFill>
              <a:effectLst/>
              <a:uLnTx/>
              <a:uFillTx/>
              <a:latin typeface="微软雅黑" panose="020B0503020204020204" charset="-122"/>
              <a:ea typeface="微软雅黑" panose="020B0503020204020204" charset="-122"/>
              <a:cs typeface="+mn-cs"/>
            </a:endParaRPr>
          </a:p>
        </p:txBody>
      </p:sp>
      <p:pic>
        <p:nvPicPr>
          <p:cNvPr id="111" name="Picture 15"/>
          <p:cNvPicPr>
            <a:picLocks noChangeAspect="1"/>
          </p:cNvPicPr>
          <p:nvPr/>
        </p:nvPicPr>
        <p:blipFill>
          <a:blip>
            <a:duotone>
              <a:srgbClr val="1C4274"/>
              <a:srgbClr val="EAF6FC"/>
            </a:duotone>
            <a:extLst>
              <a:ext uri="{96DAC541-7B7A-43D3-8B79-37D633B846F1}">
                <asvg:svgBlip r:embed="rId4"/>
              </a:ext>
            </a:extLst>
          </a:blip>
          <a:stretch>
            <a:fillRect/>
          </a:stretch>
        </p:blipFill>
        <p:spPr>
          <a:xfrm>
            <a:off x="6477000" y="1969135"/>
            <a:ext cx="304800" cy="304800"/>
          </a:xfrm>
          <a:prstGeom prst="rect">
            <a:avLst/>
          </a:prstGeom>
        </p:spPr>
      </p:pic>
      <p:sp>
        <p:nvSpPr>
          <p:cNvPr id="112" name="AutoShape 16"/>
          <p:cNvSpPr/>
          <p:nvPr/>
        </p:nvSpPr>
        <p:spPr>
          <a:xfrm>
            <a:off x="6934200" y="2001520"/>
            <a:ext cx="4572000" cy="2794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Tx/>
              <a:buSzTx/>
              <a:buFontTx/>
              <a:buNone/>
              <a:defRPr/>
            </a:pPr>
            <a:r>
              <a:rPr kumimoji="0" lang="en-US" sz="1600" b="1" i="0" u="none" strike="noStrike" kern="1200" cap="none" spc="0" normalizeH="0" baseline="0" noProof="0">
                <a:ln>
                  <a:noFill/>
                </a:ln>
                <a:solidFill>
                  <a:srgbClr val="1C4274"/>
                </a:solidFill>
                <a:effectLst/>
                <a:uLnTx/>
                <a:uFillTx/>
                <a:latin typeface="微软雅黑" panose="020B0503020204020204" charset="-122"/>
                <a:ea typeface="微软雅黑" panose="020B0503020204020204" charset="-122"/>
                <a:cs typeface="Poppins"/>
                <a:sym typeface="Poppins"/>
              </a:rPr>
              <a:t>AI算力中心建设</a:t>
            </a:r>
            <a:endParaRPr kumimoji="0" lang="en-US" sz="1100" b="0" i="0" u="none" strike="noStrike" kern="1200" cap="none" spc="0" normalizeH="0" baseline="0" noProof="0">
              <a:ln>
                <a:noFill/>
              </a:ln>
              <a:solidFill>
                <a:srgbClr val="1C4274"/>
              </a:solidFill>
              <a:effectLst/>
              <a:uLnTx/>
              <a:uFillTx/>
              <a:latin typeface="微软雅黑" panose="020B0503020204020204" charset="-122"/>
              <a:ea typeface="微软雅黑" panose="020B0503020204020204" charset="-122"/>
              <a:cs typeface="+mn-cs"/>
            </a:endParaRPr>
          </a:p>
        </p:txBody>
      </p:sp>
      <p:sp>
        <p:nvSpPr>
          <p:cNvPr id="113" name="AutoShape 17"/>
          <p:cNvSpPr/>
          <p:nvPr/>
        </p:nvSpPr>
        <p:spPr>
          <a:xfrm>
            <a:off x="6934200" y="2310130"/>
            <a:ext cx="4572000" cy="508000"/>
          </a:xfrm>
          <a:prstGeom prst="rect">
            <a:avLst/>
          </a:prstGeom>
          <a:noFill/>
          <a:ln w="12700" cap="flat" cmpd="sng">
            <a:noFill/>
            <a:prstDash val="solid"/>
            <a:round/>
          </a:ln>
        </p:spPr>
        <p:txBody>
          <a:bodyPr vert="horz" wrap="square" lIns="0" tIns="0" rIns="0" bIns="0" rtlCol="0" anchor="t" anchorCtr="0"/>
          <a:lstStyle/>
          <a:p>
            <a:pPr marL="0" marR="0" lvl="0" indent="0" algn="l" defTabSz="914400" rtl="0" eaLnBrk="1" fontAlgn="auto" latinLnBrk="0" hangingPunct="1">
              <a:lnSpc>
                <a:spcPct val="117000"/>
              </a:lnSpc>
              <a:spcBef>
                <a:spcPts val="0"/>
              </a:spcBef>
              <a:spcAft>
                <a:spcPts val="0"/>
              </a:spcAft>
              <a:buClrTx/>
              <a:buSzTx/>
              <a:buFontTx/>
              <a:buNone/>
              <a:defRPr/>
            </a:pPr>
            <a:r>
              <a:rPr kumimoji="0" lang="en-US" sz="1400" b="0" i="0" u="none" strike="noStrike" kern="1200" cap="none" spc="0" normalizeH="0" baseline="0" noProof="0">
                <a:ln>
                  <a:noFill/>
                </a:ln>
                <a:solidFill>
                  <a:srgbClr val="1C4274"/>
                </a:solidFill>
                <a:effectLst/>
                <a:uLnTx/>
                <a:uFillTx/>
                <a:latin typeface="微软雅黑" panose="020B0503020204020204" charset="-122"/>
                <a:ea typeface="微软雅黑" panose="020B0503020204020204" charset="-122"/>
                <a:cs typeface="Poppins"/>
                <a:sym typeface="Poppins"/>
              </a:rPr>
              <a:t>拉动铜、</a:t>
            </a:r>
            <a:r>
              <a:rPr kumimoji="0" lang="zh-CN" altLang="en-US" sz="1400" b="0" i="0" u="none" strike="noStrike" kern="1200" cap="none" spc="0" normalizeH="0" baseline="0" noProof="0">
                <a:ln>
                  <a:noFill/>
                </a:ln>
                <a:solidFill>
                  <a:srgbClr val="1C4274"/>
                </a:solidFill>
                <a:effectLst/>
                <a:uLnTx/>
                <a:uFillTx/>
                <a:latin typeface="微软雅黑" panose="020B0503020204020204" charset="-122"/>
                <a:ea typeface="微软雅黑" panose="020B0503020204020204" charset="-122"/>
                <a:cs typeface="Poppins"/>
                <a:sym typeface="Poppins"/>
              </a:rPr>
              <a:t>锡</a:t>
            </a:r>
            <a:r>
              <a:rPr kumimoji="0" lang="en-US" sz="1400" b="0" i="0" u="none" strike="noStrike" kern="1200" cap="none" spc="0" normalizeH="0" baseline="0" noProof="0">
                <a:ln>
                  <a:noFill/>
                </a:ln>
                <a:solidFill>
                  <a:srgbClr val="1C4274"/>
                </a:solidFill>
                <a:effectLst/>
                <a:uLnTx/>
                <a:uFillTx/>
                <a:latin typeface="微软雅黑" panose="020B0503020204020204" charset="-122"/>
                <a:ea typeface="微软雅黑" panose="020B0503020204020204" charset="-122"/>
                <a:cs typeface="Poppins"/>
                <a:sym typeface="Poppins"/>
              </a:rPr>
              <a:t>、白银等金属的大量需求。</a:t>
            </a:r>
            <a:endParaRPr kumimoji="0" lang="en-US" sz="1100" b="0" i="0" u="none" strike="noStrike" kern="1200" cap="none" spc="0" normalizeH="0" baseline="0" noProof="0">
              <a:ln>
                <a:noFill/>
              </a:ln>
              <a:solidFill>
                <a:srgbClr val="1C4274"/>
              </a:solidFill>
              <a:effectLst/>
              <a:uLnTx/>
              <a:uFillTx/>
              <a:latin typeface="微软雅黑" panose="020B0503020204020204" charset="-122"/>
              <a:ea typeface="微软雅黑" panose="020B0503020204020204" charset="-122"/>
              <a:cs typeface="+mn-cs"/>
            </a:endParaRPr>
          </a:p>
        </p:txBody>
      </p:sp>
      <p:pic>
        <p:nvPicPr>
          <p:cNvPr id="114" name="Picture 18"/>
          <p:cNvPicPr>
            <a:picLocks noChangeAspect="1"/>
          </p:cNvPicPr>
          <p:nvPr/>
        </p:nvPicPr>
        <p:blipFill>
          <a:blip>
            <a:duotone>
              <a:srgbClr val="1C4274"/>
              <a:srgbClr val="EAF6FC"/>
            </a:duotone>
            <a:extLst>
              <a:ext uri="{96DAC541-7B7A-43D3-8B79-37D633B846F1}">
                <asvg:svgBlip r:embed="rId5"/>
              </a:ext>
            </a:extLst>
          </a:blip>
          <a:stretch>
            <a:fillRect/>
          </a:stretch>
        </p:blipFill>
        <p:spPr>
          <a:xfrm>
            <a:off x="6477000" y="3000375"/>
            <a:ext cx="304800" cy="304800"/>
          </a:xfrm>
          <a:prstGeom prst="rect">
            <a:avLst/>
          </a:prstGeom>
        </p:spPr>
      </p:pic>
      <p:sp>
        <p:nvSpPr>
          <p:cNvPr id="115" name="AutoShape 19"/>
          <p:cNvSpPr/>
          <p:nvPr/>
        </p:nvSpPr>
        <p:spPr>
          <a:xfrm>
            <a:off x="6934200" y="3000375"/>
            <a:ext cx="4572000" cy="2794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Tx/>
              <a:buSzTx/>
              <a:buFontTx/>
              <a:buNone/>
              <a:defRPr/>
            </a:pPr>
            <a:r>
              <a:rPr kumimoji="0" lang="en-US" sz="1600" b="1" i="0" u="none" strike="noStrike" kern="1200" cap="none" spc="0" normalizeH="0" baseline="0" noProof="0">
                <a:ln>
                  <a:noFill/>
                </a:ln>
                <a:solidFill>
                  <a:srgbClr val="1C4274"/>
                </a:solidFill>
                <a:effectLst/>
                <a:uLnTx/>
                <a:uFillTx/>
                <a:latin typeface="微软雅黑" panose="020B0503020204020204" charset="-122"/>
                <a:ea typeface="微软雅黑" panose="020B0503020204020204" charset="-122"/>
                <a:cs typeface="Poppins"/>
                <a:sym typeface="Poppins"/>
              </a:rPr>
              <a:t>新能源与储能发展</a:t>
            </a:r>
            <a:endParaRPr kumimoji="0" lang="en-US" sz="1100" b="0" i="0" u="none" strike="noStrike" kern="1200" cap="none" spc="0" normalizeH="0" baseline="0" noProof="0">
              <a:ln>
                <a:noFill/>
              </a:ln>
              <a:solidFill>
                <a:srgbClr val="1C4274"/>
              </a:solidFill>
              <a:effectLst/>
              <a:uLnTx/>
              <a:uFillTx/>
              <a:latin typeface="微软雅黑" panose="020B0503020204020204" charset="-122"/>
              <a:ea typeface="微软雅黑" panose="020B0503020204020204" charset="-122"/>
              <a:cs typeface="+mn-cs"/>
            </a:endParaRPr>
          </a:p>
        </p:txBody>
      </p:sp>
      <p:sp>
        <p:nvSpPr>
          <p:cNvPr id="116" name="AutoShape 20"/>
          <p:cNvSpPr/>
          <p:nvPr/>
        </p:nvSpPr>
        <p:spPr>
          <a:xfrm>
            <a:off x="6934200" y="3326765"/>
            <a:ext cx="4572000" cy="508000"/>
          </a:xfrm>
          <a:prstGeom prst="rect">
            <a:avLst/>
          </a:prstGeom>
          <a:noFill/>
          <a:ln w="12700" cap="flat" cmpd="sng">
            <a:noFill/>
            <a:prstDash val="solid"/>
            <a:round/>
          </a:ln>
        </p:spPr>
        <p:txBody>
          <a:bodyPr vert="horz" wrap="square" lIns="0" tIns="0" rIns="0" bIns="0" rtlCol="0" anchor="t" anchorCtr="0"/>
          <a:lstStyle/>
          <a:p>
            <a:pPr marL="0" marR="0" lvl="0" indent="0" algn="l" defTabSz="914400" rtl="0" eaLnBrk="1" fontAlgn="auto" latinLnBrk="0" hangingPunct="1">
              <a:lnSpc>
                <a:spcPct val="117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1C4274"/>
                </a:solidFill>
                <a:effectLst/>
                <a:uLnTx/>
                <a:uFillTx/>
                <a:latin typeface="微软雅黑" panose="020B0503020204020204" charset="-122"/>
                <a:ea typeface="微软雅黑" panose="020B0503020204020204" charset="-122"/>
                <a:cs typeface="Poppins"/>
                <a:sym typeface="Poppins"/>
              </a:rPr>
              <a:t>显著</a:t>
            </a:r>
            <a:r>
              <a:rPr kumimoji="0" lang="en-US" sz="1400" b="0" i="0" u="none" strike="noStrike" kern="1200" cap="none" spc="0" normalizeH="0" baseline="0" noProof="0" dirty="0" err="1">
                <a:ln>
                  <a:noFill/>
                </a:ln>
                <a:solidFill>
                  <a:srgbClr val="1C4274"/>
                </a:solidFill>
                <a:effectLst/>
                <a:uLnTx/>
                <a:uFillTx/>
                <a:latin typeface="微软雅黑" panose="020B0503020204020204" charset="-122"/>
                <a:ea typeface="微软雅黑" panose="020B0503020204020204" charset="-122"/>
                <a:cs typeface="Poppins"/>
                <a:sym typeface="Poppins"/>
              </a:rPr>
              <a:t>推动锂、钴、镍等关键矿产需求</a:t>
            </a:r>
            <a:r>
              <a:rPr kumimoji="0" lang="en-US" sz="1400" b="0" i="0" u="none" strike="noStrike" kern="1200" cap="none" spc="0" normalizeH="0" baseline="0" noProof="0" dirty="0">
                <a:ln>
                  <a:noFill/>
                </a:ln>
                <a:solidFill>
                  <a:srgbClr val="1C4274"/>
                </a:solidFill>
                <a:effectLst/>
                <a:uLnTx/>
                <a:uFillTx/>
                <a:latin typeface="微软雅黑" panose="020B0503020204020204" charset="-122"/>
                <a:ea typeface="微软雅黑" panose="020B0503020204020204" charset="-122"/>
                <a:cs typeface="Poppins"/>
                <a:sym typeface="Poppins"/>
              </a:rPr>
              <a:t>。</a:t>
            </a:r>
            <a:endParaRPr kumimoji="0" lang="en-US" sz="1100" b="0" i="0" u="none" strike="noStrike" kern="1200" cap="none" spc="0" normalizeH="0" baseline="0" noProof="0" dirty="0">
              <a:ln>
                <a:noFill/>
              </a:ln>
              <a:solidFill>
                <a:srgbClr val="1C4274"/>
              </a:solidFill>
              <a:effectLst/>
              <a:uLnTx/>
              <a:uFillTx/>
              <a:latin typeface="微软雅黑" panose="020B0503020204020204" charset="-122"/>
              <a:ea typeface="微软雅黑" panose="020B0503020204020204" charset="-122"/>
              <a:cs typeface="+mn-cs"/>
            </a:endParaRPr>
          </a:p>
        </p:txBody>
      </p:sp>
      <p:cxnSp>
        <p:nvCxnSpPr>
          <p:cNvPr id="117" name="Connector 21"/>
          <p:cNvCxnSpPr/>
          <p:nvPr/>
        </p:nvCxnSpPr>
        <p:spPr>
          <a:xfrm rot="-4092">
            <a:off x="749304" y="4017010"/>
            <a:ext cx="10668000" cy="12700"/>
          </a:xfrm>
          <a:prstGeom prst="straightConnector1">
            <a:avLst/>
          </a:prstGeom>
          <a:solidFill>
            <a:srgbClr val="EAF6FC">
              <a:alpha val="100000"/>
            </a:srgbClr>
          </a:solidFill>
          <a:ln w="12700" cap="flat" cmpd="sng">
            <a:solidFill>
              <a:srgbClr val="1C4274">
                <a:alpha val="30000"/>
              </a:srgbClr>
            </a:solidFill>
            <a:prstDash val="solid"/>
            <a:round/>
            <a:headEnd type="none" w="med" len="med"/>
            <a:tailEnd type="none" w="med" len="med"/>
          </a:ln>
        </p:spPr>
      </p:cxnSp>
      <p:pic>
        <p:nvPicPr>
          <p:cNvPr id="118" name="图片 11"/>
          <p:cNvPicPr/>
          <p:nvPr/>
        </p:nvPicPr>
        <p:blipFill>
          <a:blip r:embed="rId6">
            <a:duotone>
              <a:srgbClr val="1C4274"/>
              <a:srgbClr val="EAF6FC"/>
            </a:duotone>
          </a:blip>
          <a:stretch>
            <a:fillRect/>
          </a:stretch>
        </p:blipFill>
        <p:spPr>
          <a:xfrm>
            <a:off x="6079490" y="4429125"/>
            <a:ext cx="5201285" cy="2397125"/>
          </a:xfrm>
          <a:prstGeom prst="rect">
            <a:avLst/>
          </a:prstGeom>
        </p:spPr>
      </p:pic>
      <p:pic>
        <p:nvPicPr>
          <p:cNvPr id="119" name="图片 12"/>
          <p:cNvPicPr>
            <a:picLocks noChangeAspect="1"/>
          </p:cNvPicPr>
          <p:nvPr/>
        </p:nvPicPr>
        <p:blipFill>
          <a:blip r:embed="rId7">
            <a:duotone>
              <a:srgbClr val="1C4274"/>
              <a:srgbClr val="EAF6FC"/>
            </a:duotone>
          </a:blip>
          <a:stretch>
            <a:fillRect/>
          </a:stretch>
        </p:blipFill>
        <p:spPr>
          <a:xfrm>
            <a:off x="1390650" y="4173220"/>
            <a:ext cx="4229735" cy="2609215"/>
          </a:xfrm>
          <a:prstGeom prst="rect">
            <a:avLst/>
          </a:prstGeom>
        </p:spPr>
      </p:pic>
      <p:pic>
        <p:nvPicPr>
          <p:cNvPr id="120" name="参考模板浅蓝背景弧线"/>
          <p:cNvPicPr/>
          <p:nvPr/>
        </p:nvPicPr>
        <p:blipFill>
          <a:blip r:embed="rId8">
            <a:duotone>
              <a:srgbClr val="1C4274"/>
              <a:srgbClr val="EAF6FC"/>
            </a:duotone>
          </a:blip>
          <a:stretch>
            <a:fillRect/>
          </a:stretch>
        </p:blipFill>
        <p:spPr>
          <a:xfrm>
            <a:off x="4457700" y="0"/>
            <a:ext cx="3143250" cy="495300"/>
          </a:xfrm>
          <a:prstGeom prst="rect">
            <a:avLst/>
          </a:prstGeom>
          <a:noFill/>
          <a:ln>
            <a:noFill/>
          </a:ln>
        </p:spPr>
      </p:pic>
      <p:pic>
        <p:nvPicPr>
          <p:cNvPr id="121" name="参考模板右上角标识"/>
          <p:cNvPicPr/>
          <p:nvPr/>
        </p:nvPicPr>
        <p:blipFill>
          <a:blip r:embed="rId9">
            <a:duotone>
              <a:srgbClr val="1C4274"/>
              <a:srgbClr val="EAF6FC"/>
            </a:duotone>
          </a:blip>
          <a:stretch>
            <a:fillRect/>
          </a:stretch>
        </p:blipFill>
        <p:spPr>
          <a:xfrm>
            <a:off x="9696450" y="209550"/>
            <a:ext cx="1733550" cy="390525"/>
          </a:xfrm>
          <a:prstGeom prst="rect">
            <a:avLst/>
          </a:prstGeom>
          <a:noFill/>
          <a:ln>
            <a:noFill/>
          </a:ln>
        </p:spPr>
      </p:pic>
    </p:spTree>
  </p:cSld>
  <p:clrMapOvr>
    <a:masterClrMapping/>
  </p:clrMapOvr>
</p:sld>
</file>

<file path=ppt/slides/slide17.xml><?xml version="1.0" encoding="utf-8"?>
<p:sld xmlns:p="http://schemas.openxmlformats.org/presentationml/2006/main" xmlns:r="http://schemas.openxmlformats.org/officeDocument/2006/relationships" xmlns:a="http://schemas.openxmlformats.org/drawingml/2006/main" xmlns:asvg="http://schemas.microsoft.com/office/drawing/2016/SVG/main" xmlns:mc="http://schemas.openxmlformats.org/markup-compatibility/2006" mc:Ignorable="asvg">
  <p:cSld>
    <p:spTree>
      <p:nvGrpSpPr>
        <p:cNvPr id="120" name=""/>
        <p:cNvGrpSpPr/>
        <p:nvPr/>
      </p:nvGrpSpPr>
      <p:grpSpPr>
        <a:xfrm>
          <a:off x="0" y="0"/>
          <a:ext cx="0" cy="0"/>
          <a:chOff x="0" y="0"/>
          <a:chExt cx="0" cy="0"/>
        </a:xfrm>
      </p:grpSpPr>
      <p:sp>
        <p:nvSpPr>
          <p:cNvPr id="121" name="Rectangle 1"/>
          <p:cNvSpPr/>
          <p:nvPr/>
        </p:nvSpPr>
        <p:spPr>
          <a:xfrm>
            <a:off x="502920" y="457200"/>
            <a:ext cx="82296" cy="566928"/>
          </a:xfrm>
          <a:prstGeom prst="rect">
            <a:avLst/>
          </a:prstGeom>
          <a:solidFill>
            <a:srgbClr val="0070C0"/>
          </a:solidFill>
          <a:ln>
            <a:noFill/>
          </a:ln>
          <a:effectLst/>
        </p:spPr>
        <p:style>
          <a:lnRef idx="1">
            <a:srgbClr val="0070C0"/>
          </a:lnRef>
          <a:fillRef idx="3">
            <a:srgbClr val="0070C0"/>
          </a:fillRef>
          <a:effectRef idx="2">
            <a:srgbClr val="0070C0"/>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122" name="TextBox 2"/>
          <p:cNvSpPr txBox="1"/>
          <p:nvPr/>
        </p:nvSpPr>
        <p:spPr>
          <a:xfrm>
            <a:off x="713232" y="480949"/>
            <a:ext cx="9601200" cy="519430"/>
          </a:xfrm>
          <a:prstGeom prst="rect">
            <a:avLst/>
          </a:prstGeom>
          <a:noFill/>
        </p:spPr>
        <p:txBody>
          <a:bodyPr wrap="square" lIns="0" tIns="0" rIns="0" bIns="0" anchor="ctr">
            <a:spAutoFit/>
          </a:bodyPr>
          <a:lstStyle/>
          <a:p>
            <a:pPr eaLnBrk="1" fontAlgn="auto" hangingPunct="1">
              <a:lnSpc>
                <a:spcPct val="130000"/>
              </a:lnSpc>
              <a:spcBef>
                <a:spcPts val="0"/>
              </a:spcBef>
              <a:spcAft>
                <a:spcPts val="0"/>
              </a:spcAft>
              <a:defRPr/>
            </a:pPr>
            <a:r>
              <a:rPr lang="zh-CN" altLang="en-US" sz="2600" b="1" noProof="0" dirty="0" err="1">
                <a:ln>
                  <a:noFill/>
                </a:ln>
                <a:solidFill>
                  <a:srgbClr val="1C4274"/>
                </a:solidFill>
                <a:effectLst/>
                <a:uLnTx/>
                <a:uFillTx/>
                <a:latin typeface="微软雅黑" panose="020B0503020204020204" charset="-122"/>
                <a:ea typeface="微软雅黑" panose="020B0503020204020204" charset="-122"/>
                <a:sym typeface="Poppins"/>
              </a:rPr>
              <a:t>极端天气</a:t>
            </a:r>
            <a:r>
              <a:rPr lang="en-US" altLang="zh-CN" sz="2600" b="1" noProof="0" dirty="0" err="1">
                <a:ln>
                  <a:noFill/>
                </a:ln>
                <a:solidFill>
                  <a:srgbClr val="1C4274"/>
                </a:solidFill>
                <a:effectLst/>
                <a:uLnTx/>
                <a:uFillTx/>
                <a:latin typeface="微软雅黑" panose="020B0503020204020204" charset="-122"/>
                <a:ea typeface="微软雅黑" panose="020B0503020204020204" charset="-122"/>
                <a:sym typeface="Poppins"/>
              </a:rPr>
              <a:t>：</a:t>
            </a:r>
            <a:r>
              <a:rPr lang="zh-CN" sz="2600" b="1" noProof="0" dirty="0" err="1">
                <a:ln>
                  <a:noFill/>
                </a:ln>
                <a:solidFill>
                  <a:srgbClr val="1C4274"/>
                </a:solidFill>
                <a:effectLst/>
                <a:uLnTx/>
                <a:uFillTx/>
                <a:latin typeface="微软雅黑" panose="020B0503020204020204" charset="-122"/>
                <a:ea typeface="微软雅黑" panose="020B0503020204020204" charset="-122"/>
                <a:sym typeface="Poppins"/>
              </a:rPr>
              <a:t>超强厄尔尼诺</a:t>
            </a:r>
            <a:endParaRPr lang="zh-CN" altLang="en-US" sz="2600" b="1">
              <a:solidFill>
                <a:srgbClr val="0070C0"/>
              </a:solidFill>
              <a:latin typeface="微软雅黑" panose="020B0503020204020204" charset="-122"/>
              <a:ea typeface="微软雅黑" panose="020B0503020204020204" charset="-122"/>
              <a:cs typeface="微软雅黑" panose="020B0503020204020204" charset="-122"/>
            </a:endParaRPr>
          </a:p>
        </p:txBody>
      </p:sp>
      <p:sp>
        <p:nvSpPr>
          <p:cNvPr id="123" name="Rectangle 4"/>
          <p:cNvSpPr/>
          <p:nvPr/>
        </p:nvSpPr>
        <p:spPr>
          <a:xfrm>
            <a:off x="502920" y="1005840"/>
            <a:ext cx="2011680" cy="27940"/>
          </a:xfrm>
          <a:prstGeom prst="rect">
            <a:avLst/>
          </a:prstGeom>
          <a:solidFill>
            <a:srgbClr val="54B0E0"/>
          </a:solidFill>
          <a:ln>
            <a:noFill/>
          </a:ln>
          <a:effectLst/>
        </p:spPr>
        <p:style>
          <a:lnRef idx="1">
            <a:srgbClr val="0070C0"/>
          </a:lnRef>
          <a:fillRef idx="3">
            <a:srgbClr val="0070C0"/>
          </a:fillRef>
          <a:effectRef idx="2">
            <a:srgbClr val="0070C0"/>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124" name="Rectangle 5"/>
          <p:cNvSpPr/>
          <p:nvPr/>
        </p:nvSpPr>
        <p:spPr>
          <a:xfrm>
            <a:off x="502920" y="1060704"/>
            <a:ext cx="11183112" cy="11430"/>
          </a:xfrm>
          <a:prstGeom prst="rect">
            <a:avLst/>
          </a:prstGeom>
          <a:solidFill>
            <a:srgbClr val="AED5EB"/>
          </a:solidFill>
          <a:ln>
            <a:noFill/>
          </a:ln>
          <a:effectLst/>
        </p:spPr>
        <p:style>
          <a:lnRef idx="1">
            <a:srgbClr val="0070C0"/>
          </a:lnRef>
          <a:fillRef idx="3">
            <a:srgbClr val="0070C0"/>
          </a:fillRef>
          <a:effectRef idx="2">
            <a:srgbClr val="0070C0"/>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cxnSp>
        <p:nvCxnSpPr>
          <p:cNvPr id="125" name="Connector 3"/>
          <p:cNvCxnSpPr/>
          <p:nvPr/>
        </p:nvCxnSpPr>
        <p:spPr>
          <a:xfrm rot="-4092">
            <a:off x="698504" y="1050786"/>
            <a:ext cx="10668000" cy="12700"/>
          </a:xfrm>
          <a:prstGeom prst="straightConnector1">
            <a:avLst/>
          </a:prstGeom>
          <a:solidFill>
            <a:srgbClr val="EAF6FC">
              <a:alpha val="100000"/>
            </a:srgbClr>
          </a:solidFill>
          <a:ln w="12700" cap="flat" cmpd="sng">
            <a:solidFill>
              <a:srgbClr val="43A1D5">
                <a:alpha val="30000"/>
              </a:srgbClr>
            </a:solidFill>
            <a:prstDash val="solid"/>
            <a:round/>
            <a:headEnd type="none" w="med" len="med"/>
            <a:tailEnd type="none" w="med" len="med"/>
          </a:ln>
        </p:spPr>
      </p:cxnSp>
      <p:pic>
        <p:nvPicPr>
          <p:cNvPr id="126" name="图片 3"/>
          <p:cNvPicPr>
            <a:picLocks noChangeAspect="1"/>
          </p:cNvPicPr>
          <p:nvPr/>
        </p:nvPicPr>
        <p:blipFill>
          <a:blip r:embed="rId2">
            <a:duotone>
              <a:srgbClr val="1C4274"/>
              <a:srgbClr val="EAF6FC"/>
            </a:duotone>
          </a:blip>
          <a:stretch>
            <a:fillRect/>
          </a:stretch>
        </p:blipFill>
        <p:spPr>
          <a:xfrm>
            <a:off x="6654165" y="1069975"/>
            <a:ext cx="5090795" cy="2952115"/>
          </a:xfrm>
          <a:prstGeom prst="rect">
            <a:avLst/>
          </a:prstGeom>
        </p:spPr>
      </p:pic>
      <p:pic>
        <p:nvPicPr>
          <p:cNvPr id="127" name="Picture 7"/>
          <p:cNvPicPr>
            <a:picLocks noChangeAspect="1"/>
          </p:cNvPicPr>
          <p:nvPr/>
        </p:nvPicPr>
        <p:blipFill>
          <a:blip>
            <a:duotone>
              <a:srgbClr val="1C4274"/>
              <a:srgbClr val="EAF6FC"/>
            </a:duotone>
            <a:extLst>
              <a:ext uri="{96DAC541-7B7A-43D3-8B79-37D633B846F1}">
                <asvg:svgBlip r:embed="rId3"/>
              </a:ext>
            </a:extLst>
          </a:blip>
          <a:stretch>
            <a:fillRect/>
          </a:stretch>
        </p:blipFill>
        <p:spPr>
          <a:xfrm>
            <a:off x="600075" y="1772920"/>
            <a:ext cx="304800" cy="304800"/>
          </a:xfrm>
          <a:prstGeom prst="rect">
            <a:avLst/>
          </a:prstGeom>
        </p:spPr>
      </p:pic>
      <p:sp>
        <p:nvSpPr>
          <p:cNvPr id="128" name="AutoShape 8"/>
          <p:cNvSpPr/>
          <p:nvPr/>
        </p:nvSpPr>
        <p:spPr>
          <a:xfrm>
            <a:off x="975995" y="2263775"/>
            <a:ext cx="5106670" cy="1222375"/>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Tx/>
              <a:buSzTx/>
              <a:buFontTx/>
              <a:buNone/>
              <a:defRPr/>
            </a:pPr>
            <a:r>
              <a:rPr kumimoji="0" lang="zh-CN" altLang="en-US" sz="1600" b="1" i="0" u="none" strike="noStrike" kern="1200" cap="none" spc="0" normalizeH="0" baseline="0" noProof="0">
                <a:ln>
                  <a:noFill/>
                </a:ln>
                <a:solidFill>
                  <a:srgbClr val="1C4274"/>
                </a:solidFill>
                <a:effectLst/>
                <a:uLnTx/>
                <a:uFillTx/>
                <a:latin typeface="微软雅黑" panose="020B0503020204020204" charset="-122"/>
                <a:ea typeface="微软雅黑" panose="020B0503020204020204" charset="-122"/>
                <a:cs typeface="Poppins"/>
                <a:sym typeface="Poppins"/>
              </a:rPr>
              <a:t>超强厄尔尼诺预期，农产供应存在较大变数</a:t>
            </a:r>
            <a:endParaRPr kumimoji="0" lang="zh-CN" altLang="en-US" sz="1600" b="1" i="0" u="none" strike="noStrike" kern="1200" cap="none" spc="0" normalizeH="0" baseline="0" noProof="0">
              <a:ln>
                <a:noFill/>
              </a:ln>
              <a:solidFill>
                <a:srgbClr val="1C4274"/>
              </a:solidFill>
              <a:effectLst/>
              <a:uLnTx/>
              <a:uFillTx/>
              <a:latin typeface="微软雅黑" panose="020B0503020204020204" charset="-122"/>
              <a:ea typeface="微软雅黑" panose="020B0503020204020204" charset="-122"/>
              <a:cs typeface="Poppins"/>
              <a:sym typeface="Poppins"/>
            </a:endParaRPr>
          </a:p>
          <a:p>
            <a:pPr marL="285750" marR="0" lvl="0" indent="-285750" algn="l" defTabSz="914400" rtl="0" eaLnBrk="1" fontAlgn="auto" latinLnBrk="0" hangingPunct="1">
              <a:lnSpc>
                <a:spcPct val="150000"/>
              </a:lnSpc>
              <a:spcBef>
                <a:spcPts val="0"/>
              </a:spcBef>
              <a:spcAft>
                <a:spcPts val="0"/>
              </a:spcAft>
              <a:buClr>
                <a:srgbClr val="123B5D"/>
              </a:buClr>
              <a:buSzTx/>
              <a:buFont typeface="Wingdings" panose="05000000000000000000" pitchFamily="2" charset="2"/>
              <a:buChar char="l"/>
              <a:defRPr/>
            </a:pPr>
            <a:r>
              <a:rPr kumimoji="0" lang="zh-CN" sz="1400" i="0" u="none" strike="noStrike" kern="1200" cap="none" spc="0" normalizeH="0" baseline="0" noProof="0" dirty="0">
                <a:ln>
                  <a:noFill/>
                </a:ln>
                <a:solidFill>
                  <a:srgbClr val="1C4274"/>
                </a:solidFill>
                <a:effectLst/>
                <a:uLnTx/>
                <a:uFillTx/>
                <a:latin typeface="微软雅黑" panose="020B0503020204020204" charset="-122"/>
                <a:ea typeface="微软雅黑" panose="020B0503020204020204" charset="-122"/>
                <a:cs typeface="Noto Sans SC" panose="020B0200000000000000" charset="-122"/>
                <a:sym typeface="Poppins"/>
              </a:rPr>
              <a:t>本轮厄尔尼诺有望达成超强级，有一定概率成为有观测记录依赖最强的厄尔尼诺气候事件；</a:t>
            </a:r>
            <a:endParaRPr kumimoji="0" lang="zh-CN" sz="1400" i="0" u="none" strike="noStrike" kern="1200" cap="none" spc="0" normalizeH="0" baseline="0" noProof="0" dirty="0">
              <a:ln>
                <a:noFill/>
              </a:ln>
              <a:solidFill>
                <a:srgbClr val="1C4274"/>
              </a:solidFill>
              <a:effectLst/>
              <a:uLnTx/>
              <a:uFillTx/>
              <a:latin typeface="微软雅黑" panose="020B0503020204020204" charset="-122"/>
              <a:ea typeface="微软雅黑" panose="020B0503020204020204" charset="-122"/>
              <a:cs typeface="Noto Sans SC" panose="020B0200000000000000" charset="-122"/>
              <a:sym typeface="Poppins"/>
            </a:endParaRPr>
          </a:p>
          <a:p>
            <a:pPr marL="285750" marR="0" lvl="0" indent="-285750" algn="l" defTabSz="914400" rtl="0" eaLnBrk="1" fontAlgn="auto" latinLnBrk="0" hangingPunct="1">
              <a:lnSpc>
                <a:spcPct val="150000"/>
              </a:lnSpc>
              <a:spcBef>
                <a:spcPts val="0"/>
              </a:spcBef>
              <a:spcAft>
                <a:spcPts val="0"/>
              </a:spcAft>
              <a:buClr>
                <a:srgbClr val="123B5D"/>
              </a:buClr>
              <a:buSzTx/>
              <a:buFont typeface="Wingdings" panose="05000000000000000000" pitchFamily="2" charset="2"/>
              <a:buChar char="l"/>
              <a:defRPr/>
            </a:pPr>
            <a:r>
              <a:rPr kumimoji="0" lang="zh-CN" sz="1400" i="0" u="none" strike="noStrike" kern="1200" cap="none" spc="0" normalizeH="0" baseline="0" noProof="0" dirty="0">
                <a:ln>
                  <a:noFill/>
                </a:ln>
                <a:solidFill>
                  <a:srgbClr val="1C4274"/>
                </a:solidFill>
                <a:effectLst/>
                <a:uLnTx/>
                <a:uFillTx/>
                <a:latin typeface="微软雅黑" panose="020B0503020204020204" charset="-122"/>
                <a:ea typeface="微软雅黑" panose="020B0503020204020204" charset="-122"/>
                <a:cs typeface="Noto Sans SC" panose="020B0200000000000000" charset="-122"/>
                <a:sym typeface="Poppins"/>
              </a:rPr>
              <a:t>对部分农作物重要产区东南亚、南美、澳大利亚等地区有概率造成较大天气影响；</a:t>
            </a:r>
            <a:endParaRPr kumimoji="0" lang="zh-CN" sz="1400" i="0" u="none" strike="noStrike" kern="1200" cap="none" spc="0" normalizeH="0" baseline="0" noProof="0" dirty="0">
              <a:ln>
                <a:noFill/>
              </a:ln>
              <a:solidFill>
                <a:srgbClr val="1C4274"/>
              </a:solidFill>
              <a:effectLst/>
              <a:uLnTx/>
              <a:uFillTx/>
              <a:latin typeface="微软雅黑" panose="020B0503020204020204" charset="-122"/>
              <a:ea typeface="微软雅黑" panose="020B0503020204020204" charset="-122"/>
              <a:cs typeface="Noto Sans SC" panose="020B0200000000000000" charset="-122"/>
              <a:sym typeface="Poppins"/>
            </a:endParaRPr>
          </a:p>
          <a:p>
            <a:pPr marL="285750" marR="0" lvl="0" indent="-285750" algn="l" defTabSz="914400" rtl="0" eaLnBrk="1" fontAlgn="auto" latinLnBrk="0" hangingPunct="1">
              <a:lnSpc>
                <a:spcPct val="150000"/>
              </a:lnSpc>
              <a:spcBef>
                <a:spcPts val="0"/>
              </a:spcBef>
              <a:spcAft>
                <a:spcPts val="0"/>
              </a:spcAft>
              <a:buClr>
                <a:srgbClr val="123B5D"/>
              </a:buClr>
              <a:buSzTx/>
              <a:buFont typeface="Wingdings" panose="05000000000000000000" pitchFamily="2" charset="2"/>
              <a:buChar char="l"/>
              <a:defRPr/>
            </a:pPr>
            <a:r>
              <a:rPr kumimoji="0" lang="zh-CN" sz="1400" i="0" u="none" strike="noStrike" kern="1200" cap="none" spc="0" normalizeH="0" baseline="0" noProof="0" dirty="0">
                <a:ln>
                  <a:noFill/>
                </a:ln>
                <a:solidFill>
                  <a:srgbClr val="1C4274"/>
                </a:solidFill>
                <a:effectLst/>
                <a:uLnTx/>
                <a:uFillTx/>
                <a:latin typeface="微软雅黑" panose="020B0503020204020204" charset="-122"/>
                <a:ea typeface="微软雅黑" panose="020B0503020204020204" charset="-122"/>
                <a:cs typeface="Noto Sans SC" panose="020B0200000000000000" charset="-122"/>
                <a:sym typeface="Poppins"/>
              </a:rPr>
              <a:t>国内天气异常，台风异常活跃，暴雨过程落区重叠、致灾性强；</a:t>
            </a:r>
            <a:endParaRPr kumimoji="0" lang="zh-CN" sz="1400" i="0" u="none" strike="noStrike" kern="1200" cap="none" spc="0" normalizeH="0" baseline="0" noProof="0" dirty="0">
              <a:ln>
                <a:noFill/>
              </a:ln>
              <a:solidFill>
                <a:srgbClr val="1C4274"/>
              </a:solidFill>
              <a:effectLst/>
              <a:uLnTx/>
              <a:uFillTx/>
              <a:latin typeface="微软雅黑" panose="020B0503020204020204" charset="-122"/>
              <a:ea typeface="微软雅黑" panose="020B0503020204020204" charset="-122"/>
              <a:cs typeface="Noto Sans SC" panose="020B0200000000000000" charset="-122"/>
              <a:sym typeface="Poppins"/>
            </a:endParaRPr>
          </a:p>
          <a:p>
            <a:pPr marL="285750" marR="0" lvl="0" indent="-285750" algn="l" defTabSz="914400" rtl="0" eaLnBrk="1" fontAlgn="auto" latinLnBrk="0" hangingPunct="1">
              <a:lnSpc>
                <a:spcPct val="150000"/>
              </a:lnSpc>
              <a:spcBef>
                <a:spcPts val="0"/>
              </a:spcBef>
              <a:spcAft>
                <a:spcPts val="0"/>
              </a:spcAft>
              <a:buClr>
                <a:srgbClr val="123B5D"/>
              </a:buClr>
              <a:buSzTx/>
              <a:buFont typeface="Wingdings" panose="05000000000000000000" pitchFamily="2" charset="2"/>
              <a:buChar char="l"/>
              <a:defRPr/>
            </a:pPr>
            <a:endParaRPr kumimoji="0" lang="en-US" altLang="zh-CN" sz="1400" i="0" u="none" strike="noStrike" kern="1200" cap="none" spc="0" normalizeH="0" baseline="0" noProof="0" dirty="0">
              <a:ln>
                <a:noFill/>
              </a:ln>
              <a:solidFill>
                <a:srgbClr val="1C4274"/>
              </a:solidFill>
              <a:effectLst/>
              <a:uLnTx/>
              <a:uFillTx/>
              <a:latin typeface="微软雅黑" panose="020B0503020204020204" charset="-122"/>
              <a:ea typeface="微软雅黑" panose="020B0503020204020204" charset="-122"/>
              <a:cs typeface="Noto Sans SC" panose="020B0200000000000000" charset="-122"/>
              <a:sym typeface="Poppins"/>
            </a:endParaRPr>
          </a:p>
        </p:txBody>
      </p:sp>
      <p:pic>
        <p:nvPicPr>
          <p:cNvPr id="129" name="Picture 10"/>
          <p:cNvPicPr>
            <a:picLocks noChangeAspect="1"/>
          </p:cNvPicPr>
          <p:nvPr/>
        </p:nvPicPr>
        <p:blipFill>
          <a:blip>
            <a:duotone>
              <a:srgbClr val="1C4274"/>
              <a:srgbClr val="EAF6FC"/>
            </a:duotone>
            <a:extLst>
              <a:ext uri="{96DAC541-7B7A-43D3-8B79-37D633B846F1}">
                <asvg:svgBlip r:embed="rId4"/>
              </a:ext>
            </a:extLst>
          </a:blip>
          <a:stretch>
            <a:fillRect/>
          </a:stretch>
        </p:blipFill>
        <p:spPr>
          <a:xfrm>
            <a:off x="600075" y="4181475"/>
            <a:ext cx="304800" cy="304800"/>
          </a:xfrm>
          <a:prstGeom prst="rect">
            <a:avLst/>
          </a:prstGeom>
        </p:spPr>
      </p:pic>
      <p:sp>
        <p:nvSpPr>
          <p:cNvPr id="130" name="AutoShape 11"/>
          <p:cNvSpPr/>
          <p:nvPr/>
        </p:nvSpPr>
        <p:spPr>
          <a:xfrm>
            <a:off x="975995" y="4429125"/>
            <a:ext cx="5106670" cy="139319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Tx/>
              <a:buSzTx/>
              <a:buFontTx/>
              <a:buNone/>
              <a:defRPr/>
            </a:pPr>
            <a:r>
              <a:rPr kumimoji="0" lang="zh-CN" altLang="en-US" sz="1600" b="1" i="0" u="none" strike="noStrike" kern="1200" cap="none" spc="0" normalizeH="0" baseline="0" noProof="0">
                <a:ln>
                  <a:noFill/>
                </a:ln>
                <a:solidFill>
                  <a:srgbClr val="1C4274"/>
                </a:solidFill>
                <a:effectLst/>
                <a:uLnTx/>
                <a:uFillTx/>
                <a:latin typeface="微软雅黑" panose="020B0503020204020204" charset="-122"/>
                <a:ea typeface="微软雅黑" panose="020B0503020204020204" charset="-122"/>
                <a:cs typeface="Poppins"/>
                <a:sym typeface="Poppins"/>
              </a:rPr>
              <a:t>地缘冲突推高能源与化肥成本，供给二次冲击</a:t>
            </a:r>
            <a:endParaRPr kumimoji="0" lang="zh-CN" altLang="en-US" sz="1600" b="1" i="0" u="none" strike="noStrike" kern="1200" cap="none" spc="0" normalizeH="0" baseline="0" noProof="0">
              <a:ln>
                <a:noFill/>
              </a:ln>
              <a:solidFill>
                <a:srgbClr val="1C4274"/>
              </a:solidFill>
              <a:effectLst/>
              <a:uLnTx/>
              <a:uFillTx/>
              <a:latin typeface="微软雅黑" panose="020B0503020204020204" charset="-122"/>
              <a:ea typeface="微软雅黑" panose="020B0503020204020204" charset="-122"/>
              <a:cs typeface="Poppins"/>
              <a:sym typeface="Poppins"/>
            </a:endParaRPr>
          </a:p>
          <a:p>
            <a:pPr marL="285750" marR="0" lvl="0" indent="-285750" algn="l" defTabSz="914400" rtl="0" eaLnBrk="1" fontAlgn="auto" latinLnBrk="0" hangingPunct="1">
              <a:lnSpc>
                <a:spcPct val="150000"/>
              </a:lnSpc>
              <a:spcBef>
                <a:spcPts val="0"/>
              </a:spcBef>
              <a:spcAft>
                <a:spcPts val="0"/>
              </a:spcAft>
              <a:buClr>
                <a:srgbClr val="123B5D"/>
              </a:buClr>
              <a:buSzTx/>
              <a:buFont typeface="Wingdings" panose="05000000000000000000" pitchFamily="2" charset="2"/>
              <a:buChar char="l"/>
              <a:defRPr/>
            </a:pPr>
            <a:r>
              <a:rPr kumimoji="0" lang="zh-CN" sz="1400" i="0" u="none" strike="noStrike" kern="1200" cap="none" spc="0" normalizeH="0" baseline="0" noProof="0" dirty="0">
                <a:ln>
                  <a:noFill/>
                </a:ln>
                <a:solidFill>
                  <a:srgbClr val="1C4274"/>
                </a:solidFill>
                <a:effectLst/>
                <a:uLnTx/>
                <a:uFillTx/>
                <a:latin typeface="微软雅黑" panose="020B0503020204020204" charset="-122"/>
                <a:ea typeface="微软雅黑" panose="020B0503020204020204" charset="-122"/>
                <a:cs typeface="Noto Sans SC" panose="020B0200000000000000" charset="-122"/>
                <a:sym typeface="Poppins"/>
              </a:rPr>
              <a:t>中东地缘冲突持续，海峡通航受阻推高农机燃油、化肥生产、国际海运成本，能源驱动的成本推升成为新的农产品价格驱动；</a:t>
            </a:r>
            <a:endParaRPr kumimoji="0" lang="zh-CN" sz="1400" i="0" u="none" strike="noStrike" kern="1200" cap="none" spc="0" normalizeH="0" baseline="0" noProof="0" dirty="0">
              <a:ln>
                <a:noFill/>
              </a:ln>
              <a:solidFill>
                <a:srgbClr val="1C4274"/>
              </a:solidFill>
              <a:effectLst/>
              <a:uLnTx/>
              <a:uFillTx/>
              <a:latin typeface="微软雅黑" panose="020B0503020204020204" charset="-122"/>
              <a:ea typeface="微软雅黑" panose="020B0503020204020204" charset="-122"/>
              <a:cs typeface="Noto Sans SC" panose="020B0200000000000000" charset="-122"/>
              <a:sym typeface="Poppins"/>
            </a:endParaRPr>
          </a:p>
          <a:p>
            <a:pPr marL="285750" marR="0" lvl="0" indent="-285750" algn="l" defTabSz="914400" rtl="0" eaLnBrk="1" fontAlgn="auto" latinLnBrk="0" hangingPunct="1">
              <a:lnSpc>
                <a:spcPct val="150000"/>
              </a:lnSpc>
              <a:spcBef>
                <a:spcPts val="0"/>
              </a:spcBef>
              <a:spcAft>
                <a:spcPts val="0"/>
              </a:spcAft>
              <a:buClr>
                <a:srgbClr val="123B5D"/>
              </a:buClr>
              <a:buSzTx/>
              <a:buFont typeface="Wingdings" panose="05000000000000000000" pitchFamily="2" charset="2"/>
              <a:buChar char="l"/>
              <a:defRPr/>
            </a:pPr>
            <a:r>
              <a:rPr kumimoji="0" lang="zh-CN" sz="1400" i="0" u="none" strike="noStrike" kern="1200" cap="none" spc="0" normalizeH="0" baseline="0" noProof="0" dirty="0">
                <a:ln>
                  <a:noFill/>
                </a:ln>
                <a:solidFill>
                  <a:srgbClr val="1C4274"/>
                </a:solidFill>
                <a:effectLst/>
                <a:uLnTx/>
                <a:uFillTx/>
                <a:latin typeface="微软雅黑" panose="020B0503020204020204" charset="-122"/>
                <a:ea typeface="微软雅黑" panose="020B0503020204020204" charset="-122"/>
                <a:cs typeface="Noto Sans SC" panose="020B0200000000000000" charset="-122"/>
                <a:sym typeface="Poppins"/>
              </a:rPr>
              <a:t>俄乌近期针对粮食出口港进行互袭，黑海粮食走廊的不确定性有明显提高；</a:t>
            </a:r>
            <a:endParaRPr kumimoji="0" lang="zh-CN" sz="1400" i="0" u="none" strike="noStrike" kern="1200" cap="none" spc="0" normalizeH="0" baseline="0" noProof="0" dirty="0">
              <a:ln>
                <a:noFill/>
              </a:ln>
              <a:solidFill>
                <a:srgbClr val="1C4274"/>
              </a:solidFill>
              <a:effectLst/>
              <a:uLnTx/>
              <a:uFillTx/>
              <a:latin typeface="微软雅黑" panose="020B0503020204020204" charset="-122"/>
              <a:ea typeface="微软雅黑" panose="020B0503020204020204" charset="-122"/>
              <a:cs typeface="Noto Sans SC" panose="020B0200000000000000" charset="-122"/>
              <a:sym typeface="Poppins"/>
            </a:endParaRPr>
          </a:p>
          <a:p>
            <a:pPr marL="285750" marR="0" lvl="0" indent="-285750" algn="l" defTabSz="914400" rtl="0" eaLnBrk="1" fontAlgn="auto" latinLnBrk="0" hangingPunct="1">
              <a:lnSpc>
                <a:spcPct val="150000"/>
              </a:lnSpc>
              <a:spcBef>
                <a:spcPts val="0"/>
              </a:spcBef>
              <a:spcAft>
                <a:spcPts val="0"/>
              </a:spcAft>
              <a:buClr>
                <a:srgbClr val="123B5D"/>
              </a:buClr>
              <a:buSzTx/>
              <a:buFont typeface="Wingdings" panose="05000000000000000000" pitchFamily="2" charset="2"/>
              <a:buChar char="l"/>
              <a:defRPr/>
            </a:pPr>
            <a:endParaRPr kumimoji="0" lang="zh-CN" altLang="en-US" sz="1600" b="1" i="0" u="none" strike="noStrike" kern="1200" cap="none" spc="0" normalizeH="0" baseline="0" noProof="0">
              <a:ln>
                <a:noFill/>
              </a:ln>
              <a:solidFill>
                <a:srgbClr val="1C4274"/>
              </a:solidFill>
              <a:effectLst/>
              <a:uLnTx/>
              <a:uFillTx/>
              <a:latin typeface="微软雅黑" panose="020B0503020204020204" charset="-122"/>
              <a:ea typeface="微软雅黑" panose="020B0503020204020204" charset="-122"/>
              <a:cs typeface="Poppins"/>
              <a:sym typeface="Poppins"/>
            </a:endParaRPr>
          </a:p>
        </p:txBody>
      </p:sp>
      <p:pic>
        <p:nvPicPr>
          <p:cNvPr id="131" name="图片 20"/>
          <p:cNvPicPr>
            <a:picLocks noChangeAspect="1"/>
          </p:cNvPicPr>
          <p:nvPr/>
        </p:nvPicPr>
        <p:blipFill>
          <a:blip r:embed="rId5">
            <a:duotone>
              <a:srgbClr val="1C4274"/>
              <a:srgbClr val="EAF6FC"/>
            </a:duotone>
          </a:blip>
          <a:stretch>
            <a:fillRect/>
          </a:stretch>
        </p:blipFill>
        <p:spPr>
          <a:xfrm>
            <a:off x="6654165" y="4022090"/>
            <a:ext cx="5090795" cy="2721610"/>
          </a:xfrm>
          <a:prstGeom prst="rect">
            <a:avLst/>
          </a:prstGeom>
        </p:spPr>
      </p:pic>
      <p:pic>
        <p:nvPicPr>
          <p:cNvPr id="132" name="参考模板浅蓝背景弧线"/>
          <p:cNvPicPr/>
          <p:nvPr/>
        </p:nvPicPr>
        <p:blipFill>
          <a:blip r:embed="rId6">
            <a:duotone>
              <a:srgbClr val="1C4274"/>
              <a:srgbClr val="EAF6FC"/>
            </a:duotone>
          </a:blip>
          <a:stretch>
            <a:fillRect/>
          </a:stretch>
        </p:blipFill>
        <p:spPr>
          <a:xfrm>
            <a:off x="4457700" y="0"/>
            <a:ext cx="3143250" cy="495300"/>
          </a:xfrm>
          <a:prstGeom prst="rect">
            <a:avLst/>
          </a:prstGeom>
          <a:noFill/>
          <a:ln>
            <a:noFill/>
          </a:ln>
        </p:spPr>
      </p:pic>
      <p:pic>
        <p:nvPicPr>
          <p:cNvPr id="133" name="参考模板右上角标识"/>
          <p:cNvPicPr/>
          <p:nvPr/>
        </p:nvPicPr>
        <p:blipFill>
          <a:blip r:embed="rId7">
            <a:duotone>
              <a:srgbClr val="1C4274"/>
              <a:srgbClr val="EAF6FC"/>
            </a:duotone>
          </a:blip>
          <a:stretch>
            <a:fillRect/>
          </a:stretch>
        </p:blipFill>
        <p:spPr>
          <a:xfrm>
            <a:off x="9696450" y="209550"/>
            <a:ext cx="1733550" cy="390525"/>
          </a:xfrm>
          <a:prstGeom prst="rect">
            <a:avLst/>
          </a:prstGeom>
          <a:noFill/>
          <a:ln>
            <a:noFill/>
          </a:ln>
        </p:spPr>
      </p:pic>
    </p:spTree>
  </p:cSld>
  <p:clrMapOvr>
    <a:masterClrMapping/>
  </p:clrMapOvr>
</p:sld>
</file>

<file path=ppt/slides/slide18.xml><?xml version="1.0" encoding="utf-8"?>
<p:sld xmlns:p="http://schemas.openxmlformats.org/presentationml/2006/main" xmlns:r="http://schemas.openxmlformats.org/officeDocument/2006/relationships" xmlns:a="http://schemas.openxmlformats.org/drawingml/2006/main" xmlns:asvg="http://schemas.microsoft.com/office/drawing/2016/SVG/main" xmlns:mc="http://schemas.openxmlformats.org/markup-compatibility/2006" mc:Ignorable="asvg">
  <p:cSld>
    <p:spTree>
      <p:nvGrpSpPr>
        <p:cNvPr id="132" name=""/>
        <p:cNvGrpSpPr/>
        <p:nvPr/>
      </p:nvGrpSpPr>
      <p:grpSpPr>
        <a:xfrm>
          <a:off x="0" y="0"/>
          <a:ext cx="0" cy="0"/>
          <a:chOff x="0" y="0"/>
          <a:chExt cx="0" cy="0"/>
        </a:xfrm>
      </p:grpSpPr>
      <p:sp>
        <p:nvSpPr>
          <p:cNvPr id="133" name="Rectangle 1"/>
          <p:cNvSpPr/>
          <p:nvPr/>
        </p:nvSpPr>
        <p:spPr>
          <a:xfrm>
            <a:off x="502920" y="457200"/>
            <a:ext cx="82296" cy="566928"/>
          </a:xfrm>
          <a:prstGeom prst="rect">
            <a:avLst/>
          </a:prstGeom>
          <a:solidFill>
            <a:srgbClr val="0070C0"/>
          </a:solidFill>
          <a:ln>
            <a:noFill/>
          </a:ln>
          <a:effectLst/>
        </p:spPr>
        <p:style>
          <a:lnRef idx="1">
            <a:srgbClr val="0070C0"/>
          </a:lnRef>
          <a:fillRef idx="3">
            <a:srgbClr val="0070C0"/>
          </a:fillRef>
          <a:effectRef idx="2">
            <a:srgbClr val="0070C0"/>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134" name="TextBox 2"/>
          <p:cNvSpPr txBox="1"/>
          <p:nvPr/>
        </p:nvSpPr>
        <p:spPr>
          <a:xfrm>
            <a:off x="713232" y="480949"/>
            <a:ext cx="9601200" cy="519430"/>
          </a:xfrm>
          <a:prstGeom prst="rect">
            <a:avLst/>
          </a:prstGeom>
          <a:noFill/>
        </p:spPr>
        <p:txBody>
          <a:bodyPr wrap="square" lIns="0" tIns="0" rIns="0" bIns="0" anchor="ctr">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lang="zh-CN" altLang="en-US" sz="2600" b="1" noProof="0" dirty="0">
                <a:ln>
                  <a:noFill/>
                </a:ln>
                <a:solidFill>
                  <a:srgbClr val="1C4274"/>
                </a:solidFill>
                <a:effectLst/>
                <a:uLnTx/>
                <a:uFillTx/>
                <a:latin typeface="微软雅黑" panose="020B0503020204020204" charset="-122"/>
                <a:ea typeface="微软雅黑" panose="020B0503020204020204" charset="-122"/>
                <a:sym typeface="Poppins"/>
              </a:rPr>
              <a:t>与股票相比，当前大宗商品依然处于低位</a:t>
            </a:r>
            <a:endParaRPr lang="zh-CN" altLang="en-US" sz="2600" b="1">
              <a:solidFill>
                <a:srgbClr val="0070C0"/>
              </a:solidFill>
              <a:latin typeface="微软雅黑" panose="020B0503020204020204" charset="-122"/>
              <a:ea typeface="微软雅黑" panose="020B0503020204020204" charset="-122"/>
              <a:cs typeface="微软雅黑" panose="020B0503020204020204" charset="-122"/>
            </a:endParaRPr>
          </a:p>
        </p:txBody>
      </p:sp>
      <p:sp>
        <p:nvSpPr>
          <p:cNvPr id="135" name="Rectangle 4"/>
          <p:cNvSpPr/>
          <p:nvPr/>
        </p:nvSpPr>
        <p:spPr>
          <a:xfrm>
            <a:off x="502920" y="1005840"/>
            <a:ext cx="2011680" cy="27940"/>
          </a:xfrm>
          <a:prstGeom prst="rect">
            <a:avLst/>
          </a:prstGeom>
          <a:solidFill>
            <a:srgbClr val="54B0E0"/>
          </a:solidFill>
          <a:ln>
            <a:noFill/>
          </a:ln>
          <a:effectLst/>
        </p:spPr>
        <p:style>
          <a:lnRef idx="1">
            <a:srgbClr val="0070C0"/>
          </a:lnRef>
          <a:fillRef idx="3">
            <a:srgbClr val="0070C0"/>
          </a:fillRef>
          <a:effectRef idx="2">
            <a:srgbClr val="0070C0"/>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136" name="Rectangle 5"/>
          <p:cNvSpPr/>
          <p:nvPr/>
        </p:nvSpPr>
        <p:spPr>
          <a:xfrm>
            <a:off x="502920" y="1060704"/>
            <a:ext cx="11183112" cy="11430"/>
          </a:xfrm>
          <a:prstGeom prst="rect">
            <a:avLst/>
          </a:prstGeom>
          <a:solidFill>
            <a:srgbClr val="AED5EB"/>
          </a:solidFill>
          <a:ln>
            <a:noFill/>
          </a:ln>
          <a:effectLst/>
        </p:spPr>
        <p:style>
          <a:lnRef idx="1">
            <a:srgbClr val="0070C0"/>
          </a:lnRef>
          <a:fillRef idx="3">
            <a:srgbClr val="0070C0"/>
          </a:fillRef>
          <a:effectRef idx="2">
            <a:srgbClr val="0070C0"/>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137" name="TextBox 8"/>
          <p:cNvSpPr txBox="1"/>
          <p:nvPr/>
        </p:nvSpPr>
        <p:spPr>
          <a:xfrm>
            <a:off x="502920" y="6455664"/>
            <a:ext cx="7315200" cy="274320"/>
          </a:xfrm>
          <a:prstGeom prst="rect">
            <a:avLst/>
          </a:prstGeom>
          <a:noFill/>
        </p:spPr>
        <p:txBody>
          <a:bodyPr wrap="square" lIns="0" tIns="0" rIns="0" bIns="0" anchor="t">
            <a:spAutoFit/>
          </a:bodyPr>
          <a:lstStyle/>
          <a:p>
            <a:pPr algn="l">
              <a:lnSpc>
                <a:spcPct val="115000"/>
              </a:lnSpc>
              <a:spcAft>
                <a:spcPts val="600"/>
              </a:spcAft>
            </a:pPr>
            <a:r>
              <a:rPr sz="900" b="0">
                <a:solidFill>
                  <a:srgbClr val="1C4274"/>
                </a:solidFill>
                <a:latin typeface="微软雅黑" panose="020B0503020204020204" charset="-122"/>
                <a:ea typeface="微软雅黑" panose="020B0503020204020204" charset="-122"/>
                <a:cs typeface="微软雅黑" panose="020B0503020204020204" charset="-122"/>
              </a:rPr>
              <a:t>近期宏观变化及资产配置 · 2026.09</a:t>
            </a:r>
            <a:endParaRPr sz="900" b="0">
              <a:solidFill>
                <a:srgbClr val="1C4274"/>
              </a:solidFill>
              <a:latin typeface="微软雅黑" panose="020B0503020204020204" charset="-122"/>
              <a:ea typeface="微软雅黑" panose="020B0503020204020204" charset="-122"/>
              <a:cs typeface="微软雅黑" panose="020B0503020204020204" charset="-122"/>
            </a:endParaRPr>
          </a:p>
        </p:txBody>
      </p:sp>
      <p:sp>
        <p:nvSpPr>
          <p:cNvPr id="138" name="TextBox 9"/>
          <p:cNvSpPr txBox="1"/>
          <p:nvPr/>
        </p:nvSpPr>
        <p:spPr>
          <a:xfrm>
            <a:off x="10789920" y="6455664"/>
            <a:ext cx="914400" cy="274320"/>
          </a:xfrm>
          <a:prstGeom prst="rect">
            <a:avLst/>
          </a:prstGeom>
          <a:noFill/>
        </p:spPr>
        <p:txBody>
          <a:bodyPr wrap="square" lIns="0" tIns="0" rIns="0" bIns="0" anchor="t">
            <a:spAutoFit/>
          </a:bodyPr>
          <a:lstStyle/>
          <a:p>
            <a:pPr algn="r">
              <a:lnSpc>
                <a:spcPct val="115000"/>
              </a:lnSpc>
              <a:spcAft>
                <a:spcPts val="600"/>
              </a:spcAft>
            </a:pPr>
            <a:r>
              <a:rPr sz="1000" b="0">
                <a:solidFill>
                  <a:srgbClr val="1C4274"/>
                </a:solidFill>
                <a:latin typeface="微软雅黑" panose="020B0503020204020204" charset="-122"/>
                <a:ea typeface="微软雅黑" panose="020B0503020204020204" charset="-122"/>
                <a:cs typeface="微软雅黑" panose="020B0503020204020204" charset="-122"/>
              </a:rPr>
              <a:t>14</a:t>
            </a:r>
            <a:endParaRPr sz="1000" b="0">
              <a:solidFill>
                <a:srgbClr val="1C4274"/>
              </a:solidFill>
              <a:latin typeface="微软雅黑" panose="020B0503020204020204" charset="-122"/>
              <a:ea typeface="微软雅黑" panose="020B0503020204020204" charset="-122"/>
              <a:cs typeface="微软雅黑" panose="020B0503020204020204" charset="-122"/>
            </a:endParaRPr>
          </a:p>
        </p:txBody>
      </p:sp>
      <p:grpSp>
        <p:nvGrpSpPr>
          <p:cNvPr id="139" name="组合 7"/>
          <p:cNvGrpSpPr/>
          <p:nvPr/>
        </p:nvGrpSpPr>
        <p:grpSpPr>
          <a:xfrm>
            <a:off x="542290" y="1341755"/>
            <a:ext cx="4900930" cy="4351655"/>
            <a:chOff x="734" y="1832"/>
            <a:chExt cx="9315" cy="8778"/>
          </a:xfrm>
        </p:grpSpPr>
        <p:pic>
          <p:nvPicPr>
            <p:cNvPr id="140" name="图片 2"/>
            <p:cNvPicPr/>
            <p:nvPr/>
          </p:nvPicPr>
          <p:blipFill>
            <a:blip r:embed="rId2">
              <a:duotone>
                <a:srgbClr val="1C4274"/>
                <a:srgbClr val="EAF6FC"/>
              </a:duotone>
            </a:blip>
            <a:stretch>
              <a:fillRect/>
            </a:stretch>
          </p:blipFill>
          <p:spPr>
            <a:xfrm>
              <a:off x="734" y="1832"/>
              <a:ext cx="9315" cy="8778"/>
            </a:xfrm>
            <a:prstGeom prst="rect">
              <a:avLst/>
            </a:prstGeom>
          </p:spPr>
        </p:pic>
        <p:sp>
          <p:nvSpPr>
            <p:cNvPr id="141" name="矩形 3"/>
            <p:cNvSpPr/>
            <p:nvPr/>
          </p:nvSpPr>
          <p:spPr>
            <a:xfrm>
              <a:off x="7882" y="7987"/>
              <a:ext cx="1740" cy="960"/>
            </a:xfrm>
            <a:prstGeom prst="rect">
              <a:avLst/>
            </a:prstGeom>
            <a:noFill/>
            <a:ln w="28575">
              <a:gradFill>
                <a:gsLst>
                  <a:gs pos="100000">
                    <a:srgbClr val="0070C0"/>
                  </a:gs>
                  <a:gs pos="0">
                    <a:srgbClr val="43A1D5"/>
                  </a:gs>
                </a:gsLst>
                <a:path path="circle">
                  <a:fillToRect l="100000" t="100000"/>
                </a:path>
                <a:tileRect r="-100000" b="-100000"/>
              </a:gradFill>
            </a:ln>
            <a:extLst>
              <a:ext uri="{909E8E84-426E-40DD-AFC4-6F175D3DCCD1}"/>
            </a:extLst>
          </p:spPr>
          <p:style>
            <a:lnRef idx="2">
              <a:srgbClr val="0070C0">
                <a:lumMod val="75000"/>
              </a:srgbClr>
            </a:lnRef>
            <a:fillRef idx="1">
              <a:srgbClr val="0070C0"/>
            </a:fillRef>
            <a:effectRef idx="0">
              <a:srgbClr val="FFFFFF"/>
            </a:effectRef>
            <a:fontRef idx="minor">
              <a:schemeClr val="lt1"/>
            </a:fontRef>
          </p:style>
          <p:txBody>
            <a:bodyPr rtlCol="0" anchor="ctr"/>
            <a:p>
              <a:pPr algn="ctr"/>
              <a:endParaRPr lang="zh-CN" altLang="en-US"/>
            </a:p>
          </p:txBody>
        </p:sp>
      </p:grpSp>
      <p:pic>
        <p:nvPicPr>
          <p:cNvPr id="142" name="Picture 7"/>
          <p:cNvPicPr>
            <a:picLocks noChangeAspect="1"/>
          </p:cNvPicPr>
          <p:nvPr/>
        </p:nvPicPr>
        <p:blipFill>
          <a:blip>
            <a:duotone>
              <a:srgbClr val="1C4274"/>
              <a:srgbClr val="EAF6FC"/>
            </a:duotone>
            <a:extLst>
              <a:ext uri="{96DAC541-7B7A-43D3-8B79-37D633B846F1}">
                <asvg:svgBlip r:embed="rId3"/>
              </a:ext>
            </a:extLst>
          </a:blip>
          <a:stretch>
            <a:fillRect/>
          </a:stretch>
        </p:blipFill>
        <p:spPr>
          <a:xfrm>
            <a:off x="5933258" y="2448190"/>
            <a:ext cx="304800" cy="304800"/>
          </a:xfrm>
          <a:prstGeom prst="rect">
            <a:avLst/>
          </a:prstGeom>
        </p:spPr>
      </p:pic>
      <p:sp>
        <p:nvSpPr>
          <p:cNvPr id="143" name="AutoShape 8"/>
          <p:cNvSpPr/>
          <p:nvPr/>
        </p:nvSpPr>
        <p:spPr>
          <a:xfrm>
            <a:off x="6275613" y="2535159"/>
            <a:ext cx="4953000" cy="364787"/>
          </a:xfrm>
          <a:prstGeom prst="rect">
            <a:avLst/>
          </a:prstGeom>
          <a:noFill/>
          <a:ln w="12700" cap="flat" cmpd="sng">
            <a:noFill/>
            <a:prstDash val="solid"/>
            <a:round/>
          </a:ln>
        </p:spPr>
        <p:txBody>
          <a:bodyPr vert="horz" wrap="square" lIns="0" tIns="0" rIns="0" bIns="0" rtlCol="0" anchor="ctr" anchorCtr="0"/>
          <a:lstStyle/>
          <a:p>
            <a:pPr lvl="0" eaLnBrk="1" fontAlgn="auto" hangingPunct="1">
              <a:lnSpc>
                <a:spcPct val="125000"/>
              </a:lnSpc>
              <a:spcBef>
                <a:spcPts val="0"/>
              </a:spcBef>
              <a:spcAft>
                <a:spcPts val="0"/>
              </a:spcAft>
              <a:defRPr/>
            </a:pPr>
            <a:r>
              <a:rPr lang="zh-CN" altLang="en-US" sz="1600" dirty="0">
                <a:solidFill>
                  <a:srgbClr val="1C4274"/>
                </a:solidFill>
                <a:latin typeface="微软雅黑" panose="020B0503020204020204" charset="-122"/>
                <a:ea typeface="微软雅黑" panose="020B0503020204020204" charset="-122"/>
                <a:cs typeface="Noto Sans SC" panose="020B0200000000000000" charset="-122"/>
                <a:sym typeface="Noto Sans SC" panose="020B0200000000000000" charset="-122"/>
              </a:rPr>
              <a:t>股票</a:t>
            </a:r>
            <a:r>
              <a:rPr lang="en-US" altLang="zh-CN" sz="1600" dirty="0">
                <a:solidFill>
                  <a:srgbClr val="1C4274"/>
                </a:solidFill>
                <a:latin typeface="微软雅黑" panose="020B0503020204020204" charset="-122"/>
                <a:ea typeface="微软雅黑" panose="020B0503020204020204" charset="-122"/>
                <a:cs typeface="Noto Sans SC" panose="020B0200000000000000" charset="-122"/>
                <a:sym typeface="Noto Sans SC" panose="020B0200000000000000" charset="-122"/>
              </a:rPr>
              <a:t>/</a:t>
            </a:r>
            <a:r>
              <a:rPr lang="zh-CN" altLang="en-US" sz="1600" dirty="0">
                <a:solidFill>
                  <a:srgbClr val="1C4274"/>
                </a:solidFill>
                <a:latin typeface="微软雅黑" panose="020B0503020204020204" charset="-122"/>
                <a:ea typeface="微软雅黑" panose="020B0503020204020204" charset="-122"/>
                <a:cs typeface="Noto Sans SC" panose="020B0200000000000000" charset="-122"/>
                <a:sym typeface="Noto Sans SC" panose="020B0200000000000000" charset="-122"/>
              </a:rPr>
              <a:t>商品价格比处于历史底部，但已经出现止跌盘整迹象存在向上修复的预期；</a:t>
            </a:r>
            <a:endParaRPr lang="en-US" altLang="zh-CN" sz="1200" dirty="0">
              <a:solidFill>
                <a:srgbClr val="1C4274"/>
              </a:solidFill>
              <a:latin typeface="微软雅黑" panose="020B0503020204020204" charset="-122"/>
              <a:ea typeface="微软雅黑" panose="020B0503020204020204" charset="-122"/>
            </a:endParaRPr>
          </a:p>
        </p:txBody>
      </p:sp>
      <p:pic>
        <p:nvPicPr>
          <p:cNvPr id="144" name="Picture 15"/>
          <p:cNvPicPr>
            <a:picLocks noChangeAspect="1"/>
          </p:cNvPicPr>
          <p:nvPr/>
        </p:nvPicPr>
        <p:blipFill>
          <a:blip>
            <a:duotone>
              <a:srgbClr val="1C4274"/>
              <a:srgbClr val="EAF6FC"/>
            </a:duotone>
            <a:extLst>
              <a:ext uri="{96DAC541-7B7A-43D3-8B79-37D633B846F1}">
                <asvg:svgBlip r:embed="rId4"/>
              </a:ext>
            </a:extLst>
          </a:blip>
          <a:stretch>
            <a:fillRect/>
          </a:stretch>
        </p:blipFill>
        <p:spPr>
          <a:xfrm>
            <a:off x="5934347" y="3940489"/>
            <a:ext cx="304800" cy="304800"/>
          </a:xfrm>
          <a:prstGeom prst="rect">
            <a:avLst/>
          </a:prstGeom>
        </p:spPr>
      </p:pic>
      <p:sp>
        <p:nvSpPr>
          <p:cNvPr id="145" name="矩形 16"/>
          <p:cNvSpPr/>
          <p:nvPr/>
        </p:nvSpPr>
        <p:spPr>
          <a:xfrm>
            <a:off x="6238058" y="3905420"/>
            <a:ext cx="4876800" cy="679738"/>
          </a:xfrm>
          <a:prstGeom prst="rect">
            <a:avLst/>
          </a:prstGeom>
        </p:spPr>
        <p:txBody>
          <a:bodyPr wrap="square">
            <a:spAutoFit/>
          </a:bodyPr>
          <a:lstStyle/>
          <a:p>
            <a:pPr lvl="0" eaLnBrk="1" fontAlgn="auto" hangingPunct="1">
              <a:lnSpc>
                <a:spcPct val="125000"/>
              </a:lnSpc>
              <a:spcBef>
                <a:spcPts val="0"/>
              </a:spcBef>
              <a:spcAft>
                <a:spcPts val="0"/>
              </a:spcAft>
              <a:defRPr/>
            </a:pPr>
            <a:r>
              <a:rPr lang="zh-CN" altLang="en-US" sz="1600" dirty="0">
                <a:solidFill>
                  <a:srgbClr val="1C4274"/>
                </a:solidFill>
                <a:latin typeface="微软雅黑" panose="020B0503020204020204" charset="-122"/>
                <a:ea typeface="微软雅黑" panose="020B0503020204020204" charset="-122"/>
                <a:cs typeface="Noto Sans SC" panose="020B0200000000000000" charset="-122"/>
                <a:sym typeface="Noto Sans SC" panose="020B0200000000000000" charset="-122"/>
              </a:rPr>
              <a:t>周期启动后，均为跨度较长的超长周期，而非持续周期较短的脉冲式行情；</a:t>
            </a:r>
            <a:endParaRPr lang="en-US" altLang="zh-CN" sz="1200" dirty="0">
              <a:solidFill>
                <a:srgbClr val="1C4274"/>
              </a:solidFill>
              <a:latin typeface="微软雅黑" panose="020B0503020204020204" charset="-122"/>
              <a:ea typeface="微软雅黑" panose="020B0503020204020204" charset="-122"/>
            </a:endParaRPr>
          </a:p>
        </p:txBody>
      </p:sp>
      <p:pic>
        <p:nvPicPr>
          <p:cNvPr id="146" name="参考模板浅蓝背景弧线"/>
          <p:cNvPicPr/>
          <p:nvPr/>
        </p:nvPicPr>
        <p:blipFill>
          <a:blip r:embed="rId5">
            <a:duotone>
              <a:srgbClr val="1C4274"/>
              <a:srgbClr val="EAF6FC"/>
            </a:duotone>
          </a:blip>
          <a:stretch>
            <a:fillRect/>
          </a:stretch>
        </p:blipFill>
        <p:spPr>
          <a:xfrm>
            <a:off x="4457700" y="0"/>
            <a:ext cx="3143250" cy="495300"/>
          </a:xfrm>
          <a:prstGeom prst="rect">
            <a:avLst/>
          </a:prstGeom>
          <a:noFill/>
          <a:ln>
            <a:noFill/>
          </a:ln>
        </p:spPr>
      </p:pic>
      <p:pic>
        <p:nvPicPr>
          <p:cNvPr id="147" name="参考模板右上角标识"/>
          <p:cNvPicPr/>
          <p:nvPr/>
        </p:nvPicPr>
        <p:blipFill>
          <a:blip r:embed="rId6">
            <a:duotone>
              <a:srgbClr val="1C4274"/>
              <a:srgbClr val="EAF6FC"/>
            </a:duotone>
          </a:blip>
          <a:stretch>
            <a:fillRect/>
          </a:stretch>
        </p:blipFill>
        <p:spPr>
          <a:xfrm>
            <a:off x="9696450" y="209550"/>
            <a:ext cx="1733550" cy="390525"/>
          </a:xfrm>
          <a:prstGeom prst="rect">
            <a:avLst/>
          </a:prstGeom>
          <a:noFill/>
          <a:ln>
            <a:noFill/>
          </a:ln>
        </p:spPr>
      </p:pic>
    </p:spTree>
  </p:cSld>
  <p:clrMapOvr>
    <a:masterClrMapping/>
  </p:clrMapOvr>
</p:sld>
</file>

<file path=ppt/slides/slide19.xml><?xml version="1.0" encoding="utf-8"?>
<p:sld xmlns:p="http://schemas.openxmlformats.org/presentationml/2006/main" xmlns:r="http://schemas.openxmlformats.org/officeDocument/2006/relationships" xmlns:a="http://schemas.openxmlformats.org/drawingml/2006/main" xmlns:asvg="http://schemas.microsoft.com/office/drawing/2016/SVG/main" xmlns:mc="http://schemas.openxmlformats.org/markup-compatibility/2006" mc:Ignorable="asvg">
  <p:cSld>
    <p:spTree>
      <p:nvGrpSpPr>
        <p:cNvPr id="146" name=""/>
        <p:cNvGrpSpPr/>
        <p:nvPr/>
      </p:nvGrpSpPr>
      <p:grpSpPr>
        <a:xfrm>
          <a:off x="0" y="0"/>
          <a:ext cx="0" cy="0"/>
          <a:chOff x="0" y="0"/>
          <a:chExt cx="0" cy="0"/>
        </a:xfrm>
      </p:grpSpPr>
      <p:sp>
        <p:nvSpPr>
          <p:cNvPr id="147" name="Rectangle 1"/>
          <p:cNvSpPr/>
          <p:nvPr/>
        </p:nvSpPr>
        <p:spPr>
          <a:xfrm>
            <a:off x="502920" y="457200"/>
            <a:ext cx="82296" cy="566928"/>
          </a:xfrm>
          <a:prstGeom prst="rect">
            <a:avLst/>
          </a:prstGeom>
          <a:solidFill>
            <a:srgbClr val="0070C0"/>
          </a:solidFill>
          <a:ln>
            <a:noFill/>
          </a:ln>
          <a:effectLst/>
        </p:spPr>
        <p:style>
          <a:lnRef idx="1">
            <a:srgbClr val="0070C0"/>
          </a:lnRef>
          <a:fillRef idx="3">
            <a:srgbClr val="0070C0"/>
          </a:fillRef>
          <a:effectRef idx="2">
            <a:srgbClr val="0070C0"/>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148" name="TextBox 2"/>
          <p:cNvSpPr txBox="1"/>
          <p:nvPr/>
        </p:nvSpPr>
        <p:spPr>
          <a:xfrm>
            <a:off x="713232" y="480949"/>
            <a:ext cx="9601200" cy="519430"/>
          </a:xfrm>
          <a:prstGeom prst="rect">
            <a:avLst/>
          </a:prstGeom>
          <a:noFill/>
        </p:spPr>
        <p:txBody>
          <a:bodyPr wrap="square" lIns="0" tIns="0" rIns="0" bIns="0" anchor="ctr">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lang="zh-CN" altLang="en-US" sz="2600" b="1" dirty="0">
                <a:solidFill>
                  <a:srgbClr val="1C4274"/>
                </a:solidFill>
                <a:latin typeface="微软雅黑" panose="020B0503020204020204" charset="-122"/>
                <a:ea typeface="微软雅黑" panose="020B0503020204020204" charset="-122"/>
                <a:sym typeface="+mn-ea"/>
              </a:rPr>
              <a:t>明星品种带动下，市场活跃度持续位于高位</a:t>
            </a:r>
            <a:endParaRPr lang="zh-CN" altLang="en-US" sz="2600" b="1">
              <a:solidFill>
                <a:srgbClr val="0070C0"/>
              </a:solidFill>
              <a:latin typeface="微软雅黑" panose="020B0503020204020204" charset="-122"/>
              <a:ea typeface="微软雅黑" panose="020B0503020204020204" charset="-122"/>
              <a:cs typeface="微软雅黑" panose="020B0503020204020204" charset="-122"/>
            </a:endParaRPr>
          </a:p>
        </p:txBody>
      </p:sp>
      <p:sp>
        <p:nvSpPr>
          <p:cNvPr id="149" name="Rectangle 4"/>
          <p:cNvSpPr/>
          <p:nvPr/>
        </p:nvSpPr>
        <p:spPr>
          <a:xfrm>
            <a:off x="502920" y="1005840"/>
            <a:ext cx="2011680" cy="27940"/>
          </a:xfrm>
          <a:prstGeom prst="rect">
            <a:avLst/>
          </a:prstGeom>
          <a:solidFill>
            <a:srgbClr val="54B0E0"/>
          </a:solidFill>
          <a:ln>
            <a:noFill/>
          </a:ln>
          <a:effectLst/>
        </p:spPr>
        <p:style>
          <a:lnRef idx="1">
            <a:srgbClr val="0070C0"/>
          </a:lnRef>
          <a:fillRef idx="3">
            <a:srgbClr val="0070C0"/>
          </a:fillRef>
          <a:effectRef idx="2">
            <a:srgbClr val="0070C0"/>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150" name="Rectangle 5"/>
          <p:cNvSpPr/>
          <p:nvPr/>
        </p:nvSpPr>
        <p:spPr>
          <a:xfrm>
            <a:off x="502920" y="1060704"/>
            <a:ext cx="11183112" cy="11430"/>
          </a:xfrm>
          <a:prstGeom prst="rect">
            <a:avLst/>
          </a:prstGeom>
          <a:solidFill>
            <a:srgbClr val="AED5EB"/>
          </a:solidFill>
          <a:ln>
            <a:noFill/>
          </a:ln>
          <a:effectLst/>
        </p:spPr>
        <p:style>
          <a:lnRef idx="1">
            <a:srgbClr val="0070C0"/>
          </a:lnRef>
          <a:fillRef idx="3">
            <a:srgbClr val="0070C0"/>
          </a:fillRef>
          <a:effectRef idx="2">
            <a:srgbClr val="0070C0"/>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151" name="TextBox 8"/>
          <p:cNvSpPr txBox="1"/>
          <p:nvPr/>
        </p:nvSpPr>
        <p:spPr>
          <a:xfrm>
            <a:off x="502920" y="6455664"/>
            <a:ext cx="7315200" cy="274320"/>
          </a:xfrm>
          <a:prstGeom prst="rect">
            <a:avLst/>
          </a:prstGeom>
          <a:noFill/>
        </p:spPr>
        <p:txBody>
          <a:bodyPr wrap="square" lIns="0" tIns="0" rIns="0" bIns="0" anchor="t">
            <a:spAutoFit/>
          </a:bodyPr>
          <a:lstStyle/>
          <a:p>
            <a:pPr algn="l">
              <a:lnSpc>
                <a:spcPct val="115000"/>
              </a:lnSpc>
              <a:spcAft>
                <a:spcPts val="600"/>
              </a:spcAft>
            </a:pPr>
            <a:r>
              <a:rPr sz="900" b="0">
                <a:solidFill>
                  <a:srgbClr val="1C4274"/>
                </a:solidFill>
                <a:latin typeface="微软雅黑" panose="020B0503020204020204" charset="-122"/>
                <a:ea typeface="微软雅黑" panose="020B0503020204020204" charset="-122"/>
                <a:cs typeface="微软雅黑" panose="020B0503020204020204" charset="-122"/>
              </a:rPr>
              <a:t>近期宏观变化及资产配置 · 2026.09</a:t>
            </a:r>
            <a:endParaRPr sz="900" b="0">
              <a:solidFill>
                <a:srgbClr val="1C4274"/>
              </a:solidFill>
              <a:latin typeface="微软雅黑" panose="020B0503020204020204" charset="-122"/>
              <a:ea typeface="微软雅黑" panose="020B0503020204020204" charset="-122"/>
              <a:cs typeface="微软雅黑" panose="020B0503020204020204" charset="-122"/>
            </a:endParaRPr>
          </a:p>
        </p:txBody>
      </p:sp>
      <p:sp>
        <p:nvSpPr>
          <p:cNvPr id="152" name="TextBox 9"/>
          <p:cNvSpPr txBox="1"/>
          <p:nvPr/>
        </p:nvSpPr>
        <p:spPr>
          <a:xfrm>
            <a:off x="10789920" y="6455664"/>
            <a:ext cx="914400" cy="274320"/>
          </a:xfrm>
          <a:prstGeom prst="rect">
            <a:avLst/>
          </a:prstGeom>
          <a:noFill/>
        </p:spPr>
        <p:txBody>
          <a:bodyPr wrap="square" lIns="0" tIns="0" rIns="0" bIns="0" anchor="t">
            <a:spAutoFit/>
          </a:bodyPr>
          <a:lstStyle/>
          <a:p>
            <a:pPr algn="r">
              <a:lnSpc>
                <a:spcPct val="115000"/>
              </a:lnSpc>
              <a:spcAft>
                <a:spcPts val="600"/>
              </a:spcAft>
            </a:pPr>
            <a:r>
              <a:rPr sz="1000" b="0">
                <a:solidFill>
                  <a:srgbClr val="1C4274"/>
                </a:solidFill>
                <a:latin typeface="微软雅黑" panose="020B0503020204020204" charset="-122"/>
                <a:ea typeface="微软雅黑" panose="020B0503020204020204" charset="-122"/>
                <a:cs typeface="微软雅黑" panose="020B0503020204020204" charset="-122"/>
              </a:rPr>
              <a:t>14</a:t>
            </a:r>
            <a:endParaRPr sz="1000" b="0">
              <a:solidFill>
                <a:srgbClr val="1C4274"/>
              </a:solidFill>
              <a:latin typeface="微软雅黑" panose="020B0503020204020204" charset="-122"/>
              <a:ea typeface="微软雅黑" panose="020B0503020204020204" charset="-122"/>
              <a:cs typeface="微软雅黑" panose="020B0503020204020204" charset="-122"/>
            </a:endParaRPr>
          </a:p>
        </p:txBody>
      </p:sp>
      <p:sp>
        <p:nvSpPr>
          <p:cNvPr id="153" name="矩形 15"/>
          <p:cNvSpPr/>
          <p:nvPr/>
        </p:nvSpPr>
        <p:spPr>
          <a:xfrm>
            <a:off x="7727382" y="2388322"/>
            <a:ext cx="3810931" cy="744050"/>
          </a:xfrm>
          <a:prstGeom prst="rect">
            <a:avLst/>
          </a:prstGeom>
        </p:spPr>
        <p:txBody>
          <a:bodyPr wrap="square">
            <a:spAutoFit/>
          </a:bodyPr>
          <a:lstStyle/>
          <a:p>
            <a:pPr lvl="0" eaLnBrk="1" fontAlgn="auto" hangingPunct="1">
              <a:lnSpc>
                <a:spcPct val="150000"/>
              </a:lnSpc>
              <a:spcBef>
                <a:spcPts val="0"/>
              </a:spcBef>
              <a:spcAft>
                <a:spcPts val="0"/>
              </a:spcAft>
              <a:defRPr/>
            </a:pPr>
            <a:r>
              <a:rPr lang="zh-CN" altLang="en-US" sz="1500" dirty="0">
                <a:solidFill>
                  <a:srgbClr val="1C4274"/>
                </a:solidFill>
                <a:latin typeface="微软雅黑" panose="020B0503020204020204" charset="-122"/>
                <a:ea typeface="微软雅黑" panose="020B0503020204020204" charset="-122"/>
                <a:sym typeface="Noto Sans SC" panose="020B0200000000000000" charset="-122"/>
              </a:rPr>
              <a:t>期货市场成交金额自</a:t>
            </a:r>
            <a:r>
              <a:rPr lang="en-US" altLang="zh-CN" sz="1500" dirty="0">
                <a:solidFill>
                  <a:srgbClr val="1C4274"/>
                </a:solidFill>
                <a:latin typeface="微软雅黑" panose="020B0503020204020204" charset="-122"/>
                <a:ea typeface="微软雅黑" panose="020B0503020204020204" charset="-122"/>
                <a:sym typeface="Noto Sans SC" panose="020B0200000000000000" charset="-122"/>
              </a:rPr>
              <a:t>22</a:t>
            </a:r>
            <a:r>
              <a:rPr lang="zh-CN" altLang="en-US" sz="1500" dirty="0">
                <a:solidFill>
                  <a:srgbClr val="1C4274"/>
                </a:solidFill>
                <a:latin typeface="微软雅黑" panose="020B0503020204020204" charset="-122"/>
                <a:ea typeface="微软雅黑" panose="020B0503020204020204" charset="-122"/>
                <a:sym typeface="Noto Sans SC" panose="020B0200000000000000" charset="-122"/>
              </a:rPr>
              <a:t>年后逐年抬升，市场活跃度稳步上涨；</a:t>
            </a:r>
            <a:endParaRPr lang="en-US" altLang="zh-CN" sz="1500" dirty="0">
              <a:solidFill>
                <a:srgbClr val="1C4274"/>
              </a:solidFill>
              <a:latin typeface="微软雅黑" panose="020B0503020204020204" charset="-122"/>
              <a:ea typeface="微软雅黑" panose="020B0503020204020204" charset="-122"/>
              <a:sym typeface="Noto Sans SC" panose="020B0200000000000000" charset="-122"/>
            </a:endParaRPr>
          </a:p>
        </p:txBody>
      </p:sp>
      <p:pic>
        <p:nvPicPr>
          <p:cNvPr id="154" name="Picture 7"/>
          <p:cNvPicPr>
            <a:picLocks noChangeAspect="1"/>
          </p:cNvPicPr>
          <p:nvPr/>
        </p:nvPicPr>
        <p:blipFill>
          <a:blip>
            <a:duotone>
              <a:srgbClr val="1C4274"/>
              <a:srgbClr val="EAF6FC"/>
            </a:duotone>
            <a:extLst>
              <a:ext uri="{96DAC541-7B7A-43D3-8B79-37D633B846F1}">
                <asvg:svgBlip r:embed="rId2"/>
              </a:ext>
            </a:extLst>
          </a:blip>
          <a:stretch>
            <a:fillRect/>
          </a:stretch>
        </p:blipFill>
        <p:spPr>
          <a:xfrm>
            <a:off x="7371782" y="2480038"/>
            <a:ext cx="355600" cy="355600"/>
          </a:xfrm>
          <a:prstGeom prst="rect">
            <a:avLst/>
          </a:prstGeom>
        </p:spPr>
      </p:pic>
      <p:sp>
        <p:nvSpPr>
          <p:cNvPr id="155" name="矩形 5"/>
          <p:cNvSpPr/>
          <p:nvPr/>
        </p:nvSpPr>
        <p:spPr>
          <a:xfrm>
            <a:off x="7727381" y="3653527"/>
            <a:ext cx="3810931" cy="1090298"/>
          </a:xfrm>
          <a:prstGeom prst="rect">
            <a:avLst/>
          </a:prstGeom>
        </p:spPr>
        <p:txBody>
          <a:bodyPr wrap="square">
            <a:spAutoFit/>
          </a:bodyPr>
          <a:lstStyle/>
          <a:p>
            <a:pPr lvl="0" eaLnBrk="1" fontAlgn="auto" hangingPunct="1">
              <a:lnSpc>
                <a:spcPct val="150000"/>
              </a:lnSpc>
              <a:spcBef>
                <a:spcPts val="0"/>
              </a:spcBef>
              <a:spcAft>
                <a:spcPts val="0"/>
              </a:spcAft>
              <a:defRPr/>
            </a:pPr>
            <a:r>
              <a:rPr lang="en-US" altLang="zh-CN" sz="1500" dirty="0">
                <a:solidFill>
                  <a:srgbClr val="1C4274"/>
                </a:solidFill>
                <a:latin typeface="微软雅黑" panose="020B0503020204020204" charset="-122"/>
                <a:ea typeface="微软雅黑" panose="020B0503020204020204" charset="-122"/>
                <a:sym typeface="Noto Sans SC" panose="020B0200000000000000" charset="-122"/>
              </a:rPr>
              <a:t>25</a:t>
            </a:r>
            <a:r>
              <a:rPr lang="zh-CN" altLang="en-US" sz="1500" dirty="0">
                <a:solidFill>
                  <a:srgbClr val="1C4274"/>
                </a:solidFill>
                <a:latin typeface="微软雅黑" panose="020B0503020204020204" charset="-122"/>
                <a:ea typeface="微软雅黑" panose="020B0503020204020204" charset="-122"/>
                <a:sym typeface="Noto Sans SC" panose="020B0200000000000000" charset="-122"/>
              </a:rPr>
              <a:t>年在黄金、白银等明星贵金属品种带动下，期货市场关注度显著提高，新增资金介入推动行情幅度提升；</a:t>
            </a:r>
            <a:endParaRPr lang="en-US" altLang="zh-CN" sz="1500" dirty="0">
              <a:solidFill>
                <a:srgbClr val="1C4274"/>
              </a:solidFill>
              <a:latin typeface="微软雅黑" panose="020B0503020204020204" charset="-122"/>
              <a:ea typeface="微软雅黑" panose="020B0503020204020204" charset="-122"/>
              <a:sym typeface="Noto Sans SC" panose="020B0200000000000000" charset="-122"/>
            </a:endParaRPr>
          </a:p>
        </p:txBody>
      </p:sp>
      <p:pic>
        <p:nvPicPr>
          <p:cNvPr id="156" name="Picture 10"/>
          <p:cNvPicPr>
            <a:picLocks noChangeAspect="1"/>
          </p:cNvPicPr>
          <p:nvPr/>
        </p:nvPicPr>
        <p:blipFill>
          <a:blip>
            <a:duotone>
              <a:srgbClr val="1C4274"/>
              <a:srgbClr val="EAF6FC"/>
            </a:duotone>
            <a:extLst>
              <a:ext uri="{96DAC541-7B7A-43D3-8B79-37D633B846F1}">
                <asvg:svgBlip r:embed="rId3"/>
              </a:ext>
            </a:extLst>
          </a:blip>
          <a:stretch>
            <a:fillRect/>
          </a:stretch>
        </p:blipFill>
        <p:spPr>
          <a:xfrm>
            <a:off x="7371782" y="3715304"/>
            <a:ext cx="355600" cy="355600"/>
          </a:xfrm>
          <a:prstGeom prst="rect">
            <a:avLst/>
          </a:prstGeom>
        </p:spPr>
      </p:pic>
      <p:grpSp>
        <p:nvGrpSpPr>
          <p:cNvPr id="157" name="组合 9"/>
          <p:cNvGrpSpPr/>
          <p:nvPr/>
        </p:nvGrpSpPr>
        <p:grpSpPr>
          <a:xfrm>
            <a:off x="425450" y="1163320"/>
            <a:ext cx="6918325" cy="5469890"/>
            <a:chOff x="734" y="1653"/>
            <a:chExt cx="11468" cy="9146"/>
          </a:xfrm>
        </p:grpSpPr>
        <p:pic>
          <p:nvPicPr>
            <p:cNvPr id="158" name="图片 10"/>
            <p:cNvPicPr/>
            <p:nvPr/>
          </p:nvPicPr>
          <p:blipFill>
            <a:blip r:embed="rId4">
              <a:duotone>
                <a:srgbClr val="1C4274"/>
                <a:srgbClr val="EAF6FC"/>
              </a:duotone>
            </a:blip>
            <a:stretch>
              <a:fillRect/>
            </a:stretch>
          </p:blipFill>
          <p:spPr>
            <a:xfrm>
              <a:off x="734" y="1653"/>
              <a:ext cx="11468" cy="9147"/>
            </a:xfrm>
            <a:prstGeom prst="rect">
              <a:avLst/>
            </a:prstGeom>
          </p:spPr>
        </p:pic>
        <p:cxnSp>
          <p:nvCxnSpPr>
            <p:cNvPr id="159" name="直接箭头连接符 11"/>
            <p:cNvCxnSpPr/>
            <p:nvPr/>
          </p:nvCxnSpPr>
          <p:spPr>
            <a:xfrm flipV="1">
              <a:off x="6682" y="4102"/>
              <a:ext cx="3825" cy="2400"/>
            </a:xfrm>
            <a:prstGeom prst="straightConnector1">
              <a:avLst/>
            </a:prstGeom>
            <a:ln w="57150">
              <a:gradFill>
                <a:gsLst>
                  <a:gs pos="0">
                    <a:srgbClr val="54B0E0"/>
                  </a:gs>
                  <a:gs pos="100000">
                    <a:srgbClr val="0070C0"/>
                  </a:gs>
                </a:gsLst>
                <a:path path="circle">
                  <a:fillToRect r="100000" b="100000"/>
                </a:path>
                <a:tileRect l="-100000" t="-100000"/>
              </a:gradFill>
              <a:tailEnd type="arrow" w="med" len="med"/>
            </a:ln>
          </p:spPr>
          <p:style>
            <a:lnRef idx="3">
              <a:srgbClr val="0070C0"/>
            </a:lnRef>
            <a:fillRef idx="0">
              <a:srgbClr val="FFFFFF"/>
            </a:fillRef>
            <a:effectRef idx="0">
              <a:srgbClr val="FFFFFF"/>
            </a:effectRef>
            <a:fontRef idx="minor">
              <a:srgbClr val="1C4274"/>
            </a:fontRef>
          </p:style>
        </p:cxnSp>
      </p:grpSp>
      <p:pic>
        <p:nvPicPr>
          <p:cNvPr id="160" name="参考模板浅蓝背景弧线"/>
          <p:cNvPicPr/>
          <p:nvPr/>
        </p:nvPicPr>
        <p:blipFill>
          <a:blip r:embed="rId5">
            <a:duotone>
              <a:srgbClr val="1C4274"/>
              <a:srgbClr val="EAF6FC"/>
            </a:duotone>
          </a:blip>
          <a:stretch>
            <a:fillRect/>
          </a:stretch>
        </p:blipFill>
        <p:spPr>
          <a:xfrm>
            <a:off x="4457700" y="0"/>
            <a:ext cx="3143250" cy="495300"/>
          </a:xfrm>
          <a:prstGeom prst="rect">
            <a:avLst/>
          </a:prstGeom>
          <a:noFill/>
          <a:ln>
            <a:noFill/>
          </a:ln>
        </p:spPr>
      </p:pic>
      <p:pic>
        <p:nvPicPr>
          <p:cNvPr id="161" name="参考模板右上角标识"/>
          <p:cNvPicPr/>
          <p:nvPr/>
        </p:nvPicPr>
        <p:blipFill>
          <a:blip r:embed="rId6">
            <a:duotone>
              <a:srgbClr val="1C4274"/>
              <a:srgbClr val="EAF6FC"/>
            </a:duotone>
          </a:blip>
          <a:stretch>
            <a:fillRect/>
          </a:stretch>
        </p:blipFill>
        <p:spPr>
          <a:xfrm>
            <a:off x="9696450" y="209550"/>
            <a:ext cx="1733550" cy="390525"/>
          </a:xfrm>
          <a:prstGeom prst="rect">
            <a:avLst/>
          </a:prstGeom>
          <a:noFill/>
          <a:ln>
            <a:noFill/>
          </a:ln>
        </p:spPr>
      </p:pic>
    </p:spTree>
  </p:cSld>
  <p:clrMapOvr>
    <a:masterClrMapping/>
  </p:clrMapOvr>
</p:sld>
</file>

<file path=ppt/slides/slide20.xml><?xml version="1.0" encoding="utf-8"?>
<p:sld xmlns:p="http://schemas.openxmlformats.org/presentationml/2006/main" xmlns:r="http://schemas.openxmlformats.org/officeDocument/2006/relationships" xmlns:a="http://schemas.openxmlformats.org/drawingml/2006/main" xmlns:asvg="http://schemas.microsoft.com/office/drawing/2016/SVG/main" xmlns:mc="http://schemas.openxmlformats.org/markup-compatibility/2006" mc:Ignorable="asvg">
  <p:cSld>
    <p:spTree>
      <p:nvGrpSpPr>
        <p:cNvPr id="181" name=""/>
        <p:cNvGrpSpPr/>
        <p:nvPr/>
      </p:nvGrpSpPr>
      <p:grpSpPr>
        <a:xfrm>
          <a:off x="0" y="0"/>
          <a:ext cx="0" cy="0"/>
          <a:chOff x="0" y="0"/>
          <a:chExt cx="0" cy="0"/>
        </a:xfrm>
      </p:grpSpPr>
      <p:sp>
        <p:nvSpPr>
          <p:cNvPr id="182" name="Rectangle 1"/>
          <p:cNvSpPr/>
          <p:nvPr/>
        </p:nvSpPr>
        <p:spPr>
          <a:xfrm>
            <a:off x="502920" y="457200"/>
            <a:ext cx="82296" cy="566928"/>
          </a:xfrm>
          <a:prstGeom prst="rect">
            <a:avLst/>
          </a:prstGeom>
          <a:solidFill>
            <a:srgbClr val="0070C0"/>
          </a:solidFill>
          <a:ln>
            <a:noFill/>
          </a:ln>
          <a:effectLst/>
        </p:spPr>
        <p:style>
          <a:lnRef idx="1">
            <a:srgbClr val="0070C0"/>
          </a:lnRef>
          <a:fillRef idx="3">
            <a:srgbClr val="0070C0"/>
          </a:fillRef>
          <a:effectRef idx="2">
            <a:srgbClr val="0070C0"/>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183" name="TextBox 2"/>
          <p:cNvSpPr txBox="1"/>
          <p:nvPr/>
        </p:nvSpPr>
        <p:spPr>
          <a:xfrm>
            <a:off x="713232" y="480949"/>
            <a:ext cx="9601200" cy="519430"/>
          </a:xfrm>
          <a:prstGeom prst="rect">
            <a:avLst/>
          </a:prstGeom>
          <a:noFill/>
        </p:spPr>
        <p:txBody>
          <a:bodyPr wrap="square" lIns="0" tIns="0" rIns="0" bIns="0" anchor="ctr">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lang="zh-CN" altLang="en-US" sz="2600" b="1" dirty="0">
                <a:solidFill>
                  <a:srgbClr val="1C4274"/>
                </a:solidFill>
                <a:latin typeface="微软雅黑" panose="020B0503020204020204" charset="-122"/>
                <a:ea typeface="微软雅黑" panose="020B0503020204020204" charset="-122"/>
                <a:sym typeface="+mn-ea"/>
              </a:rPr>
              <a:t>市场波动率脱离底部，</a:t>
            </a:r>
            <a:r>
              <a:rPr lang="en-US" altLang="zh-CN" sz="2600" b="1" dirty="0">
                <a:solidFill>
                  <a:srgbClr val="1C4274"/>
                </a:solidFill>
                <a:latin typeface="微软雅黑" panose="020B0503020204020204" charset="-122"/>
                <a:ea typeface="微软雅黑" panose="020B0503020204020204" charset="-122"/>
                <a:sym typeface="+mn-ea"/>
              </a:rPr>
              <a:t>CTA</a:t>
            </a:r>
            <a:r>
              <a:rPr lang="zh-CN" altLang="en-US" sz="2600" b="1" dirty="0">
                <a:solidFill>
                  <a:srgbClr val="1C4274"/>
                </a:solidFill>
                <a:latin typeface="微软雅黑" panose="020B0503020204020204" charset="-122"/>
                <a:ea typeface="微软雅黑" panose="020B0503020204020204" charset="-122"/>
                <a:sym typeface="+mn-ea"/>
              </a:rPr>
              <a:t>策略运行环境改善</a:t>
            </a:r>
            <a:endParaRPr lang="zh-CN" altLang="en-US" sz="2600" b="1">
              <a:solidFill>
                <a:srgbClr val="0070C0"/>
              </a:solidFill>
              <a:latin typeface="微软雅黑" panose="020B0503020204020204" charset="-122"/>
              <a:ea typeface="微软雅黑" panose="020B0503020204020204" charset="-122"/>
              <a:cs typeface="微软雅黑" panose="020B0503020204020204" charset="-122"/>
            </a:endParaRPr>
          </a:p>
        </p:txBody>
      </p:sp>
      <p:sp>
        <p:nvSpPr>
          <p:cNvPr id="184" name="Rectangle 4"/>
          <p:cNvSpPr/>
          <p:nvPr/>
        </p:nvSpPr>
        <p:spPr>
          <a:xfrm>
            <a:off x="502920" y="1005840"/>
            <a:ext cx="2011680" cy="27940"/>
          </a:xfrm>
          <a:prstGeom prst="rect">
            <a:avLst/>
          </a:prstGeom>
          <a:solidFill>
            <a:srgbClr val="54B0E0"/>
          </a:solidFill>
          <a:ln>
            <a:noFill/>
          </a:ln>
          <a:effectLst/>
        </p:spPr>
        <p:style>
          <a:lnRef idx="1">
            <a:srgbClr val="0070C0"/>
          </a:lnRef>
          <a:fillRef idx="3">
            <a:srgbClr val="0070C0"/>
          </a:fillRef>
          <a:effectRef idx="2">
            <a:srgbClr val="0070C0"/>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185" name="Rectangle 5"/>
          <p:cNvSpPr/>
          <p:nvPr/>
        </p:nvSpPr>
        <p:spPr>
          <a:xfrm>
            <a:off x="502920" y="1060704"/>
            <a:ext cx="11183112" cy="11430"/>
          </a:xfrm>
          <a:prstGeom prst="rect">
            <a:avLst/>
          </a:prstGeom>
          <a:solidFill>
            <a:srgbClr val="AED5EB"/>
          </a:solidFill>
          <a:ln>
            <a:noFill/>
          </a:ln>
          <a:effectLst/>
        </p:spPr>
        <p:style>
          <a:lnRef idx="1">
            <a:srgbClr val="0070C0"/>
          </a:lnRef>
          <a:fillRef idx="3">
            <a:srgbClr val="0070C0"/>
          </a:fillRef>
          <a:effectRef idx="2">
            <a:srgbClr val="0070C0"/>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186" name="TextBox 8"/>
          <p:cNvSpPr txBox="1"/>
          <p:nvPr/>
        </p:nvSpPr>
        <p:spPr>
          <a:xfrm>
            <a:off x="502920" y="6455664"/>
            <a:ext cx="7315200" cy="274320"/>
          </a:xfrm>
          <a:prstGeom prst="rect">
            <a:avLst/>
          </a:prstGeom>
          <a:noFill/>
        </p:spPr>
        <p:txBody>
          <a:bodyPr wrap="square" lIns="0" tIns="0" rIns="0" bIns="0" anchor="t">
            <a:spAutoFit/>
          </a:bodyPr>
          <a:lstStyle/>
          <a:p>
            <a:pPr algn="l">
              <a:lnSpc>
                <a:spcPct val="115000"/>
              </a:lnSpc>
              <a:spcAft>
                <a:spcPts val="600"/>
              </a:spcAft>
            </a:pPr>
            <a:r>
              <a:rPr sz="900" b="0">
                <a:solidFill>
                  <a:srgbClr val="1C4274"/>
                </a:solidFill>
                <a:latin typeface="微软雅黑" panose="020B0503020204020204" charset="-122"/>
                <a:ea typeface="微软雅黑" panose="020B0503020204020204" charset="-122"/>
                <a:cs typeface="微软雅黑" panose="020B0503020204020204" charset="-122"/>
              </a:rPr>
              <a:t>近期宏观变化及资产配置 · 2026.09</a:t>
            </a:r>
            <a:endParaRPr sz="900" b="0">
              <a:solidFill>
                <a:srgbClr val="1C4274"/>
              </a:solidFill>
              <a:latin typeface="微软雅黑" panose="020B0503020204020204" charset="-122"/>
              <a:ea typeface="微软雅黑" panose="020B0503020204020204" charset="-122"/>
              <a:cs typeface="微软雅黑" panose="020B0503020204020204" charset="-122"/>
            </a:endParaRPr>
          </a:p>
        </p:txBody>
      </p:sp>
      <p:sp>
        <p:nvSpPr>
          <p:cNvPr id="187" name="TextBox 9"/>
          <p:cNvSpPr txBox="1"/>
          <p:nvPr/>
        </p:nvSpPr>
        <p:spPr>
          <a:xfrm>
            <a:off x="10789920" y="6455664"/>
            <a:ext cx="914400" cy="274320"/>
          </a:xfrm>
          <a:prstGeom prst="rect">
            <a:avLst/>
          </a:prstGeom>
          <a:noFill/>
        </p:spPr>
        <p:txBody>
          <a:bodyPr wrap="square" lIns="0" tIns="0" rIns="0" bIns="0" anchor="t">
            <a:spAutoFit/>
          </a:bodyPr>
          <a:lstStyle/>
          <a:p>
            <a:pPr algn="r">
              <a:lnSpc>
                <a:spcPct val="115000"/>
              </a:lnSpc>
              <a:spcAft>
                <a:spcPts val="600"/>
              </a:spcAft>
            </a:pPr>
            <a:r>
              <a:rPr sz="1000" b="0">
                <a:solidFill>
                  <a:srgbClr val="1C4274"/>
                </a:solidFill>
                <a:latin typeface="微软雅黑" panose="020B0503020204020204" charset="-122"/>
                <a:ea typeface="微软雅黑" panose="020B0503020204020204" charset="-122"/>
                <a:cs typeface="微软雅黑" panose="020B0503020204020204" charset="-122"/>
              </a:rPr>
              <a:t>14</a:t>
            </a:r>
            <a:endParaRPr sz="1000" b="0">
              <a:solidFill>
                <a:srgbClr val="1C4274"/>
              </a:solidFill>
              <a:latin typeface="微软雅黑" panose="020B0503020204020204" charset="-122"/>
              <a:ea typeface="微软雅黑" panose="020B0503020204020204" charset="-122"/>
              <a:cs typeface="微软雅黑" panose="020B0503020204020204" charset="-122"/>
            </a:endParaRPr>
          </a:p>
        </p:txBody>
      </p:sp>
      <p:pic>
        <p:nvPicPr>
          <p:cNvPr id="188" name="图片 5"/>
          <p:cNvPicPr/>
          <p:nvPr/>
        </p:nvPicPr>
        <p:blipFill>
          <a:blip r:embed="rId2">
            <a:duotone>
              <a:srgbClr val="1C4274"/>
              <a:srgbClr val="EAF6FC"/>
            </a:duotone>
          </a:blip>
          <a:stretch>
            <a:fillRect/>
          </a:stretch>
        </p:blipFill>
        <p:spPr>
          <a:xfrm>
            <a:off x="532130" y="1098550"/>
            <a:ext cx="7285990" cy="5495925"/>
          </a:xfrm>
          <a:prstGeom prst="rect">
            <a:avLst/>
          </a:prstGeom>
        </p:spPr>
      </p:pic>
      <p:sp>
        <p:nvSpPr>
          <p:cNvPr id="189" name="矩形 15"/>
          <p:cNvSpPr/>
          <p:nvPr/>
        </p:nvSpPr>
        <p:spPr>
          <a:xfrm>
            <a:off x="8180772" y="2913467"/>
            <a:ext cx="3810931" cy="744050"/>
          </a:xfrm>
          <a:prstGeom prst="rect">
            <a:avLst/>
          </a:prstGeom>
        </p:spPr>
        <p:txBody>
          <a:bodyPr wrap="square">
            <a:spAutoFit/>
          </a:bodyPr>
          <a:lstStyle/>
          <a:p>
            <a:pPr lvl="0" eaLnBrk="1" fontAlgn="auto" hangingPunct="1">
              <a:lnSpc>
                <a:spcPct val="150000"/>
              </a:lnSpc>
              <a:spcBef>
                <a:spcPts val="0"/>
              </a:spcBef>
              <a:spcAft>
                <a:spcPts val="0"/>
              </a:spcAft>
              <a:defRPr/>
            </a:pPr>
            <a:r>
              <a:rPr lang="zh-CN" altLang="en-US" sz="1500" dirty="0">
                <a:solidFill>
                  <a:srgbClr val="1C4274"/>
                </a:solidFill>
                <a:latin typeface="微软雅黑" panose="020B0503020204020204" charset="-122"/>
                <a:ea typeface="微软雅黑" panose="020B0503020204020204" charset="-122"/>
                <a:sym typeface="Noto Sans SC" panose="020B0200000000000000" charset="-122"/>
              </a:rPr>
              <a:t>期货市场成交金额自</a:t>
            </a:r>
            <a:r>
              <a:rPr lang="en-US" altLang="zh-CN" sz="1500" dirty="0">
                <a:solidFill>
                  <a:srgbClr val="1C4274"/>
                </a:solidFill>
                <a:latin typeface="微软雅黑" panose="020B0503020204020204" charset="-122"/>
                <a:ea typeface="微软雅黑" panose="020B0503020204020204" charset="-122"/>
                <a:sym typeface="Noto Sans SC" panose="020B0200000000000000" charset="-122"/>
              </a:rPr>
              <a:t>22</a:t>
            </a:r>
            <a:r>
              <a:rPr lang="zh-CN" altLang="en-US" sz="1500" dirty="0">
                <a:solidFill>
                  <a:srgbClr val="1C4274"/>
                </a:solidFill>
                <a:latin typeface="微软雅黑" panose="020B0503020204020204" charset="-122"/>
                <a:ea typeface="微软雅黑" panose="020B0503020204020204" charset="-122"/>
                <a:sym typeface="Noto Sans SC" panose="020B0200000000000000" charset="-122"/>
              </a:rPr>
              <a:t>年后逐年抬升，市场活跃度稳步上涨；</a:t>
            </a:r>
            <a:endParaRPr lang="en-US" altLang="zh-CN" sz="1500" dirty="0">
              <a:solidFill>
                <a:srgbClr val="1C4274"/>
              </a:solidFill>
              <a:latin typeface="微软雅黑" panose="020B0503020204020204" charset="-122"/>
              <a:ea typeface="微软雅黑" panose="020B0503020204020204" charset="-122"/>
              <a:sym typeface="Noto Sans SC" panose="020B0200000000000000" charset="-122"/>
            </a:endParaRPr>
          </a:p>
        </p:txBody>
      </p:sp>
      <p:pic>
        <p:nvPicPr>
          <p:cNvPr id="190" name="Picture 7"/>
          <p:cNvPicPr>
            <a:picLocks noChangeAspect="1"/>
          </p:cNvPicPr>
          <p:nvPr/>
        </p:nvPicPr>
        <p:blipFill>
          <a:blip>
            <a:duotone>
              <a:srgbClr val="1C4274"/>
              <a:srgbClr val="EAF6FC"/>
            </a:duotone>
            <a:extLst>
              <a:ext uri="{96DAC541-7B7A-43D3-8B79-37D633B846F1}">
                <asvg:svgBlip r:embed="rId3"/>
              </a:ext>
            </a:extLst>
          </a:blip>
          <a:stretch>
            <a:fillRect/>
          </a:stretch>
        </p:blipFill>
        <p:spPr>
          <a:xfrm>
            <a:off x="7825172" y="3005183"/>
            <a:ext cx="355600" cy="355600"/>
          </a:xfrm>
          <a:prstGeom prst="rect">
            <a:avLst/>
          </a:prstGeom>
        </p:spPr>
      </p:pic>
      <p:sp>
        <p:nvSpPr>
          <p:cNvPr id="191" name="矩形 8"/>
          <p:cNvSpPr/>
          <p:nvPr/>
        </p:nvSpPr>
        <p:spPr>
          <a:xfrm>
            <a:off x="8180771" y="4178672"/>
            <a:ext cx="3810931" cy="783590"/>
          </a:xfrm>
          <a:prstGeom prst="rect">
            <a:avLst/>
          </a:prstGeom>
        </p:spPr>
        <p:txBody>
          <a:bodyPr wrap="square">
            <a:spAutoFit/>
          </a:bodyPr>
          <a:lstStyle/>
          <a:p>
            <a:pPr lvl="0" eaLnBrk="1" fontAlgn="auto" hangingPunct="1">
              <a:lnSpc>
                <a:spcPct val="150000"/>
              </a:lnSpc>
              <a:spcBef>
                <a:spcPts val="0"/>
              </a:spcBef>
              <a:spcAft>
                <a:spcPts val="0"/>
              </a:spcAft>
              <a:defRPr/>
            </a:pPr>
            <a:r>
              <a:rPr lang="zh-CN" altLang="en-US" sz="1500" dirty="0">
                <a:solidFill>
                  <a:srgbClr val="1C4274"/>
                </a:solidFill>
                <a:latin typeface="微软雅黑" panose="020B0503020204020204" charset="-122"/>
                <a:ea typeface="微软雅黑" panose="020B0503020204020204" charset="-122"/>
                <a:sym typeface="Noto Sans SC" panose="020B0200000000000000" charset="-122"/>
              </a:rPr>
              <a:t>市场波动率自</a:t>
            </a:r>
            <a:r>
              <a:rPr lang="en-US" altLang="zh-CN" sz="1500" dirty="0">
                <a:solidFill>
                  <a:srgbClr val="1C4274"/>
                </a:solidFill>
                <a:latin typeface="微软雅黑" panose="020B0503020204020204" charset="-122"/>
                <a:ea typeface="微软雅黑" panose="020B0503020204020204" charset="-122"/>
                <a:sym typeface="Noto Sans SC" panose="020B0200000000000000" charset="-122"/>
              </a:rPr>
              <a:t>2024</a:t>
            </a:r>
            <a:r>
              <a:rPr lang="zh-CN" altLang="en-US" sz="1500" dirty="0">
                <a:solidFill>
                  <a:srgbClr val="1C4274"/>
                </a:solidFill>
                <a:latin typeface="微软雅黑" panose="020B0503020204020204" charset="-122"/>
                <a:ea typeface="微软雅黑" panose="020B0503020204020204" charset="-122"/>
                <a:sym typeface="Noto Sans SC" panose="020B0200000000000000" charset="-122"/>
              </a:rPr>
              <a:t>年后逐步恢复，</a:t>
            </a:r>
            <a:r>
              <a:rPr lang="en-US" altLang="zh-CN" sz="1500" dirty="0">
                <a:solidFill>
                  <a:srgbClr val="1C4274"/>
                </a:solidFill>
                <a:latin typeface="微软雅黑" panose="020B0503020204020204" charset="-122"/>
                <a:ea typeface="微软雅黑" panose="020B0503020204020204" charset="-122"/>
                <a:sym typeface="Noto Sans SC" panose="020B0200000000000000" charset="-122"/>
              </a:rPr>
              <a:t>25</a:t>
            </a:r>
            <a:r>
              <a:rPr lang="zh-CN" altLang="en-US" sz="1500" dirty="0">
                <a:solidFill>
                  <a:srgbClr val="1C4274"/>
                </a:solidFill>
                <a:latin typeface="微软雅黑" panose="020B0503020204020204" charset="-122"/>
                <a:ea typeface="微软雅黑" panose="020B0503020204020204" charset="-122"/>
                <a:sym typeface="Noto Sans SC" panose="020B0200000000000000" charset="-122"/>
              </a:rPr>
              <a:t>、</a:t>
            </a:r>
            <a:r>
              <a:rPr lang="en-US" altLang="zh-CN" sz="1500" dirty="0">
                <a:solidFill>
                  <a:srgbClr val="1C4274"/>
                </a:solidFill>
                <a:latin typeface="微软雅黑" panose="020B0503020204020204" charset="-122"/>
                <a:ea typeface="微软雅黑" panose="020B0503020204020204" charset="-122"/>
                <a:sym typeface="Noto Sans SC" panose="020B0200000000000000" charset="-122"/>
              </a:rPr>
              <a:t>26</a:t>
            </a:r>
            <a:r>
              <a:rPr lang="zh-CN" altLang="en-US" sz="1500" dirty="0">
                <a:solidFill>
                  <a:srgbClr val="1C4274"/>
                </a:solidFill>
                <a:latin typeface="微软雅黑" panose="020B0503020204020204" charset="-122"/>
                <a:ea typeface="微软雅黑" panose="020B0503020204020204" charset="-122"/>
                <a:sym typeface="Noto Sans SC" panose="020B0200000000000000" charset="-122"/>
              </a:rPr>
              <a:t>年波动率显著提升；</a:t>
            </a:r>
            <a:endParaRPr lang="zh-CN" altLang="en-US" sz="1500" dirty="0">
              <a:solidFill>
                <a:srgbClr val="1C4274"/>
              </a:solidFill>
              <a:latin typeface="微软雅黑" panose="020B0503020204020204" charset="-122"/>
              <a:ea typeface="微软雅黑" panose="020B0503020204020204" charset="-122"/>
              <a:sym typeface="Noto Sans SC" panose="020B0200000000000000" charset="-122"/>
            </a:endParaRPr>
          </a:p>
        </p:txBody>
      </p:sp>
      <p:pic>
        <p:nvPicPr>
          <p:cNvPr id="192" name="Picture 10"/>
          <p:cNvPicPr>
            <a:picLocks noChangeAspect="1"/>
          </p:cNvPicPr>
          <p:nvPr/>
        </p:nvPicPr>
        <p:blipFill>
          <a:blip>
            <a:duotone>
              <a:srgbClr val="1C4274"/>
              <a:srgbClr val="EAF6FC"/>
            </a:duotone>
            <a:extLst>
              <a:ext uri="{96DAC541-7B7A-43D3-8B79-37D633B846F1}">
                <asvg:svgBlip r:embed="rId4"/>
              </a:ext>
            </a:extLst>
          </a:blip>
          <a:stretch>
            <a:fillRect/>
          </a:stretch>
        </p:blipFill>
        <p:spPr>
          <a:xfrm>
            <a:off x="7825172" y="4240449"/>
            <a:ext cx="355600" cy="355600"/>
          </a:xfrm>
          <a:prstGeom prst="rect">
            <a:avLst/>
          </a:prstGeom>
        </p:spPr>
      </p:pic>
      <p:pic>
        <p:nvPicPr>
          <p:cNvPr id="193" name="参考模板浅蓝背景弧线"/>
          <p:cNvPicPr/>
          <p:nvPr/>
        </p:nvPicPr>
        <p:blipFill>
          <a:blip r:embed="rId5">
            <a:duotone>
              <a:srgbClr val="1C4274"/>
              <a:srgbClr val="EAF6FC"/>
            </a:duotone>
          </a:blip>
          <a:stretch>
            <a:fillRect/>
          </a:stretch>
        </p:blipFill>
        <p:spPr>
          <a:xfrm>
            <a:off x="4457700" y="0"/>
            <a:ext cx="3143250" cy="495300"/>
          </a:xfrm>
          <a:prstGeom prst="rect">
            <a:avLst/>
          </a:prstGeom>
          <a:noFill/>
          <a:ln>
            <a:noFill/>
          </a:ln>
        </p:spPr>
      </p:pic>
      <p:pic>
        <p:nvPicPr>
          <p:cNvPr id="194" name="参考模板右上角标识"/>
          <p:cNvPicPr/>
          <p:nvPr/>
        </p:nvPicPr>
        <p:blipFill>
          <a:blip r:embed="rId6">
            <a:duotone>
              <a:srgbClr val="1C4274"/>
              <a:srgbClr val="EAF6FC"/>
            </a:duotone>
          </a:blip>
          <a:stretch>
            <a:fillRect/>
          </a:stretch>
        </p:blipFill>
        <p:spPr>
          <a:xfrm>
            <a:off x="9696450" y="209550"/>
            <a:ext cx="1733550" cy="390525"/>
          </a:xfrm>
          <a:prstGeom prst="rect">
            <a:avLst/>
          </a:prstGeom>
          <a:noFill/>
          <a:ln>
            <a:noFill/>
          </a:ln>
        </p:spPr>
      </p:pic>
    </p:spTree>
  </p:cSld>
  <p:clrMapOvr>
    <a:masterClrMapping/>
  </p:clrMapOvr>
</p:sld>
</file>

<file path=ppt/slides/slide21.xml><?xml version="1.0" encoding="utf-8"?>
<p:sld xmlns:p="http://schemas.openxmlformats.org/presentationml/2006/main" xmlns:r="http://schemas.openxmlformats.org/officeDocument/2006/relationships" xmlns:a="http://schemas.openxmlformats.org/drawingml/2006/main">
  <p:cSld>
    <p:spTree>
      <p:nvGrpSpPr>
        <p:cNvPr id="193" name=""/>
        <p:cNvGrpSpPr/>
        <p:nvPr/>
      </p:nvGrpSpPr>
      <p:grpSpPr>
        <a:xfrm>
          <a:off x="0" y="0"/>
          <a:ext cx="0" cy="0"/>
          <a:chOff x="0" y="0"/>
          <a:chExt cx="0" cy="0"/>
        </a:xfrm>
      </p:grpSpPr>
      <p:sp>
        <p:nvSpPr>
          <p:cNvPr id="194" name="Rectangle 1"/>
          <p:cNvSpPr/>
          <p:nvPr/>
        </p:nvSpPr>
        <p:spPr>
          <a:xfrm>
            <a:off x="502920" y="457200"/>
            <a:ext cx="82296" cy="566928"/>
          </a:xfrm>
          <a:prstGeom prst="rect">
            <a:avLst/>
          </a:prstGeom>
          <a:solidFill>
            <a:srgbClr val="0070C0"/>
          </a:solidFill>
          <a:ln>
            <a:noFill/>
          </a:ln>
          <a:effectLst/>
        </p:spPr>
        <p:style>
          <a:lnRef idx="1">
            <a:srgbClr val="0070C0"/>
          </a:lnRef>
          <a:fillRef idx="3">
            <a:srgbClr val="0070C0"/>
          </a:fillRef>
          <a:effectRef idx="2">
            <a:srgbClr val="0070C0"/>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195" name="TextBox 2"/>
          <p:cNvSpPr txBox="1"/>
          <p:nvPr/>
        </p:nvSpPr>
        <p:spPr>
          <a:xfrm>
            <a:off x="713232" y="510794"/>
            <a:ext cx="9601200" cy="459740"/>
          </a:xfrm>
          <a:prstGeom prst="rect">
            <a:avLst/>
          </a:prstGeom>
          <a:noFill/>
        </p:spPr>
        <p:txBody>
          <a:bodyPr wrap="square" lIns="0" tIns="0" rIns="0" bIns="0" anchor="ctr">
            <a:spAutoFit/>
          </a:bodyPr>
          <a:lstStyle/>
          <a:p>
            <a:pPr algn="l">
              <a:lnSpc>
                <a:spcPct val="115000"/>
              </a:lnSpc>
              <a:spcAft>
                <a:spcPts val="600"/>
              </a:spcAft>
            </a:pPr>
            <a:r>
              <a:rPr sz="2600" b="1">
                <a:solidFill>
                  <a:srgbClr val="0070C0"/>
                </a:solidFill>
                <a:latin typeface="微软雅黑" panose="020B0503020204020204" charset="-122"/>
                <a:ea typeface="微软雅黑" panose="020B0503020204020204" charset="-122"/>
                <a:cs typeface="微软雅黑" panose="020B0503020204020204" charset="-122"/>
              </a:rPr>
              <a:t>大类资产配置比例 · </a:t>
            </a:r>
            <a:r>
              <a:rPr lang="zh-CN" sz="2600" b="1">
                <a:solidFill>
                  <a:srgbClr val="0070C0"/>
                </a:solidFill>
                <a:latin typeface="微软雅黑" panose="020B0503020204020204" charset="-122"/>
                <a:ea typeface="微软雅黑" panose="020B0503020204020204" charset="-122"/>
                <a:cs typeface="微软雅黑" panose="020B0503020204020204" charset="-122"/>
              </a:rPr>
              <a:t>磐岳</a:t>
            </a:r>
            <a:r>
              <a:rPr sz="2600" b="1">
                <a:solidFill>
                  <a:srgbClr val="0070C0"/>
                </a:solidFill>
                <a:latin typeface="微软雅黑" panose="020B0503020204020204" charset="-122"/>
                <a:ea typeface="微软雅黑" panose="020B0503020204020204" charset="-122"/>
                <a:cs typeface="微软雅黑" panose="020B0503020204020204" charset="-122"/>
              </a:rPr>
              <a:t>业绩展示</a:t>
            </a:r>
            <a:endParaRPr sz="2600" b="1">
              <a:solidFill>
                <a:srgbClr val="0070C0"/>
              </a:solidFill>
              <a:latin typeface="微软雅黑" panose="020B0503020204020204" charset="-122"/>
              <a:ea typeface="微软雅黑" panose="020B0503020204020204" charset="-122"/>
              <a:cs typeface="微软雅黑" panose="020B0503020204020204" charset="-122"/>
            </a:endParaRPr>
          </a:p>
        </p:txBody>
      </p:sp>
      <p:sp>
        <p:nvSpPr>
          <p:cNvPr id="196" name="TextBox 3"/>
          <p:cNvSpPr txBox="1"/>
          <p:nvPr/>
        </p:nvSpPr>
        <p:spPr>
          <a:xfrm>
            <a:off x="713232" y="1042415"/>
            <a:ext cx="10515600" cy="193675"/>
          </a:xfrm>
          <a:prstGeom prst="rect">
            <a:avLst/>
          </a:prstGeom>
          <a:noFill/>
        </p:spPr>
        <p:txBody>
          <a:bodyPr wrap="square" lIns="0" tIns="0" rIns="0" bIns="0" anchor="t">
            <a:spAutoFit/>
          </a:bodyPr>
          <a:lstStyle/>
          <a:p>
            <a:pPr algn="l">
              <a:lnSpc>
                <a:spcPct val="115000"/>
              </a:lnSpc>
              <a:spcAft>
                <a:spcPts val="600"/>
              </a:spcAft>
            </a:pPr>
            <a:r>
              <a:rPr sz="1100" b="0">
                <a:solidFill>
                  <a:srgbClr val="1C4274"/>
                </a:solidFill>
                <a:latin typeface="微软雅黑" panose="020B0503020204020204" charset="-122"/>
                <a:ea typeface="微软雅黑" panose="020B0503020204020204" charset="-122"/>
                <a:cs typeface="微软雅黑" panose="020B0503020204020204" charset="-122"/>
              </a:rPr>
              <a:t>曲线展示区间 资金规模 5000 万  ·  【待更新至 9/8】</a:t>
            </a:r>
            <a:endParaRPr sz="1100" b="0">
              <a:solidFill>
                <a:srgbClr val="1C4274"/>
              </a:solidFill>
              <a:latin typeface="微软雅黑" panose="020B0503020204020204" charset="-122"/>
              <a:ea typeface="微软雅黑" panose="020B0503020204020204" charset="-122"/>
              <a:cs typeface="微软雅黑" panose="020B0503020204020204" charset="-122"/>
            </a:endParaRPr>
          </a:p>
        </p:txBody>
      </p:sp>
      <p:sp>
        <p:nvSpPr>
          <p:cNvPr id="197" name="Rectangle 4"/>
          <p:cNvSpPr/>
          <p:nvPr/>
        </p:nvSpPr>
        <p:spPr>
          <a:xfrm>
            <a:off x="502920" y="1005840"/>
            <a:ext cx="2011680" cy="27940"/>
          </a:xfrm>
          <a:prstGeom prst="rect">
            <a:avLst/>
          </a:prstGeom>
          <a:solidFill>
            <a:srgbClr val="54B0E0"/>
          </a:solidFill>
          <a:ln>
            <a:noFill/>
          </a:ln>
          <a:effectLst/>
        </p:spPr>
        <p:style>
          <a:lnRef idx="1">
            <a:srgbClr val="0070C0"/>
          </a:lnRef>
          <a:fillRef idx="3">
            <a:srgbClr val="0070C0"/>
          </a:fillRef>
          <a:effectRef idx="2">
            <a:srgbClr val="0070C0"/>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198" name="Rectangle 5"/>
          <p:cNvSpPr/>
          <p:nvPr/>
        </p:nvSpPr>
        <p:spPr>
          <a:xfrm>
            <a:off x="502920" y="1060704"/>
            <a:ext cx="11183112" cy="11430"/>
          </a:xfrm>
          <a:prstGeom prst="rect">
            <a:avLst/>
          </a:prstGeom>
          <a:solidFill>
            <a:srgbClr val="AED5EB"/>
          </a:solidFill>
          <a:ln>
            <a:noFill/>
          </a:ln>
          <a:effectLst/>
        </p:spPr>
        <p:style>
          <a:lnRef idx="1">
            <a:srgbClr val="0070C0"/>
          </a:lnRef>
          <a:fillRef idx="3">
            <a:srgbClr val="0070C0"/>
          </a:fillRef>
          <a:effectRef idx="2">
            <a:srgbClr val="0070C0"/>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199" name="TextBox 6"/>
          <p:cNvSpPr txBox="1"/>
          <p:nvPr/>
        </p:nvSpPr>
        <p:spPr>
          <a:xfrm>
            <a:off x="502920" y="1645920"/>
            <a:ext cx="5394960" cy="457200"/>
          </a:xfrm>
          <a:prstGeom prst="rect">
            <a:avLst/>
          </a:prstGeom>
          <a:noFill/>
        </p:spPr>
        <p:txBody>
          <a:bodyPr wrap="square" lIns="0" tIns="0" rIns="0" bIns="0" anchor="t">
            <a:spAutoFit/>
          </a:bodyPr>
          <a:lstStyle/>
          <a:p>
            <a:pPr algn="l">
              <a:lnSpc>
                <a:spcPct val="115000"/>
              </a:lnSpc>
              <a:spcAft>
                <a:spcPts val="600"/>
              </a:spcAft>
            </a:pPr>
            <a:r>
              <a:rPr sz="1500" b="1">
                <a:solidFill>
                  <a:srgbClr val="0070C0"/>
                </a:solidFill>
                <a:latin typeface="微软雅黑" panose="020B0503020204020204" charset="-122"/>
                <a:ea typeface="微软雅黑" panose="020B0503020204020204" charset="-122"/>
                <a:cs typeface="微软雅黑" panose="020B0503020204020204" charset="-122"/>
              </a:rPr>
              <a:t>组合配置比例</a:t>
            </a:r>
            <a:endParaRPr sz="1500" b="1">
              <a:solidFill>
                <a:srgbClr val="0070C0"/>
              </a:solidFill>
              <a:latin typeface="微软雅黑" panose="020B0503020204020204" charset="-122"/>
              <a:ea typeface="微软雅黑" panose="020B0503020204020204" charset="-122"/>
              <a:cs typeface="微软雅黑" panose="020B0503020204020204" charset="-122"/>
            </a:endParaRPr>
          </a:p>
        </p:txBody>
      </p:sp>
      <p:sp>
        <p:nvSpPr>
          <p:cNvPr id="200" name="Rectangle 7"/>
          <p:cNvSpPr/>
          <p:nvPr/>
        </p:nvSpPr>
        <p:spPr>
          <a:xfrm>
            <a:off x="502920" y="2148840"/>
            <a:ext cx="3887470" cy="457200"/>
          </a:xfrm>
          <a:prstGeom prst="rect">
            <a:avLst/>
          </a:prstGeom>
          <a:solidFill>
            <a:srgbClr val="0070C0"/>
          </a:solidFill>
          <a:ln>
            <a:noFill/>
          </a:ln>
          <a:effectLst/>
        </p:spPr>
        <p:style>
          <a:lnRef idx="1">
            <a:srgbClr val="0070C0"/>
          </a:lnRef>
          <a:fillRef idx="3">
            <a:srgbClr val="0070C0"/>
          </a:fillRef>
          <a:effectRef idx="2">
            <a:srgbClr val="0070C0"/>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201" name="Rectangle 8"/>
          <p:cNvSpPr/>
          <p:nvPr/>
        </p:nvSpPr>
        <p:spPr>
          <a:xfrm>
            <a:off x="4396105" y="2148205"/>
            <a:ext cx="560070" cy="457200"/>
          </a:xfrm>
          <a:prstGeom prst="rect">
            <a:avLst/>
          </a:prstGeom>
          <a:solidFill>
            <a:srgbClr val="54B0E0"/>
          </a:solidFill>
          <a:ln>
            <a:noFill/>
          </a:ln>
          <a:effectLst/>
        </p:spPr>
        <p:style>
          <a:lnRef idx="1">
            <a:srgbClr val="0070C0"/>
          </a:lnRef>
          <a:fillRef idx="3">
            <a:srgbClr val="0070C0"/>
          </a:fillRef>
          <a:effectRef idx="2">
            <a:srgbClr val="0070C0"/>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202" name="Rectangle 9"/>
          <p:cNvSpPr/>
          <p:nvPr/>
        </p:nvSpPr>
        <p:spPr>
          <a:xfrm>
            <a:off x="4962525" y="2148840"/>
            <a:ext cx="612140" cy="457200"/>
          </a:xfrm>
          <a:prstGeom prst="rect">
            <a:avLst/>
          </a:prstGeom>
          <a:solidFill>
            <a:srgbClr val="1C4274"/>
          </a:solidFill>
          <a:ln>
            <a:noFill/>
          </a:ln>
          <a:effectLst/>
        </p:spPr>
        <p:style>
          <a:lnRef idx="1">
            <a:srgbClr val="0070C0"/>
          </a:lnRef>
          <a:fillRef idx="3">
            <a:srgbClr val="0070C0"/>
          </a:fillRef>
          <a:effectRef idx="2">
            <a:srgbClr val="0070C0"/>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203" name="Rectangle 10"/>
          <p:cNvSpPr/>
          <p:nvPr/>
        </p:nvSpPr>
        <p:spPr>
          <a:xfrm>
            <a:off x="5574181" y="2148840"/>
            <a:ext cx="323697" cy="457200"/>
          </a:xfrm>
          <a:prstGeom prst="rect">
            <a:avLst/>
          </a:prstGeom>
          <a:solidFill>
            <a:srgbClr val="1C4274"/>
          </a:solidFill>
          <a:ln>
            <a:noFill/>
          </a:ln>
          <a:effectLst/>
        </p:spPr>
        <p:style>
          <a:lnRef idx="1">
            <a:srgbClr val="0070C0"/>
          </a:lnRef>
          <a:fillRef idx="3">
            <a:srgbClr val="0070C0"/>
          </a:fillRef>
          <a:effectRef idx="2">
            <a:srgbClr val="0070C0"/>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204" name="TextBox 11"/>
          <p:cNvSpPr txBox="1"/>
          <p:nvPr/>
        </p:nvSpPr>
        <p:spPr>
          <a:xfrm>
            <a:off x="502920" y="2697480"/>
            <a:ext cx="3236976" cy="193675"/>
          </a:xfrm>
          <a:prstGeom prst="rect">
            <a:avLst/>
          </a:prstGeom>
          <a:noFill/>
        </p:spPr>
        <p:txBody>
          <a:bodyPr wrap="square" lIns="0" tIns="0" rIns="0" bIns="0" anchor="t">
            <a:spAutoFit/>
          </a:bodyPr>
          <a:lstStyle/>
          <a:p>
            <a:pPr algn="ctr">
              <a:lnSpc>
                <a:spcPct val="115000"/>
              </a:lnSpc>
              <a:spcAft>
                <a:spcPts val="600"/>
              </a:spcAft>
            </a:pPr>
            <a:r>
              <a:rPr sz="1100" b="0">
                <a:solidFill>
                  <a:srgbClr val="1C4274"/>
                </a:solidFill>
                <a:latin typeface="微软雅黑" panose="020B0503020204020204" charset="-122"/>
                <a:ea typeface="微软雅黑" panose="020B0503020204020204" charset="-122"/>
                <a:cs typeface="微软雅黑" panose="020B0503020204020204" charset="-122"/>
              </a:rPr>
              <a:t>固收策略 </a:t>
            </a:r>
            <a:r>
              <a:rPr lang="en-US" sz="1100" b="0">
                <a:solidFill>
                  <a:srgbClr val="1C4274"/>
                </a:solidFill>
                <a:latin typeface="微软雅黑" panose="020B0503020204020204" charset="-122"/>
                <a:ea typeface="微软雅黑" panose="020B0503020204020204" charset="-122"/>
                <a:cs typeface="微软雅黑" panose="020B0503020204020204" charset="-122"/>
              </a:rPr>
              <a:t>82</a:t>
            </a:r>
            <a:r>
              <a:rPr sz="1100" b="0">
                <a:solidFill>
                  <a:srgbClr val="1C4274"/>
                </a:solidFill>
                <a:latin typeface="微软雅黑" panose="020B0503020204020204" charset="-122"/>
                <a:ea typeface="微软雅黑" panose="020B0503020204020204" charset="-122"/>
                <a:cs typeface="微软雅黑" panose="020B0503020204020204" charset="-122"/>
              </a:rPr>
              <a:t>%</a:t>
            </a:r>
            <a:endParaRPr sz="1100" b="0">
              <a:solidFill>
                <a:srgbClr val="1C4274"/>
              </a:solidFill>
              <a:latin typeface="微软雅黑" panose="020B0503020204020204" charset="-122"/>
              <a:ea typeface="微软雅黑" panose="020B0503020204020204" charset="-122"/>
              <a:cs typeface="微软雅黑" panose="020B0503020204020204" charset="-122"/>
            </a:endParaRPr>
          </a:p>
        </p:txBody>
      </p:sp>
      <p:sp>
        <p:nvSpPr>
          <p:cNvPr id="205" name="TextBox 12"/>
          <p:cNvSpPr txBox="1"/>
          <p:nvPr/>
        </p:nvSpPr>
        <p:spPr>
          <a:xfrm>
            <a:off x="3819906" y="2696845"/>
            <a:ext cx="1402689" cy="193675"/>
          </a:xfrm>
          <a:prstGeom prst="rect">
            <a:avLst/>
          </a:prstGeom>
          <a:noFill/>
        </p:spPr>
        <p:txBody>
          <a:bodyPr wrap="square" lIns="0" tIns="0" rIns="0" bIns="0" anchor="t">
            <a:spAutoFit/>
          </a:bodyPr>
          <a:lstStyle/>
          <a:p>
            <a:pPr algn="ctr">
              <a:lnSpc>
                <a:spcPct val="115000"/>
              </a:lnSpc>
              <a:spcAft>
                <a:spcPts val="600"/>
              </a:spcAft>
            </a:pPr>
            <a:r>
              <a:rPr sz="1100" b="0">
                <a:solidFill>
                  <a:srgbClr val="1C4274"/>
                </a:solidFill>
                <a:latin typeface="微软雅黑" panose="020B0503020204020204" charset="-122"/>
                <a:ea typeface="微软雅黑" panose="020B0503020204020204" charset="-122"/>
                <a:cs typeface="微软雅黑" panose="020B0503020204020204" charset="-122"/>
              </a:rPr>
              <a:t>CTA 策略 6%</a:t>
            </a:r>
            <a:endParaRPr sz="1100" b="0">
              <a:solidFill>
                <a:srgbClr val="1C4274"/>
              </a:solidFill>
              <a:latin typeface="微软雅黑" panose="020B0503020204020204" charset="-122"/>
              <a:ea typeface="微软雅黑" panose="020B0503020204020204" charset="-122"/>
              <a:cs typeface="微软雅黑" panose="020B0503020204020204" charset="-122"/>
            </a:endParaRPr>
          </a:p>
        </p:txBody>
      </p:sp>
      <p:sp>
        <p:nvSpPr>
          <p:cNvPr id="206" name="TextBox 14"/>
          <p:cNvSpPr txBox="1"/>
          <p:nvPr/>
        </p:nvSpPr>
        <p:spPr>
          <a:xfrm>
            <a:off x="5056505" y="2693670"/>
            <a:ext cx="915035" cy="193675"/>
          </a:xfrm>
          <a:prstGeom prst="rect">
            <a:avLst/>
          </a:prstGeom>
          <a:noFill/>
        </p:spPr>
        <p:txBody>
          <a:bodyPr wrap="square" lIns="0" tIns="0" rIns="0" bIns="0" anchor="t">
            <a:spAutoFit/>
          </a:bodyPr>
          <a:lstStyle/>
          <a:p>
            <a:pPr algn="ctr">
              <a:lnSpc>
                <a:spcPct val="115000"/>
              </a:lnSpc>
              <a:spcAft>
                <a:spcPts val="600"/>
              </a:spcAft>
            </a:pPr>
            <a:r>
              <a:rPr sz="1100" b="0">
                <a:solidFill>
                  <a:srgbClr val="1C4274"/>
                </a:solidFill>
                <a:latin typeface="微软雅黑" panose="020B0503020204020204" charset="-122"/>
                <a:ea typeface="微软雅黑" panose="020B0503020204020204" charset="-122"/>
                <a:cs typeface="微软雅黑" panose="020B0503020204020204" charset="-122"/>
              </a:rPr>
              <a:t>宏观策略 </a:t>
            </a:r>
            <a:r>
              <a:rPr lang="en-US" sz="1100" b="0">
                <a:solidFill>
                  <a:srgbClr val="1C4274"/>
                </a:solidFill>
                <a:latin typeface="微软雅黑" panose="020B0503020204020204" charset="-122"/>
                <a:ea typeface="微软雅黑" panose="020B0503020204020204" charset="-122"/>
                <a:cs typeface="微软雅黑" panose="020B0503020204020204" charset="-122"/>
              </a:rPr>
              <a:t>12</a:t>
            </a:r>
            <a:r>
              <a:rPr sz="1100" b="0">
                <a:solidFill>
                  <a:srgbClr val="1C4274"/>
                </a:solidFill>
                <a:latin typeface="微软雅黑" panose="020B0503020204020204" charset="-122"/>
                <a:ea typeface="微软雅黑" panose="020B0503020204020204" charset="-122"/>
                <a:cs typeface="微软雅黑" panose="020B0503020204020204" charset="-122"/>
              </a:rPr>
              <a:t>%</a:t>
            </a:r>
            <a:endParaRPr sz="1100" b="0">
              <a:solidFill>
                <a:srgbClr val="1C4274"/>
              </a:solidFill>
              <a:latin typeface="微软雅黑" panose="020B0503020204020204" charset="-122"/>
              <a:ea typeface="微软雅黑" panose="020B0503020204020204" charset="-122"/>
              <a:cs typeface="微软雅黑" panose="020B0503020204020204" charset="-122"/>
            </a:endParaRPr>
          </a:p>
        </p:txBody>
      </p:sp>
      <p:sp>
        <p:nvSpPr>
          <p:cNvPr id="207" name="TextBox 16"/>
          <p:cNvSpPr txBox="1"/>
          <p:nvPr/>
        </p:nvSpPr>
        <p:spPr>
          <a:xfrm>
            <a:off x="6309360" y="1645920"/>
            <a:ext cx="5394960" cy="457200"/>
          </a:xfrm>
          <a:prstGeom prst="rect">
            <a:avLst/>
          </a:prstGeom>
          <a:noFill/>
        </p:spPr>
        <p:txBody>
          <a:bodyPr wrap="square" lIns="0" tIns="0" rIns="0" bIns="0" anchor="t">
            <a:spAutoFit/>
          </a:bodyPr>
          <a:lstStyle/>
          <a:p>
            <a:pPr algn="l">
              <a:lnSpc>
                <a:spcPct val="115000"/>
              </a:lnSpc>
              <a:spcAft>
                <a:spcPts val="600"/>
              </a:spcAft>
            </a:pPr>
            <a:r>
              <a:rPr sz="1500" b="1">
                <a:solidFill>
                  <a:srgbClr val="0070C0"/>
                </a:solidFill>
                <a:latin typeface="微软雅黑" panose="020B0503020204020204" charset="-122"/>
                <a:ea typeface="微软雅黑" panose="020B0503020204020204" charset="-122"/>
                <a:cs typeface="微软雅黑" panose="020B0503020204020204" charset="-122"/>
              </a:rPr>
              <a:t>业绩展示（待更新）</a:t>
            </a:r>
            <a:endParaRPr sz="1500" b="1">
              <a:solidFill>
                <a:srgbClr val="0070C0"/>
              </a:solidFill>
              <a:latin typeface="微软雅黑" panose="020B0503020204020204" charset="-122"/>
              <a:ea typeface="微软雅黑" panose="020B0503020204020204" charset="-122"/>
              <a:cs typeface="微软雅黑" panose="020B0503020204020204" charset="-122"/>
            </a:endParaRPr>
          </a:p>
        </p:txBody>
      </p:sp>
      <p:sp>
        <p:nvSpPr>
          <p:cNvPr id="208" name="Rectangle 17"/>
          <p:cNvSpPr/>
          <p:nvPr/>
        </p:nvSpPr>
        <p:spPr>
          <a:xfrm>
            <a:off x="6309360" y="2148840"/>
            <a:ext cx="5394960" cy="914400"/>
          </a:xfrm>
          <a:prstGeom prst="rect">
            <a:avLst/>
          </a:prstGeom>
          <a:solidFill>
            <a:srgbClr val="FFFFFF"/>
          </a:solidFill>
          <a:ln w="9525">
            <a:solidFill>
              <a:srgbClr val="AED5EB"/>
            </a:solidFill>
          </a:ln>
          <a:effectLst/>
        </p:spPr>
        <p:style>
          <a:lnRef idx="1">
            <a:srgbClr val="0070C0"/>
          </a:lnRef>
          <a:fillRef idx="3">
            <a:srgbClr val="0070C0"/>
          </a:fillRef>
          <a:effectRef idx="2">
            <a:srgbClr val="0070C0"/>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209" name="TextBox 18"/>
          <p:cNvSpPr txBox="1"/>
          <p:nvPr/>
        </p:nvSpPr>
        <p:spPr>
          <a:xfrm>
            <a:off x="6515735" y="2470023"/>
            <a:ext cx="1645920" cy="548640"/>
          </a:xfrm>
          <a:prstGeom prst="rect">
            <a:avLst/>
          </a:prstGeom>
          <a:noFill/>
        </p:spPr>
        <p:txBody>
          <a:bodyPr wrap="square" lIns="0" tIns="0" rIns="0" bIns="0" anchor="t">
            <a:spAutoFit/>
          </a:bodyPr>
          <a:lstStyle/>
          <a:p>
            <a:pPr algn="l">
              <a:lnSpc>
                <a:spcPct val="115000"/>
              </a:lnSpc>
              <a:spcAft>
                <a:spcPts val="600"/>
              </a:spcAft>
            </a:pPr>
            <a:r>
              <a:rPr sz="1300" b="0">
                <a:solidFill>
                  <a:srgbClr val="1C4274"/>
                </a:solidFill>
                <a:latin typeface="微软雅黑" panose="020B0503020204020204" charset="-122"/>
                <a:ea typeface="微软雅黑" panose="020B0503020204020204" charset="-122"/>
                <a:cs typeface="微软雅黑" panose="020B0503020204020204" charset="-122"/>
              </a:rPr>
              <a:t>年化收益</a:t>
            </a:r>
            <a:endParaRPr sz="1300" b="0">
              <a:solidFill>
                <a:srgbClr val="1C4274"/>
              </a:solidFill>
              <a:latin typeface="微软雅黑" panose="020B0503020204020204" charset="-122"/>
              <a:ea typeface="微软雅黑" panose="020B0503020204020204" charset="-122"/>
              <a:cs typeface="微软雅黑" panose="020B0503020204020204" charset="-122"/>
            </a:endParaRPr>
          </a:p>
        </p:txBody>
      </p:sp>
      <p:sp>
        <p:nvSpPr>
          <p:cNvPr id="210" name="TextBox 19"/>
          <p:cNvSpPr txBox="1"/>
          <p:nvPr/>
        </p:nvSpPr>
        <p:spPr>
          <a:xfrm>
            <a:off x="8229600" y="2221992"/>
            <a:ext cx="3108960" cy="388620"/>
          </a:xfrm>
          <a:prstGeom prst="rect">
            <a:avLst/>
          </a:prstGeom>
          <a:noFill/>
        </p:spPr>
        <p:txBody>
          <a:bodyPr wrap="square" lIns="0" tIns="0" rIns="0" bIns="0" anchor="t">
            <a:spAutoFit/>
          </a:bodyPr>
          <a:lstStyle/>
          <a:p>
            <a:pPr algn="l">
              <a:lnSpc>
                <a:spcPct val="115000"/>
              </a:lnSpc>
              <a:spcAft>
                <a:spcPts val="600"/>
              </a:spcAft>
            </a:pPr>
            <a:r>
              <a:rPr lang="en-US" sz="2200" b="1">
                <a:solidFill>
                  <a:srgbClr val="0070C0"/>
                </a:solidFill>
                <a:latin typeface="微软雅黑" panose="020B0503020204020204" charset="-122"/>
                <a:ea typeface="微软雅黑" panose="020B0503020204020204" charset="-122"/>
                <a:cs typeface="微软雅黑" panose="020B0503020204020204" charset="-122"/>
              </a:rPr>
              <a:t>3</a:t>
            </a:r>
            <a:r>
              <a:rPr sz="2200" b="1">
                <a:solidFill>
                  <a:srgbClr val="0070C0"/>
                </a:solidFill>
                <a:latin typeface="微软雅黑" panose="020B0503020204020204" charset="-122"/>
                <a:ea typeface="微软雅黑" panose="020B0503020204020204" charset="-122"/>
                <a:cs typeface="微软雅黑" panose="020B0503020204020204" charset="-122"/>
              </a:rPr>
              <a:t>.</a:t>
            </a:r>
            <a:r>
              <a:rPr lang="en-US" sz="2200" b="1">
                <a:solidFill>
                  <a:srgbClr val="0070C0"/>
                </a:solidFill>
                <a:latin typeface="微软雅黑" panose="020B0503020204020204" charset="-122"/>
                <a:ea typeface="微软雅黑" panose="020B0503020204020204" charset="-122"/>
                <a:cs typeface="微软雅黑" panose="020B0503020204020204" charset="-122"/>
              </a:rPr>
              <a:t>11</a:t>
            </a:r>
            <a:r>
              <a:rPr sz="2200" b="1">
                <a:solidFill>
                  <a:srgbClr val="0070C0"/>
                </a:solidFill>
                <a:latin typeface="微软雅黑" panose="020B0503020204020204" charset="-122"/>
                <a:ea typeface="微软雅黑" panose="020B0503020204020204" charset="-122"/>
                <a:cs typeface="微软雅黑" panose="020B0503020204020204" charset="-122"/>
              </a:rPr>
              <a:t>%</a:t>
            </a:r>
            <a:endParaRPr sz="2200" b="1">
              <a:solidFill>
                <a:srgbClr val="0070C0"/>
              </a:solidFill>
              <a:latin typeface="微软雅黑" panose="020B0503020204020204" charset="-122"/>
              <a:ea typeface="微软雅黑" panose="020B0503020204020204" charset="-122"/>
              <a:cs typeface="微软雅黑" panose="020B0503020204020204" charset="-122"/>
            </a:endParaRPr>
          </a:p>
        </p:txBody>
      </p:sp>
      <p:sp>
        <p:nvSpPr>
          <p:cNvPr id="211" name="TextBox 20"/>
          <p:cNvSpPr txBox="1"/>
          <p:nvPr/>
        </p:nvSpPr>
        <p:spPr>
          <a:xfrm>
            <a:off x="8229600" y="2752344"/>
            <a:ext cx="3108960" cy="274320"/>
          </a:xfrm>
          <a:prstGeom prst="rect">
            <a:avLst/>
          </a:prstGeom>
          <a:noFill/>
        </p:spPr>
        <p:txBody>
          <a:bodyPr wrap="square" lIns="0" tIns="0" rIns="0" bIns="0" anchor="t">
            <a:spAutoFit/>
          </a:bodyPr>
          <a:lstStyle/>
          <a:p>
            <a:pPr algn="l">
              <a:lnSpc>
                <a:spcPct val="115000"/>
              </a:lnSpc>
              <a:spcAft>
                <a:spcPts val="600"/>
              </a:spcAft>
            </a:pPr>
            <a:r>
              <a:rPr sz="1000" b="0">
                <a:solidFill>
                  <a:srgbClr val="1C4274"/>
                </a:solidFill>
                <a:latin typeface="微软雅黑" panose="020B0503020204020204" charset="-122"/>
                <a:ea typeface="微软雅黑" panose="020B0503020204020204" charset="-122"/>
                <a:cs typeface="微软雅黑" panose="020B0503020204020204" charset="-122"/>
              </a:rPr>
              <a:t>业绩报酬后</a:t>
            </a:r>
            <a:endParaRPr sz="1000" b="0">
              <a:solidFill>
                <a:srgbClr val="1C4274"/>
              </a:solidFill>
              <a:latin typeface="微软雅黑" panose="020B0503020204020204" charset="-122"/>
              <a:ea typeface="微软雅黑" panose="020B0503020204020204" charset="-122"/>
              <a:cs typeface="微软雅黑" panose="020B0503020204020204" charset="-122"/>
            </a:endParaRPr>
          </a:p>
        </p:txBody>
      </p:sp>
      <p:sp>
        <p:nvSpPr>
          <p:cNvPr id="212" name="Rectangle 21"/>
          <p:cNvSpPr/>
          <p:nvPr/>
        </p:nvSpPr>
        <p:spPr>
          <a:xfrm>
            <a:off x="6309360" y="3200400"/>
            <a:ext cx="5394960" cy="914400"/>
          </a:xfrm>
          <a:prstGeom prst="rect">
            <a:avLst/>
          </a:prstGeom>
          <a:solidFill>
            <a:srgbClr val="FFFFFF"/>
          </a:solidFill>
          <a:ln w="9525">
            <a:solidFill>
              <a:srgbClr val="AED5EB"/>
            </a:solidFill>
          </a:ln>
          <a:effectLst/>
        </p:spPr>
        <p:style>
          <a:lnRef idx="1">
            <a:srgbClr val="0070C0"/>
          </a:lnRef>
          <a:fillRef idx="3">
            <a:srgbClr val="0070C0"/>
          </a:fillRef>
          <a:effectRef idx="2">
            <a:srgbClr val="0070C0"/>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213" name="TextBox 22"/>
          <p:cNvSpPr txBox="1"/>
          <p:nvPr/>
        </p:nvSpPr>
        <p:spPr>
          <a:xfrm>
            <a:off x="6537960" y="3471418"/>
            <a:ext cx="1645920" cy="548640"/>
          </a:xfrm>
          <a:prstGeom prst="rect">
            <a:avLst/>
          </a:prstGeom>
          <a:noFill/>
        </p:spPr>
        <p:txBody>
          <a:bodyPr wrap="square" lIns="0" tIns="0" rIns="0" bIns="0" anchor="t">
            <a:spAutoFit/>
          </a:bodyPr>
          <a:lstStyle/>
          <a:p>
            <a:pPr algn="l">
              <a:lnSpc>
                <a:spcPct val="115000"/>
              </a:lnSpc>
              <a:spcAft>
                <a:spcPts val="600"/>
              </a:spcAft>
            </a:pPr>
            <a:r>
              <a:rPr sz="1300" b="0">
                <a:solidFill>
                  <a:srgbClr val="1C4274"/>
                </a:solidFill>
                <a:latin typeface="微软雅黑" panose="020B0503020204020204" charset="-122"/>
                <a:ea typeface="微软雅黑" panose="020B0503020204020204" charset="-122"/>
                <a:cs typeface="微软雅黑" panose="020B0503020204020204" charset="-122"/>
              </a:rPr>
              <a:t>最大回撤</a:t>
            </a:r>
            <a:endParaRPr sz="1300" b="0">
              <a:solidFill>
                <a:srgbClr val="1C4274"/>
              </a:solidFill>
              <a:latin typeface="微软雅黑" panose="020B0503020204020204" charset="-122"/>
              <a:ea typeface="微软雅黑" panose="020B0503020204020204" charset="-122"/>
              <a:cs typeface="微软雅黑" panose="020B0503020204020204" charset="-122"/>
            </a:endParaRPr>
          </a:p>
        </p:txBody>
      </p:sp>
      <p:sp>
        <p:nvSpPr>
          <p:cNvPr id="214" name="TextBox 23"/>
          <p:cNvSpPr txBox="1"/>
          <p:nvPr/>
        </p:nvSpPr>
        <p:spPr>
          <a:xfrm>
            <a:off x="8229600" y="3273552"/>
            <a:ext cx="3108960" cy="388620"/>
          </a:xfrm>
          <a:prstGeom prst="rect">
            <a:avLst/>
          </a:prstGeom>
          <a:noFill/>
        </p:spPr>
        <p:txBody>
          <a:bodyPr wrap="square" lIns="0" tIns="0" rIns="0" bIns="0" anchor="t">
            <a:spAutoFit/>
          </a:bodyPr>
          <a:lstStyle/>
          <a:p>
            <a:pPr algn="l">
              <a:lnSpc>
                <a:spcPct val="115000"/>
              </a:lnSpc>
              <a:spcAft>
                <a:spcPts val="600"/>
              </a:spcAft>
            </a:pPr>
            <a:r>
              <a:rPr lang="en-US" sz="2200" b="1">
                <a:solidFill>
                  <a:srgbClr val="0070C0"/>
                </a:solidFill>
                <a:latin typeface="微软雅黑" panose="020B0503020204020204" charset="-122"/>
                <a:ea typeface="微软雅黑" panose="020B0503020204020204" charset="-122"/>
                <a:cs typeface="微软雅黑" panose="020B0503020204020204" charset="-122"/>
              </a:rPr>
              <a:t>-0.23</a:t>
            </a:r>
            <a:r>
              <a:rPr sz="2200" b="1">
                <a:solidFill>
                  <a:srgbClr val="0070C0"/>
                </a:solidFill>
                <a:latin typeface="微软雅黑" panose="020B0503020204020204" charset="-122"/>
                <a:ea typeface="微软雅黑" panose="020B0503020204020204" charset="-122"/>
                <a:cs typeface="微软雅黑" panose="020B0503020204020204" charset="-122"/>
              </a:rPr>
              <a:t>%</a:t>
            </a:r>
            <a:endParaRPr sz="2200" b="1">
              <a:solidFill>
                <a:srgbClr val="0070C0"/>
              </a:solidFill>
              <a:latin typeface="微软雅黑" panose="020B0503020204020204" charset="-122"/>
              <a:ea typeface="微软雅黑" panose="020B0503020204020204" charset="-122"/>
              <a:cs typeface="微软雅黑" panose="020B0503020204020204" charset="-122"/>
            </a:endParaRPr>
          </a:p>
        </p:txBody>
      </p:sp>
      <p:sp>
        <p:nvSpPr>
          <p:cNvPr id="215" name="TextBox 24"/>
          <p:cNvSpPr txBox="1"/>
          <p:nvPr/>
        </p:nvSpPr>
        <p:spPr>
          <a:xfrm>
            <a:off x="8229600" y="3803904"/>
            <a:ext cx="3108960" cy="274320"/>
          </a:xfrm>
          <a:prstGeom prst="rect">
            <a:avLst/>
          </a:prstGeom>
          <a:noFill/>
        </p:spPr>
        <p:txBody>
          <a:bodyPr wrap="square" lIns="0" tIns="0" rIns="0" bIns="0" anchor="t">
            <a:spAutoFit/>
          </a:bodyPr>
          <a:lstStyle/>
          <a:p>
            <a:pPr algn="l">
              <a:lnSpc>
                <a:spcPct val="115000"/>
              </a:lnSpc>
              <a:spcAft>
                <a:spcPts val="600"/>
              </a:spcAft>
            </a:pPr>
            <a:r>
              <a:rPr sz="1000" b="0">
                <a:solidFill>
                  <a:srgbClr val="1C4274"/>
                </a:solidFill>
                <a:latin typeface="微软雅黑" panose="020B0503020204020204" charset="-122"/>
                <a:ea typeface="微软雅黑" panose="020B0503020204020204" charset="-122"/>
                <a:cs typeface="微软雅黑" panose="020B0503020204020204" charset="-122"/>
              </a:rPr>
              <a:t>模拟组合</a:t>
            </a:r>
            <a:endParaRPr sz="1000" b="0">
              <a:solidFill>
                <a:srgbClr val="1C4274"/>
              </a:solidFill>
              <a:latin typeface="微软雅黑" panose="020B0503020204020204" charset="-122"/>
              <a:ea typeface="微软雅黑" panose="020B0503020204020204" charset="-122"/>
              <a:cs typeface="微软雅黑" panose="020B0503020204020204" charset="-122"/>
            </a:endParaRPr>
          </a:p>
        </p:txBody>
      </p:sp>
      <p:sp>
        <p:nvSpPr>
          <p:cNvPr id="216" name="Rectangle 25"/>
          <p:cNvSpPr/>
          <p:nvPr/>
        </p:nvSpPr>
        <p:spPr>
          <a:xfrm>
            <a:off x="6309360" y="4251960"/>
            <a:ext cx="5394960" cy="914400"/>
          </a:xfrm>
          <a:prstGeom prst="rect">
            <a:avLst/>
          </a:prstGeom>
          <a:solidFill>
            <a:srgbClr val="FFFFFF"/>
          </a:solidFill>
          <a:ln w="9525">
            <a:solidFill>
              <a:srgbClr val="AED5EB"/>
            </a:solidFill>
          </a:ln>
          <a:effectLst/>
        </p:spPr>
        <p:style>
          <a:lnRef idx="1">
            <a:srgbClr val="0070C0"/>
          </a:lnRef>
          <a:fillRef idx="3">
            <a:srgbClr val="0070C0"/>
          </a:fillRef>
          <a:effectRef idx="2">
            <a:srgbClr val="0070C0"/>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217" name="TextBox 26"/>
          <p:cNvSpPr txBox="1"/>
          <p:nvPr/>
        </p:nvSpPr>
        <p:spPr>
          <a:xfrm>
            <a:off x="6537960" y="4533138"/>
            <a:ext cx="1645920" cy="229235"/>
          </a:xfrm>
          <a:prstGeom prst="rect">
            <a:avLst/>
          </a:prstGeom>
          <a:noFill/>
        </p:spPr>
        <p:txBody>
          <a:bodyPr wrap="square" lIns="0" tIns="0" rIns="0" bIns="0" anchor="t">
            <a:spAutoFit/>
          </a:bodyPr>
          <a:lstStyle/>
          <a:p>
            <a:pPr algn="l">
              <a:lnSpc>
                <a:spcPct val="115000"/>
              </a:lnSpc>
              <a:spcAft>
                <a:spcPts val="600"/>
              </a:spcAft>
            </a:pPr>
            <a:r>
              <a:rPr lang="zh-CN" sz="1300" b="0">
                <a:solidFill>
                  <a:srgbClr val="1C4274"/>
                </a:solidFill>
                <a:latin typeface="微软雅黑" panose="020B0503020204020204" charset="-122"/>
                <a:ea typeface="微软雅黑" panose="020B0503020204020204" charset="-122"/>
                <a:cs typeface="微软雅黑" panose="020B0503020204020204" charset="-122"/>
              </a:rPr>
              <a:t>卡玛率</a:t>
            </a:r>
            <a:endParaRPr lang="zh-CN" sz="1300" b="0">
              <a:solidFill>
                <a:srgbClr val="1C4274"/>
              </a:solidFill>
              <a:latin typeface="微软雅黑" panose="020B0503020204020204" charset="-122"/>
              <a:ea typeface="微软雅黑" panose="020B0503020204020204" charset="-122"/>
              <a:cs typeface="微软雅黑" panose="020B0503020204020204" charset="-122"/>
            </a:endParaRPr>
          </a:p>
        </p:txBody>
      </p:sp>
      <p:sp>
        <p:nvSpPr>
          <p:cNvPr id="218" name="TextBox 27"/>
          <p:cNvSpPr txBox="1"/>
          <p:nvPr/>
        </p:nvSpPr>
        <p:spPr>
          <a:xfrm>
            <a:off x="8183880" y="4507992"/>
            <a:ext cx="3108960" cy="388620"/>
          </a:xfrm>
          <a:prstGeom prst="rect">
            <a:avLst/>
          </a:prstGeom>
          <a:noFill/>
        </p:spPr>
        <p:txBody>
          <a:bodyPr wrap="square" lIns="0" tIns="0" rIns="0" bIns="0" anchor="t">
            <a:spAutoFit/>
          </a:bodyPr>
          <a:lstStyle/>
          <a:p>
            <a:pPr algn="l">
              <a:lnSpc>
                <a:spcPct val="115000"/>
              </a:lnSpc>
              <a:spcAft>
                <a:spcPts val="600"/>
              </a:spcAft>
            </a:pPr>
            <a:r>
              <a:rPr lang="en-US" sz="2200" b="1">
                <a:solidFill>
                  <a:srgbClr val="0070C0"/>
                </a:solidFill>
                <a:latin typeface="微软雅黑" panose="020B0503020204020204" charset="-122"/>
                <a:ea typeface="微软雅黑" panose="020B0503020204020204" charset="-122"/>
                <a:cs typeface="微软雅黑" panose="020B0503020204020204" charset="-122"/>
              </a:rPr>
              <a:t>13.5</a:t>
            </a:r>
            <a:endParaRPr lang="en-US" sz="2200" b="1">
              <a:solidFill>
                <a:srgbClr val="0070C0"/>
              </a:solidFill>
              <a:latin typeface="微软雅黑" panose="020B0503020204020204" charset="-122"/>
              <a:ea typeface="微软雅黑" panose="020B0503020204020204" charset="-122"/>
              <a:cs typeface="微软雅黑" panose="020B0503020204020204" charset="-122"/>
            </a:endParaRPr>
          </a:p>
        </p:txBody>
      </p:sp>
      <p:sp>
        <p:nvSpPr>
          <p:cNvPr id="219" name="TextBox 30"/>
          <p:cNvSpPr txBox="1"/>
          <p:nvPr/>
        </p:nvSpPr>
        <p:spPr>
          <a:xfrm>
            <a:off x="502920" y="6455664"/>
            <a:ext cx="7315200" cy="274320"/>
          </a:xfrm>
          <a:prstGeom prst="rect">
            <a:avLst/>
          </a:prstGeom>
          <a:noFill/>
        </p:spPr>
        <p:txBody>
          <a:bodyPr wrap="square" lIns="0" tIns="0" rIns="0" bIns="0" anchor="t">
            <a:spAutoFit/>
          </a:bodyPr>
          <a:lstStyle/>
          <a:p>
            <a:pPr algn="l">
              <a:lnSpc>
                <a:spcPct val="115000"/>
              </a:lnSpc>
              <a:spcAft>
                <a:spcPts val="600"/>
              </a:spcAft>
            </a:pPr>
            <a:r>
              <a:rPr sz="900" b="0">
                <a:solidFill>
                  <a:srgbClr val="1C4274"/>
                </a:solidFill>
                <a:latin typeface="微软雅黑" panose="020B0503020204020204" charset="-122"/>
                <a:ea typeface="微软雅黑" panose="020B0503020204020204" charset="-122"/>
                <a:cs typeface="微软雅黑" panose="020B0503020204020204" charset="-122"/>
              </a:rPr>
              <a:t>近期宏观变化及资产配置 · 2026.09</a:t>
            </a:r>
            <a:endParaRPr sz="900" b="0">
              <a:solidFill>
                <a:srgbClr val="1C4274"/>
              </a:solidFill>
              <a:latin typeface="微软雅黑" panose="020B0503020204020204" charset="-122"/>
              <a:ea typeface="微软雅黑" panose="020B0503020204020204" charset="-122"/>
              <a:cs typeface="微软雅黑" panose="020B0503020204020204" charset="-122"/>
            </a:endParaRPr>
          </a:p>
        </p:txBody>
      </p:sp>
      <p:sp>
        <p:nvSpPr>
          <p:cNvPr id="220" name="TextBox 31"/>
          <p:cNvSpPr txBox="1"/>
          <p:nvPr/>
        </p:nvSpPr>
        <p:spPr>
          <a:xfrm>
            <a:off x="10789920" y="6455664"/>
            <a:ext cx="914400" cy="274320"/>
          </a:xfrm>
          <a:prstGeom prst="rect">
            <a:avLst/>
          </a:prstGeom>
          <a:noFill/>
        </p:spPr>
        <p:txBody>
          <a:bodyPr wrap="square" lIns="0" tIns="0" rIns="0" bIns="0" anchor="t">
            <a:spAutoFit/>
          </a:bodyPr>
          <a:lstStyle/>
          <a:p>
            <a:pPr algn="r">
              <a:lnSpc>
                <a:spcPct val="115000"/>
              </a:lnSpc>
              <a:spcAft>
                <a:spcPts val="600"/>
              </a:spcAft>
            </a:pPr>
            <a:r>
              <a:rPr sz="1000" b="0">
                <a:solidFill>
                  <a:srgbClr val="1C4274"/>
                </a:solidFill>
                <a:latin typeface="微软雅黑" panose="020B0503020204020204" charset="-122"/>
                <a:ea typeface="微软雅黑" panose="020B0503020204020204" charset="-122"/>
                <a:cs typeface="微软雅黑" panose="020B0503020204020204" charset="-122"/>
              </a:rPr>
              <a:t>13</a:t>
            </a:r>
            <a:endParaRPr sz="1000" b="0">
              <a:solidFill>
                <a:srgbClr val="1C4274"/>
              </a:solidFill>
              <a:latin typeface="微软雅黑" panose="020B0503020204020204" charset="-122"/>
              <a:ea typeface="微软雅黑" panose="020B0503020204020204" charset="-122"/>
              <a:cs typeface="微软雅黑" panose="020B0503020204020204" charset="-122"/>
            </a:endParaRPr>
          </a:p>
        </p:txBody>
      </p:sp>
      <p:sp>
        <p:nvSpPr>
          <p:cNvPr id="221" name="TextBox 6"/>
          <p:cNvSpPr txBox="1"/>
          <p:nvPr/>
        </p:nvSpPr>
        <p:spPr>
          <a:xfrm>
            <a:off x="502920" y="3063240"/>
            <a:ext cx="5394960" cy="265430"/>
          </a:xfrm>
          <a:prstGeom prst="rect">
            <a:avLst/>
          </a:prstGeom>
          <a:noFill/>
        </p:spPr>
        <p:txBody>
          <a:bodyPr wrap="square" lIns="0" tIns="0" rIns="0" bIns="0" anchor="t">
            <a:spAutoFit/>
          </a:bodyPr>
          <a:lstStyle/>
          <a:p>
            <a:pPr algn="l">
              <a:lnSpc>
                <a:spcPct val="115000"/>
              </a:lnSpc>
              <a:spcAft>
                <a:spcPts val="600"/>
              </a:spcAft>
            </a:pPr>
            <a:r>
              <a:rPr lang="zh-CN" sz="1500" b="1">
                <a:solidFill>
                  <a:srgbClr val="0070C0"/>
                </a:solidFill>
                <a:latin typeface="微软雅黑" panose="020B0503020204020204" charset="-122"/>
                <a:ea typeface="微软雅黑" panose="020B0503020204020204" charset="-122"/>
                <a:cs typeface="微软雅黑" panose="020B0503020204020204" charset="-122"/>
              </a:rPr>
              <a:t>净值图</a:t>
            </a:r>
            <a:endParaRPr lang="en-US" altLang="zh-CN" sz="1500" b="1">
              <a:solidFill>
                <a:srgbClr val="0070C0"/>
              </a:solidFill>
              <a:latin typeface="微软雅黑" panose="020B0503020204020204" charset="-122"/>
              <a:ea typeface="微软雅黑" panose="020B0503020204020204" charset="-122"/>
              <a:cs typeface="微软雅黑" panose="020B0503020204020204" charset="-122"/>
            </a:endParaRPr>
          </a:p>
        </p:txBody>
      </p:sp>
      <p:sp>
        <p:nvSpPr>
          <p:cNvPr id="222" name="Rectangle 25"/>
          <p:cNvSpPr/>
          <p:nvPr/>
        </p:nvSpPr>
        <p:spPr>
          <a:xfrm>
            <a:off x="6309360" y="5340350"/>
            <a:ext cx="5394960" cy="914400"/>
          </a:xfrm>
          <a:prstGeom prst="rect">
            <a:avLst/>
          </a:prstGeom>
          <a:solidFill>
            <a:srgbClr val="FFFFFF"/>
          </a:solidFill>
          <a:ln w="9525">
            <a:solidFill>
              <a:srgbClr val="AED5EB"/>
            </a:solidFill>
          </a:ln>
          <a:effectLst/>
        </p:spPr>
        <p:style>
          <a:lnRef idx="1">
            <a:srgbClr val="0070C0"/>
          </a:lnRef>
          <a:fillRef idx="3">
            <a:srgbClr val="0070C0"/>
          </a:fillRef>
          <a:effectRef idx="2">
            <a:srgbClr val="0070C0"/>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223" name="TextBox 26"/>
          <p:cNvSpPr txBox="1"/>
          <p:nvPr/>
        </p:nvSpPr>
        <p:spPr>
          <a:xfrm>
            <a:off x="6537960" y="5627878"/>
            <a:ext cx="1645920" cy="548640"/>
          </a:xfrm>
          <a:prstGeom prst="rect">
            <a:avLst/>
          </a:prstGeom>
          <a:noFill/>
        </p:spPr>
        <p:txBody>
          <a:bodyPr wrap="square" lIns="0" tIns="0" rIns="0" bIns="0" anchor="t">
            <a:spAutoFit/>
          </a:bodyPr>
          <a:lstStyle/>
          <a:p>
            <a:pPr algn="l">
              <a:lnSpc>
                <a:spcPct val="115000"/>
              </a:lnSpc>
              <a:spcAft>
                <a:spcPts val="600"/>
              </a:spcAft>
            </a:pPr>
            <a:r>
              <a:rPr sz="1300" b="0">
                <a:solidFill>
                  <a:srgbClr val="1C4274"/>
                </a:solidFill>
                <a:latin typeface="微软雅黑" panose="020B0503020204020204" charset="-122"/>
                <a:ea typeface="微软雅黑" panose="020B0503020204020204" charset="-122"/>
                <a:cs typeface="微软雅黑" panose="020B0503020204020204" charset="-122"/>
              </a:rPr>
              <a:t>开始日期</a:t>
            </a:r>
            <a:endParaRPr sz="1300" b="0">
              <a:solidFill>
                <a:srgbClr val="1C4274"/>
              </a:solidFill>
              <a:latin typeface="微软雅黑" panose="020B0503020204020204" charset="-122"/>
              <a:ea typeface="微软雅黑" panose="020B0503020204020204" charset="-122"/>
              <a:cs typeface="微软雅黑" panose="020B0503020204020204" charset="-122"/>
            </a:endParaRPr>
          </a:p>
        </p:txBody>
      </p:sp>
      <p:sp>
        <p:nvSpPr>
          <p:cNvPr id="224" name="TextBox 27"/>
          <p:cNvSpPr txBox="1"/>
          <p:nvPr/>
        </p:nvSpPr>
        <p:spPr>
          <a:xfrm>
            <a:off x="8151495" y="5559552"/>
            <a:ext cx="3108960" cy="388620"/>
          </a:xfrm>
          <a:prstGeom prst="rect">
            <a:avLst/>
          </a:prstGeom>
          <a:noFill/>
        </p:spPr>
        <p:txBody>
          <a:bodyPr wrap="square" lIns="0" tIns="0" rIns="0" bIns="0" anchor="t">
            <a:spAutoFit/>
          </a:bodyPr>
          <a:lstStyle/>
          <a:p>
            <a:pPr algn="l">
              <a:lnSpc>
                <a:spcPct val="115000"/>
              </a:lnSpc>
              <a:spcAft>
                <a:spcPts val="600"/>
              </a:spcAft>
            </a:pPr>
            <a:r>
              <a:rPr sz="2200" b="1">
                <a:solidFill>
                  <a:srgbClr val="0070C0"/>
                </a:solidFill>
                <a:latin typeface="微软雅黑" panose="020B0503020204020204" charset="-122"/>
                <a:ea typeface="微软雅黑" panose="020B0503020204020204" charset="-122"/>
                <a:cs typeface="微软雅黑" panose="020B0503020204020204" charset="-122"/>
              </a:rPr>
              <a:t>202</a:t>
            </a:r>
            <a:r>
              <a:rPr lang="en-US" sz="2200" b="1">
                <a:solidFill>
                  <a:srgbClr val="0070C0"/>
                </a:solidFill>
                <a:latin typeface="微软雅黑" panose="020B0503020204020204" charset="-122"/>
                <a:ea typeface="微软雅黑" panose="020B0503020204020204" charset="-122"/>
                <a:cs typeface="微软雅黑" panose="020B0503020204020204" charset="-122"/>
              </a:rPr>
              <a:t>6</a:t>
            </a:r>
            <a:r>
              <a:rPr sz="2200" b="1">
                <a:solidFill>
                  <a:srgbClr val="0070C0"/>
                </a:solidFill>
                <a:latin typeface="微软雅黑" panose="020B0503020204020204" charset="-122"/>
                <a:ea typeface="微软雅黑" panose="020B0503020204020204" charset="-122"/>
                <a:cs typeface="微软雅黑" panose="020B0503020204020204" charset="-122"/>
              </a:rPr>
              <a:t>.</a:t>
            </a:r>
            <a:r>
              <a:rPr lang="en-US" sz="2200" b="1">
                <a:solidFill>
                  <a:srgbClr val="0070C0"/>
                </a:solidFill>
                <a:latin typeface="微软雅黑" panose="020B0503020204020204" charset="-122"/>
                <a:ea typeface="微软雅黑" panose="020B0503020204020204" charset="-122"/>
                <a:cs typeface="微软雅黑" panose="020B0503020204020204" charset="-122"/>
              </a:rPr>
              <a:t>6</a:t>
            </a:r>
            <a:r>
              <a:rPr sz="2200" b="1">
                <a:solidFill>
                  <a:srgbClr val="0070C0"/>
                </a:solidFill>
                <a:latin typeface="微软雅黑" panose="020B0503020204020204" charset="-122"/>
                <a:ea typeface="微软雅黑" panose="020B0503020204020204" charset="-122"/>
                <a:cs typeface="微软雅黑" panose="020B0503020204020204" charset="-122"/>
              </a:rPr>
              <a:t>.</a:t>
            </a:r>
            <a:r>
              <a:rPr lang="en-US" sz="2200" b="1">
                <a:solidFill>
                  <a:srgbClr val="0070C0"/>
                </a:solidFill>
                <a:latin typeface="微软雅黑" panose="020B0503020204020204" charset="-122"/>
                <a:ea typeface="微软雅黑" panose="020B0503020204020204" charset="-122"/>
                <a:cs typeface="微软雅黑" panose="020B0503020204020204" charset="-122"/>
              </a:rPr>
              <a:t>3</a:t>
            </a:r>
            <a:endParaRPr lang="en-US" sz="2200" b="1">
              <a:solidFill>
                <a:srgbClr val="0070C0"/>
              </a:solidFill>
              <a:latin typeface="微软雅黑" panose="020B0503020204020204" charset="-122"/>
              <a:ea typeface="微软雅黑" panose="020B0503020204020204" charset="-122"/>
              <a:cs typeface="微软雅黑" panose="020B0503020204020204" charset="-122"/>
            </a:endParaRPr>
          </a:p>
        </p:txBody>
      </p:sp>
      <p:pic>
        <p:nvPicPr>
          <p:cNvPr id="225" name="图片 0" descr="企业微信截图_17893755063448"/>
          <p:cNvPicPr>
            <a:picLocks noChangeAspect="1"/>
          </p:cNvPicPr>
          <p:nvPr/>
        </p:nvPicPr>
        <p:blipFill>
          <a:blip r:embed="rId2">
            <a:duotone>
              <a:srgbClr val="1C4274"/>
              <a:srgbClr val="EAF6FC"/>
            </a:duotone>
          </a:blip>
          <a:stretch>
            <a:fillRect/>
          </a:stretch>
        </p:blipFill>
        <p:spPr>
          <a:xfrm>
            <a:off x="431800" y="3466465"/>
            <a:ext cx="5587365" cy="2569845"/>
          </a:xfrm>
          <a:prstGeom prst="rect">
            <a:avLst/>
          </a:prstGeom>
        </p:spPr>
      </p:pic>
      <p:pic>
        <p:nvPicPr>
          <p:cNvPr id="226" name="参考模板浅蓝背景弧线"/>
          <p:cNvPicPr/>
          <p:nvPr/>
        </p:nvPicPr>
        <p:blipFill>
          <a:blip r:embed="rId3">
            <a:duotone>
              <a:srgbClr val="1C4274"/>
              <a:srgbClr val="EAF6FC"/>
            </a:duotone>
          </a:blip>
          <a:stretch>
            <a:fillRect/>
          </a:stretch>
        </p:blipFill>
        <p:spPr>
          <a:xfrm>
            <a:off x="4457700" y="0"/>
            <a:ext cx="3143250" cy="495300"/>
          </a:xfrm>
          <a:prstGeom prst="rect">
            <a:avLst/>
          </a:prstGeom>
          <a:noFill/>
          <a:ln>
            <a:noFill/>
          </a:ln>
        </p:spPr>
      </p:pic>
      <p:pic>
        <p:nvPicPr>
          <p:cNvPr id="227" name="参考模板右上角标识"/>
          <p:cNvPicPr/>
          <p:nvPr/>
        </p:nvPicPr>
        <p:blipFill>
          <a:blip r:embed="rId4">
            <a:duotone>
              <a:srgbClr val="1C4274"/>
              <a:srgbClr val="EAF6FC"/>
            </a:duotone>
          </a:blip>
          <a:stretch>
            <a:fillRect/>
          </a:stretch>
        </p:blipFill>
        <p:spPr>
          <a:xfrm>
            <a:off x="9696450" y="209550"/>
            <a:ext cx="1733550" cy="390525"/>
          </a:xfrm>
          <a:prstGeom prst="rect">
            <a:avLst/>
          </a:prstGeom>
          <a:noFill/>
          <a:ln>
            <a:noFill/>
          </a:ln>
        </p:spPr>
      </p:pic>
    </p:spTree>
  </p:cSld>
  <p:clrMapOvr>
    <a:masterClrMapping/>
  </p:clrMapOvr>
</p:sld>
</file>

<file path=ppt/slides/slide22.xml><?xml version="1.0" encoding="utf-8"?>
<p:sld xmlns:r="http://schemas.openxmlformats.org/officeDocument/2006/relationships" xmlns:p="http://schemas.openxmlformats.org/presentationml/2006/main" xmlns:a="http://schemas.openxmlformats.org/drawingml/2006/main" xmlns:a16="http://schemas.microsoft.com/office/drawing/2014/main" xmlns:mc="http://schemas.openxmlformats.org/markup-compatibility/2006" mc:Ignorable="a16">
  <p:cSld>
    <p:spTree>
      <p:nvGrpSpPr>
        <p:cNvPr id="226" name=""/>
        <p:cNvGrpSpPr/>
        <p:nvPr/>
      </p:nvGrpSpPr>
      <p:grpSpPr>
        <a:xfrm>
          <a:off x="0" y="0"/>
          <a:ext cx="0" cy="0"/>
          <a:chOff x="0" y="0"/>
          <a:chExt cx="0" cy="0"/>
        </a:xfrm>
      </p:grpSpPr>
      <p:sp>
        <p:nvSpPr>
          <p:cNvPr id="227" name="Rectangle 1"/>
          <p:cNvSpPr/>
          <p:nvPr/>
        </p:nvSpPr>
        <p:spPr>
          <a:xfrm>
            <a:off x="502920" y="457200"/>
            <a:ext cx="82296" cy="566928"/>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228" name="TextBox 2"/>
          <p:cNvSpPr txBox="1"/>
          <p:nvPr/>
        </p:nvSpPr>
        <p:spPr>
          <a:xfrm>
            <a:off x="713232" y="510794"/>
            <a:ext cx="9601200" cy="459740"/>
          </a:xfrm>
          <a:prstGeom prst="rect">
            <a:avLst/>
          </a:prstGeom>
          <a:noFill/>
        </p:spPr>
        <p:txBody>
          <a:bodyPr wrap="square" lIns="0" tIns="0" rIns="0" bIns="0" anchor="ctr">
            <a:spAutoFit/>
          </a:bodyPr>
          <a:lstStyle/>
          <a:p>
            <a:pPr algn="l">
              <a:lnSpc>
                <a:spcPct val="115000"/>
              </a:lnSpc>
              <a:spcAft>
                <a:spcPts val="600"/>
              </a:spcAft>
            </a:pPr>
            <a:r>
              <a:rPr lang="en-US" sz="2600" b="1">
                <a:solidFill>
                  <a:srgbClr val="0070C0"/>
                </a:solidFill>
                <a:latin typeface="微软雅黑" panose="020B0503020204020204" charset="-122"/>
                <a:ea typeface="微软雅黑" panose="020B0503020204020204" charset="-122"/>
                <a:cs typeface="微软雅黑" panose="020B0503020204020204" charset="-122"/>
              </a:rPr>
              <a:t>FOF </a:t>
            </a:r>
            <a:r>
              <a:rPr lang="zh-CN" altLang="en-US" sz="2600" b="1">
                <a:solidFill>
                  <a:srgbClr val="0070C0"/>
                </a:solidFill>
                <a:latin typeface="微软雅黑" panose="020B0503020204020204" charset="-122"/>
                <a:ea typeface="微软雅黑" panose="020B0503020204020204" charset="-122"/>
                <a:cs typeface="微软雅黑" panose="020B0503020204020204" charset="-122"/>
              </a:rPr>
              <a:t>子</a:t>
            </a:r>
            <a:r>
              <a:rPr sz="2600" b="1">
                <a:solidFill>
                  <a:srgbClr val="0070C0"/>
                </a:solidFill>
                <a:latin typeface="微软雅黑" panose="020B0503020204020204" charset="-122"/>
                <a:ea typeface="微软雅黑" panose="020B0503020204020204" charset="-122"/>
                <a:cs typeface="微软雅黑" panose="020B0503020204020204" charset="-122"/>
              </a:rPr>
              <a:t>产品</a:t>
            </a:r>
            <a:r>
              <a:rPr lang="zh-CN" sz="2600" b="1">
                <a:solidFill>
                  <a:srgbClr val="0070C0"/>
                </a:solidFill>
                <a:latin typeface="微软雅黑" panose="020B0503020204020204" charset="-122"/>
                <a:ea typeface="微软雅黑" panose="020B0503020204020204" charset="-122"/>
                <a:cs typeface="微软雅黑" panose="020B0503020204020204" charset="-122"/>
              </a:rPr>
              <a:t>业绩展示</a:t>
            </a:r>
            <a:endParaRPr lang="zh-CN" sz="2600" b="1">
              <a:solidFill>
                <a:srgbClr val="0070C0"/>
              </a:solidFill>
              <a:latin typeface="微软雅黑" panose="020B0503020204020204" charset="-122"/>
              <a:ea typeface="微软雅黑" panose="020B0503020204020204" charset="-122"/>
              <a:cs typeface="微软雅黑" panose="020B0503020204020204" charset="-122"/>
            </a:endParaRPr>
          </a:p>
        </p:txBody>
      </p:sp>
      <p:sp>
        <p:nvSpPr>
          <p:cNvPr id="229" name="Rectangle 4"/>
          <p:cNvSpPr/>
          <p:nvPr/>
        </p:nvSpPr>
        <p:spPr>
          <a:xfrm>
            <a:off x="502920" y="1005840"/>
            <a:ext cx="2011680" cy="27940"/>
          </a:xfrm>
          <a:prstGeom prst="rect">
            <a:avLst/>
          </a:prstGeom>
          <a:solidFill>
            <a:srgbClr val="54B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230" name="Rectangle 5"/>
          <p:cNvSpPr/>
          <p:nvPr/>
        </p:nvSpPr>
        <p:spPr>
          <a:xfrm>
            <a:off x="502920" y="1060704"/>
            <a:ext cx="11183112" cy="11430"/>
          </a:xfrm>
          <a:prstGeom prst="rect">
            <a:avLst/>
          </a:prstGeom>
          <a:solidFill>
            <a:srgbClr val="AED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graphicFrame>
        <p:nvGraphicFramePr>
          <p:cNvPr id="231" name="Table 6"/>
          <p:cNvGraphicFramePr>
            <a:graphicFrameLocks noGrp="1"/>
          </p:cNvGraphicFramePr>
          <p:nvPr/>
        </p:nvGraphicFramePr>
        <p:xfrm>
          <a:off x="521335" y="1746885"/>
          <a:ext cx="11183112" cy="4480560"/>
        </p:xfrm>
        <a:graphic>
          <a:graphicData uri="http://schemas.openxmlformats.org/drawingml/2006/table">
            <a:tbl>
              <a:tblPr firstRow="1" bandRow="1">
                <a:tableStyleId>{5C22544A-7EE6-4342-B048-85BDC9FD1C3A}</a:tableStyleId>
              </a:tblPr>
              <a:tblGrid>
                <a:gridCol w="640080">
                  <a:extLst>
                    <a:ext uri="{9D8B030D-6E8A-4147-A177-3AD203B41FA5}">
                      <a16:colId val="1"/>
                    </a:ext>
                  </a:extLst>
                </a:gridCol>
                <a:gridCol w="3566160">
                  <a:extLst>
                    <a:ext uri="{9D8B030D-6E8A-4147-A177-3AD203B41FA5}">
                      <a16:colId val="2"/>
                    </a:ext>
                  </a:extLst>
                </a:gridCol>
                <a:gridCol w="1828800">
                  <a:extLst>
                    <a:ext uri="{9D8B030D-6E8A-4147-A177-3AD203B41FA5}">
                      <a16:colId val="3"/>
                    </a:ext>
                  </a:extLst>
                </a:gridCol>
                <a:gridCol w="1463040">
                  <a:extLst>
                    <a:ext uri="{9D8B030D-6E8A-4147-A177-3AD203B41FA5}">
                      <a16:colId val="4"/>
                    </a:ext>
                  </a:extLst>
                </a:gridCol>
                <a:gridCol w="1463040">
                  <a:extLst>
                    <a:ext uri="{9D8B030D-6E8A-4147-A177-3AD203B41FA5}">
                      <a16:colId val="5"/>
                    </a:ext>
                  </a:extLst>
                </a:gridCol>
                <a:gridCol w="2221992">
                  <a:extLst>
                    <a:ext uri="{9D8B030D-6E8A-4147-A177-3AD203B41FA5}">
                      <a16:colId val="6"/>
                    </a:ext>
                  </a:extLst>
                </a:gridCol>
              </a:tblGrid>
              <a:tr h="320040">
                <a:tc>
                  <a:txBody>
                    <a:bodyPr wrap="square"/>
                    <a:lstStyle/>
                    <a:p>
                      <a:pPr algn="r"/>
                      <a:r>
                        <a:rPr sz="1050" b="1">
                          <a:solidFill>
                            <a:srgbClr val="FFFFFF"/>
                          </a:solidFill>
                          <a:latin typeface="微软雅黑" panose="020B0503020204020204" charset="-122"/>
                          <a:ea typeface="微软雅黑" panose="020B0503020204020204" charset="-122"/>
                          <a:cs typeface="微软雅黑" panose="020B0503020204020204" charset="-122"/>
                        </a:rPr>
                        <a:t>序号</a:t>
                      </a:r>
                      <a:endParaRPr sz="1050" b="1">
                        <a:solidFill>
                          <a:srgbClr val="FFFFFF"/>
                        </a:solidFill>
                        <a:latin typeface="微软雅黑" panose="020B0503020204020204" charset="-122"/>
                        <a:ea typeface="微软雅黑" panose="020B0503020204020204" charset="-122"/>
                        <a:cs typeface="微软雅黑" panose="020B0503020204020204" charset="-122"/>
                      </a:endParaRPr>
                    </a:p>
                  </a:txBody>
                  <a:tcPr marL="50800" marR="50800" marT="12700" marB="12700" anchor="ctr">
                    <a:solidFill>
                      <a:srgbClr val="0070C0"/>
                    </a:solidFill>
                  </a:tcPr>
                </a:tc>
                <a:tc>
                  <a:txBody>
                    <a:bodyPr wrap="square"/>
                    <a:lstStyle/>
                    <a:p>
                      <a:pPr algn="l"/>
                      <a:r>
                        <a:rPr sz="1050" b="1">
                          <a:solidFill>
                            <a:srgbClr val="FFFFFF"/>
                          </a:solidFill>
                          <a:latin typeface="微软雅黑" panose="020B0503020204020204" charset="-122"/>
                          <a:ea typeface="微软雅黑" panose="020B0503020204020204" charset="-122"/>
                          <a:cs typeface="微软雅黑" panose="020B0503020204020204" charset="-122"/>
                        </a:rPr>
                        <a:t>基金名称</a:t>
                      </a:r>
                      <a:endParaRPr sz="1050" b="1">
                        <a:solidFill>
                          <a:srgbClr val="FFFFFF"/>
                        </a:solidFill>
                        <a:latin typeface="微软雅黑" panose="020B0503020204020204" charset="-122"/>
                        <a:ea typeface="微软雅黑" panose="020B0503020204020204" charset="-122"/>
                        <a:cs typeface="微软雅黑" panose="020B0503020204020204" charset="-122"/>
                      </a:endParaRPr>
                    </a:p>
                  </a:txBody>
                  <a:tcPr marL="50800" marR="50800" marT="12700" marB="12700" anchor="ctr">
                    <a:solidFill>
                      <a:srgbClr val="0070C0"/>
                    </a:solidFill>
                  </a:tcPr>
                </a:tc>
                <a:tc>
                  <a:txBody>
                    <a:bodyPr wrap="square"/>
                    <a:lstStyle/>
                    <a:p>
                      <a:pPr algn="r"/>
                      <a:r>
                        <a:rPr sz="1050" b="1">
                          <a:solidFill>
                            <a:srgbClr val="FFFFFF"/>
                          </a:solidFill>
                          <a:latin typeface="微软雅黑" panose="020B0503020204020204" charset="-122"/>
                          <a:ea typeface="微软雅黑" panose="020B0503020204020204" charset="-122"/>
                          <a:cs typeface="微软雅黑" panose="020B0503020204020204" charset="-122"/>
                        </a:rPr>
                        <a:t>区间收益(元)</a:t>
                      </a:r>
                      <a:endParaRPr sz="1050" b="1">
                        <a:solidFill>
                          <a:srgbClr val="FFFFFF"/>
                        </a:solidFill>
                        <a:latin typeface="微软雅黑" panose="020B0503020204020204" charset="-122"/>
                        <a:ea typeface="微软雅黑" panose="020B0503020204020204" charset="-122"/>
                        <a:cs typeface="微软雅黑" panose="020B0503020204020204" charset="-122"/>
                      </a:endParaRPr>
                    </a:p>
                  </a:txBody>
                  <a:tcPr marL="50800" marR="50800" marT="12700" marB="12700" anchor="ctr">
                    <a:solidFill>
                      <a:srgbClr val="0070C0"/>
                    </a:solidFill>
                  </a:tcPr>
                </a:tc>
                <a:tc>
                  <a:txBody>
                    <a:bodyPr wrap="square"/>
                    <a:lstStyle/>
                    <a:p>
                      <a:pPr algn="r"/>
                      <a:r>
                        <a:rPr sz="1050" b="1">
                          <a:solidFill>
                            <a:srgbClr val="FFFFFF"/>
                          </a:solidFill>
                          <a:latin typeface="微软雅黑" panose="020B0503020204020204" charset="-122"/>
                          <a:ea typeface="微软雅黑" panose="020B0503020204020204" charset="-122"/>
                          <a:cs typeface="微软雅黑" panose="020B0503020204020204" charset="-122"/>
                        </a:rPr>
                        <a:t>区间收益率</a:t>
                      </a:r>
                      <a:endParaRPr sz="1050" b="1">
                        <a:solidFill>
                          <a:srgbClr val="FFFFFF"/>
                        </a:solidFill>
                        <a:latin typeface="微软雅黑" panose="020B0503020204020204" charset="-122"/>
                        <a:ea typeface="微软雅黑" panose="020B0503020204020204" charset="-122"/>
                        <a:cs typeface="微软雅黑" panose="020B0503020204020204" charset="-122"/>
                      </a:endParaRPr>
                    </a:p>
                  </a:txBody>
                  <a:tcPr marL="50800" marR="50800" marT="12700" marB="12700" anchor="ctr">
                    <a:solidFill>
                      <a:srgbClr val="0070C0"/>
                    </a:solidFill>
                  </a:tcPr>
                </a:tc>
                <a:tc>
                  <a:txBody>
                    <a:bodyPr wrap="square"/>
                    <a:lstStyle/>
                    <a:p>
                      <a:pPr algn="r"/>
                      <a:r>
                        <a:rPr sz="1050" b="1">
                          <a:solidFill>
                            <a:srgbClr val="FFFFFF"/>
                          </a:solidFill>
                          <a:latin typeface="微软雅黑" panose="020B0503020204020204" charset="-122"/>
                          <a:ea typeface="微软雅黑" panose="020B0503020204020204" charset="-122"/>
                          <a:cs typeface="微软雅黑" panose="020B0503020204020204" charset="-122"/>
                        </a:rPr>
                        <a:t>区间年化</a:t>
                      </a:r>
                      <a:endParaRPr sz="1050" b="1">
                        <a:solidFill>
                          <a:srgbClr val="FFFFFF"/>
                        </a:solidFill>
                        <a:latin typeface="微软雅黑" panose="020B0503020204020204" charset="-122"/>
                        <a:ea typeface="微软雅黑" panose="020B0503020204020204" charset="-122"/>
                        <a:cs typeface="微软雅黑" panose="020B0503020204020204" charset="-122"/>
                      </a:endParaRPr>
                    </a:p>
                  </a:txBody>
                  <a:tcPr marL="50800" marR="50800" marT="12700" marB="12700" anchor="ctr">
                    <a:solidFill>
                      <a:srgbClr val="0070C0"/>
                    </a:solidFill>
                  </a:tcPr>
                </a:tc>
                <a:tc>
                  <a:txBody>
                    <a:bodyPr wrap="square"/>
                    <a:lstStyle/>
                    <a:p>
                      <a:pPr algn="r"/>
                      <a:r>
                        <a:rPr sz="1050" b="1">
                          <a:solidFill>
                            <a:srgbClr val="FFFFFF"/>
                          </a:solidFill>
                          <a:latin typeface="微软雅黑" panose="020B0503020204020204" charset="-122"/>
                          <a:ea typeface="微软雅黑" panose="020B0503020204020204" charset="-122"/>
                          <a:cs typeface="微软雅黑" panose="020B0503020204020204" charset="-122"/>
                        </a:rPr>
                        <a:t>持有成本(元)</a:t>
                      </a:r>
                      <a:endParaRPr sz="1050" b="1">
                        <a:solidFill>
                          <a:srgbClr val="FFFFFF"/>
                        </a:solidFill>
                        <a:latin typeface="微软雅黑" panose="020B0503020204020204" charset="-122"/>
                        <a:ea typeface="微软雅黑" panose="020B0503020204020204" charset="-122"/>
                        <a:cs typeface="微软雅黑" panose="020B0503020204020204" charset="-122"/>
                      </a:endParaRPr>
                    </a:p>
                  </a:txBody>
                  <a:tcPr marL="50800" marR="50800" marT="12700" marB="12700" anchor="ctr">
                    <a:solidFill>
                      <a:srgbClr val="0070C0"/>
                    </a:solidFill>
                  </a:tcPr>
                </a:tc>
                <a:extLst>
                  <a:ext uri="{0D108BD9-81ED-4DB2-BD59-A6C34878D82A}">
                    <a16:rowId val="1"/>
                  </a:ext>
                </a:extLst>
              </a:tr>
              <a:tr h="320040">
                <a:tc>
                  <a:txBody>
                    <a:bodyPr wrap="square"/>
                    <a:lstStyle/>
                    <a:p>
                      <a:pPr algn="r"/>
                      <a:r>
                        <a:rPr sz="1050" b="0">
                          <a:solidFill>
                            <a:srgbClr val="1F2933"/>
                          </a:solidFill>
                          <a:latin typeface="微软雅黑" panose="020B0503020204020204" charset="-122"/>
                          <a:ea typeface="微软雅黑" panose="020B0503020204020204" charset="-122"/>
                          <a:cs typeface="微软雅黑" panose="020B0503020204020204" charset="-122"/>
                        </a:rPr>
                        <a:t>1</a:t>
                      </a:r>
                      <a:endParaRPr sz="1050" b="0">
                        <a:solidFill>
                          <a:srgbClr val="1F2933"/>
                        </a:solidFill>
                        <a:latin typeface="微软雅黑" panose="020B0503020204020204" charset="-122"/>
                        <a:ea typeface="微软雅黑" panose="020B0503020204020204" charset="-122"/>
                        <a:cs typeface="微软雅黑" panose="020B0503020204020204" charset="-122"/>
                      </a:endParaRPr>
                    </a:p>
                  </a:txBody>
                  <a:tcPr marL="50800" marR="50800" marT="12700" marB="12700" anchor="ctr">
                    <a:solidFill>
                      <a:srgbClr val="FFFFFF"/>
                    </a:solidFill>
                  </a:tcPr>
                </a:tc>
                <a:tc>
                  <a:txBody>
                    <a:bodyPr wrap="square"/>
                    <a:lstStyle/>
                    <a:p>
                      <a:pPr algn="l"/>
                      <a:r>
                        <a:rPr lang="zh-CN" sz="1050" b="1">
                          <a:solidFill>
                            <a:srgbClr val="1F2933"/>
                          </a:solidFill>
                          <a:latin typeface="微软雅黑" panose="020B0503020204020204" charset="-122"/>
                          <a:ea typeface="微软雅黑" panose="020B0503020204020204" charset="-122"/>
                          <a:cs typeface="微软雅黑" panose="020B0503020204020204" charset="-122"/>
                        </a:rPr>
                        <a:t>中柏秋分</a:t>
                      </a:r>
                      <a:endParaRPr lang="zh-CN" sz="1050" b="1">
                        <a:solidFill>
                          <a:srgbClr val="1F2933"/>
                        </a:solidFill>
                        <a:latin typeface="微软雅黑" panose="020B0503020204020204" charset="-122"/>
                        <a:ea typeface="微软雅黑" panose="020B0503020204020204" charset="-122"/>
                        <a:cs typeface="微软雅黑" panose="020B0503020204020204" charset="-122"/>
                      </a:endParaRPr>
                    </a:p>
                  </a:txBody>
                  <a:tcPr marL="50800" marR="50800" marT="12700" marB="12700" anchor="ctr">
                    <a:solidFill>
                      <a:srgbClr val="FFFFFF"/>
                    </a:solidFill>
                  </a:tcPr>
                </a:tc>
                <a:tc>
                  <a:txBody>
                    <a:bodyPr wrap="square"/>
                    <a:lstStyle/>
                    <a:p>
                      <a:pPr algn="r"/>
                      <a:r>
                        <a:rPr lang="en-US" sz="1050" b="0">
                          <a:solidFill>
                            <a:srgbClr val="1F2933"/>
                          </a:solidFill>
                          <a:latin typeface="微软雅黑" panose="020B0503020204020204" charset="-122"/>
                          <a:ea typeface="微软雅黑" panose="020B0503020204020204" charset="-122"/>
                          <a:cs typeface="微软雅黑" panose="020B0503020204020204" charset="-122"/>
                        </a:rPr>
                        <a:t>194,798.69</a:t>
                      </a:r>
                      <a:endParaRPr lang="en-US" sz="1050" b="0">
                        <a:solidFill>
                          <a:srgbClr val="1F2933"/>
                        </a:solidFill>
                        <a:latin typeface="微软雅黑" panose="020B0503020204020204" charset="-122"/>
                        <a:ea typeface="微软雅黑" panose="020B0503020204020204" charset="-122"/>
                        <a:cs typeface="微软雅黑" panose="020B0503020204020204" charset="-122"/>
                      </a:endParaRPr>
                    </a:p>
                  </a:txBody>
                  <a:tcPr marL="50800" marR="50800" marT="12700" marB="12700" anchor="ctr">
                    <a:solidFill>
                      <a:srgbClr val="FFFFFF"/>
                    </a:solidFill>
                  </a:tcPr>
                </a:tc>
                <a:tc>
                  <a:txBody>
                    <a:bodyPr wrap="square"/>
                    <a:lstStyle/>
                    <a:p>
                      <a:pPr algn="r"/>
                      <a:r>
                        <a:rPr lang="en-US" sz="1050" b="0">
                          <a:solidFill>
                            <a:srgbClr val="1F2933"/>
                          </a:solidFill>
                          <a:latin typeface="微软雅黑" panose="020B0503020204020204" charset="-122"/>
                          <a:ea typeface="微软雅黑" panose="020B0503020204020204" charset="-122"/>
                          <a:cs typeface="微软雅黑" panose="020B0503020204020204" charset="-122"/>
                        </a:rPr>
                        <a:t>5.57%</a:t>
                      </a:r>
                      <a:endParaRPr lang="en-US" sz="1050" b="0">
                        <a:solidFill>
                          <a:srgbClr val="1F2933"/>
                        </a:solidFill>
                        <a:latin typeface="微软雅黑" panose="020B0503020204020204" charset="-122"/>
                        <a:ea typeface="微软雅黑" panose="020B0503020204020204" charset="-122"/>
                        <a:cs typeface="微软雅黑" panose="020B0503020204020204" charset="-122"/>
                      </a:endParaRPr>
                    </a:p>
                  </a:txBody>
                  <a:tcPr marL="50800" marR="50800" marT="12700" marB="12700" anchor="ctr">
                    <a:solidFill>
                      <a:srgbClr val="FFFFFF"/>
                    </a:solidFill>
                  </a:tcPr>
                </a:tc>
                <a:tc>
                  <a:txBody>
                    <a:bodyPr wrap="square"/>
                    <a:lstStyle/>
                    <a:p>
                      <a:pPr algn="r"/>
                      <a:r>
                        <a:rPr lang="en-US" sz="1050" b="0">
                          <a:solidFill>
                            <a:srgbClr val="1F2933"/>
                          </a:solidFill>
                          <a:latin typeface="微软雅黑" panose="020B0503020204020204" charset="-122"/>
                          <a:ea typeface="微软雅黑" panose="020B0503020204020204" charset="-122"/>
                          <a:cs typeface="微软雅黑" panose="020B0503020204020204" charset="-122"/>
                        </a:rPr>
                        <a:t>23.90%</a:t>
                      </a:r>
                      <a:endParaRPr lang="en-US" sz="1050" b="0">
                        <a:solidFill>
                          <a:srgbClr val="1F2933"/>
                        </a:solidFill>
                        <a:latin typeface="微软雅黑" panose="020B0503020204020204" charset="-122"/>
                        <a:ea typeface="微软雅黑" panose="020B0503020204020204" charset="-122"/>
                        <a:cs typeface="微软雅黑" panose="020B0503020204020204" charset="-122"/>
                      </a:endParaRPr>
                    </a:p>
                  </a:txBody>
                  <a:tcPr marL="50800" marR="50800" marT="12700" marB="12700" anchor="ctr">
                    <a:solidFill>
                      <a:srgbClr val="FFFFFF"/>
                    </a:solidFill>
                  </a:tcPr>
                </a:tc>
                <a:tc>
                  <a:txBody>
                    <a:bodyPr wrap="square"/>
                    <a:lstStyle/>
                    <a:p>
                      <a:pPr algn="r"/>
                      <a:r>
                        <a:rPr lang="en-US" sz="1050" b="0">
                          <a:solidFill>
                            <a:srgbClr val="1F2933"/>
                          </a:solidFill>
                          <a:latin typeface="微软雅黑" panose="020B0503020204020204" charset="-122"/>
                          <a:ea typeface="微软雅黑" panose="020B0503020204020204" charset="-122"/>
                          <a:cs typeface="微软雅黑" panose="020B0503020204020204" charset="-122"/>
                        </a:rPr>
                        <a:t>3,500,000</a:t>
                      </a:r>
                      <a:endParaRPr lang="en-US" sz="1050" b="0">
                        <a:solidFill>
                          <a:srgbClr val="1F2933"/>
                        </a:solidFill>
                        <a:latin typeface="微软雅黑" panose="020B0503020204020204" charset="-122"/>
                        <a:ea typeface="微软雅黑" panose="020B0503020204020204" charset="-122"/>
                        <a:cs typeface="微软雅黑" panose="020B0503020204020204" charset="-122"/>
                      </a:endParaRPr>
                    </a:p>
                  </a:txBody>
                  <a:tcPr marL="50800" marR="50800" marT="12700" marB="12700" anchor="ctr">
                    <a:solidFill>
                      <a:srgbClr val="FFFFFF"/>
                    </a:solidFill>
                  </a:tcPr>
                </a:tc>
                <a:extLst>
                  <a:ext uri="{0D108BD9-81ED-4DB2-BD59-A6C34878D82A}">
                    <a16:rowId val="2"/>
                  </a:ext>
                </a:extLst>
              </a:tr>
              <a:tr h="320040">
                <a:tc>
                  <a:txBody>
                    <a:bodyPr wrap="square"/>
                    <a:lstStyle/>
                    <a:p>
                      <a:pPr algn="r"/>
                      <a:r>
                        <a:rPr sz="1050" b="0">
                          <a:solidFill>
                            <a:srgbClr val="1F2933"/>
                          </a:solidFill>
                          <a:latin typeface="微软雅黑" panose="020B0503020204020204" charset="-122"/>
                          <a:ea typeface="微软雅黑" panose="020B0503020204020204" charset="-122"/>
                          <a:cs typeface="微软雅黑" panose="020B0503020204020204" charset="-122"/>
                        </a:rPr>
                        <a:t>2</a:t>
                      </a:r>
                      <a:endParaRPr sz="1050" b="0">
                        <a:solidFill>
                          <a:srgbClr val="1F2933"/>
                        </a:solidFill>
                        <a:latin typeface="微软雅黑" panose="020B0503020204020204" charset="-122"/>
                        <a:ea typeface="微软雅黑" panose="020B0503020204020204" charset="-122"/>
                        <a:cs typeface="微软雅黑" panose="020B0503020204020204" charset="-122"/>
                      </a:endParaRPr>
                    </a:p>
                  </a:txBody>
                  <a:tcPr marL="50800" marR="50800" marT="12700" marB="12700" anchor="ctr">
                    <a:solidFill>
                      <a:srgbClr val="F4FAFE"/>
                    </a:solidFill>
                  </a:tcPr>
                </a:tc>
                <a:tc>
                  <a:txBody>
                    <a:bodyPr wrap="square"/>
                    <a:lstStyle/>
                    <a:p>
                      <a:pPr algn="l"/>
                      <a:r>
                        <a:rPr lang="zh-CN" altLang="en-US" sz="1050" b="1">
                          <a:solidFill>
                            <a:srgbClr val="1F2933"/>
                          </a:solidFill>
                          <a:latin typeface="微软雅黑" panose="020B0503020204020204" charset="-122"/>
                          <a:ea typeface="微软雅黑" panose="020B0503020204020204" charset="-122"/>
                          <a:cs typeface="微软雅黑" panose="020B0503020204020204" charset="-122"/>
                        </a:rPr>
                        <a:t>傲创盈丰</a:t>
                      </a:r>
                      <a:endParaRPr lang="zh-CN" altLang="en-US" sz="1050" b="1">
                        <a:solidFill>
                          <a:srgbClr val="1F2933"/>
                        </a:solidFill>
                        <a:latin typeface="微软雅黑" panose="020B0503020204020204" charset="-122"/>
                        <a:ea typeface="微软雅黑" panose="020B0503020204020204" charset="-122"/>
                        <a:cs typeface="微软雅黑" panose="020B0503020204020204" charset="-122"/>
                      </a:endParaRPr>
                    </a:p>
                  </a:txBody>
                  <a:tcPr marL="50800" marR="50800" marT="12700" marB="12700" anchor="ctr">
                    <a:solidFill>
                      <a:srgbClr val="F4FAFE"/>
                    </a:solidFill>
                  </a:tcPr>
                </a:tc>
                <a:tc>
                  <a:txBody>
                    <a:bodyPr wrap="square"/>
                    <a:lstStyle/>
                    <a:p>
                      <a:pPr algn="r"/>
                      <a:r>
                        <a:rPr lang="en-US" sz="1050" b="0">
                          <a:solidFill>
                            <a:srgbClr val="1F2933"/>
                          </a:solidFill>
                          <a:latin typeface="微软雅黑" panose="020B0503020204020204" charset="-122"/>
                          <a:ea typeface="微软雅黑" panose="020B0503020204020204" charset="-122"/>
                          <a:cs typeface="微软雅黑" panose="020B0503020204020204" charset="-122"/>
                        </a:rPr>
                        <a:t>69,546.12</a:t>
                      </a:r>
                      <a:endParaRPr lang="en-US" sz="1050" b="0">
                        <a:solidFill>
                          <a:srgbClr val="1F2933"/>
                        </a:solidFill>
                        <a:latin typeface="微软雅黑" panose="020B0503020204020204" charset="-122"/>
                        <a:ea typeface="微软雅黑" panose="020B0503020204020204" charset="-122"/>
                        <a:cs typeface="微软雅黑" panose="020B0503020204020204" charset="-122"/>
                      </a:endParaRPr>
                    </a:p>
                  </a:txBody>
                  <a:tcPr marL="50800" marR="50800" marT="12700" marB="12700" anchor="ctr">
                    <a:solidFill>
                      <a:srgbClr val="F4FAFE"/>
                    </a:solidFill>
                  </a:tcPr>
                </a:tc>
                <a:tc>
                  <a:txBody>
                    <a:bodyPr wrap="square"/>
                    <a:lstStyle/>
                    <a:p>
                      <a:pPr algn="r"/>
                      <a:r>
                        <a:rPr lang="en-US" sz="1050" b="0">
                          <a:solidFill>
                            <a:srgbClr val="1F2933"/>
                          </a:solidFill>
                          <a:latin typeface="微软雅黑" panose="020B0503020204020204" charset="-122"/>
                          <a:ea typeface="微软雅黑" panose="020B0503020204020204" charset="-122"/>
                          <a:cs typeface="微软雅黑" panose="020B0503020204020204" charset="-122"/>
                        </a:rPr>
                        <a:t>0.70%</a:t>
                      </a:r>
                      <a:endParaRPr lang="en-US" sz="1050" b="0">
                        <a:solidFill>
                          <a:srgbClr val="1F2933"/>
                        </a:solidFill>
                        <a:latin typeface="微软雅黑" panose="020B0503020204020204" charset="-122"/>
                        <a:ea typeface="微软雅黑" panose="020B0503020204020204" charset="-122"/>
                        <a:cs typeface="微软雅黑" panose="020B0503020204020204" charset="-122"/>
                      </a:endParaRPr>
                    </a:p>
                  </a:txBody>
                  <a:tcPr marL="50800" marR="50800" marT="12700" marB="12700" anchor="ctr">
                    <a:solidFill>
                      <a:srgbClr val="F4FAFE"/>
                    </a:solidFill>
                  </a:tcPr>
                </a:tc>
                <a:tc>
                  <a:txBody>
                    <a:bodyPr wrap="square"/>
                    <a:lstStyle/>
                    <a:p>
                      <a:pPr algn="r"/>
                      <a:r>
                        <a:rPr lang="en-US" sz="1050" b="0">
                          <a:solidFill>
                            <a:srgbClr val="1F2933"/>
                          </a:solidFill>
                          <a:latin typeface="微软雅黑" panose="020B0503020204020204" charset="-122"/>
                          <a:ea typeface="微软雅黑" panose="020B0503020204020204" charset="-122"/>
                          <a:cs typeface="微软雅黑" panose="020B0503020204020204" charset="-122"/>
                        </a:rPr>
                        <a:t>2.37%</a:t>
                      </a:r>
                      <a:endParaRPr lang="en-US" sz="1050" b="0">
                        <a:solidFill>
                          <a:srgbClr val="1F2933"/>
                        </a:solidFill>
                        <a:latin typeface="微软雅黑" panose="020B0503020204020204" charset="-122"/>
                        <a:ea typeface="微软雅黑" panose="020B0503020204020204" charset="-122"/>
                        <a:cs typeface="微软雅黑" panose="020B0503020204020204" charset="-122"/>
                      </a:endParaRPr>
                    </a:p>
                  </a:txBody>
                  <a:tcPr marL="50800" marR="50800" marT="12700" marB="12700" anchor="ctr">
                    <a:solidFill>
                      <a:srgbClr val="F4FAFE"/>
                    </a:solidFill>
                  </a:tcPr>
                </a:tc>
                <a:tc>
                  <a:txBody>
                    <a:bodyPr wrap="square"/>
                    <a:lstStyle/>
                    <a:p>
                      <a:pPr algn="r"/>
                      <a:r>
                        <a:rPr lang="en-US" sz="1050" b="0">
                          <a:solidFill>
                            <a:srgbClr val="1F2933"/>
                          </a:solidFill>
                          <a:latin typeface="微软雅黑" panose="020B0503020204020204" charset="-122"/>
                          <a:ea typeface="微软雅黑" panose="020B0503020204020204" charset="-122"/>
                          <a:cs typeface="微软雅黑" panose="020B0503020204020204" charset="-122"/>
                        </a:rPr>
                        <a:t>10,000,000</a:t>
                      </a:r>
                      <a:endParaRPr lang="en-US" sz="1050" b="0">
                        <a:solidFill>
                          <a:srgbClr val="1F2933"/>
                        </a:solidFill>
                        <a:latin typeface="微软雅黑" panose="020B0503020204020204" charset="-122"/>
                        <a:ea typeface="微软雅黑" panose="020B0503020204020204" charset="-122"/>
                        <a:cs typeface="微软雅黑" panose="020B0503020204020204" charset="-122"/>
                      </a:endParaRPr>
                    </a:p>
                  </a:txBody>
                  <a:tcPr marL="50800" marR="50800" marT="12700" marB="12700" anchor="ctr">
                    <a:solidFill>
                      <a:srgbClr val="F4FAFE"/>
                    </a:solidFill>
                  </a:tcPr>
                </a:tc>
                <a:extLst>
                  <a:ext uri="{0D108BD9-81ED-4DB2-BD59-A6C34878D82A}">
                    <a16:rowId val="3"/>
                  </a:ext>
                </a:extLst>
              </a:tr>
              <a:tr h="320040">
                <a:tc>
                  <a:txBody>
                    <a:bodyPr wrap="square"/>
                    <a:lstStyle/>
                    <a:p>
                      <a:pPr algn="r"/>
                      <a:r>
                        <a:rPr sz="1050" b="0">
                          <a:solidFill>
                            <a:srgbClr val="1F2933"/>
                          </a:solidFill>
                          <a:latin typeface="微软雅黑" panose="020B0503020204020204" charset="-122"/>
                          <a:ea typeface="微软雅黑" panose="020B0503020204020204" charset="-122"/>
                          <a:cs typeface="微软雅黑" panose="020B0503020204020204" charset="-122"/>
                        </a:rPr>
                        <a:t>3</a:t>
                      </a:r>
                      <a:endParaRPr sz="1050" b="0">
                        <a:solidFill>
                          <a:srgbClr val="1F2933"/>
                        </a:solidFill>
                        <a:latin typeface="微软雅黑" panose="020B0503020204020204" charset="-122"/>
                        <a:ea typeface="微软雅黑" panose="020B0503020204020204" charset="-122"/>
                        <a:cs typeface="微软雅黑" panose="020B0503020204020204" charset="-122"/>
                      </a:endParaRPr>
                    </a:p>
                  </a:txBody>
                  <a:tcPr marL="50800" marR="50800" marT="12700" marB="12700" anchor="ctr">
                    <a:solidFill>
                      <a:srgbClr val="FFFFFF"/>
                    </a:solidFill>
                  </a:tcPr>
                </a:tc>
                <a:tc>
                  <a:txBody>
                    <a:bodyPr wrap="square"/>
                    <a:lstStyle/>
                    <a:p>
                      <a:pPr algn="l"/>
                      <a:r>
                        <a:rPr lang="zh-CN" sz="1050" b="1">
                          <a:solidFill>
                            <a:srgbClr val="1F2933"/>
                          </a:solidFill>
                          <a:latin typeface="微软雅黑" panose="020B0503020204020204" charset="-122"/>
                          <a:ea typeface="微软雅黑" panose="020B0503020204020204" charset="-122"/>
                          <a:cs typeface="微软雅黑" panose="020B0503020204020204" charset="-122"/>
                        </a:rPr>
                        <a:t>锐联多元化旗舰六号</a:t>
                      </a:r>
                      <a:r>
                        <a:rPr lang="en-US" altLang="zh-CN" sz="1050" b="1">
                          <a:solidFill>
                            <a:srgbClr val="1F2933"/>
                          </a:solidFill>
                          <a:latin typeface="微软雅黑" panose="020B0503020204020204" charset="-122"/>
                          <a:ea typeface="微软雅黑" panose="020B0503020204020204" charset="-122"/>
                          <a:cs typeface="微软雅黑" panose="020B0503020204020204" charset="-122"/>
                        </a:rPr>
                        <a:t>B</a:t>
                      </a:r>
                      <a:r>
                        <a:rPr lang="zh-CN" altLang="en-US" sz="1050" b="1">
                          <a:solidFill>
                            <a:srgbClr val="1F2933"/>
                          </a:solidFill>
                          <a:latin typeface="微软雅黑" panose="020B0503020204020204" charset="-122"/>
                          <a:ea typeface="微软雅黑" panose="020B0503020204020204" charset="-122"/>
                          <a:cs typeface="微软雅黑" panose="020B0503020204020204" charset="-122"/>
                        </a:rPr>
                        <a:t>类</a:t>
                      </a:r>
                      <a:endParaRPr lang="zh-CN" altLang="en-US" sz="1050" b="1">
                        <a:solidFill>
                          <a:srgbClr val="1F2933"/>
                        </a:solidFill>
                        <a:latin typeface="微软雅黑" panose="020B0503020204020204" charset="-122"/>
                        <a:ea typeface="微软雅黑" panose="020B0503020204020204" charset="-122"/>
                        <a:cs typeface="微软雅黑" panose="020B0503020204020204" charset="-122"/>
                      </a:endParaRPr>
                    </a:p>
                  </a:txBody>
                  <a:tcPr marL="50800" marR="50800" marT="12700" marB="12700" anchor="ctr">
                    <a:solidFill>
                      <a:srgbClr val="FFFFFF"/>
                    </a:solidFill>
                  </a:tcPr>
                </a:tc>
                <a:tc>
                  <a:txBody>
                    <a:bodyPr wrap="square"/>
                    <a:lstStyle/>
                    <a:p>
                      <a:pPr algn="r"/>
                      <a:r>
                        <a:rPr lang="en-US" sz="1050" b="0">
                          <a:solidFill>
                            <a:srgbClr val="1F2933"/>
                          </a:solidFill>
                          <a:latin typeface="微软雅黑" panose="020B0503020204020204" charset="-122"/>
                          <a:ea typeface="微软雅黑" panose="020B0503020204020204" charset="-122"/>
                          <a:cs typeface="微软雅黑" panose="020B0503020204020204" charset="-122"/>
                        </a:rPr>
                        <a:t>16,251.97</a:t>
                      </a:r>
                      <a:endParaRPr lang="en-US" sz="1050" b="0">
                        <a:solidFill>
                          <a:srgbClr val="1F2933"/>
                        </a:solidFill>
                        <a:latin typeface="微软雅黑" panose="020B0503020204020204" charset="-122"/>
                        <a:ea typeface="微软雅黑" panose="020B0503020204020204" charset="-122"/>
                        <a:cs typeface="微软雅黑" panose="020B0503020204020204" charset="-122"/>
                      </a:endParaRPr>
                    </a:p>
                  </a:txBody>
                  <a:tcPr marL="50800" marR="50800" marT="12700" marB="12700" anchor="ctr">
                    <a:solidFill>
                      <a:srgbClr val="FFFFFF"/>
                    </a:solidFill>
                  </a:tcPr>
                </a:tc>
                <a:tc>
                  <a:txBody>
                    <a:bodyPr wrap="square"/>
                    <a:lstStyle/>
                    <a:p>
                      <a:pPr algn="r"/>
                      <a:r>
                        <a:rPr lang="en-US" sz="1050" b="0">
                          <a:solidFill>
                            <a:srgbClr val="1F2933"/>
                          </a:solidFill>
                          <a:latin typeface="微软雅黑" panose="020B0503020204020204" charset="-122"/>
                          <a:ea typeface="微软雅黑" panose="020B0503020204020204" charset="-122"/>
                          <a:cs typeface="微软雅黑" panose="020B0503020204020204" charset="-122"/>
                        </a:rPr>
                        <a:t>0.46%</a:t>
                      </a:r>
                      <a:endParaRPr lang="en-US" sz="1050" b="0">
                        <a:solidFill>
                          <a:srgbClr val="1F2933"/>
                        </a:solidFill>
                        <a:latin typeface="微软雅黑" panose="020B0503020204020204" charset="-122"/>
                        <a:ea typeface="微软雅黑" panose="020B0503020204020204" charset="-122"/>
                        <a:cs typeface="微软雅黑" panose="020B0503020204020204" charset="-122"/>
                      </a:endParaRPr>
                    </a:p>
                  </a:txBody>
                  <a:tcPr marL="50800" marR="50800" marT="12700" marB="12700" anchor="ctr">
                    <a:solidFill>
                      <a:srgbClr val="FFFFFF"/>
                    </a:solidFill>
                  </a:tcPr>
                </a:tc>
                <a:tc>
                  <a:txBody>
                    <a:bodyPr wrap="square"/>
                    <a:lstStyle/>
                    <a:p>
                      <a:pPr algn="r"/>
                      <a:r>
                        <a:rPr lang="en-US" sz="1050" b="0">
                          <a:solidFill>
                            <a:srgbClr val="1F2933"/>
                          </a:solidFill>
                          <a:latin typeface="微软雅黑" panose="020B0503020204020204" charset="-122"/>
                          <a:ea typeface="微软雅黑" panose="020B0503020204020204" charset="-122"/>
                          <a:cs typeface="微软雅黑" panose="020B0503020204020204" charset="-122"/>
                        </a:rPr>
                        <a:t>1.77%</a:t>
                      </a:r>
                      <a:endParaRPr lang="en-US" sz="1050" b="0">
                        <a:solidFill>
                          <a:srgbClr val="1F2933"/>
                        </a:solidFill>
                        <a:latin typeface="微软雅黑" panose="020B0503020204020204" charset="-122"/>
                        <a:ea typeface="微软雅黑" panose="020B0503020204020204" charset="-122"/>
                        <a:cs typeface="微软雅黑" panose="020B0503020204020204" charset="-122"/>
                      </a:endParaRPr>
                    </a:p>
                  </a:txBody>
                  <a:tcPr marL="50800" marR="50800" marT="12700" marB="12700" anchor="ctr">
                    <a:solidFill>
                      <a:srgbClr val="FFFFFF"/>
                    </a:solidFill>
                  </a:tcPr>
                </a:tc>
                <a:tc>
                  <a:txBody>
                    <a:bodyPr wrap="square"/>
                    <a:lstStyle/>
                    <a:p>
                      <a:pPr algn="r"/>
                      <a:r>
                        <a:rPr lang="en-US" sz="1050">
                          <a:solidFill>
                            <a:srgbClr val="1F2933"/>
                          </a:solidFill>
                          <a:latin typeface="微软雅黑" panose="020B0503020204020204" charset="-122"/>
                          <a:ea typeface="微软雅黑" panose="020B0503020204020204" charset="-122"/>
                          <a:cs typeface="微软雅黑" panose="020B0503020204020204" charset="-122"/>
                          <a:sym typeface="微软雅黑" panose="020B0503020204020204" charset="-122"/>
                        </a:rPr>
                        <a:t>3,500,000</a:t>
                      </a:r>
                      <a:endParaRPr sz="1050" b="0">
                        <a:solidFill>
                          <a:srgbClr val="1F2933"/>
                        </a:solidFill>
                        <a:latin typeface="微软雅黑" panose="020B0503020204020204" charset="-122"/>
                        <a:ea typeface="微软雅黑" panose="020B0503020204020204" charset="-122"/>
                        <a:cs typeface="微软雅黑" panose="020B0503020204020204" charset="-122"/>
                      </a:endParaRPr>
                    </a:p>
                  </a:txBody>
                  <a:tcPr marL="50800" marR="50800" marT="12700" marB="12700" anchor="ctr">
                    <a:solidFill>
                      <a:srgbClr val="FFFFFF"/>
                    </a:solidFill>
                  </a:tcPr>
                </a:tc>
                <a:extLst>
                  <a:ext uri="{0D108BD9-81ED-4DB2-BD59-A6C34878D82A}">
                    <a16:rowId val="4"/>
                  </a:ext>
                </a:extLst>
              </a:tr>
              <a:tr h="320040">
                <a:tc>
                  <a:txBody>
                    <a:bodyPr wrap="square"/>
                    <a:lstStyle/>
                    <a:p>
                      <a:pPr algn="r"/>
                      <a:r>
                        <a:rPr sz="1050" b="0">
                          <a:solidFill>
                            <a:srgbClr val="1F2933"/>
                          </a:solidFill>
                          <a:latin typeface="微软雅黑" panose="020B0503020204020204" charset="-122"/>
                          <a:ea typeface="微软雅黑" panose="020B0503020204020204" charset="-122"/>
                          <a:cs typeface="微软雅黑" panose="020B0503020204020204" charset="-122"/>
                        </a:rPr>
                        <a:t>4</a:t>
                      </a:r>
                      <a:endParaRPr sz="1050" b="0">
                        <a:solidFill>
                          <a:srgbClr val="1F2933"/>
                        </a:solidFill>
                        <a:latin typeface="微软雅黑" panose="020B0503020204020204" charset="-122"/>
                        <a:ea typeface="微软雅黑" panose="020B0503020204020204" charset="-122"/>
                        <a:cs typeface="微软雅黑" panose="020B0503020204020204" charset="-122"/>
                      </a:endParaRPr>
                    </a:p>
                  </a:txBody>
                  <a:tcPr marL="50800" marR="50800" marT="12700" marB="12700" anchor="ctr">
                    <a:solidFill>
                      <a:srgbClr val="F4FAFE"/>
                    </a:solidFill>
                  </a:tcPr>
                </a:tc>
                <a:tc>
                  <a:txBody>
                    <a:bodyPr wrap="square"/>
                    <a:lstStyle/>
                    <a:p>
                      <a:pPr algn="l"/>
                      <a:r>
                        <a:rPr lang="zh-CN" sz="1050" b="1">
                          <a:solidFill>
                            <a:srgbClr val="1F2933"/>
                          </a:solidFill>
                          <a:latin typeface="微软雅黑" panose="020B0503020204020204" charset="-122"/>
                          <a:ea typeface="微软雅黑" panose="020B0503020204020204" charset="-122"/>
                          <a:cs typeface="微软雅黑" panose="020B0503020204020204" charset="-122"/>
                        </a:rPr>
                        <a:t>交睿宏安</a:t>
                      </a:r>
                      <a:r>
                        <a:rPr lang="en-US" altLang="zh-CN" sz="1050" b="1">
                          <a:solidFill>
                            <a:srgbClr val="1F2933"/>
                          </a:solidFill>
                          <a:latin typeface="微软雅黑" panose="020B0503020204020204" charset="-122"/>
                          <a:ea typeface="微软雅黑" panose="020B0503020204020204" charset="-122"/>
                          <a:cs typeface="微软雅黑" panose="020B0503020204020204" charset="-122"/>
                        </a:rPr>
                        <a:t>1</a:t>
                      </a:r>
                      <a:r>
                        <a:rPr lang="zh-CN" altLang="en-US" sz="1050" b="1">
                          <a:solidFill>
                            <a:srgbClr val="1F2933"/>
                          </a:solidFill>
                          <a:latin typeface="微软雅黑" panose="020B0503020204020204" charset="-122"/>
                          <a:ea typeface="微软雅黑" panose="020B0503020204020204" charset="-122"/>
                          <a:cs typeface="微软雅黑" panose="020B0503020204020204" charset="-122"/>
                        </a:rPr>
                        <a:t>号</a:t>
                      </a:r>
                      <a:r>
                        <a:rPr lang="en-US" altLang="zh-CN" sz="1050" b="1">
                          <a:solidFill>
                            <a:srgbClr val="1F2933"/>
                          </a:solidFill>
                          <a:latin typeface="微软雅黑" panose="020B0503020204020204" charset="-122"/>
                          <a:ea typeface="微软雅黑" panose="020B0503020204020204" charset="-122"/>
                          <a:cs typeface="微软雅黑" panose="020B0503020204020204" charset="-122"/>
                        </a:rPr>
                        <a:t>B</a:t>
                      </a:r>
                      <a:r>
                        <a:rPr lang="zh-CN" altLang="en-US" sz="1050" b="1">
                          <a:solidFill>
                            <a:srgbClr val="1F2933"/>
                          </a:solidFill>
                          <a:latin typeface="微软雅黑" panose="020B0503020204020204" charset="-122"/>
                          <a:ea typeface="微软雅黑" panose="020B0503020204020204" charset="-122"/>
                          <a:cs typeface="微软雅黑" panose="020B0503020204020204" charset="-122"/>
                        </a:rPr>
                        <a:t>类</a:t>
                      </a:r>
                      <a:endParaRPr lang="zh-CN" altLang="en-US" sz="1050" b="1">
                        <a:solidFill>
                          <a:srgbClr val="1F2933"/>
                        </a:solidFill>
                        <a:latin typeface="微软雅黑" panose="020B0503020204020204" charset="-122"/>
                        <a:ea typeface="微软雅黑" panose="020B0503020204020204" charset="-122"/>
                        <a:cs typeface="微软雅黑" panose="020B0503020204020204" charset="-122"/>
                      </a:endParaRPr>
                    </a:p>
                  </a:txBody>
                  <a:tcPr marL="50800" marR="50800" marT="12700" marB="12700" anchor="ctr">
                    <a:solidFill>
                      <a:srgbClr val="F4FAFE"/>
                    </a:solidFill>
                  </a:tcPr>
                </a:tc>
                <a:tc>
                  <a:txBody>
                    <a:bodyPr wrap="square"/>
                    <a:lstStyle/>
                    <a:p>
                      <a:pPr algn="r"/>
                      <a:r>
                        <a:rPr lang="en-US" sz="1050" b="0">
                          <a:solidFill>
                            <a:srgbClr val="1F2933"/>
                          </a:solidFill>
                          <a:latin typeface="微软雅黑" panose="020B0503020204020204" charset="-122"/>
                          <a:ea typeface="微软雅黑" panose="020B0503020204020204" charset="-122"/>
                          <a:cs typeface="微软雅黑" panose="020B0503020204020204" charset="-122"/>
                        </a:rPr>
                        <a:t>48,708.42</a:t>
                      </a:r>
                      <a:endParaRPr lang="en-US" sz="1050" b="0">
                        <a:solidFill>
                          <a:srgbClr val="1F2933"/>
                        </a:solidFill>
                        <a:latin typeface="微软雅黑" panose="020B0503020204020204" charset="-122"/>
                        <a:ea typeface="微软雅黑" panose="020B0503020204020204" charset="-122"/>
                        <a:cs typeface="微软雅黑" panose="020B0503020204020204" charset="-122"/>
                      </a:endParaRPr>
                    </a:p>
                  </a:txBody>
                  <a:tcPr marL="50800" marR="50800" marT="12700" marB="12700" anchor="ctr">
                    <a:solidFill>
                      <a:srgbClr val="F4FAFE"/>
                    </a:solidFill>
                  </a:tcPr>
                </a:tc>
                <a:tc>
                  <a:txBody>
                    <a:bodyPr wrap="square"/>
                    <a:lstStyle/>
                    <a:p>
                      <a:pPr algn="r"/>
                      <a:r>
                        <a:rPr lang="en-US" sz="1050" b="0">
                          <a:solidFill>
                            <a:srgbClr val="1F2933"/>
                          </a:solidFill>
                          <a:latin typeface="微软雅黑" panose="020B0503020204020204" charset="-122"/>
                          <a:ea typeface="微软雅黑" panose="020B0503020204020204" charset="-122"/>
                          <a:cs typeface="微软雅黑" panose="020B0503020204020204" charset="-122"/>
                        </a:rPr>
                        <a:t>1.39%</a:t>
                      </a:r>
                      <a:endParaRPr lang="en-US" sz="1050" b="0">
                        <a:solidFill>
                          <a:srgbClr val="1F2933"/>
                        </a:solidFill>
                        <a:latin typeface="微软雅黑" panose="020B0503020204020204" charset="-122"/>
                        <a:ea typeface="微软雅黑" panose="020B0503020204020204" charset="-122"/>
                        <a:cs typeface="微软雅黑" panose="020B0503020204020204" charset="-122"/>
                      </a:endParaRPr>
                    </a:p>
                  </a:txBody>
                  <a:tcPr marL="50800" marR="50800" marT="12700" marB="12700" anchor="ctr">
                    <a:solidFill>
                      <a:srgbClr val="F4FAFE"/>
                    </a:solidFill>
                  </a:tcPr>
                </a:tc>
                <a:tc>
                  <a:txBody>
                    <a:bodyPr wrap="square"/>
                    <a:lstStyle/>
                    <a:p>
                      <a:pPr algn="r"/>
                      <a:r>
                        <a:rPr lang="en-US" sz="1050" b="0">
                          <a:solidFill>
                            <a:srgbClr val="1F2933"/>
                          </a:solidFill>
                          <a:latin typeface="微软雅黑" panose="020B0503020204020204" charset="-122"/>
                          <a:ea typeface="微软雅黑" panose="020B0503020204020204" charset="-122"/>
                          <a:cs typeface="微软雅黑" panose="020B0503020204020204" charset="-122"/>
                        </a:rPr>
                        <a:t>5.29%</a:t>
                      </a:r>
                      <a:endParaRPr lang="en-US" sz="1050" b="0">
                        <a:solidFill>
                          <a:srgbClr val="1F2933"/>
                        </a:solidFill>
                        <a:latin typeface="微软雅黑" panose="020B0503020204020204" charset="-122"/>
                        <a:ea typeface="微软雅黑" panose="020B0503020204020204" charset="-122"/>
                        <a:cs typeface="微软雅黑" panose="020B0503020204020204" charset="-122"/>
                      </a:endParaRPr>
                    </a:p>
                  </a:txBody>
                  <a:tcPr marL="50800" marR="50800" marT="12700" marB="12700" anchor="ctr">
                    <a:solidFill>
                      <a:srgbClr val="F4FAFE"/>
                    </a:solidFill>
                  </a:tcPr>
                </a:tc>
                <a:tc>
                  <a:txBody>
                    <a:bodyPr wrap="square"/>
                    <a:lstStyle/>
                    <a:p>
                      <a:pPr algn="r"/>
                      <a:r>
                        <a:rPr lang="en-US" sz="1050">
                          <a:solidFill>
                            <a:srgbClr val="1F2933"/>
                          </a:solidFill>
                          <a:latin typeface="微软雅黑" panose="020B0503020204020204" charset="-122"/>
                          <a:ea typeface="微软雅黑" panose="020B0503020204020204" charset="-122"/>
                          <a:cs typeface="微软雅黑" panose="020B0503020204020204" charset="-122"/>
                          <a:sym typeface="微软雅黑" panose="020B0503020204020204" charset="-122"/>
                        </a:rPr>
                        <a:t>3,500,000</a:t>
                      </a:r>
                      <a:endParaRPr sz="1050" b="0">
                        <a:solidFill>
                          <a:srgbClr val="1F2933"/>
                        </a:solidFill>
                        <a:latin typeface="微软雅黑" panose="020B0503020204020204" charset="-122"/>
                        <a:ea typeface="微软雅黑" panose="020B0503020204020204" charset="-122"/>
                        <a:cs typeface="微软雅黑" panose="020B0503020204020204" charset="-122"/>
                      </a:endParaRPr>
                    </a:p>
                  </a:txBody>
                  <a:tcPr marL="50800" marR="50800" marT="12700" marB="12700" anchor="ctr">
                    <a:solidFill>
                      <a:srgbClr val="F4FAFE"/>
                    </a:solidFill>
                  </a:tcPr>
                </a:tc>
                <a:extLst>
                  <a:ext uri="{0D108BD9-81ED-4DB2-BD59-A6C34878D82A}">
                    <a16:rowId val="5"/>
                  </a:ext>
                </a:extLst>
              </a:tr>
              <a:tr h="320040">
                <a:tc>
                  <a:txBody>
                    <a:bodyPr wrap="square"/>
                    <a:lstStyle/>
                    <a:p>
                      <a:pPr algn="r"/>
                      <a:r>
                        <a:rPr sz="1050" b="0">
                          <a:solidFill>
                            <a:srgbClr val="1F2933"/>
                          </a:solidFill>
                          <a:latin typeface="微软雅黑" panose="020B0503020204020204" charset="-122"/>
                          <a:ea typeface="微软雅黑" panose="020B0503020204020204" charset="-122"/>
                          <a:cs typeface="微软雅黑" panose="020B0503020204020204" charset="-122"/>
                        </a:rPr>
                        <a:t>5</a:t>
                      </a:r>
                      <a:endParaRPr sz="1050" b="0">
                        <a:solidFill>
                          <a:srgbClr val="1F2933"/>
                        </a:solidFill>
                        <a:latin typeface="微软雅黑" panose="020B0503020204020204" charset="-122"/>
                        <a:ea typeface="微软雅黑" panose="020B0503020204020204" charset="-122"/>
                        <a:cs typeface="微软雅黑" panose="020B0503020204020204" charset="-122"/>
                      </a:endParaRPr>
                    </a:p>
                  </a:txBody>
                  <a:tcPr marL="50800" marR="50800" marT="12700" marB="12700" anchor="ctr">
                    <a:solidFill>
                      <a:srgbClr val="FFFFFF"/>
                    </a:solidFill>
                  </a:tcPr>
                </a:tc>
                <a:tc>
                  <a:txBody>
                    <a:bodyPr wrap="square"/>
                    <a:lstStyle/>
                    <a:p>
                      <a:pPr algn="l"/>
                      <a:r>
                        <a:rPr lang="zh-CN" sz="1050" b="1">
                          <a:solidFill>
                            <a:srgbClr val="1F2933"/>
                          </a:solidFill>
                          <a:latin typeface="微软雅黑" panose="020B0503020204020204" charset="-122"/>
                          <a:ea typeface="微软雅黑" panose="020B0503020204020204" charset="-122"/>
                          <a:cs typeface="微软雅黑" panose="020B0503020204020204" charset="-122"/>
                        </a:rPr>
                        <a:t>傲创金宸锐进</a:t>
                      </a:r>
                      <a:r>
                        <a:rPr lang="en-US" altLang="zh-CN" sz="1050" b="1">
                          <a:solidFill>
                            <a:srgbClr val="1F2933"/>
                          </a:solidFill>
                          <a:latin typeface="微软雅黑" panose="020B0503020204020204" charset="-122"/>
                          <a:ea typeface="微软雅黑" panose="020B0503020204020204" charset="-122"/>
                          <a:cs typeface="微软雅黑" panose="020B0503020204020204" charset="-122"/>
                        </a:rPr>
                        <a:t>2</a:t>
                      </a:r>
                      <a:r>
                        <a:rPr lang="zh-CN" altLang="en-US" sz="1050" b="1">
                          <a:solidFill>
                            <a:srgbClr val="1F2933"/>
                          </a:solidFill>
                          <a:latin typeface="微软雅黑" panose="020B0503020204020204" charset="-122"/>
                          <a:ea typeface="微软雅黑" panose="020B0503020204020204" charset="-122"/>
                          <a:cs typeface="微软雅黑" panose="020B0503020204020204" charset="-122"/>
                        </a:rPr>
                        <a:t>号</a:t>
                      </a:r>
                      <a:endParaRPr lang="zh-CN" altLang="en-US" sz="1050" b="1">
                        <a:solidFill>
                          <a:srgbClr val="1F2933"/>
                        </a:solidFill>
                        <a:latin typeface="微软雅黑" panose="020B0503020204020204" charset="-122"/>
                        <a:ea typeface="微软雅黑" panose="020B0503020204020204" charset="-122"/>
                        <a:cs typeface="微软雅黑" panose="020B0503020204020204" charset="-122"/>
                      </a:endParaRPr>
                    </a:p>
                  </a:txBody>
                  <a:tcPr marL="50800" marR="50800" marT="12700" marB="12700" anchor="ctr">
                    <a:solidFill>
                      <a:srgbClr val="FFFFFF"/>
                    </a:solidFill>
                  </a:tcPr>
                </a:tc>
                <a:tc>
                  <a:txBody>
                    <a:bodyPr wrap="square"/>
                    <a:lstStyle/>
                    <a:p>
                      <a:pPr algn="r"/>
                      <a:r>
                        <a:rPr lang="en-US" sz="1050" b="0">
                          <a:solidFill>
                            <a:srgbClr val="1F2933"/>
                          </a:solidFill>
                          <a:latin typeface="微软雅黑" panose="020B0503020204020204" charset="-122"/>
                          <a:ea typeface="微软雅黑" panose="020B0503020204020204" charset="-122"/>
                          <a:cs typeface="微软雅黑" panose="020B0503020204020204" charset="-122"/>
                        </a:rPr>
                        <a:t>134,200.05</a:t>
                      </a:r>
                      <a:endParaRPr lang="en-US" sz="1050" b="0">
                        <a:solidFill>
                          <a:srgbClr val="1F2933"/>
                        </a:solidFill>
                        <a:latin typeface="微软雅黑" panose="020B0503020204020204" charset="-122"/>
                        <a:ea typeface="微软雅黑" panose="020B0503020204020204" charset="-122"/>
                        <a:cs typeface="微软雅黑" panose="020B0503020204020204" charset="-122"/>
                      </a:endParaRPr>
                    </a:p>
                  </a:txBody>
                  <a:tcPr marL="50800" marR="50800" marT="12700" marB="12700" anchor="ctr">
                    <a:solidFill>
                      <a:srgbClr val="FFFFFF"/>
                    </a:solidFill>
                  </a:tcPr>
                </a:tc>
                <a:tc>
                  <a:txBody>
                    <a:bodyPr wrap="square"/>
                    <a:lstStyle/>
                    <a:p>
                      <a:pPr algn="r"/>
                      <a:r>
                        <a:rPr lang="en-US" sz="1050" b="0">
                          <a:solidFill>
                            <a:srgbClr val="1F2933"/>
                          </a:solidFill>
                          <a:latin typeface="微软雅黑" panose="020B0503020204020204" charset="-122"/>
                          <a:ea typeface="微软雅黑" panose="020B0503020204020204" charset="-122"/>
                          <a:cs typeface="微软雅黑" panose="020B0503020204020204" charset="-122"/>
                        </a:rPr>
                        <a:t>1.34%</a:t>
                      </a:r>
                      <a:endParaRPr lang="en-US" sz="1050" b="0">
                        <a:solidFill>
                          <a:srgbClr val="1F2933"/>
                        </a:solidFill>
                        <a:latin typeface="微软雅黑" panose="020B0503020204020204" charset="-122"/>
                        <a:ea typeface="微软雅黑" panose="020B0503020204020204" charset="-122"/>
                        <a:cs typeface="微软雅黑" panose="020B0503020204020204" charset="-122"/>
                      </a:endParaRPr>
                    </a:p>
                  </a:txBody>
                  <a:tcPr marL="50800" marR="50800" marT="12700" marB="12700" anchor="ctr">
                    <a:solidFill>
                      <a:srgbClr val="FFFFFF"/>
                    </a:solidFill>
                  </a:tcPr>
                </a:tc>
                <a:tc>
                  <a:txBody>
                    <a:bodyPr wrap="square"/>
                    <a:lstStyle/>
                    <a:p>
                      <a:pPr algn="r"/>
                      <a:r>
                        <a:rPr lang="en-US" sz="1050" b="0">
                          <a:solidFill>
                            <a:srgbClr val="1F2933"/>
                          </a:solidFill>
                          <a:latin typeface="微软雅黑" panose="020B0503020204020204" charset="-122"/>
                          <a:ea typeface="微软雅黑" panose="020B0503020204020204" charset="-122"/>
                          <a:cs typeface="微软雅黑" panose="020B0503020204020204" charset="-122"/>
                        </a:rPr>
                        <a:t>5.00%</a:t>
                      </a:r>
                      <a:endParaRPr lang="en-US" sz="1050" b="0">
                        <a:solidFill>
                          <a:srgbClr val="1F2933"/>
                        </a:solidFill>
                        <a:latin typeface="微软雅黑" panose="020B0503020204020204" charset="-122"/>
                        <a:ea typeface="微软雅黑" panose="020B0503020204020204" charset="-122"/>
                        <a:cs typeface="微软雅黑" panose="020B0503020204020204" charset="-122"/>
                      </a:endParaRPr>
                    </a:p>
                  </a:txBody>
                  <a:tcPr marL="50800" marR="50800" marT="12700" marB="12700" anchor="ctr">
                    <a:solidFill>
                      <a:srgbClr val="FFFFFF"/>
                    </a:solidFill>
                  </a:tcPr>
                </a:tc>
                <a:tc>
                  <a:txBody>
                    <a:bodyPr wrap="square"/>
                    <a:lstStyle/>
                    <a:p>
                      <a:pPr algn="r"/>
                      <a:r>
                        <a:rPr lang="en-US" sz="1050">
                          <a:solidFill>
                            <a:srgbClr val="1F2933"/>
                          </a:solidFill>
                          <a:latin typeface="微软雅黑" panose="020B0503020204020204" charset="-122"/>
                          <a:ea typeface="微软雅黑" panose="020B0503020204020204" charset="-122"/>
                          <a:cs typeface="微软雅黑" panose="020B0503020204020204" charset="-122"/>
                          <a:sym typeface="微软雅黑" panose="020B0503020204020204" charset="-122"/>
                        </a:rPr>
                        <a:t>10,000,000</a:t>
                      </a:r>
                      <a:endParaRPr sz="1050" b="0">
                        <a:solidFill>
                          <a:srgbClr val="1F2933"/>
                        </a:solidFill>
                        <a:latin typeface="微软雅黑" panose="020B0503020204020204" charset="-122"/>
                        <a:ea typeface="微软雅黑" panose="020B0503020204020204" charset="-122"/>
                        <a:cs typeface="微软雅黑" panose="020B0503020204020204" charset="-122"/>
                      </a:endParaRPr>
                    </a:p>
                  </a:txBody>
                  <a:tcPr marL="50800" marR="50800" marT="12700" marB="12700" anchor="ctr">
                    <a:solidFill>
                      <a:srgbClr val="FFFFFF"/>
                    </a:solidFill>
                  </a:tcPr>
                </a:tc>
                <a:extLst>
                  <a:ext uri="{0D108BD9-81ED-4DB2-BD59-A6C34878D82A}">
                    <a16:rowId val="6"/>
                  </a:ext>
                </a:extLst>
              </a:tr>
              <a:tr h="320040">
                <a:tc>
                  <a:txBody>
                    <a:bodyPr wrap="square"/>
                    <a:lstStyle/>
                    <a:p>
                      <a:pPr algn="r"/>
                      <a:r>
                        <a:rPr sz="1050" b="0">
                          <a:solidFill>
                            <a:srgbClr val="1F2933"/>
                          </a:solidFill>
                          <a:latin typeface="微软雅黑" panose="020B0503020204020204" charset="-122"/>
                          <a:ea typeface="微软雅黑" panose="020B0503020204020204" charset="-122"/>
                          <a:cs typeface="微软雅黑" panose="020B0503020204020204" charset="-122"/>
                        </a:rPr>
                        <a:t>6</a:t>
                      </a:r>
                      <a:endParaRPr sz="1050" b="0">
                        <a:solidFill>
                          <a:srgbClr val="1F2933"/>
                        </a:solidFill>
                        <a:latin typeface="微软雅黑" panose="020B0503020204020204" charset="-122"/>
                        <a:ea typeface="微软雅黑" panose="020B0503020204020204" charset="-122"/>
                        <a:cs typeface="微软雅黑" panose="020B0503020204020204" charset="-122"/>
                      </a:endParaRPr>
                    </a:p>
                  </a:txBody>
                  <a:tcPr marL="50800" marR="50800" marT="12700" marB="12700" anchor="ctr">
                    <a:solidFill>
                      <a:srgbClr val="F4FAFE"/>
                    </a:solidFill>
                  </a:tcPr>
                </a:tc>
                <a:tc>
                  <a:txBody>
                    <a:bodyPr wrap="square"/>
                    <a:lstStyle/>
                    <a:p>
                      <a:pPr algn="l"/>
                      <a:r>
                        <a:rPr lang="zh-CN" sz="1050" b="1">
                          <a:solidFill>
                            <a:srgbClr val="1F2933"/>
                          </a:solidFill>
                          <a:latin typeface="微软雅黑" panose="020B0503020204020204" charset="-122"/>
                          <a:ea typeface="微软雅黑" panose="020B0503020204020204" charset="-122"/>
                          <a:cs typeface="微软雅黑" panose="020B0503020204020204" charset="-122"/>
                        </a:rPr>
                        <a:t>傲创金宸安盈</a:t>
                      </a:r>
                      <a:r>
                        <a:rPr lang="en-US" altLang="zh-CN" sz="1050" b="1">
                          <a:solidFill>
                            <a:srgbClr val="1F2933"/>
                          </a:solidFill>
                          <a:latin typeface="微软雅黑" panose="020B0503020204020204" charset="-122"/>
                          <a:ea typeface="微软雅黑" panose="020B0503020204020204" charset="-122"/>
                          <a:cs typeface="微软雅黑" panose="020B0503020204020204" charset="-122"/>
                        </a:rPr>
                        <a:t>1</a:t>
                      </a:r>
                      <a:r>
                        <a:rPr lang="zh-CN" altLang="en-US" sz="1050" b="1">
                          <a:solidFill>
                            <a:srgbClr val="1F2933"/>
                          </a:solidFill>
                          <a:latin typeface="微软雅黑" panose="020B0503020204020204" charset="-122"/>
                          <a:ea typeface="微软雅黑" panose="020B0503020204020204" charset="-122"/>
                          <a:cs typeface="微软雅黑" panose="020B0503020204020204" charset="-122"/>
                        </a:rPr>
                        <a:t>号</a:t>
                      </a:r>
                      <a:endParaRPr lang="zh-CN" altLang="en-US" sz="1050" b="1">
                        <a:solidFill>
                          <a:srgbClr val="1F2933"/>
                        </a:solidFill>
                        <a:latin typeface="微软雅黑" panose="020B0503020204020204" charset="-122"/>
                        <a:ea typeface="微软雅黑" panose="020B0503020204020204" charset="-122"/>
                        <a:cs typeface="微软雅黑" panose="020B0503020204020204" charset="-122"/>
                      </a:endParaRPr>
                    </a:p>
                  </a:txBody>
                  <a:tcPr marL="50800" marR="50800" marT="12700" marB="12700" anchor="ctr">
                    <a:solidFill>
                      <a:srgbClr val="F4FAFE"/>
                    </a:solidFill>
                  </a:tcPr>
                </a:tc>
                <a:tc>
                  <a:txBody>
                    <a:bodyPr wrap="square"/>
                    <a:lstStyle/>
                    <a:p>
                      <a:pPr algn="r"/>
                      <a:r>
                        <a:rPr lang="en-US" sz="1050" b="0">
                          <a:solidFill>
                            <a:srgbClr val="1F2933"/>
                          </a:solidFill>
                          <a:latin typeface="微软雅黑" panose="020B0503020204020204" charset="-122"/>
                          <a:ea typeface="微软雅黑" panose="020B0503020204020204" charset="-122"/>
                          <a:cs typeface="微软雅黑" panose="020B0503020204020204" charset="-122"/>
                        </a:rPr>
                        <a:t>103,867.59</a:t>
                      </a:r>
                      <a:endParaRPr lang="en-US" sz="1050" b="0">
                        <a:solidFill>
                          <a:srgbClr val="1F2933"/>
                        </a:solidFill>
                        <a:latin typeface="微软雅黑" panose="020B0503020204020204" charset="-122"/>
                        <a:ea typeface="微软雅黑" panose="020B0503020204020204" charset="-122"/>
                        <a:cs typeface="微软雅黑" panose="020B0503020204020204" charset="-122"/>
                      </a:endParaRPr>
                    </a:p>
                  </a:txBody>
                  <a:tcPr marL="50800" marR="50800" marT="12700" marB="12700" anchor="ctr">
                    <a:solidFill>
                      <a:srgbClr val="F4FAFE"/>
                    </a:solidFill>
                  </a:tcPr>
                </a:tc>
                <a:tc>
                  <a:txBody>
                    <a:bodyPr wrap="square"/>
                    <a:lstStyle/>
                    <a:p>
                      <a:pPr algn="r"/>
                      <a:r>
                        <a:rPr lang="en-US" sz="1050" b="0">
                          <a:solidFill>
                            <a:srgbClr val="1F2933"/>
                          </a:solidFill>
                          <a:latin typeface="微软雅黑" panose="020B0503020204020204" charset="-122"/>
                          <a:ea typeface="微软雅黑" panose="020B0503020204020204" charset="-122"/>
                          <a:cs typeface="微软雅黑" panose="020B0503020204020204" charset="-122"/>
                        </a:rPr>
                        <a:t>1.04%</a:t>
                      </a:r>
                      <a:endParaRPr lang="en-US" sz="1050" b="0">
                        <a:solidFill>
                          <a:srgbClr val="1F2933"/>
                        </a:solidFill>
                        <a:latin typeface="微软雅黑" panose="020B0503020204020204" charset="-122"/>
                        <a:ea typeface="微软雅黑" panose="020B0503020204020204" charset="-122"/>
                        <a:cs typeface="微软雅黑" panose="020B0503020204020204" charset="-122"/>
                      </a:endParaRPr>
                    </a:p>
                  </a:txBody>
                  <a:tcPr marL="50800" marR="50800" marT="12700" marB="12700" anchor="ctr">
                    <a:solidFill>
                      <a:srgbClr val="F4FAFE"/>
                    </a:solidFill>
                  </a:tcPr>
                </a:tc>
                <a:tc>
                  <a:txBody>
                    <a:bodyPr wrap="square"/>
                    <a:lstStyle/>
                    <a:p>
                      <a:pPr algn="r"/>
                      <a:r>
                        <a:rPr lang="en-US" sz="1050" b="0">
                          <a:solidFill>
                            <a:srgbClr val="1F2933"/>
                          </a:solidFill>
                          <a:latin typeface="微软雅黑" panose="020B0503020204020204" charset="-122"/>
                          <a:ea typeface="微软雅黑" panose="020B0503020204020204" charset="-122"/>
                          <a:cs typeface="微软雅黑" panose="020B0503020204020204" charset="-122"/>
                        </a:rPr>
                        <a:t>3.87%</a:t>
                      </a:r>
                      <a:endParaRPr lang="en-US" sz="1050" b="0">
                        <a:solidFill>
                          <a:srgbClr val="1F2933"/>
                        </a:solidFill>
                        <a:latin typeface="微软雅黑" panose="020B0503020204020204" charset="-122"/>
                        <a:ea typeface="微软雅黑" panose="020B0503020204020204" charset="-122"/>
                        <a:cs typeface="微软雅黑" panose="020B0503020204020204" charset="-122"/>
                      </a:endParaRPr>
                    </a:p>
                  </a:txBody>
                  <a:tcPr marL="50800" marR="50800" marT="12700" marB="12700" anchor="ctr">
                    <a:solidFill>
                      <a:srgbClr val="F4FAFE"/>
                    </a:solidFill>
                  </a:tcPr>
                </a:tc>
                <a:tc>
                  <a:txBody>
                    <a:bodyPr wrap="square"/>
                    <a:lstStyle/>
                    <a:p>
                      <a:pPr algn="r"/>
                      <a:r>
                        <a:rPr lang="en-US" sz="1050">
                          <a:solidFill>
                            <a:srgbClr val="1F2933"/>
                          </a:solidFill>
                          <a:latin typeface="微软雅黑" panose="020B0503020204020204" charset="-122"/>
                          <a:ea typeface="微软雅黑" panose="020B0503020204020204" charset="-122"/>
                          <a:cs typeface="微软雅黑" panose="020B0503020204020204" charset="-122"/>
                          <a:sym typeface="微软雅黑" panose="020B0503020204020204" charset="-122"/>
                        </a:rPr>
                        <a:t>10,000,000</a:t>
                      </a:r>
                      <a:endParaRPr sz="1050" b="0">
                        <a:solidFill>
                          <a:srgbClr val="1F2933"/>
                        </a:solidFill>
                        <a:latin typeface="微软雅黑" panose="020B0503020204020204" charset="-122"/>
                        <a:ea typeface="微软雅黑" panose="020B0503020204020204" charset="-122"/>
                        <a:cs typeface="微软雅黑" panose="020B0503020204020204" charset="-122"/>
                      </a:endParaRPr>
                    </a:p>
                  </a:txBody>
                  <a:tcPr marL="50800" marR="50800" marT="12700" marB="12700" anchor="ctr">
                    <a:solidFill>
                      <a:srgbClr val="F4FAFE"/>
                    </a:solidFill>
                  </a:tcPr>
                </a:tc>
                <a:extLst>
                  <a:ext uri="{0D108BD9-81ED-4DB2-BD59-A6C34878D82A}">
                    <a16:rowId val="7"/>
                  </a:ext>
                </a:extLst>
              </a:tr>
              <a:tr h="320040">
                <a:tc>
                  <a:txBody>
                    <a:bodyPr wrap="square"/>
                    <a:lstStyle/>
                    <a:p>
                      <a:pPr algn="r"/>
                      <a:endParaRPr>
                        <a:ea typeface="微软雅黑" panose="020B0503020204020204" charset="-122"/>
                        <a:cs typeface="微软雅黑" panose="020B0503020204020204" charset="-122"/>
                      </a:endParaRPr>
                    </a:p>
                  </a:txBody>
                  <a:tcPr marL="50800" marR="50800" marT="12700" marB="12700" anchor="ctr">
                    <a:solidFill>
                      <a:srgbClr val="EAF6FC"/>
                    </a:solidFill>
                  </a:tcPr>
                </a:tc>
                <a:tc>
                  <a:txBody>
                    <a:bodyPr wrap="square"/>
                    <a:lstStyle/>
                    <a:p>
                      <a:pPr algn="l"/>
                      <a:r>
                        <a:rPr sz="1050" b="1">
                          <a:solidFill>
                            <a:srgbClr val="0070C0"/>
                          </a:solidFill>
                          <a:latin typeface="微软雅黑" panose="020B0503020204020204" charset="-122"/>
                          <a:ea typeface="微软雅黑" panose="020B0503020204020204" charset="-122"/>
                          <a:cs typeface="微软雅黑" panose="020B0503020204020204" charset="-122"/>
                        </a:rPr>
                        <a:t>合计</a:t>
                      </a:r>
                      <a:endParaRPr sz="1050" b="1">
                        <a:solidFill>
                          <a:srgbClr val="0070C0"/>
                        </a:solidFill>
                        <a:latin typeface="微软雅黑" panose="020B0503020204020204" charset="-122"/>
                        <a:ea typeface="微软雅黑" panose="020B0503020204020204" charset="-122"/>
                        <a:cs typeface="微软雅黑" panose="020B0503020204020204" charset="-122"/>
                      </a:endParaRPr>
                    </a:p>
                  </a:txBody>
                  <a:tcPr marL="50800" marR="50800" marT="12700" marB="12700" anchor="ctr">
                    <a:solidFill>
                      <a:srgbClr val="EAF6FC"/>
                    </a:solidFill>
                  </a:tcPr>
                </a:tc>
                <a:tc>
                  <a:txBody>
                    <a:bodyPr wrap="square"/>
                    <a:lstStyle/>
                    <a:p>
                      <a:pPr algn="r"/>
                      <a:r>
                        <a:rPr lang="en-US" sz="1050" b="1">
                          <a:solidFill>
                            <a:srgbClr val="0070C0"/>
                          </a:solidFill>
                          <a:latin typeface="微软雅黑" panose="020B0503020204020204" charset="-122"/>
                          <a:ea typeface="微软雅黑" panose="020B0503020204020204" charset="-122"/>
                          <a:cs typeface="微软雅黑" panose="020B0503020204020204" charset="-122"/>
                        </a:rPr>
                        <a:t>567,372.83</a:t>
                      </a:r>
                      <a:endParaRPr lang="en-US" sz="1050" b="1">
                        <a:solidFill>
                          <a:srgbClr val="0070C0"/>
                        </a:solidFill>
                        <a:latin typeface="微软雅黑" panose="020B0503020204020204" charset="-122"/>
                        <a:ea typeface="微软雅黑" panose="020B0503020204020204" charset="-122"/>
                        <a:cs typeface="微软雅黑" panose="020B0503020204020204" charset="-122"/>
                      </a:endParaRPr>
                    </a:p>
                  </a:txBody>
                  <a:tcPr marL="50800" marR="50800" marT="12700" marB="12700" anchor="ctr">
                    <a:solidFill>
                      <a:srgbClr val="EAF6FC"/>
                    </a:solidFill>
                  </a:tcPr>
                </a:tc>
                <a:tc>
                  <a:txBody>
                    <a:bodyPr wrap="square"/>
                    <a:lstStyle/>
                    <a:p>
                      <a:pPr algn="r"/>
                      <a:r>
                        <a:rPr lang="en-US" sz="1050" b="1">
                          <a:solidFill>
                            <a:srgbClr val="0070C0"/>
                          </a:solidFill>
                          <a:latin typeface="微软雅黑" panose="020B0503020204020204" charset="-122"/>
                          <a:ea typeface="微软雅黑" panose="020B0503020204020204" charset="-122"/>
                          <a:cs typeface="微软雅黑" panose="020B0503020204020204" charset="-122"/>
                        </a:rPr>
                        <a:t>1.44%</a:t>
                      </a:r>
                      <a:endParaRPr lang="en-US" sz="1050" b="1">
                        <a:solidFill>
                          <a:srgbClr val="0070C0"/>
                        </a:solidFill>
                        <a:latin typeface="微软雅黑" panose="020B0503020204020204" charset="-122"/>
                        <a:ea typeface="微软雅黑" panose="020B0503020204020204" charset="-122"/>
                        <a:cs typeface="微软雅黑" panose="020B0503020204020204" charset="-122"/>
                      </a:endParaRPr>
                    </a:p>
                  </a:txBody>
                  <a:tcPr marL="50800" marR="50800" marT="12700" marB="12700" anchor="ctr">
                    <a:solidFill>
                      <a:srgbClr val="EAF6FC"/>
                    </a:solidFill>
                  </a:tcPr>
                </a:tc>
                <a:tc>
                  <a:txBody>
                    <a:bodyPr wrap="square"/>
                    <a:lstStyle/>
                    <a:p>
                      <a:pPr algn="r"/>
                      <a:r>
                        <a:rPr lang="en-US" sz="1050" b="1">
                          <a:solidFill>
                            <a:srgbClr val="0070C0"/>
                          </a:solidFill>
                          <a:latin typeface="微软雅黑" panose="020B0503020204020204" charset="-122"/>
                          <a:ea typeface="微软雅黑" panose="020B0503020204020204" charset="-122"/>
                          <a:cs typeface="微软雅黑" panose="020B0503020204020204" charset="-122"/>
                        </a:rPr>
                        <a:t>5.37%</a:t>
                      </a:r>
                      <a:endParaRPr lang="en-US" sz="1050" b="1">
                        <a:solidFill>
                          <a:srgbClr val="0070C0"/>
                        </a:solidFill>
                        <a:latin typeface="微软雅黑" panose="020B0503020204020204" charset="-122"/>
                        <a:ea typeface="微软雅黑" panose="020B0503020204020204" charset="-122"/>
                        <a:cs typeface="微软雅黑" panose="020B0503020204020204" charset="-122"/>
                      </a:endParaRPr>
                    </a:p>
                  </a:txBody>
                  <a:tcPr marL="50800" marR="50800" marT="12700" marB="12700" anchor="ctr">
                    <a:solidFill>
                      <a:srgbClr val="EAF6FC"/>
                    </a:solidFill>
                  </a:tcPr>
                </a:tc>
                <a:tc>
                  <a:txBody>
                    <a:bodyPr wrap="square"/>
                    <a:lstStyle/>
                    <a:p>
                      <a:pPr algn="r"/>
                      <a:r>
                        <a:rPr lang="en-US" sz="1050" b="1">
                          <a:solidFill>
                            <a:srgbClr val="0070C0"/>
                          </a:solidFill>
                          <a:latin typeface="微软雅黑" panose="020B0503020204020204" charset="-122"/>
                          <a:ea typeface="微软雅黑" panose="020B0503020204020204" charset="-122"/>
                          <a:cs typeface="微软雅黑" panose="020B0503020204020204" charset="-122"/>
                        </a:rPr>
                        <a:t>4</a:t>
                      </a:r>
                      <a:r>
                        <a:rPr sz="1050" b="1">
                          <a:solidFill>
                            <a:srgbClr val="0070C0"/>
                          </a:solidFill>
                          <a:latin typeface="微软雅黑" panose="020B0503020204020204" charset="-122"/>
                          <a:ea typeface="微软雅黑" panose="020B0503020204020204" charset="-122"/>
                          <a:cs typeface="微软雅黑" panose="020B0503020204020204" charset="-122"/>
                        </a:rPr>
                        <a:t>0,</a:t>
                      </a:r>
                      <a:r>
                        <a:rPr lang="en-US" sz="1050" b="1">
                          <a:solidFill>
                            <a:srgbClr val="0070C0"/>
                          </a:solidFill>
                          <a:latin typeface="微软雅黑" panose="020B0503020204020204" charset="-122"/>
                          <a:ea typeface="微软雅黑" panose="020B0503020204020204" charset="-122"/>
                          <a:cs typeface="微软雅黑" panose="020B0503020204020204" charset="-122"/>
                        </a:rPr>
                        <a:t>500</a:t>
                      </a:r>
                      <a:r>
                        <a:rPr sz="1050" b="1">
                          <a:solidFill>
                            <a:srgbClr val="0070C0"/>
                          </a:solidFill>
                          <a:latin typeface="微软雅黑" panose="020B0503020204020204" charset="-122"/>
                          <a:ea typeface="微软雅黑" panose="020B0503020204020204" charset="-122"/>
                          <a:cs typeface="微软雅黑" panose="020B0503020204020204" charset="-122"/>
                        </a:rPr>
                        <a:t>,</a:t>
                      </a:r>
                      <a:r>
                        <a:rPr lang="en-US" sz="1050" b="1">
                          <a:solidFill>
                            <a:srgbClr val="0070C0"/>
                          </a:solidFill>
                          <a:latin typeface="微软雅黑" panose="020B0503020204020204" charset="-122"/>
                          <a:ea typeface="微软雅黑" panose="020B0503020204020204" charset="-122"/>
                          <a:cs typeface="微软雅黑" panose="020B0503020204020204" charset="-122"/>
                        </a:rPr>
                        <a:t>000</a:t>
                      </a:r>
                      <a:endParaRPr lang="en-US" sz="1050" b="1">
                        <a:solidFill>
                          <a:srgbClr val="0070C0"/>
                        </a:solidFill>
                        <a:latin typeface="微软雅黑" panose="020B0503020204020204" charset="-122"/>
                        <a:ea typeface="微软雅黑" panose="020B0503020204020204" charset="-122"/>
                        <a:cs typeface="微软雅黑" panose="020B0503020204020204" charset="-122"/>
                      </a:endParaRPr>
                    </a:p>
                  </a:txBody>
                  <a:tcPr marL="50800" marR="50800" marT="12700" marB="12700" anchor="ctr">
                    <a:solidFill>
                      <a:srgbClr val="EAF6FC"/>
                    </a:solidFill>
                  </a:tcPr>
                </a:tc>
                <a:extLst>
                  <a:ext uri="{0D108BD9-81ED-4DB2-BD59-A6C34878D82A}">
                    <a16:rowId val="8"/>
                  </a:ext>
                </a:extLst>
              </a:tr>
            </a:tbl>
          </a:graphicData>
        </a:graphic>
      </p:graphicFrame>
      <p:sp>
        <p:nvSpPr>
          <p:cNvPr id="232" name="TextBox 7"/>
          <p:cNvSpPr txBox="1"/>
          <p:nvPr/>
        </p:nvSpPr>
        <p:spPr>
          <a:xfrm>
            <a:off x="502920" y="6035040"/>
            <a:ext cx="11183112" cy="365760"/>
          </a:xfrm>
          <a:prstGeom prst="rect">
            <a:avLst/>
          </a:prstGeom>
          <a:noFill/>
        </p:spPr>
        <p:txBody>
          <a:bodyPr wrap="square" lIns="0" tIns="0" rIns="0" bIns="0" anchor="t">
            <a:spAutoFit/>
          </a:bodyPr>
          <a:lstStyle/>
          <a:p>
            <a:pPr algn="l">
              <a:lnSpc>
                <a:spcPct val="115000"/>
              </a:lnSpc>
              <a:spcAft>
                <a:spcPts val="600"/>
              </a:spcAft>
            </a:pPr>
            <a:r>
              <a:rPr sz="1100" b="1">
                <a:solidFill>
                  <a:srgbClr val="54B0E0"/>
                </a:solidFill>
                <a:latin typeface="微软雅黑" panose="020B0503020204020204" charset="-122"/>
                <a:ea typeface="微软雅黑" panose="020B0503020204020204" charset="-122"/>
                <a:cs typeface="微软雅黑" panose="020B0503020204020204" charset="-122"/>
              </a:rPr>
              <a:t>【占位】上表为 2026.08 版数据，最新区间收益/净值更新后替换。</a:t>
            </a:r>
            <a:endParaRPr sz="1100" b="1">
              <a:solidFill>
                <a:srgbClr val="54B0E0"/>
              </a:solidFill>
              <a:latin typeface="微软雅黑" panose="020B0503020204020204" charset="-122"/>
              <a:ea typeface="微软雅黑" panose="020B0503020204020204" charset="-122"/>
              <a:cs typeface="微软雅黑" panose="020B0503020204020204" charset="-122"/>
            </a:endParaRPr>
          </a:p>
        </p:txBody>
      </p:sp>
      <p:sp>
        <p:nvSpPr>
          <p:cNvPr id="233" name="TextBox 8"/>
          <p:cNvSpPr txBox="1"/>
          <p:nvPr/>
        </p:nvSpPr>
        <p:spPr>
          <a:xfrm>
            <a:off x="502920" y="6455664"/>
            <a:ext cx="7315200" cy="274320"/>
          </a:xfrm>
          <a:prstGeom prst="rect">
            <a:avLst/>
          </a:prstGeom>
          <a:noFill/>
        </p:spPr>
        <p:txBody>
          <a:bodyPr wrap="square" lIns="0" tIns="0" rIns="0" bIns="0" anchor="t">
            <a:spAutoFit/>
          </a:bodyPr>
          <a:lstStyle/>
          <a:p>
            <a:pPr algn="l">
              <a:lnSpc>
                <a:spcPct val="115000"/>
              </a:lnSpc>
              <a:spcAft>
                <a:spcPts val="600"/>
              </a:spcAft>
            </a:pPr>
            <a:r>
              <a:rPr sz="900" b="0">
                <a:solidFill>
                  <a:srgbClr val="595959"/>
                </a:solidFill>
                <a:latin typeface="微软雅黑" panose="020B0503020204020204" charset="-122"/>
                <a:ea typeface="微软雅黑" panose="020B0503020204020204" charset="-122"/>
                <a:cs typeface="微软雅黑" panose="020B0503020204020204" charset="-122"/>
              </a:rPr>
              <a:t>近期宏观变化及资产配置 · 2026.09</a:t>
            </a:r>
            <a:endParaRPr sz="900" b="0">
              <a:solidFill>
                <a:srgbClr val="595959"/>
              </a:solidFill>
              <a:latin typeface="微软雅黑" panose="020B0503020204020204" charset="-122"/>
              <a:ea typeface="微软雅黑" panose="020B0503020204020204" charset="-122"/>
              <a:cs typeface="微软雅黑" panose="020B0503020204020204" charset="-122"/>
            </a:endParaRPr>
          </a:p>
        </p:txBody>
      </p:sp>
      <p:sp>
        <p:nvSpPr>
          <p:cNvPr id="234" name="TextBox 9"/>
          <p:cNvSpPr txBox="1"/>
          <p:nvPr/>
        </p:nvSpPr>
        <p:spPr>
          <a:xfrm>
            <a:off x="10789920" y="6455664"/>
            <a:ext cx="914400" cy="274320"/>
          </a:xfrm>
          <a:prstGeom prst="rect">
            <a:avLst/>
          </a:prstGeom>
          <a:noFill/>
        </p:spPr>
        <p:txBody>
          <a:bodyPr wrap="square" lIns="0" tIns="0" rIns="0" bIns="0" anchor="t">
            <a:spAutoFit/>
          </a:bodyPr>
          <a:lstStyle/>
          <a:p>
            <a:pPr algn="r">
              <a:lnSpc>
                <a:spcPct val="115000"/>
              </a:lnSpc>
              <a:spcAft>
                <a:spcPts val="600"/>
              </a:spcAft>
            </a:pPr>
            <a:r>
              <a:rPr sz="1000" b="0">
                <a:solidFill>
                  <a:srgbClr val="595959"/>
                </a:solidFill>
                <a:latin typeface="微软雅黑" panose="020B0503020204020204" charset="-122"/>
                <a:ea typeface="微软雅黑" panose="020B0503020204020204" charset="-122"/>
                <a:cs typeface="微软雅黑" panose="020B0503020204020204" charset="-122"/>
              </a:rPr>
              <a:t>14</a:t>
            </a:r>
            <a:endParaRPr sz="1000" b="0">
              <a:solidFill>
                <a:srgbClr val="595959"/>
              </a:solidFill>
              <a:latin typeface="微软雅黑" panose="020B0503020204020204" charset="-122"/>
              <a:ea typeface="微软雅黑" panose="020B0503020204020204" charset="-122"/>
              <a:cs typeface="微软雅黑" panose="020B0503020204020204" charset="-122"/>
            </a:endParaRPr>
          </a:p>
        </p:txBody>
      </p:sp>
      <p:pic>
        <p:nvPicPr>
          <p:cNvPr id="235" name="参考模板浅蓝背景弧线"/>
          <p:cNvPicPr/>
          <p:nvPr/>
        </p:nvPicPr>
        <p:blipFill>
          <a:blip r:embed="rId2"/>
          <a:stretch>
            <a:fillRect/>
          </a:stretch>
        </p:blipFill>
        <p:spPr>
          <a:xfrm>
            <a:off x="4457700" y="0"/>
            <a:ext cx="3143250" cy="495300"/>
          </a:xfrm>
          <a:prstGeom prst="rect">
            <a:avLst/>
          </a:prstGeom>
          <a:noFill/>
          <a:ln>
            <a:noFill/>
          </a:ln>
        </p:spPr>
      </p:pic>
      <p:pic>
        <p:nvPicPr>
          <p:cNvPr id="236" name="参考模板右上角标识"/>
          <p:cNvPicPr/>
          <p:nvPr/>
        </p:nvPicPr>
        <p:blipFill>
          <a:blip r:embed="rId3"/>
          <a:stretch>
            <a:fillRect/>
          </a:stretch>
        </p:blipFill>
        <p:spPr>
          <a:xfrm>
            <a:off x="9696450" y="209550"/>
            <a:ext cx="1733550" cy="390525"/>
          </a:xfrm>
          <a:prstGeom prst="rect">
            <a:avLst/>
          </a:prstGeom>
          <a:noFill/>
          <a:ln>
            <a:noFill/>
          </a:ln>
        </p:spPr>
      </p:pic>
    </p:spTree>
  </p:cSld>
  <p:clrMapOvr>
    <a:masterClrMapping/>
  </p:clrMapOvr>
</p:sld>
</file>

<file path=ppt/slides/slide23.xml><?xml version="1.0" encoding="utf-8"?>
<p:sld xmlns:r="http://schemas.openxmlformats.org/officeDocument/2006/relationships" xmlns:p="http://schemas.openxmlformats.org/presentationml/2006/main" xmlns:a="http://schemas.openxmlformats.org/drawingml/2006/main">
  <p:cSld>
    <p:spTree>
      <p:nvGrpSpPr>
        <p:cNvPr id="235" name=""/>
        <p:cNvGrpSpPr/>
        <p:nvPr/>
      </p:nvGrpSpPr>
      <p:grpSpPr>
        <a:xfrm>
          <a:off x="0" y="0"/>
          <a:ext cx="0" cy="0"/>
          <a:chOff x="0" y="0"/>
          <a:chExt cx="0" cy="0"/>
        </a:xfrm>
      </p:grpSpPr>
      <p:sp>
        <p:nvSpPr>
          <p:cNvPr id="236" name="Rectangle 1"/>
          <p:cNvSpPr/>
          <p:nvPr/>
        </p:nvSpPr>
        <p:spPr>
          <a:xfrm>
            <a:off x="502920" y="457200"/>
            <a:ext cx="82296" cy="566928"/>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237" name="TextBox 2"/>
          <p:cNvSpPr txBox="1"/>
          <p:nvPr/>
        </p:nvSpPr>
        <p:spPr>
          <a:xfrm>
            <a:off x="713232" y="510794"/>
            <a:ext cx="9601200" cy="459740"/>
          </a:xfrm>
          <a:prstGeom prst="rect">
            <a:avLst/>
          </a:prstGeom>
          <a:noFill/>
        </p:spPr>
        <p:txBody>
          <a:bodyPr wrap="square" lIns="0" tIns="0" rIns="0" bIns="0" anchor="ctr">
            <a:spAutoFit/>
          </a:bodyPr>
          <a:lstStyle/>
          <a:p>
            <a:pPr algn="l">
              <a:lnSpc>
                <a:spcPct val="115000"/>
              </a:lnSpc>
              <a:spcAft>
                <a:spcPts val="600"/>
              </a:spcAft>
            </a:pPr>
            <a:r>
              <a:rPr lang="zh-CN" altLang="en-US" sz="2600" b="1">
                <a:solidFill>
                  <a:srgbClr val="0070C0"/>
                </a:solidFill>
                <a:latin typeface="微软雅黑" panose="020B0503020204020204" charset="-122"/>
                <a:ea typeface="微软雅黑" panose="020B0503020204020204" charset="-122"/>
                <a:cs typeface="微软雅黑" panose="020B0503020204020204" charset="-122"/>
              </a:rPr>
              <a:t>子</a:t>
            </a:r>
            <a:r>
              <a:rPr sz="2600" b="1">
                <a:solidFill>
                  <a:srgbClr val="0070C0"/>
                </a:solidFill>
                <a:latin typeface="微软雅黑" panose="020B0503020204020204" charset="-122"/>
                <a:ea typeface="微软雅黑" panose="020B0503020204020204" charset="-122"/>
                <a:cs typeface="微软雅黑" panose="020B0503020204020204" charset="-122"/>
              </a:rPr>
              <a:t>产品</a:t>
            </a:r>
            <a:r>
              <a:rPr lang="en-US" sz="2600" b="1">
                <a:solidFill>
                  <a:srgbClr val="0070C0"/>
                </a:solidFill>
                <a:latin typeface="微软雅黑" panose="020B0503020204020204" charset="-122"/>
                <a:ea typeface="微软雅黑" panose="020B0503020204020204" charset="-122"/>
                <a:cs typeface="微软雅黑" panose="020B0503020204020204" charset="-122"/>
              </a:rPr>
              <a:t> - </a:t>
            </a:r>
            <a:r>
              <a:rPr lang="zh-CN" altLang="en-US" sz="2600" b="1">
                <a:solidFill>
                  <a:srgbClr val="0070C0"/>
                </a:solidFill>
                <a:latin typeface="微软雅黑" panose="020B0503020204020204" charset="-122"/>
                <a:ea typeface="微软雅黑" panose="020B0503020204020204" charset="-122"/>
                <a:cs typeface="微软雅黑" panose="020B0503020204020204" charset="-122"/>
              </a:rPr>
              <a:t>宏观策略区别</a:t>
            </a:r>
            <a:endParaRPr lang="zh-CN" altLang="en-US" sz="2600" b="1">
              <a:solidFill>
                <a:srgbClr val="0070C0"/>
              </a:solidFill>
              <a:latin typeface="微软雅黑" panose="020B0503020204020204" charset="-122"/>
              <a:ea typeface="微软雅黑" panose="020B0503020204020204" charset="-122"/>
              <a:cs typeface="微软雅黑" panose="020B0503020204020204" charset="-122"/>
            </a:endParaRPr>
          </a:p>
        </p:txBody>
      </p:sp>
      <p:sp>
        <p:nvSpPr>
          <p:cNvPr id="238" name="Rectangle 4"/>
          <p:cNvSpPr/>
          <p:nvPr/>
        </p:nvSpPr>
        <p:spPr>
          <a:xfrm>
            <a:off x="502920" y="1005840"/>
            <a:ext cx="2011680" cy="27940"/>
          </a:xfrm>
          <a:prstGeom prst="rect">
            <a:avLst/>
          </a:prstGeom>
          <a:solidFill>
            <a:srgbClr val="54B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239" name="Rectangle 5"/>
          <p:cNvSpPr/>
          <p:nvPr/>
        </p:nvSpPr>
        <p:spPr>
          <a:xfrm>
            <a:off x="502920" y="1060704"/>
            <a:ext cx="11183112" cy="11430"/>
          </a:xfrm>
          <a:prstGeom prst="rect">
            <a:avLst/>
          </a:prstGeom>
          <a:solidFill>
            <a:srgbClr val="AED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240" name="TextBox 7"/>
          <p:cNvSpPr txBox="1"/>
          <p:nvPr/>
        </p:nvSpPr>
        <p:spPr>
          <a:xfrm>
            <a:off x="502920" y="6035040"/>
            <a:ext cx="11183112" cy="365760"/>
          </a:xfrm>
          <a:prstGeom prst="rect">
            <a:avLst/>
          </a:prstGeom>
          <a:noFill/>
        </p:spPr>
        <p:txBody>
          <a:bodyPr wrap="square" lIns="0" tIns="0" rIns="0" bIns="0" anchor="t">
            <a:spAutoFit/>
          </a:bodyPr>
          <a:lstStyle/>
          <a:p>
            <a:pPr algn="l">
              <a:lnSpc>
                <a:spcPct val="115000"/>
              </a:lnSpc>
              <a:spcAft>
                <a:spcPts val="600"/>
              </a:spcAft>
            </a:pPr>
            <a:r>
              <a:rPr sz="1100" b="1">
                <a:solidFill>
                  <a:srgbClr val="54B0E0"/>
                </a:solidFill>
                <a:latin typeface="微软雅黑" panose="020B0503020204020204" charset="-122"/>
                <a:ea typeface="微软雅黑" panose="020B0503020204020204" charset="-122"/>
                <a:cs typeface="微软雅黑" panose="020B0503020204020204" charset="-122"/>
              </a:rPr>
              <a:t>【占位】上表为 2026.08 版数据，最新区间收益/净值更新后替换。</a:t>
            </a:r>
            <a:endParaRPr sz="1100" b="1">
              <a:solidFill>
                <a:srgbClr val="54B0E0"/>
              </a:solidFill>
              <a:latin typeface="微软雅黑" panose="020B0503020204020204" charset="-122"/>
              <a:ea typeface="微软雅黑" panose="020B0503020204020204" charset="-122"/>
              <a:cs typeface="微软雅黑" panose="020B0503020204020204" charset="-122"/>
            </a:endParaRPr>
          </a:p>
        </p:txBody>
      </p:sp>
      <p:sp>
        <p:nvSpPr>
          <p:cNvPr id="241" name="TextBox 8"/>
          <p:cNvSpPr txBox="1"/>
          <p:nvPr/>
        </p:nvSpPr>
        <p:spPr>
          <a:xfrm>
            <a:off x="502920" y="6455664"/>
            <a:ext cx="7315200" cy="274320"/>
          </a:xfrm>
          <a:prstGeom prst="rect">
            <a:avLst/>
          </a:prstGeom>
          <a:noFill/>
        </p:spPr>
        <p:txBody>
          <a:bodyPr wrap="square" lIns="0" tIns="0" rIns="0" bIns="0" anchor="t">
            <a:spAutoFit/>
          </a:bodyPr>
          <a:lstStyle/>
          <a:p>
            <a:pPr algn="l">
              <a:lnSpc>
                <a:spcPct val="115000"/>
              </a:lnSpc>
              <a:spcAft>
                <a:spcPts val="600"/>
              </a:spcAft>
            </a:pPr>
            <a:r>
              <a:rPr sz="900" b="0">
                <a:solidFill>
                  <a:srgbClr val="595959"/>
                </a:solidFill>
                <a:latin typeface="微软雅黑" panose="020B0503020204020204" charset="-122"/>
                <a:ea typeface="微软雅黑" panose="020B0503020204020204" charset="-122"/>
                <a:cs typeface="微软雅黑" panose="020B0503020204020204" charset="-122"/>
              </a:rPr>
              <a:t>近期宏观变化及资产配置 · 2026.09</a:t>
            </a:r>
            <a:endParaRPr sz="900" b="0">
              <a:solidFill>
                <a:srgbClr val="595959"/>
              </a:solidFill>
              <a:latin typeface="微软雅黑" panose="020B0503020204020204" charset="-122"/>
              <a:ea typeface="微软雅黑" panose="020B0503020204020204" charset="-122"/>
              <a:cs typeface="微软雅黑" panose="020B0503020204020204" charset="-122"/>
            </a:endParaRPr>
          </a:p>
        </p:txBody>
      </p:sp>
      <p:sp>
        <p:nvSpPr>
          <p:cNvPr id="242" name="TextBox 9"/>
          <p:cNvSpPr txBox="1"/>
          <p:nvPr/>
        </p:nvSpPr>
        <p:spPr>
          <a:xfrm>
            <a:off x="10789920" y="6455664"/>
            <a:ext cx="914400" cy="274320"/>
          </a:xfrm>
          <a:prstGeom prst="rect">
            <a:avLst/>
          </a:prstGeom>
          <a:noFill/>
        </p:spPr>
        <p:txBody>
          <a:bodyPr wrap="square" lIns="0" tIns="0" rIns="0" bIns="0" anchor="t">
            <a:spAutoFit/>
          </a:bodyPr>
          <a:lstStyle/>
          <a:p>
            <a:pPr algn="r">
              <a:lnSpc>
                <a:spcPct val="115000"/>
              </a:lnSpc>
              <a:spcAft>
                <a:spcPts val="600"/>
              </a:spcAft>
            </a:pPr>
            <a:r>
              <a:rPr sz="1000" b="0">
                <a:solidFill>
                  <a:srgbClr val="595959"/>
                </a:solidFill>
                <a:latin typeface="微软雅黑" panose="020B0503020204020204" charset="-122"/>
                <a:ea typeface="微软雅黑" panose="020B0503020204020204" charset="-122"/>
                <a:cs typeface="微软雅黑" panose="020B0503020204020204" charset="-122"/>
              </a:rPr>
              <a:t>14</a:t>
            </a:r>
            <a:endParaRPr sz="1000" b="0">
              <a:solidFill>
                <a:srgbClr val="595959"/>
              </a:solidFill>
              <a:latin typeface="微软雅黑" panose="020B0503020204020204" charset="-122"/>
              <a:ea typeface="微软雅黑" panose="020B0503020204020204" charset="-122"/>
              <a:cs typeface="微软雅黑" panose="020B0503020204020204" charset="-122"/>
            </a:endParaRPr>
          </a:p>
        </p:txBody>
      </p:sp>
      <p:sp>
        <p:nvSpPr>
          <p:cNvPr id="243" name="矩形 3"/>
          <p:cNvSpPr/>
          <p:nvPr/>
        </p:nvSpPr>
        <p:spPr>
          <a:xfrm>
            <a:off x="508000" y="1651000"/>
            <a:ext cx="3556000" cy="508000"/>
          </a:xfrm>
          <a:prstGeom prst="rect">
            <a:avLst/>
          </a:prstGeom>
          <a:solidFill>
            <a:srgbClr val="54B0E0"/>
          </a:solidFill>
          <a:ln>
            <a:noFill/>
          </a:ln>
        </p:spPr>
        <p:txBody>
          <a:bodyPr/>
          <a:p>
            <a:pPr/>
            <a:endParaRPr/>
          </a:p>
        </p:txBody>
      </p:sp>
      <p:sp>
        <p:nvSpPr>
          <p:cNvPr id="244" name="矩形 4"/>
          <p:cNvSpPr/>
          <p:nvPr/>
        </p:nvSpPr>
        <p:spPr>
          <a:xfrm>
            <a:off x="4318000" y="1651000"/>
            <a:ext cx="3556000" cy="508000"/>
          </a:xfrm>
          <a:prstGeom prst="rect">
            <a:avLst/>
          </a:prstGeom>
          <a:solidFill>
            <a:srgbClr val="0070C0"/>
          </a:solidFill>
          <a:ln>
            <a:noFill/>
          </a:ln>
        </p:spPr>
        <p:txBody>
          <a:bodyPr/>
          <a:p>
            <a:pPr/>
            <a:endParaRPr/>
          </a:p>
        </p:txBody>
      </p:sp>
      <p:sp>
        <p:nvSpPr>
          <p:cNvPr id="245" name="矩形 5"/>
          <p:cNvSpPr/>
          <p:nvPr/>
        </p:nvSpPr>
        <p:spPr>
          <a:xfrm>
            <a:off x="8128000" y="1651000"/>
            <a:ext cx="3556000" cy="508000"/>
          </a:xfrm>
          <a:prstGeom prst="rect">
            <a:avLst/>
          </a:prstGeom>
          <a:solidFill>
            <a:srgbClr val="0070C0"/>
          </a:solidFill>
          <a:ln>
            <a:noFill/>
          </a:ln>
        </p:spPr>
        <p:txBody>
          <a:bodyPr/>
          <a:p>
            <a:pPr/>
            <a:endParaRPr/>
          </a:p>
        </p:txBody>
      </p:sp>
      <p:sp>
        <p:nvSpPr>
          <p:cNvPr id="246" name="矩形 9"/>
          <p:cNvSpPr/>
          <p:nvPr/>
        </p:nvSpPr>
        <p:spPr>
          <a:xfrm>
            <a:off x="660400" y="1714500"/>
            <a:ext cx="3251200" cy="406400"/>
          </a:xfrm>
          <a:prstGeom prst="rect">
            <a:avLst/>
          </a:prstGeom>
          <a:noFill/>
          <a:ln>
            <a:noFill/>
          </a:ln>
        </p:spPr>
        <p:txBody>
          <a:bodyPr/>
          <a:p>
            <a:pPr/>
            <a:r>
              <a:rPr lang="zh-CN" sz="1500">
                <a:solidFill>
                  <a:srgbClr val="FFFFFF"/>
                </a:solidFill>
                <a:latin typeface="微软雅黑" panose="020B0503020204020204" charset="-122"/>
                <a:ea typeface="微软雅黑" panose="020B0503020204020204" charset="-122"/>
              </a:rPr>
              <a:t>桥水 Beta 型 · 全天候</a:t>
            </a:r>
            <a:endParaRPr lang="zh-CN" sz="1500">
              <a:solidFill>
                <a:srgbClr val="FFFFFF"/>
              </a:solidFill>
              <a:latin typeface="微软雅黑" panose="020B0503020204020204" charset="-122"/>
              <a:ea typeface="微软雅黑" panose="020B0503020204020204" charset="-122"/>
            </a:endParaRPr>
          </a:p>
        </p:txBody>
      </p:sp>
      <p:sp>
        <p:nvSpPr>
          <p:cNvPr id="247" name="矩形 10"/>
          <p:cNvSpPr/>
          <p:nvPr/>
        </p:nvSpPr>
        <p:spPr>
          <a:xfrm>
            <a:off x="4470400" y="1714500"/>
            <a:ext cx="3251200" cy="406400"/>
          </a:xfrm>
          <a:prstGeom prst="rect">
            <a:avLst/>
          </a:prstGeom>
          <a:noFill/>
          <a:ln>
            <a:noFill/>
          </a:ln>
        </p:spPr>
        <p:txBody>
          <a:bodyPr/>
          <a:p>
            <a:pPr/>
            <a:r>
              <a:rPr lang="zh-CN" sz="1500">
                <a:solidFill>
                  <a:srgbClr val="FFFFFF"/>
                </a:solidFill>
                <a:latin typeface="微软雅黑" panose="020B0503020204020204" charset="-122"/>
                <a:ea typeface="微软雅黑" panose="020B0503020204020204" charset="-122"/>
              </a:rPr>
              <a:t>桥水 Pure Alpha</a:t>
            </a:r>
            <a:endParaRPr lang="zh-CN" sz="1500">
              <a:solidFill>
                <a:srgbClr val="FFFFFF"/>
              </a:solidFill>
              <a:latin typeface="微软雅黑" panose="020B0503020204020204" charset="-122"/>
              <a:ea typeface="微软雅黑" panose="020B0503020204020204" charset="-122"/>
            </a:endParaRPr>
          </a:p>
        </p:txBody>
      </p:sp>
      <p:sp>
        <p:nvSpPr>
          <p:cNvPr id="248" name="矩形 11"/>
          <p:cNvSpPr/>
          <p:nvPr/>
        </p:nvSpPr>
        <p:spPr>
          <a:xfrm>
            <a:off x="8280400" y="1714500"/>
            <a:ext cx="3251200" cy="406400"/>
          </a:xfrm>
          <a:prstGeom prst="rect">
            <a:avLst/>
          </a:prstGeom>
          <a:noFill/>
          <a:ln>
            <a:noFill/>
          </a:ln>
        </p:spPr>
        <p:txBody>
          <a:bodyPr/>
          <a:p>
            <a:pPr/>
            <a:r>
              <a:rPr lang="zh-CN" sz="1500">
                <a:solidFill>
                  <a:srgbClr val="FFFFFF"/>
                </a:solidFill>
                <a:latin typeface="微软雅黑" panose="020B0503020204020204" charset="-122"/>
                <a:ea typeface="微软雅黑" panose="020B0503020204020204" charset="-122"/>
              </a:rPr>
              <a:t>国内 Alpha 型</a:t>
            </a:r>
            <a:endParaRPr lang="zh-CN" sz="1500">
              <a:solidFill>
                <a:srgbClr val="FFFFFF"/>
              </a:solidFill>
              <a:latin typeface="微软雅黑" panose="020B0503020204020204" charset="-122"/>
              <a:ea typeface="微软雅黑" panose="020B0503020204020204" charset="-122"/>
            </a:endParaRPr>
          </a:p>
        </p:txBody>
      </p:sp>
      <p:sp>
        <p:nvSpPr>
          <p:cNvPr id="249" name="矩形 12"/>
          <p:cNvSpPr/>
          <p:nvPr/>
        </p:nvSpPr>
        <p:spPr>
          <a:xfrm>
            <a:off x="660400" y="2413000"/>
            <a:ext cx="1143000" cy="355600"/>
          </a:xfrm>
          <a:prstGeom prst="rect">
            <a:avLst/>
          </a:prstGeom>
          <a:noFill/>
          <a:ln>
            <a:noFill/>
          </a:ln>
        </p:spPr>
        <p:txBody>
          <a:bodyPr/>
          <a:p>
            <a:pPr/>
            <a:r>
              <a:rPr lang="zh-CN" sz="1100">
                <a:solidFill>
                  <a:srgbClr val="0070C0"/>
                </a:solidFill>
                <a:latin typeface="微软雅黑" panose="020B0503020204020204" charset="-122"/>
                <a:ea typeface="微软雅黑" panose="020B0503020204020204" charset="-122"/>
              </a:rPr>
              <a:t>定位</a:t>
            </a:r>
            <a:endParaRPr lang="zh-CN" sz="1100">
              <a:solidFill>
                <a:srgbClr val="0070C0"/>
              </a:solidFill>
              <a:latin typeface="微软雅黑" panose="020B0503020204020204" charset="-122"/>
              <a:ea typeface="微软雅黑" panose="020B0503020204020204" charset="-122"/>
            </a:endParaRPr>
          </a:p>
        </p:txBody>
      </p:sp>
      <p:sp>
        <p:nvSpPr>
          <p:cNvPr id="250" name="矩形 13"/>
          <p:cNvSpPr/>
          <p:nvPr/>
        </p:nvSpPr>
        <p:spPr>
          <a:xfrm>
            <a:off x="1879600" y="2413000"/>
            <a:ext cx="2095500" cy="355600"/>
          </a:xfrm>
          <a:prstGeom prst="rect">
            <a:avLst/>
          </a:prstGeom>
          <a:noFill/>
          <a:ln>
            <a:noFill/>
          </a:ln>
        </p:spPr>
        <p:txBody>
          <a:bodyPr/>
          <a:p>
            <a:pPr/>
            <a:r>
              <a:rPr lang="zh-CN" sz="1000">
                <a:solidFill>
                  <a:srgbClr val="1F2933"/>
                </a:solidFill>
                <a:latin typeface="微软雅黑" panose="020B0503020204020204" charset="-122"/>
                <a:ea typeface="微软雅黑" panose="020B0503020204020204" charset="-122"/>
              </a:rPr>
              <a:t>风险平价 · 纯 beta</a:t>
            </a:r>
            <a:endParaRPr lang="zh-CN" sz="1000">
              <a:solidFill>
                <a:srgbClr val="1F2933"/>
              </a:solidFill>
              <a:latin typeface="微软雅黑" panose="020B0503020204020204" charset="-122"/>
              <a:ea typeface="微软雅黑" panose="020B0503020204020204" charset="-122"/>
            </a:endParaRPr>
          </a:p>
        </p:txBody>
      </p:sp>
      <p:sp>
        <p:nvSpPr>
          <p:cNvPr id="251" name="矩形 14"/>
          <p:cNvSpPr/>
          <p:nvPr/>
        </p:nvSpPr>
        <p:spPr>
          <a:xfrm>
            <a:off x="660400" y="2921000"/>
            <a:ext cx="1143000" cy="355600"/>
          </a:xfrm>
          <a:prstGeom prst="rect">
            <a:avLst/>
          </a:prstGeom>
          <a:noFill/>
          <a:ln>
            <a:noFill/>
          </a:ln>
        </p:spPr>
        <p:txBody>
          <a:bodyPr/>
          <a:p>
            <a:pPr/>
            <a:r>
              <a:rPr lang="zh-CN" sz="1100">
                <a:solidFill>
                  <a:srgbClr val="0070C0"/>
                </a:solidFill>
                <a:latin typeface="微软雅黑" panose="020B0503020204020204" charset="-122"/>
                <a:ea typeface="微软雅黑" panose="020B0503020204020204" charset="-122"/>
              </a:rPr>
              <a:t>工具</a:t>
            </a:r>
            <a:endParaRPr lang="zh-CN" sz="1100">
              <a:solidFill>
                <a:srgbClr val="0070C0"/>
              </a:solidFill>
              <a:latin typeface="微软雅黑" panose="020B0503020204020204" charset="-122"/>
              <a:ea typeface="微软雅黑" panose="020B0503020204020204" charset="-122"/>
            </a:endParaRPr>
          </a:p>
        </p:txBody>
      </p:sp>
      <p:sp>
        <p:nvSpPr>
          <p:cNvPr id="252" name="矩形 15"/>
          <p:cNvSpPr/>
          <p:nvPr/>
        </p:nvSpPr>
        <p:spPr>
          <a:xfrm>
            <a:off x="1879600" y="2921000"/>
            <a:ext cx="2095500" cy="355600"/>
          </a:xfrm>
          <a:prstGeom prst="rect">
            <a:avLst/>
          </a:prstGeom>
          <a:noFill/>
          <a:ln>
            <a:noFill/>
          </a:ln>
        </p:spPr>
        <p:txBody>
          <a:bodyPr/>
          <a:p>
            <a:pPr/>
            <a:r>
              <a:rPr lang="zh-CN" sz="1000">
                <a:solidFill>
                  <a:srgbClr val="1F2933"/>
                </a:solidFill>
                <a:latin typeface="微软雅黑" panose="020B0503020204020204" charset="-122"/>
                <a:ea typeface="微软雅黑" panose="020B0503020204020204" charset="-122"/>
              </a:rPr>
              <a:t>股/债/商品/通胀债</a:t>
            </a:r>
            <a:endParaRPr lang="zh-CN" sz="1000">
              <a:solidFill>
                <a:srgbClr val="1F2933"/>
              </a:solidFill>
              <a:latin typeface="微软雅黑" panose="020B0503020204020204" charset="-122"/>
              <a:ea typeface="微软雅黑" panose="020B0503020204020204" charset="-122"/>
            </a:endParaRPr>
          </a:p>
        </p:txBody>
      </p:sp>
      <p:sp>
        <p:nvSpPr>
          <p:cNvPr id="253" name="矩形 16"/>
          <p:cNvSpPr/>
          <p:nvPr/>
        </p:nvSpPr>
        <p:spPr>
          <a:xfrm>
            <a:off x="660400" y="3429000"/>
            <a:ext cx="1143000" cy="355600"/>
          </a:xfrm>
          <a:prstGeom prst="rect">
            <a:avLst/>
          </a:prstGeom>
          <a:noFill/>
          <a:ln>
            <a:noFill/>
          </a:ln>
        </p:spPr>
        <p:txBody>
          <a:bodyPr/>
          <a:p>
            <a:pPr/>
            <a:r>
              <a:rPr lang="zh-CN" sz="1100">
                <a:solidFill>
                  <a:srgbClr val="0070C0"/>
                </a:solidFill>
                <a:latin typeface="微软雅黑" panose="020B0503020204020204" charset="-122"/>
                <a:ea typeface="微软雅黑" panose="020B0503020204020204" charset="-122"/>
              </a:rPr>
              <a:t>敞口</a:t>
            </a:r>
            <a:endParaRPr lang="zh-CN" sz="1100">
              <a:solidFill>
                <a:srgbClr val="0070C0"/>
              </a:solidFill>
              <a:latin typeface="微软雅黑" panose="020B0503020204020204" charset="-122"/>
              <a:ea typeface="微软雅黑" panose="020B0503020204020204" charset="-122"/>
            </a:endParaRPr>
          </a:p>
        </p:txBody>
      </p:sp>
      <p:sp>
        <p:nvSpPr>
          <p:cNvPr id="254" name="矩形 17"/>
          <p:cNvSpPr/>
          <p:nvPr/>
        </p:nvSpPr>
        <p:spPr>
          <a:xfrm>
            <a:off x="1879600" y="3429000"/>
            <a:ext cx="2095500" cy="355600"/>
          </a:xfrm>
          <a:prstGeom prst="rect">
            <a:avLst/>
          </a:prstGeom>
          <a:noFill/>
          <a:ln>
            <a:noFill/>
          </a:ln>
        </p:spPr>
        <p:txBody>
          <a:bodyPr/>
          <a:p>
            <a:pPr/>
            <a:r>
              <a:rPr lang="zh-CN" sz="1000">
                <a:solidFill>
                  <a:srgbClr val="1F2933"/>
                </a:solidFill>
                <a:latin typeface="微软雅黑" panose="020B0503020204020204" charset="-122"/>
                <a:ea typeface="微软雅黑" panose="020B0503020204020204" charset="-122"/>
              </a:rPr>
              <a:t>纯多头指数，不选品</a:t>
            </a:r>
            <a:endParaRPr lang="zh-CN" sz="1000">
              <a:solidFill>
                <a:srgbClr val="1F2933"/>
              </a:solidFill>
              <a:latin typeface="微软雅黑" panose="020B0503020204020204" charset="-122"/>
              <a:ea typeface="微软雅黑" panose="020B0503020204020204" charset="-122"/>
            </a:endParaRPr>
          </a:p>
        </p:txBody>
      </p:sp>
      <p:sp>
        <p:nvSpPr>
          <p:cNvPr id="255" name="矩形 18"/>
          <p:cNvSpPr/>
          <p:nvPr/>
        </p:nvSpPr>
        <p:spPr>
          <a:xfrm>
            <a:off x="660400" y="3937000"/>
            <a:ext cx="1143000" cy="355600"/>
          </a:xfrm>
          <a:prstGeom prst="rect">
            <a:avLst/>
          </a:prstGeom>
          <a:noFill/>
          <a:ln>
            <a:noFill/>
          </a:ln>
        </p:spPr>
        <p:txBody>
          <a:bodyPr/>
          <a:p>
            <a:pPr/>
            <a:r>
              <a:rPr lang="zh-CN" sz="1100">
                <a:solidFill>
                  <a:srgbClr val="0070C0"/>
                </a:solidFill>
                <a:latin typeface="微软雅黑" panose="020B0503020204020204" charset="-122"/>
                <a:ea typeface="微软雅黑" panose="020B0503020204020204" charset="-122"/>
              </a:rPr>
              <a:t>收益</a:t>
            </a:r>
            <a:endParaRPr lang="zh-CN" sz="1100">
              <a:solidFill>
                <a:srgbClr val="0070C0"/>
              </a:solidFill>
              <a:latin typeface="微软雅黑" panose="020B0503020204020204" charset="-122"/>
              <a:ea typeface="微软雅黑" panose="020B0503020204020204" charset="-122"/>
            </a:endParaRPr>
          </a:p>
        </p:txBody>
      </p:sp>
      <p:sp>
        <p:nvSpPr>
          <p:cNvPr id="256" name="矩形 19"/>
          <p:cNvSpPr/>
          <p:nvPr/>
        </p:nvSpPr>
        <p:spPr>
          <a:xfrm>
            <a:off x="1879600" y="3937000"/>
            <a:ext cx="2095500" cy="355600"/>
          </a:xfrm>
          <a:prstGeom prst="rect">
            <a:avLst/>
          </a:prstGeom>
          <a:noFill/>
          <a:ln>
            <a:noFill/>
          </a:ln>
        </p:spPr>
        <p:txBody>
          <a:bodyPr/>
          <a:p>
            <a:pPr/>
            <a:r>
              <a:rPr lang="zh-CN" sz="1000">
                <a:solidFill>
                  <a:srgbClr val="1F2933"/>
                </a:solidFill>
                <a:latin typeface="微软雅黑" panose="020B0503020204020204" charset="-122"/>
                <a:ea typeface="微软雅黑" panose="020B0503020204020204" charset="-122"/>
              </a:rPr>
              <a:t>100% 配置 beta</a:t>
            </a:r>
            <a:endParaRPr lang="zh-CN" sz="1000">
              <a:solidFill>
                <a:srgbClr val="1F2933"/>
              </a:solidFill>
              <a:latin typeface="微软雅黑" panose="020B0503020204020204" charset="-122"/>
              <a:ea typeface="微软雅黑" panose="020B0503020204020204" charset="-122"/>
            </a:endParaRPr>
          </a:p>
        </p:txBody>
      </p:sp>
      <p:sp>
        <p:nvSpPr>
          <p:cNvPr id="257" name="矩形 20"/>
          <p:cNvSpPr/>
          <p:nvPr/>
        </p:nvSpPr>
        <p:spPr>
          <a:xfrm>
            <a:off x="660400" y="4445000"/>
            <a:ext cx="1143000" cy="355600"/>
          </a:xfrm>
          <a:prstGeom prst="rect">
            <a:avLst/>
          </a:prstGeom>
          <a:noFill/>
          <a:ln>
            <a:noFill/>
          </a:ln>
        </p:spPr>
        <p:txBody>
          <a:bodyPr/>
          <a:p>
            <a:pPr/>
            <a:r>
              <a:rPr lang="zh-CN" sz="1100">
                <a:solidFill>
                  <a:srgbClr val="0070C0"/>
                </a:solidFill>
                <a:latin typeface="微软雅黑" panose="020B0503020204020204" charset="-122"/>
                <a:ea typeface="微软雅黑" panose="020B0503020204020204" charset="-122"/>
              </a:rPr>
              <a:t>特征</a:t>
            </a:r>
            <a:endParaRPr lang="zh-CN" sz="1100">
              <a:solidFill>
                <a:srgbClr val="0070C0"/>
              </a:solidFill>
              <a:latin typeface="微软雅黑" panose="020B0503020204020204" charset="-122"/>
              <a:ea typeface="微软雅黑" panose="020B0503020204020204" charset="-122"/>
            </a:endParaRPr>
          </a:p>
        </p:txBody>
      </p:sp>
      <p:sp>
        <p:nvSpPr>
          <p:cNvPr id="258" name="矩形 21"/>
          <p:cNvSpPr/>
          <p:nvPr/>
        </p:nvSpPr>
        <p:spPr>
          <a:xfrm>
            <a:off x="1879600" y="4445000"/>
            <a:ext cx="2095500" cy="355600"/>
          </a:xfrm>
          <a:prstGeom prst="rect">
            <a:avLst/>
          </a:prstGeom>
          <a:noFill/>
          <a:ln>
            <a:noFill/>
          </a:ln>
        </p:spPr>
        <p:txBody>
          <a:bodyPr/>
          <a:p>
            <a:pPr/>
            <a:r>
              <a:rPr lang="zh-CN" sz="1000">
                <a:solidFill>
                  <a:srgbClr val="1F2933"/>
                </a:solidFill>
                <a:latin typeface="微软雅黑" panose="020B0503020204020204" charset="-122"/>
                <a:ea typeface="微软雅黑" panose="020B0503020204020204" charset="-122"/>
              </a:rPr>
              <a:t>低波可复制穿越周期</a:t>
            </a:r>
            <a:endParaRPr lang="zh-CN" sz="1000">
              <a:solidFill>
                <a:srgbClr val="1F2933"/>
              </a:solidFill>
              <a:latin typeface="微软雅黑" panose="020B0503020204020204" charset="-122"/>
              <a:ea typeface="微软雅黑" panose="020B0503020204020204" charset="-122"/>
            </a:endParaRPr>
          </a:p>
        </p:txBody>
      </p:sp>
      <p:sp>
        <p:nvSpPr>
          <p:cNvPr id="259" name="矩形 22"/>
          <p:cNvSpPr/>
          <p:nvPr/>
        </p:nvSpPr>
        <p:spPr>
          <a:xfrm>
            <a:off x="660400" y="4953000"/>
            <a:ext cx="1143000" cy="355600"/>
          </a:xfrm>
          <a:prstGeom prst="rect">
            <a:avLst/>
          </a:prstGeom>
          <a:noFill/>
          <a:ln>
            <a:noFill/>
          </a:ln>
        </p:spPr>
        <p:txBody>
          <a:bodyPr/>
          <a:p>
            <a:pPr/>
            <a:r>
              <a:rPr lang="zh-CN" sz="1100">
                <a:solidFill>
                  <a:srgbClr val="0070C0"/>
                </a:solidFill>
                <a:latin typeface="微软雅黑" panose="020B0503020204020204" charset="-122"/>
                <a:ea typeface="微软雅黑" panose="020B0503020204020204" charset="-122"/>
              </a:rPr>
              <a:t>业绩</a:t>
            </a:r>
            <a:endParaRPr lang="zh-CN" sz="1100">
              <a:solidFill>
                <a:srgbClr val="0070C0"/>
              </a:solidFill>
              <a:latin typeface="微软雅黑" panose="020B0503020204020204" charset="-122"/>
              <a:ea typeface="微软雅黑" panose="020B0503020204020204" charset="-122"/>
            </a:endParaRPr>
          </a:p>
        </p:txBody>
      </p:sp>
      <p:sp>
        <p:nvSpPr>
          <p:cNvPr id="260" name="矩形 23"/>
          <p:cNvSpPr/>
          <p:nvPr/>
        </p:nvSpPr>
        <p:spPr>
          <a:xfrm>
            <a:off x="1879600" y="4953000"/>
            <a:ext cx="2095500" cy="355600"/>
          </a:xfrm>
          <a:prstGeom prst="rect">
            <a:avLst/>
          </a:prstGeom>
          <a:noFill/>
          <a:ln>
            <a:noFill/>
          </a:ln>
        </p:spPr>
        <p:txBody>
          <a:bodyPr/>
          <a:p>
            <a:pPr/>
            <a:r>
              <a:rPr lang="zh-CN" sz="1000">
                <a:solidFill>
                  <a:srgbClr val="1F2933"/>
                </a:solidFill>
                <a:latin typeface="微软雅黑" panose="020B0503020204020204" charset="-122"/>
                <a:ea typeface="微软雅黑" panose="020B0503020204020204" charset="-122"/>
              </a:rPr>
              <a:t>年化约 7.9%</a:t>
            </a:r>
            <a:endParaRPr lang="zh-CN" sz="1000">
              <a:solidFill>
                <a:srgbClr val="1F2933"/>
              </a:solidFill>
              <a:latin typeface="微软雅黑" panose="020B0503020204020204" charset="-122"/>
              <a:ea typeface="微软雅黑" panose="020B0503020204020204" charset="-122"/>
            </a:endParaRPr>
          </a:p>
        </p:txBody>
      </p:sp>
      <p:sp>
        <p:nvSpPr>
          <p:cNvPr id="261" name="矩形 24"/>
          <p:cNvSpPr/>
          <p:nvPr/>
        </p:nvSpPr>
        <p:spPr>
          <a:xfrm>
            <a:off x="4470400" y="2413000"/>
            <a:ext cx="1143000" cy="355600"/>
          </a:xfrm>
          <a:prstGeom prst="rect">
            <a:avLst/>
          </a:prstGeom>
          <a:noFill/>
          <a:ln>
            <a:noFill/>
          </a:ln>
        </p:spPr>
        <p:txBody>
          <a:bodyPr/>
          <a:p>
            <a:pPr/>
            <a:r>
              <a:rPr lang="zh-CN" sz="1100">
                <a:solidFill>
                  <a:srgbClr val="0070C0"/>
                </a:solidFill>
                <a:latin typeface="微软雅黑" panose="020B0503020204020204" charset="-122"/>
                <a:ea typeface="微软雅黑" panose="020B0503020204020204" charset="-122"/>
              </a:rPr>
              <a:t>定位</a:t>
            </a:r>
            <a:endParaRPr lang="zh-CN" sz="1100">
              <a:solidFill>
                <a:srgbClr val="0070C0"/>
              </a:solidFill>
              <a:latin typeface="微软雅黑" panose="020B0503020204020204" charset="-122"/>
              <a:ea typeface="微软雅黑" panose="020B0503020204020204" charset="-122"/>
            </a:endParaRPr>
          </a:p>
        </p:txBody>
      </p:sp>
      <p:sp>
        <p:nvSpPr>
          <p:cNvPr id="262" name="矩形 25"/>
          <p:cNvSpPr/>
          <p:nvPr/>
        </p:nvSpPr>
        <p:spPr>
          <a:xfrm>
            <a:off x="5689600" y="2413000"/>
            <a:ext cx="2095500" cy="355600"/>
          </a:xfrm>
          <a:prstGeom prst="rect">
            <a:avLst/>
          </a:prstGeom>
          <a:noFill/>
          <a:ln>
            <a:noFill/>
          </a:ln>
        </p:spPr>
        <p:txBody>
          <a:bodyPr/>
          <a:p>
            <a:pPr/>
            <a:r>
              <a:rPr lang="zh-CN" sz="1000">
                <a:solidFill>
                  <a:srgbClr val="1F2933"/>
                </a:solidFill>
                <a:latin typeface="微软雅黑" panose="020B0503020204020204" charset="-122"/>
                <a:ea typeface="微软雅黑" panose="020B0503020204020204" charset="-122"/>
              </a:rPr>
              <a:t>市场中性宏观对冲</a:t>
            </a:r>
            <a:endParaRPr lang="zh-CN" sz="1000">
              <a:solidFill>
                <a:srgbClr val="1F2933"/>
              </a:solidFill>
              <a:latin typeface="微软雅黑" panose="020B0503020204020204" charset="-122"/>
              <a:ea typeface="微软雅黑" panose="020B0503020204020204" charset="-122"/>
            </a:endParaRPr>
          </a:p>
        </p:txBody>
      </p:sp>
      <p:sp>
        <p:nvSpPr>
          <p:cNvPr id="263" name="矩形 26"/>
          <p:cNvSpPr/>
          <p:nvPr/>
        </p:nvSpPr>
        <p:spPr>
          <a:xfrm>
            <a:off x="4470400" y="2921000"/>
            <a:ext cx="1143000" cy="355600"/>
          </a:xfrm>
          <a:prstGeom prst="rect">
            <a:avLst/>
          </a:prstGeom>
          <a:noFill/>
          <a:ln>
            <a:noFill/>
          </a:ln>
        </p:spPr>
        <p:txBody>
          <a:bodyPr/>
          <a:p>
            <a:pPr/>
            <a:r>
              <a:rPr lang="zh-CN" sz="1100">
                <a:solidFill>
                  <a:srgbClr val="0070C0"/>
                </a:solidFill>
                <a:latin typeface="微软雅黑" panose="020B0503020204020204" charset="-122"/>
                <a:ea typeface="微软雅黑" panose="020B0503020204020204" charset="-122"/>
              </a:rPr>
              <a:t>工具</a:t>
            </a:r>
            <a:endParaRPr lang="zh-CN" sz="1100">
              <a:solidFill>
                <a:srgbClr val="0070C0"/>
              </a:solidFill>
              <a:latin typeface="微软雅黑" panose="020B0503020204020204" charset="-122"/>
              <a:ea typeface="微软雅黑" panose="020B0503020204020204" charset="-122"/>
            </a:endParaRPr>
          </a:p>
        </p:txBody>
      </p:sp>
      <p:sp>
        <p:nvSpPr>
          <p:cNvPr id="264" name="矩形 27"/>
          <p:cNvSpPr/>
          <p:nvPr/>
        </p:nvSpPr>
        <p:spPr>
          <a:xfrm>
            <a:off x="5689600" y="2921000"/>
            <a:ext cx="2095500" cy="355600"/>
          </a:xfrm>
          <a:prstGeom prst="rect">
            <a:avLst/>
          </a:prstGeom>
          <a:noFill/>
          <a:ln>
            <a:noFill/>
          </a:ln>
        </p:spPr>
        <p:txBody>
          <a:bodyPr/>
          <a:p>
            <a:pPr/>
            <a:r>
              <a:rPr lang="zh-CN" sz="1000">
                <a:solidFill>
                  <a:srgbClr val="1F2933"/>
                </a:solidFill>
                <a:latin typeface="微软雅黑" panose="020B0503020204020204" charset="-122"/>
                <a:ea typeface="微软雅黑" panose="020B0503020204020204" charset="-122"/>
              </a:rPr>
              <a:t>170+ 市场多空</a:t>
            </a:r>
            <a:endParaRPr lang="zh-CN" sz="1000">
              <a:solidFill>
                <a:srgbClr val="1F2933"/>
              </a:solidFill>
              <a:latin typeface="微软雅黑" panose="020B0503020204020204" charset="-122"/>
              <a:ea typeface="微软雅黑" panose="020B0503020204020204" charset="-122"/>
            </a:endParaRPr>
          </a:p>
        </p:txBody>
      </p:sp>
      <p:sp>
        <p:nvSpPr>
          <p:cNvPr id="265" name="矩形 28"/>
          <p:cNvSpPr/>
          <p:nvPr/>
        </p:nvSpPr>
        <p:spPr>
          <a:xfrm>
            <a:off x="4470400" y="3429000"/>
            <a:ext cx="1143000" cy="355600"/>
          </a:xfrm>
          <a:prstGeom prst="rect">
            <a:avLst/>
          </a:prstGeom>
          <a:noFill/>
          <a:ln>
            <a:noFill/>
          </a:ln>
        </p:spPr>
        <p:txBody>
          <a:bodyPr/>
          <a:p>
            <a:pPr/>
            <a:r>
              <a:rPr lang="zh-CN" sz="1100">
                <a:solidFill>
                  <a:srgbClr val="0070C0"/>
                </a:solidFill>
                <a:latin typeface="微软雅黑" panose="020B0503020204020204" charset="-122"/>
                <a:ea typeface="微软雅黑" panose="020B0503020204020204" charset="-122"/>
              </a:rPr>
              <a:t>敞口</a:t>
            </a:r>
            <a:endParaRPr lang="zh-CN" sz="1100">
              <a:solidFill>
                <a:srgbClr val="0070C0"/>
              </a:solidFill>
              <a:latin typeface="微软雅黑" panose="020B0503020204020204" charset="-122"/>
              <a:ea typeface="微软雅黑" panose="020B0503020204020204" charset="-122"/>
            </a:endParaRPr>
          </a:p>
        </p:txBody>
      </p:sp>
      <p:sp>
        <p:nvSpPr>
          <p:cNvPr id="266" name="矩形 29"/>
          <p:cNvSpPr/>
          <p:nvPr/>
        </p:nvSpPr>
        <p:spPr>
          <a:xfrm>
            <a:off x="5689600" y="3429000"/>
            <a:ext cx="2095500" cy="355600"/>
          </a:xfrm>
          <a:prstGeom prst="rect">
            <a:avLst/>
          </a:prstGeom>
          <a:noFill/>
          <a:ln>
            <a:noFill/>
          </a:ln>
        </p:spPr>
        <p:txBody>
          <a:bodyPr/>
          <a:p>
            <a:pPr/>
            <a:r>
              <a:rPr lang="zh-CN" sz="1000">
                <a:solidFill>
                  <a:srgbClr val="1F2933"/>
                </a:solidFill>
                <a:latin typeface="微软雅黑" panose="020B0503020204020204" charset="-122"/>
                <a:ea typeface="微软雅黑" panose="020B0503020204020204" charset="-122"/>
              </a:rPr>
              <a:t>久期/商品 beta≈0</a:t>
            </a:r>
            <a:endParaRPr lang="zh-CN" sz="1000">
              <a:solidFill>
                <a:srgbClr val="1F2933"/>
              </a:solidFill>
              <a:latin typeface="微软雅黑" panose="020B0503020204020204" charset="-122"/>
              <a:ea typeface="微软雅黑" panose="020B0503020204020204" charset="-122"/>
            </a:endParaRPr>
          </a:p>
        </p:txBody>
      </p:sp>
      <p:sp>
        <p:nvSpPr>
          <p:cNvPr id="267" name="矩形 30"/>
          <p:cNvSpPr/>
          <p:nvPr/>
        </p:nvSpPr>
        <p:spPr>
          <a:xfrm>
            <a:off x="4470400" y="3937000"/>
            <a:ext cx="1143000" cy="355600"/>
          </a:xfrm>
          <a:prstGeom prst="rect">
            <a:avLst/>
          </a:prstGeom>
          <a:noFill/>
          <a:ln>
            <a:noFill/>
          </a:ln>
        </p:spPr>
        <p:txBody>
          <a:bodyPr/>
          <a:p>
            <a:pPr/>
            <a:r>
              <a:rPr lang="zh-CN" sz="1100">
                <a:solidFill>
                  <a:srgbClr val="0070C0"/>
                </a:solidFill>
                <a:latin typeface="微软雅黑" panose="020B0503020204020204" charset="-122"/>
                <a:ea typeface="微软雅黑" panose="020B0503020204020204" charset="-122"/>
              </a:rPr>
              <a:t>收益</a:t>
            </a:r>
            <a:endParaRPr lang="zh-CN" sz="1100">
              <a:solidFill>
                <a:srgbClr val="0070C0"/>
              </a:solidFill>
              <a:latin typeface="微软雅黑" panose="020B0503020204020204" charset="-122"/>
              <a:ea typeface="微软雅黑" panose="020B0503020204020204" charset="-122"/>
            </a:endParaRPr>
          </a:p>
        </p:txBody>
      </p:sp>
      <p:sp>
        <p:nvSpPr>
          <p:cNvPr id="268" name="矩形 31"/>
          <p:cNvSpPr/>
          <p:nvPr/>
        </p:nvSpPr>
        <p:spPr>
          <a:xfrm>
            <a:off x="5689600" y="3937000"/>
            <a:ext cx="2095500" cy="355600"/>
          </a:xfrm>
          <a:prstGeom prst="rect">
            <a:avLst/>
          </a:prstGeom>
          <a:noFill/>
          <a:ln>
            <a:noFill/>
          </a:ln>
        </p:spPr>
        <p:txBody>
          <a:bodyPr/>
          <a:p>
            <a:pPr/>
            <a:r>
              <a:rPr lang="zh-CN" sz="1000">
                <a:solidFill>
                  <a:srgbClr val="1F2933"/>
                </a:solidFill>
                <a:latin typeface="微软雅黑" panose="020B0503020204020204" charset="-122"/>
                <a:ea typeface="微软雅黑" panose="020B0503020204020204" charset="-122"/>
              </a:rPr>
              <a:t>宏观方向择时 alpha</a:t>
            </a:r>
            <a:endParaRPr lang="zh-CN" sz="1000">
              <a:solidFill>
                <a:srgbClr val="1F2933"/>
              </a:solidFill>
              <a:latin typeface="微软雅黑" panose="020B0503020204020204" charset="-122"/>
              <a:ea typeface="微软雅黑" panose="020B0503020204020204" charset="-122"/>
            </a:endParaRPr>
          </a:p>
        </p:txBody>
      </p:sp>
      <p:sp>
        <p:nvSpPr>
          <p:cNvPr id="269" name="矩形 32"/>
          <p:cNvSpPr/>
          <p:nvPr/>
        </p:nvSpPr>
        <p:spPr>
          <a:xfrm>
            <a:off x="4470400" y="4445000"/>
            <a:ext cx="1143000" cy="355600"/>
          </a:xfrm>
          <a:prstGeom prst="rect">
            <a:avLst/>
          </a:prstGeom>
          <a:noFill/>
          <a:ln>
            <a:noFill/>
          </a:ln>
        </p:spPr>
        <p:txBody>
          <a:bodyPr/>
          <a:p>
            <a:pPr/>
            <a:r>
              <a:rPr lang="zh-CN" sz="1100">
                <a:solidFill>
                  <a:srgbClr val="0070C0"/>
                </a:solidFill>
                <a:latin typeface="微软雅黑" panose="020B0503020204020204" charset="-122"/>
                <a:ea typeface="微软雅黑" panose="020B0503020204020204" charset="-122"/>
              </a:rPr>
              <a:t>特征</a:t>
            </a:r>
            <a:endParaRPr lang="zh-CN" sz="1100">
              <a:solidFill>
                <a:srgbClr val="0070C0"/>
              </a:solidFill>
              <a:latin typeface="微软雅黑" panose="020B0503020204020204" charset="-122"/>
              <a:ea typeface="微软雅黑" panose="020B0503020204020204" charset="-122"/>
            </a:endParaRPr>
          </a:p>
        </p:txBody>
      </p:sp>
      <p:sp>
        <p:nvSpPr>
          <p:cNvPr id="270" name="矩形 33"/>
          <p:cNvSpPr/>
          <p:nvPr/>
        </p:nvSpPr>
        <p:spPr>
          <a:xfrm>
            <a:off x="5689600" y="4445000"/>
            <a:ext cx="2095500" cy="355600"/>
          </a:xfrm>
          <a:prstGeom prst="rect">
            <a:avLst/>
          </a:prstGeom>
          <a:noFill/>
          <a:ln>
            <a:noFill/>
          </a:ln>
        </p:spPr>
        <p:txBody>
          <a:bodyPr/>
          <a:p>
            <a:pPr/>
            <a:r>
              <a:rPr lang="zh-CN" sz="1000">
                <a:solidFill>
                  <a:srgbClr val="1F2933"/>
                </a:solidFill>
                <a:latin typeface="微软雅黑" panose="020B0503020204020204" charset="-122"/>
                <a:ea typeface="微软雅黑" panose="020B0503020204020204" charset="-122"/>
              </a:rPr>
              <a:t>危机阿尔法(08/22)</a:t>
            </a:r>
            <a:endParaRPr lang="zh-CN" sz="1000">
              <a:solidFill>
                <a:srgbClr val="1F2933"/>
              </a:solidFill>
              <a:latin typeface="微软雅黑" panose="020B0503020204020204" charset="-122"/>
              <a:ea typeface="微软雅黑" panose="020B0503020204020204" charset="-122"/>
            </a:endParaRPr>
          </a:p>
        </p:txBody>
      </p:sp>
      <p:sp>
        <p:nvSpPr>
          <p:cNvPr id="271" name="矩形 34"/>
          <p:cNvSpPr/>
          <p:nvPr/>
        </p:nvSpPr>
        <p:spPr>
          <a:xfrm>
            <a:off x="4470400" y="4953000"/>
            <a:ext cx="1143000" cy="355600"/>
          </a:xfrm>
          <a:prstGeom prst="rect">
            <a:avLst/>
          </a:prstGeom>
          <a:noFill/>
          <a:ln>
            <a:noFill/>
          </a:ln>
        </p:spPr>
        <p:txBody>
          <a:bodyPr/>
          <a:p>
            <a:pPr/>
            <a:r>
              <a:rPr lang="zh-CN" sz="1100">
                <a:solidFill>
                  <a:srgbClr val="0070C0"/>
                </a:solidFill>
                <a:latin typeface="微软雅黑" panose="020B0503020204020204" charset="-122"/>
                <a:ea typeface="微软雅黑" panose="020B0503020204020204" charset="-122"/>
              </a:rPr>
              <a:t>业绩</a:t>
            </a:r>
            <a:endParaRPr lang="zh-CN" sz="1100">
              <a:solidFill>
                <a:srgbClr val="0070C0"/>
              </a:solidFill>
              <a:latin typeface="微软雅黑" panose="020B0503020204020204" charset="-122"/>
              <a:ea typeface="微软雅黑" panose="020B0503020204020204" charset="-122"/>
            </a:endParaRPr>
          </a:p>
        </p:txBody>
      </p:sp>
      <p:sp>
        <p:nvSpPr>
          <p:cNvPr id="272" name="矩形 35"/>
          <p:cNvSpPr/>
          <p:nvPr/>
        </p:nvSpPr>
        <p:spPr>
          <a:xfrm>
            <a:off x="5689600" y="4953000"/>
            <a:ext cx="2095500" cy="355600"/>
          </a:xfrm>
          <a:prstGeom prst="rect">
            <a:avLst/>
          </a:prstGeom>
          <a:noFill/>
          <a:ln>
            <a:noFill/>
          </a:ln>
        </p:spPr>
        <p:txBody>
          <a:bodyPr/>
          <a:p>
            <a:pPr/>
            <a:r>
              <a:rPr lang="zh-CN" sz="1000">
                <a:solidFill>
                  <a:srgbClr val="1F2933"/>
                </a:solidFill>
                <a:latin typeface="微软雅黑" panose="020B0503020204020204" charset="-122"/>
                <a:ea typeface="微软雅黑" panose="020B0503020204020204" charset="-122"/>
              </a:rPr>
              <a:t>年化约 11.4%</a:t>
            </a:r>
            <a:endParaRPr lang="zh-CN" sz="1000">
              <a:solidFill>
                <a:srgbClr val="1F2933"/>
              </a:solidFill>
              <a:latin typeface="微软雅黑" panose="020B0503020204020204" charset="-122"/>
              <a:ea typeface="微软雅黑" panose="020B0503020204020204" charset="-122"/>
            </a:endParaRPr>
          </a:p>
        </p:txBody>
      </p:sp>
      <p:sp>
        <p:nvSpPr>
          <p:cNvPr id="273" name="矩形 36"/>
          <p:cNvSpPr/>
          <p:nvPr/>
        </p:nvSpPr>
        <p:spPr>
          <a:xfrm>
            <a:off x="8280400" y="2413000"/>
            <a:ext cx="1143000" cy="355600"/>
          </a:xfrm>
          <a:prstGeom prst="rect">
            <a:avLst/>
          </a:prstGeom>
          <a:noFill/>
          <a:ln>
            <a:noFill/>
          </a:ln>
        </p:spPr>
        <p:txBody>
          <a:bodyPr/>
          <a:p>
            <a:pPr/>
            <a:r>
              <a:rPr lang="zh-CN" sz="1100">
                <a:solidFill>
                  <a:srgbClr val="0070C0"/>
                </a:solidFill>
                <a:latin typeface="微软雅黑" panose="020B0503020204020204" charset="-122"/>
                <a:ea typeface="微软雅黑" panose="020B0503020204020204" charset="-122"/>
              </a:rPr>
              <a:t>定位</a:t>
            </a:r>
            <a:endParaRPr lang="zh-CN" sz="1100">
              <a:solidFill>
                <a:srgbClr val="0070C0"/>
              </a:solidFill>
              <a:latin typeface="微软雅黑" panose="020B0503020204020204" charset="-122"/>
              <a:ea typeface="微软雅黑" panose="020B0503020204020204" charset="-122"/>
            </a:endParaRPr>
          </a:p>
        </p:txBody>
      </p:sp>
      <p:sp>
        <p:nvSpPr>
          <p:cNvPr id="274" name="矩形 37"/>
          <p:cNvSpPr/>
          <p:nvPr/>
        </p:nvSpPr>
        <p:spPr>
          <a:xfrm>
            <a:off x="9499600" y="2413000"/>
            <a:ext cx="2095500" cy="355600"/>
          </a:xfrm>
          <a:prstGeom prst="rect">
            <a:avLst/>
          </a:prstGeom>
          <a:noFill/>
          <a:ln>
            <a:noFill/>
          </a:ln>
        </p:spPr>
        <p:txBody>
          <a:bodyPr/>
          <a:p>
            <a:pPr/>
            <a:r>
              <a:rPr lang="zh-CN" sz="1000">
                <a:solidFill>
                  <a:srgbClr val="1F2933"/>
                </a:solidFill>
                <a:latin typeface="微软雅黑" panose="020B0503020204020204" charset="-122"/>
                <a:ea typeface="微软雅黑" panose="020B0503020204020204" charset="-122"/>
              </a:rPr>
              <a:t>配置beta+工具alpha</a:t>
            </a:r>
            <a:endParaRPr lang="zh-CN" sz="1000">
              <a:solidFill>
                <a:srgbClr val="1F2933"/>
              </a:solidFill>
              <a:latin typeface="微软雅黑" panose="020B0503020204020204" charset="-122"/>
              <a:ea typeface="微软雅黑" panose="020B0503020204020204" charset="-122"/>
            </a:endParaRPr>
          </a:p>
        </p:txBody>
      </p:sp>
      <p:sp>
        <p:nvSpPr>
          <p:cNvPr id="275" name="矩形 38"/>
          <p:cNvSpPr/>
          <p:nvPr/>
        </p:nvSpPr>
        <p:spPr>
          <a:xfrm>
            <a:off x="8280400" y="2921000"/>
            <a:ext cx="1143000" cy="355600"/>
          </a:xfrm>
          <a:prstGeom prst="rect">
            <a:avLst/>
          </a:prstGeom>
          <a:noFill/>
          <a:ln>
            <a:noFill/>
          </a:ln>
        </p:spPr>
        <p:txBody>
          <a:bodyPr/>
          <a:p>
            <a:pPr/>
            <a:r>
              <a:rPr lang="zh-CN" sz="1100">
                <a:solidFill>
                  <a:srgbClr val="0070C0"/>
                </a:solidFill>
                <a:latin typeface="微软雅黑" panose="020B0503020204020204" charset="-122"/>
                <a:ea typeface="微软雅黑" panose="020B0503020204020204" charset="-122"/>
              </a:rPr>
              <a:t>工具</a:t>
            </a:r>
            <a:endParaRPr lang="zh-CN" sz="1100">
              <a:solidFill>
                <a:srgbClr val="0070C0"/>
              </a:solidFill>
              <a:latin typeface="微软雅黑" panose="020B0503020204020204" charset="-122"/>
              <a:ea typeface="微软雅黑" panose="020B0503020204020204" charset="-122"/>
            </a:endParaRPr>
          </a:p>
        </p:txBody>
      </p:sp>
      <p:sp>
        <p:nvSpPr>
          <p:cNvPr id="276" name="矩形 39"/>
          <p:cNvSpPr/>
          <p:nvPr/>
        </p:nvSpPr>
        <p:spPr>
          <a:xfrm>
            <a:off x="9499600" y="2921000"/>
            <a:ext cx="2095500" cy="355600"/>
          </a:xfrm>
          <a:prstGeom prst="rect">
            <a:avLst/>
          </a:prstGeom>
          <a:noFill/>
          <a:ln>
            <a:noFill/>
          </a:ln>
        </p:spPr>
        <p:txBody>
          <a:bodyPr/>
          <a:p>
            <a:pPr/>
            <a:r>
              <a:rPr lang="zh-CN" sz="1000">
                <a:solidFill>
                  <a:srgbClr val="1F2933"/>
                </a:solidFill>
                <a:latin typeface="微软雅黑" panose="020B0503020204020204" charset="-122"/>
                <a:ea typeface="微软雅黑" panose="020B0503020204020204" charset="-122"/>
              </a:rPr>
              <a:t>量化选股/量化CTA</a:t>
            </a:r>
            <a:endParaRPr lang="zh-CN" sz="1000">
              <a:solidFill>
                <a:srgbClr val="1F2933"/>
              </a:solidFill>
              <a:latin typeface="微软雅黑" panose="020B0503020204020204" charset="-122"/>
              <a:ea typeface="微软雅黑" panose="020B0503020204020204" charset="-122"/>
            </a:endParaRPr>
          </a:p>
        </p:txBody>
      </p:sp>
      <p:sp>
        <p:nvSpPr>
          <p:cNvPr id="277" name="矩形 40"/>
          <p:cNvSpPr/>
          <p:nvPr/>
        </p:nvSpPr>
        <p:spPr>
          <a:xfrm>
            <a:off x="8280400" y="3429000"/>
            <a:ext cx="1143000" cy="355600"/>
          </a:xfrm>
          <a:prstGeom prst="rect">
            <a:avLst/>
          </a:prstGeom>
          <a:noFill/>
          <a:ln>
            <a:noFill/>
          </a:ln>
        </p:spPr>
        <p:txBody>
          <a:bodyPr/>
          <a:p>
            <a:pPr/>
            <a:r>
              <a:rPr lang="zh-CN" sz="1100">
                <a:solidFill>
                  <a:srgbClr val="0070C0"/>
                </a:solidFill>
                <a:latin typeface="微软雅黑" panose="020B0503020204020204" charset="-122"/>
                <a:ea typeface="微软雅黑" panose="020B0503020204020204" charset="-122"/>
              </a:rPr>
              <a:t>敞口</a:t>
            </a:r>
            <a:endParaRPr lang="zh-CN" sz="1100">
              <a:solidFill>
                <a:srgbClr val="0070C0"/>
              </a:solidFill>
              <a:latin typeface="微软雅黑" panose="020B0503020204020204" charset="-122"/>
              <a:ea typeface="微软雅黑" panose="020B0503020204020204" charset="-122"/>
            </a:endParaRPr>
          </a:p>
        </p:txBody>
      </p:sp>
      <p:sp>
        <p:nvSpPr>
          <p:cNvPr id="278" name="矩形 41"/>
          <p:cNvSpPr/>
          <p:nvPr/>
        </p:nvSpPr>
        <p:spPr>
          <a:xfrm>
            <a:off x="9499600" y="3429000"/>
            <a:ext cx="2095500" cy="355600"/>
          </a:xfrm>
          <a:prstGeom prst="rect">
            <a:avLst/>
          </a:prstGeom>
          <a:noFill/>
          <a:ln>
            <a:noFill/>
          </a:ln>
        </p:spPr>
        <p:txBody>
          <a:bodyPr/>
          <a:p>
            <a:pPr/>
            <a:r>
              <a:rPr lang="zh-CN" sz="1000">
                <a:solidFill>
                  <a:srgbClr val="1F2933"/>
                </a:solidFill>
                <a:latin typeface="微软雅黑" panose="020B0503020204020204" charset="-122"/>
                <a:ea typeface="微软雅黑" panose="020B0503020204020204" charset="-122"/>
              </a:rPr>
              <a:t>保留beta叠加增强</a:t>
            </a:r>
            <a:endParaRPr lang="zh-CN" sz="1000">
              <a:solidFill>
                <a:srgbClr val="1F2933"/>
              </a:solidFill>
              <a:latin typeface="微软雅黑" panose="020B0503020204020204" charset="-122"/>
              <a:ea typeface="微软雅黑" panose="020B0503020204020204" charset="-122"/>
            </a:endParaRPr>
          </a:p>
        </p:txBody>
      </p:sp>
      <p:sp>
        <p:nvSpPr>
          <p:cNvPr id="279" name="矩形 42"/>
          <p:cNvSpPr/>
          <p:nvPr/>
        </p:nvSpPr>
        <p:spPr>
          <a:xfrm>
            <a:off x="8280400" y="3937000"/>
            <a:ext cx="1143000" cy="355600"/>
          </a:xfrm>
          <a:prstGeom prst="rect">
            <a:avLst/>
          </a:prstGeom>
          <a:noFill/>
          <a:ln>
            <a:noFill/>
          </a:ln>
        </p:spPr>
        <p:txBody>
          <a:bodyPr/>
          <a:p>
            <a:pPr/>
            <a:r>
              <a:rPr lang="zh-CN" sz="1100">
                <a:solidFill>
                  <a:srgbClr val="0070C0"/>
                </a:solidFill>
                <a:latin typeface="微软雅黑" panose="020B0503020204020204" charset="-122"/>
                <a:ea typeface="微软雅黑" panose="020B0503020204020204" charset="-122"/>
              </a:rPr>
              <a:t>收益</a:t>
            </a:r>
            <a:endParaRPr lang="zh-CN" sz="1100">
              <a:solidFill>
                <a:srgbClr val="0070C0"/>
              </a:solidFill>
              <a:latin typeface="微软雅黑" panose="020B0503020204020204" charset="-122"/>
              <a:ea typeface="微软雅黑" panose="020B0503020204020204" charset="-122"/>
            </a:endParaRPr>
          </a:p>
        </p:txBody>
      </p:sp>
      <p:sp>
        <p:nvSpPr>
          <p:cNvPr id="280" name="矩形 43"/>
          <p:cNvSpPr/>
          <p:nvPr/>
        </p:nvSpPr>
        <p:spPr>
          <a:xfrm>
            <a:off x="9499600" y="3937000"/>
            <a:ext cx="2095500" cy="355600"/>
          </a:xfrm>
          <a:prstGeom prst="rect">
            <a:avLst/>
          </a:prstGeom>
          <a:noFill/>
          <a:ln>
            <a:noFill/>
          </a:ln>
        </p:spPr>
        <p:txBody>
          <a:bodyPr/>
          <a:p>
            <a:pPr/>
            <a:r>
              <a:rPr lang="zh-CN" sz="1000">
                <a:solidFill>
                  <a:srgbClr val="1F2933"/>
                </a:solidFill>
                <a:latin typeface="微软雅黑" panose="020B0503020204020204" charset="-122"/>
                <a:ea typeface="微软雅黑" panose="020B0503020204020204" charset="-122"/>
              </a:rPr>
              <a:t>beta+工具超额</a:t>
            </a:r>
            <a:endParaRPr lang="zh-CN" sz="1000">
              <a:solidFill>
                <a:srgbClr val="1F2933"/>
              </a:solidFill>
              <a:latin typeface="微软雅黑" panose="020B0503020204020204" charset="-122"/>
              <a:ea typeface="微软雅黑" panose="020B0503020204020204" charset="-122"/>
            </a:endParaRPr>
          </a:p>
        </p:txBody>
      </p:sp>
      <p:sp>
        <p:nvSpPr>
          <p:cNvPr id="281" name="矩形 44"/>
          <p:cNvSpPr/>
          <p:nvPr/>
        </p:nvSpPr>
        <p:spPr>
          <a:xfrm>
            <a:off x="8280400" y="4445000"/>
            <a:ext cx="1143000" cy="355600"/>
          </a:xfrm>
          <a:prstGeom prst="rect">
            <a:avLst/>
          </a:prstGeom>
          <a:noFill/>
          <a:ln>
            <a:noFill/>
          </a:ln>
        </p:spPr>
        <p:txBody>
          <a:bodyPr/>
          <a:p>
            <a:pPr/>
            <a:r>
              <a:rPr lang="zh-CN" sz="1100">
                <a:solidFill>
                  <a:srgbClr val="0070C0"/>
                </a:solidFill>
                <a:latin typeface="微软雅黑" panose="020B0503020204020204" charset="-122"/>
                <a:ea typeface="微软雅黑" panose="020B0503020204020204" charset="-122"/>
              </a:rPr>
              <a:t>特征</a:t>
            </a:r>
            <a:endParaRPr lang="zh-CN" sz="1100">
              <a:solidFill>
                <a:srgbClr val="0070C0"/>
              </a:solidFill>
              <a:latin typeface="微软雅黑" panose="020B0503020204020204" charset="-122"/>
              <a:ea typeface="微软雅黑" panose="020B0503020204020204" charset="-122"/>
            </a:endParaRPr>
          </a:p>
        </p:txBody>
      </p:sp>
      <p:sp>
        <p:nvSpPr>
          <p:cNvPr id="282" name="矩形 45"/>
          <p:cNvSpPr/>
          <p:nvPr/>
        </p:nvSpPr>
        <p:spPr>
          <a:xfrm>
            <a:off x="9499600" y="4445000"/>
            <a:ext cx="2095500" cy="355600"/>
          </a:xfrm>
          <a:prstGeom prst="rect">
            <a:avLst/>
          </a:prstGeom>
          <a:noFill/>
          <a:ln>
            <a:noFill/>
          </a:ln>
        </p:spPr>
        <p:txBody>
          <a:bodyPr/>
          <a:p>
            <a:pPr/>
            <a:r>
              <a:rPr lang="zh-CN" sz="1000">
                <a:solidFill>
                  <a:srgbClr val="1F2933"/>
                </a:solidFill>
                <a:latin typeface="微软雅黑" panose="020B0503020204020204" charset="-122"/>
                <a:ea typeface="微软雅黑" panose="020B0503020204020204" charset="-122"/>
              </a:rPr>
              <a:t>夏普高、alpha会衰减</a:t>
            </a:r>
            <a:endParaRPr lang="zh-CN" sz="1000">
              <a:solidFill>
                <a:srgbClr val="1F2933"/>
              </a:solidFill>
              <a:latin typeface="微软雅黑" panose="020B0503020204020204" charset="-122"/>
              <a:ea typeface="微软雅黑" panose="020B0503020204020204" charset="-122"/>
            </a:endParaRPr>
          </a:p>
        </p:txBody>
      </p:sp>
      <p:sp>
        <p:nvSpPr>
          <p:cNvPr id="283" name="矩形 46"/>
          <p:cNvSpPr/>
          <p:nvPr/>
        </p:nvSpPr>
        <p:spPr>
          <a:xfrm>
            <a:off x="8280400" y="4953000"/>
            <a:ext cx="1143000" cy="355600"/>
          </a:xfrm>
          <a:prstGeom prst="rect">
            <a:avLst/>
          </a:prstGeom>
          <a:noFill/>
          <a:ln>
            <a:noFill/>
          </a:ln>
        </p:spPr>
        <p:txBody>
          <a:bodyPr/>
          <a:p>
            <a:pPr/>
            <a:r>
              <a:rPr lang="zh-CN" sz="1100">
                <a:solidFill>
                  <a:srgbClr val="0070C0"/>
                </a:solidFill>
                <a:latin typeface="微软雅黑" panose="020B0503020204020204" charset="-122"/>
                <a:ea typeface="微软雅黑" panose="020B0503020204020204" charset="-122"/>
              </a:rPr>
              <a:t>关键</a:t>
            </a:r>
            <a:endParaRPr lang="zh-CN" sz="1100">
              <a:solidFill>
                <a:srgbClr val="0070C0"/>
              </a:solidFill>
              <a:latin typeface="微软雅黑" panose="020B0503020204020204" charset="-122"/>
              <a:ea typeface="微软雅黑" panose="020B0503020204020204" charset="-122"/>
            </a:endParaRPr>
          </a:p>
        </p:txBody>
      </p:sp>
      <p:sp>
        <p:nvSpPr>
          <p:cNvPr id="284" name="矩形 47"/>
          <p:cNvSpPr/>
          <p:nvPr/>
        </p:nvSpPr>
        <p:spPr>
          <a:xfrm>
            <a:off x="9499600" y="4953000"/>
            <a:ext cx="2095500" cy="355600"/>
          </a:xfrm>
          <a:prstGeom prst="rect">
            <a:avLst/>
          </a:prstGeom>
          <a:noFill/>
          <a:ln>
            <a:noFill/>
          </a:ln>
        </p:spPr>
        <p:txBody>
          <a:bodyPr/>
          <a:p>
            <a:pPr/>
            <a:r>
              <a:rPr lang="zh-CN" sz="1000">
                <a:solidFill>
                  <a:srgbClr val="1F2933"/>
                </a:solidFill>
                <a:latin typeface="微软雅黑" panose="020B0503020204020204" charset="-122"/>
                <a:ea typeface="微软雅黑" panose="020B0503020204020204" charset="-122"/>
              </a:rPr>
              <a:t>归因验证alpha真假</a:t>
            </a:r>
            <a:endParaRPr lang="zh-CN" sz="1000">
              <a:solidFill>
                <a:srgbClr val="1F2933"/>
              </a:solidFill>
              <a:latin typeface="微软雅黑" panose="020B0503020204020204" charset="-122"/>
              <a:ea typeface="微软雅黑" panose="020B0503020204020204" charset="-122"/>
            </a:endParaRPr>
          </a:p>
        </p:txBody>
      </p:sp>
      <p:pic>
        <p:nvPicPr>
          <p:cNvPr id="285" name="参考模板浅蓝背景弧线"/>
          <p:cNvPicPr/>
          <p:nvPr/>
        </p:nvPicPr>
        <p:blipFill>
          <a:blip r:embed="rId2"/>
          <a:stretch>
            <a:fillRect/>
          </a:stretch>
        </p:blipFill>
        <p:spPr>
          <a:xfrm>
            <a:off x="4457700" y="0"/>
            <a:ext cx="3143250" cy="495300"/>
          </a:xfrm>
          <a:prstGeom prst="rect">
            <a:avLst/>
          </a:prstGeom>
          <a:noFill/>
          <a:ln>
            <a:noFill/>
          </a:ln>
        </p:spPr>
      </p:pic>
      <p:pic>
        <p:nvPicPr>
          <p:cNvPr id="286" name="参考模板右上角标识"/>
          <p:cNvPicPr/>
          <p:nvPr/>
        </p:nvPicPr>
        <p:blipFill>
          <a:blip r:embed="rId3"/>
          <a:stretch>
            <a:fillRect/>
          </a:stretch>
        </p:blipFill>
        <p:spPr>
          <a:xfrm>
            <a:off x="9696450" y="209550"/>
            <a:ext cx="1733550" cy="390525"/>
          </a:xfrm>
          <a:prstGeom prst="rect">
            <a:avLst/>
          </a:prstGeom>
          <a:noFill/>
          <a:ln>
            <a:noFill/>
          </a:ln>
        </p:spPr>
      </p:pic>
    </p:spTree>
  </p:cSld>
  <p:clrMapOvr>
    <a:masterClrMapping/>
  </p:clrMapOvr>
</p:sld>
</file>

<file path=ppt/slides/slide24.xml><?xml version="1.0" encoding="utf-8"?>
<p:sld xmlns:r="http://schemas.openxmlformats.org/officeDocument/2006/relationships" xmlns:p="http://schemas.openxmlformats.org/presentationml/2006/main" xmlns:a="http://schemas.openxmlformats.org/drawingml/2006/main">
  <p:cSld>
    <p:spTree>
      <p:nvGrpSpPr>
        <p:cNvPr id="285" name=""/>
        <p:cNvGrpSpPr/>
        <p:nvPr/>
      </p:nvGrpSpPr>
      <p:grpSpPr>
        <a:xfrm>
          <a:off x="0" y="0"/>
          <a:ext cx="0" cy="0"/>
          <a:chOff x="0" y="0"/>
          <a:chExt cx="0" cy="0"/>
        </a:xfrm>
      </p:grpSpPr>
      <p:sp>
        <p:nvSpPr>
          <p:cNvPr id="286" name="Rectangle 1"/>
          <p:cNvSpPr/>
          <p:nvPr/>
        </p:nvSpPr>
        <p:spPr>
          <a:xfrm>
            <a:off x="502920" y="457200"/>
            <a:ext cx="82296" cy="566928"/>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287" name="TextBox 2"/>
          <p:cNvSpPr txBox="1"/>
          <p:nvPr/>
        </p:nvSpPr>
        <p:spPr>
          <a:xfrm>
            <a:off x="713232" y="420624"/>
            <a:ext cx="9601200" cy="640080"/>
          </a:xfrm>
          <a:prstGeom prst="rect">
            <a:avLst/>
          </a:prstGeom>
          <a:noFill/>
        </p:spPr>
        <p:txBody>
          <a:bodyPr wrap="square" lIns="0" tIns="0" rIns="0" bIns="0" anchor="ctr">
            <a:spAutoFit/>
          </a:bodyPr>
          <a:lstStyle/>
          <a:p>
            <a:pPr algn="l">
              <a:lnSpc>
                <a:spcPct val="115000"/>
              </a:lnSpc>
              <a:spcAft>
                <a:spcPts val="600"/>
              </a:spcAft>
            </a:pPr>
            <a:r>
              <a:rPr sz="2600" b="1">
                <a:solidFill>
                  <a:srgbClr val="0070C0"/>
                </a:solidFill>
                <a:latin typeface="微软雅黑" panose="020B0503020204020204" charset="-122"/>
                <a:ea typeface="微软雅黑" panose="020B0503020204020204" charset="-122"/>
                <a:cs typeface="微软雅黑" panose="020B0503020204020204" charset="-122"/>
              </a:rPr>
              <a:t>未来展望与调仓计划</a:t>
            </a:r>
            <a:endParaRPr sz="2600" b="1">
              <a:solidFill>
                <a:srgbClr val="0070C0"/>
              </a:solidFill>
              <a:latin typeface="微软雅黑" panose="020B0503020204020204" charset="-122"/>
              <a:ea typeface="微软雅黑" panose="020B0503020204020204" charset="-122"/>
              <a:cs typeface="微软雅黑" panose="020B0503020204020204" charset="-122"/>
            </a:endParaRPr>
          </a:p>
        </p:txBody>
      </p:sp>
      <p:sp>
        <p:nvSpPr>
          <p:cNvPr id="288" name="TextBox 3"/>
          <p:cNvSpPr txBox="1"/>
          <p:nvPr/>
        </p:nvSpPr>
        <p:spPr>
          <a:xfrm>
            <a:off x="713232" y="1042415"/>
            <a:ext cx="10515600" cy="365760"/>
          </a:xfrm>
          <a:prstGeom prst="rect">
            <a:avLst/>
          </a:prstGeom>
          <a:noFill/>
        </p:spPr>
        <p:txBody>
          <a:bodyPr wrap="square" lIns="0" tIns="0" rIns="0" bIns="0" anchor="t">
            <a:spAutoFit/>
          </a:bodyPr>
          <a:lstStyle/>
          <a:p>
            <a:pPr algn="l">
              <a:lnSpc>
                <a:spcPct val="115000"/>
              </a:lnSpc>
              <a:spcAft>
                <a:spcPts val="600"/>
              </a:spcAft>
            </a:pPr>
            <a:r>
              <a:rPr sz="1100" b="0">
                <a:solidFill>
                  <a:srgbClr val="595959"/>
                </a:solidFill>
                <a:latin typeface="微软雅黑" panose="020B0503020204020204" charset="-122"/>
                <a:ea typeface="微软雅黑" panose="020B0503020204020204" charset="-122"/>
                <a:cs typeface="微软雅黑" panose="020B0503020204020204" charset="-122"/>
              </a:rPr>
              <a:t>9 月三大变量：美国 8 月 CPI · 美联储议息 · 中东局势</a:t>
            </a:r>
            <a:endParaRPr sz="1100" b="0">
              <a:solidFill>
                <a:srgbClr val="595959"/>
              </a:solidFill>
              <a:latin typeface="微软雅黑" panose="020B0503020204020204" charset="-122"/>
              <a:ea typeface="微软雅黑" panose="020B0503020204020204" charset="-122"/>
              <a:cs typeface="微软雅黑" panose="020B0503020204020204" charset="-122"/>
            </a:endParaRPr>
          </a:p>
        </p:txBody>
      </p:sp>
      <p:sp>
        <p:nvSpPr>
          <p:cNvPr id="289" name="Rectangle 4"/>
          <p:cNvSpPr/>
          <p:nvPr/>
        </p:nvSpPr>
        <p:spPr>
          <a:xfrm>
            <a:off x="502920" y="1005840"/>
            <a:ext cx="2011680" cy="27940"/>
          </a:xfrm>
          <a:prstGeom prst="rect">
            <a:avLst/>
          </a:prstGeom>
          <a:solidFill>
            <a:srgbClr val="54B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290" name="Rectangle 5"/>
          <p:cNvSpPr/>
          <p:nvPr/>
        </p:nvSpPr>
        <p:spPr>
          <a:xfrm>
            <a:off x="502920" y="1060704"/>
            <a:ext cx="11183112" cy="11430"/>
          </a:xfrm>
          <a:prstGeom prst="rect">
            <a:avLst/>
          </a:prstGeom>
          <a:solidFill>
            <a:srgbClr val="AED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291" name="Rectangle 6"/>
          <p:cNvSpPr/>
          <p:nvPr/>
        </p:nvSpPr>
        <p:spPr>
          <a:xfrm>
            <a:off x="502920" y="1645920"/>
            <a:ext cx="3639312" cy="1737360"/>
          </a:xfrm>
          <a:prstGeom prst="rect">
            <a:avLst/>
          </a:prstGeom>
          <a:solidFill>
            <a:srgbClr val="F4FAFE"/>
          </a:solidFill>
          <a:ln w="9525">
            <a:solidFill>
              <a:srgbClr val="AED5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292" name="Rectangle 7"/>
          <p:cNvSpPr/>
          <p:nvPr/>
        </p:nvSpPr>
        <p:spPr>
          <a:xfrm>
            <a:off x="502920" y="1645920"/>
            <a:ext cx="3639312" cy="457200"/>
          </a:xfrm>
          <a:prstGeom prst="rect">
            <a:avLst/>
          </a:prstGeom>
          <a:solidFill>
            <a:srgbClr val="54B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293" name="Rectangle 8"/>
          <p:cNvSpPr/>
          <p:nvPr/>
        </p:nvSpPr>
        <p:spPr>
          <a:xfrm>
            <a:off x="502920" y="1645920"/>
            <a:ext cx="3639312" cy="457200"/>
          </a:xfrm>
          <a:prstGeom prst="rect">
            <a:avLst/>
          </a:prstGeom>
          <a:solidFill>
            <a:srgbClr val="54B0E0"/>
          </a:solidFill>
          <a:ln>
            <a:noFill/>
          </a:ln>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ctr">
              <a:lnSpc>
                <a:spcPct val="110000"/>
              </a:lnSpc>
              <a:spcAft>
                <a:spcPts val="400"/>
              </a:spcAft>
            </a:pPr>
            <a:r>
              <a:rPr sz="1250" b="1">
                <a:solidFill>
                  <a:srgbClr val="FFFFFF"/>
                </a:solidFill>
                <a:latin typeface="微软雅黑" panose="020B0503020204020204" charset="-122"/>
                <a:ea typeface="微软雅黑" panose="020B0503020204020204" charset="-122"/>
                <a:cs typeface="微软雅黑" panose="020B0503020204020204" charset="-122"/>
              </a:rPr>
              <a:t>9/11 美国 8 月 CPI</a:t>
            </a:r>
            <a:endParaRPr sz="1250"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294" name="TextBox 9"/>
          <p:cNvSpPr txBox="1"/>
          <p:nvPr/>
        </p:nvSpPr>
        <p:spPr>
          <a:xfrm>
            <a:off x="640080" y="2212848"/>
            <a:ext cx="3446780" cy="822960"/>
          </a:xfrm>
          <a:prstGeom prst="rect">
            <a:avLst/>
          </a:prstGeom>
          <a:noFill/>
        </p:spPr>
        <p:txBody>
          <a:bodyPr wrap="square" lIns="0" tIns="0" rIns="0" bIns="0" anchor="t">
            <a:spAutoFit/>
          </a:bodyPr>
          <a:lstStyle/>
          <a:p>
            <a:pPr algn="l">
              <a:lnSpc>
                <a:spcPct val="120000"/>
              </a:lnSpc>
              <a:spcAft>
                <a:spcPts val="600"/>
              </a:spcAft>
            </a:pPr>
            <a:r>
              <a:rPr lang="zh-CN" sz="1150" b="0">
                <a:solidFill>
                  <a:srgbClr val="1F2933"/>
                </a:solidFill>
                <a:latin typeface="微软雅黑" panose="020B0503020204020204" charset="-122"/>
                <a:ea typeface="微软雅黑" panose="020B0503020204020204" charset="-122"/>
                <a:cs typeface="微软雅黑" panose="020B0503020204020204" charset="-122"/>
              </a:rPr>
              <a:t>已公布：同比3.4%、核心2.4%，核心环比0.3%超预期</a:t>
            </a:r>
            <a:endParaRPr lang="zh-CN" sz="1150" b="0">
              <a:solidFill>
                <a:srgbClr val="1F2933"/>
              </a:solidFill>
              <a:latin typeface="微软雅黑" panose="020B0503020204020204" charset="-122"/>
              <a:ea typeface="微软雅黑" panose="020B0503020204020204" charset="-122"/>
              <a:cs typeface="微软雅黑" panose="020B0503020204020204" charset="-122"/>
            </a:endParaRPr>
          </a:p>
        </p:txBody>
      </p:sp>
      <p:sp>
        <p:nvSpPr>
          <p:cNvPr id="295" name="TextBox 10"/>
          <p:cNvSpPr txBox="1"/>
          <p:nvPr/>
        </p:nvSpPr>
        <p:spPr>
          <a:xfrm>
            <a:off x="640080" y="3035808"/>
            <a:ext cx="3364992" cy="365760"/>
          </a:xfrm>
          <a:prstGeom prst="rect">
            <a:avLst/>
          </a:prstGeom>
          <a:noFill/>
        </p:spPr>
        <p:txBody>
          <a:bodyPr wrap="square" lIns="0" tIns="0" rIns="0" bIns="0" anchor="t">
            <a:spAutoFit/>
          </a:bodyPr>
          <a:lstStyle/>
          <a:p>
            <a:pPr algn="l">
              <a:lnSpc>
                <a:spcPct val="110000"/>
              </a:lnSpc>
              <a:spcAft>
                <a:spcPts val="600"/>
              </a:spcAft>
            </a:pPr>
            <a:r>
              <a:rPr lang="zh-CN" sz="1050" b="0">
                <a:solidFill>
                  <a:srgbClr val="0070C0"/>
                </a:solidFill>
                <a:latin typeface="微软雅黑" panose="020B0503020204020204" charset="-122"/>
                <a:ea typeface="微软雅黑" panose="020B0503020204020204" charset="-122"/>
                <a:cs typeface="微软雅黑" panose="020B0503020204020204" charset="-122"/>
              </a:rPr>
              <a:t>核心超预期 → 加息近确定，压制风险资产</a:t>
            </a:r>
            <a:endParaRPr lang="zh-CN" sz="1050" b="0">
              <a:solidFill>
                <a:srgbClr val="0070C0"/>
              </a:solidFill>
              <a:latin typeface="微软雅黑" panose="020B0503020204020204" charset="-122"/>
              <a:ea typeface="微软雅黑" panose="020B0503020204020204" charset="-122"/>
              <a:cs typeface="微软雅黑" panose="020B0503020204020204" charset="-122"/>
            </a:endParaRPr>
          </a:p>
        </p:txBody>
      </p:sp>
      <p:sp>
        <p:nvSpPr>
          <p:cNvPr id="296" name="Rectangle 11"/>
          <p:cNvSpPr/>
          <p:nvPr/>
        </p:nvSpPr>
        <p:spPr>
          <a:xfrm>
            <a:off x="4279392" y="1645920"/>
            <a:ext cx="3639312" cy="1737360"/>
          </a:xfrm>
          <a:prstGeom prst="rect">
            <a:avLst/>
          </a:prstGeom>
          <a:solidFill>
            <a:srgbClr val="F4FAFE"/>
          </a:solidFill>
          <a:ln w="9525">
            <a:solidFill>
              <a:srgbClr val="AED5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297" name="Rectangle 12"/>
          <p:cNvSpPr/>
          <p:nvPr/>
        </p:nvSpPr>
        <p:spPr>
          <a:xfrm>
            <a:off x="4279392" y="1645920"/>
            <a:ext cx="3639312" cy="457200"/>
          </a:xfrm>
          <a:prstGeom prst="rect">
            <a:avLst/>
          </a:prstGeom>
          <a:solidFill>
            <a:srgbClr val="54B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298" name="Rectangle 13"/>
          <p:cNvSpPr/>
          <p:nvPr/>
        </p:nvSpPr>
        <p:spPr>
          <a:xfrm>
            <a:off x="4279392" y="1645920"/>
            <a:ext cx="3639312" cy="457200"/>
          </a:xfrm>
          <a:prstGeom prst="rect">
            <a:avLst/>
          </a:prstGeom>
          <a:solidFill>
            <a:srgbClr val="54B0E0"/>
          </a:solidFill>
          <a:ln>
            <a:noFill/>
          </a:ln>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ctr">
              <a:lnSpc>
                <a:spcPct val="110000"/>
              </a:lnSpc>
              <a:spcAft>
                <a:spcPts val="400"/>
              </a:spcAft>
            </a:pPr>
            <a:r>
              <a:rPr sz="1250" b="1">
                <a:solidFill>
                  <a:srgbClr val="FFFFFF"/>
                </a:solidFill>
                <a:latin typeface="微软雅黑" panose="020B0503020204020204" charset="-122"/>
                <a:ea typeface="微软雅黑" panose="020B0503020204020204" charset="-122"/>
                <a:cs typeface="微软雅黑" panose="020B0503020204020204" charset="-122"/>
              </a:rPr>
              <a:t>9/16 美联储议息</a:t>
            </a:r>
            <a:endParaRPr sz="1250"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299" name="TextBox 14"/>
          <p:cNvSpPr txBox="1"/>
          <p:nvPr/>
        </p:nvSpPr>
        <p:spPr>
          <a:xfrm>
            <a:off x="4416552" y="2212848"/>
            <a:ext cx="3364992" cy="822960"/>
          </a:xfrm>
          <a:prstGeom prst="rect">
            <a:avLst/>
          </a:prstGeom>
          <a:noFill/>
        </p:spPr>
        <p:txBody>
          <a:bodyPr wrap="square" lIns="0" tIns="0" rIns="0" bIns="0" anchor="t">
            <a:spAutoFit/>
          </a:bodyPr>
          <a:lstStyle/>
          <a:p>
            <a:pPr algn="l">
              <a:lnSpc>
                <a:spcPct val="120000"/>
              </a:lnSpc>
              <a:spcAft>
                <a:spcPts val="600"/>
              </a:spcAft>
            </a:pPr>
            <a:r>
              <a:rPr lang="zh-CN" sz="1150" b="0">
                <a:solidFill>
                  <a:srgbClr val="1F2933"/>
                </a:solidFill>
                <a:latin typeface="微软雅黑" panose="020B0503020204020204" charset="-122"/>
                <a:ea typeface="微软雅黑" panose="020B0503020204020204" charset="-122"/>
                <a:cs typeface="微软雅黑" panose="020B0503020204020204" charset="-122"/>
              </a:rPr>
              <a:t>加息25bp概率95%，今晚出结果（沃什首场FOMC）</a:t>
            </a:r>
            <a:endParaRPr lang="zh-CN" sz="1150" b="0">
              <a:solidFill>
                <a:srgbClr val="1F2933"/>
              </a:solidFill>
              <a:latin typeface="微软雅黑" panose="020B0503020204020204" charset="-122"/>
              <a:ea typeface="微软雅黑" panose="020B0503020204020204" charset="-122"/>
              <a:cs typeface="微软雅黑" panose="020B0503020204020204" charset="-122"/>
            </a:endParaRPr>
          </a:p>
        </p:txBody>
      </p:sp>
      <p:sp>
        <p:nvSpPr>
          <p:cNvPr id="300" name="TextBox 15"/>
          <p:cNvSpPr txBox="1"/>
          <p:nvPr/>
        </p:nvSpPr>
        <p:spPr>
          <a:xfrm>
            <a:off x="4416552" y="3035808"/>
            <a:ext cx="3364992" cy="365760"/>
          </a:xfrm>
          <a:prstGeom prst="rect">
            <a:avLst/>
          </a:prstGeom>
          <a:noFill/>
        </p:spPr>
        <p:txBody>
          <a:bodyPr wrap="square" lIns="0" tIns="0" rIns="0" bIns="0" anchor="t">
            <a:spAutoFit/>
          </a:bodyPr>
          <a:lstStyle/>
          <a:p>
            <a:pPr algn="l">
              <a:lnSpc>
                <a:spcPct val="110000"/>
              </a:lnSpc>
              <a:spcAft>
                <a:spcPts val="600"/>
              </a:spcAft>
            </a:pPr>
            <a:r>
              <a:rPr sz="1050" b="0">
                <a:solidFill>
                  <a:srgbClr val="0070C0"/>
                </a:solidFill>
                <a:latin typeface="微软雅黑" panose="020B0503020204020204" charset="-122"/>
                <a:ea typeface="微软雅黑" panose="020B0503020204020204" charset="-122"/>
                <a:cs typeface="微软雅黑" panose="020B0503020204020204" charset="-122"/>
              </a:rPr>
              <a:t>若加息落地 → 全球利率中枢上移，人民币资产相对占优</a:t>
            </a:r>
            <a:endParaRPr sz="1050" b="0">
              <a:solidFill>
                <a:srgbClr val="0070C0"/>
              </a:solidFill>
              <a:latin typeface="微软雅黑" panose="020B0503020204020204" charset="-122"/>
              <a:ea typeface="微软雅黑" panose="020B0503020204020204" charset="-122"/>
              <a:cs typeface="微软雅黑" panose="020B0503020204020204" charset="-122"/>
            </a:endParaRPr>
          </a:p>
        </p:txBody>
      </p:sp>
      <p:sp>
        <p:nvSpPr>
          <p:cNvPr id="301" name="Rectangle 16"/>
          <p:cNvSpPr/>
          <p:nvPr/>
        </p:nvSpPr>
        <p:spPr>
          <a:xfrm>
            <a:off x="8055864" y="1645920"/>
            <a:ext cx="3639312" cy="1737360"/>
          </a:xfrm>
          <a:prstGeom prst="rect">
            <a:avLst/>
          </a:prstGeom>
          <a:solidFill>
            <a:srgbClr val="F4FAFE"/>
          </a:solidFill>
          <a:ln w="9525">
            <a:solidFill>
              <a:srgbClr val="AED5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302" name="Rectangle 17"/>
          <p:cNvSpPr/>
          <p:nvPr/>
        </p:nvSpPr>
        <p:spPr>
          <a:xfrm>
            <a:off x="8055864" y="1645920"/>
            <a:ext cx="3639312" cy="457200"/>
          </a:xfrm>
          <a:prstGeom prst="rect">
            <a:avLst/>
          </a:prstGeom>
          <a:solidFill>
            <a:srgbClr val="54B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303" name="Rectangle 18"/>
          <p:cNvSpPr/>
          <p:nvPr/>
        </p:nvSpPr>
        <p:spPr>
          <a:xfrm>
            <a:off x="8055864" y="1645920"/>
            <a:ext cx="3639312" cy="457200"/>
          </a:xfrm>
          <a:prstGeom prst="rect">
            <a:avLst/>
          </a:prstGeom>
          <a:solidFill>
            <a:srgbClr val="54B0E0"/>
          </a:solidFill>
          <a:ln>
            <a:noFill/>
          </a:ln>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ctr">
              <a:lnSpc>
                <a:spcPct val="110000"/>
              </a:lnSpc>
              <a:spcAft>
                <a:spcPts val="400"/>
              </a:spcAft>
            </a:pPr>
            <a:r>
              <a:rPr sz="1250" b="1">
                <a:solidFill>
                  <a:srgbClr val="FFFFFF"/>
                </a:solidFill>
                <a:latin typeface="微软雅黑" panose="020B0503020204020204" charset="-122"/>
                <a:ea typeface="微软雅黑" panose="020B0503020204020204" charset="-122"/>
                <a:cs typeface="微软雅黑" panose="020B0503020204020204" charset="-122"/>
              </a:rPr>
              <a:t>中东局势</a:t>
            </a:r>
            <a:endParaRPr sz="1250"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304" name="TextBox 19"/>
          <p:cNvSpPr txBox="1"/>
          <p:nvPr/>
        </p:nvSpPr>
        <p:spPr>
          <a:xfrm>
            <a:off x="8193024" y="2212848"/>
            <a:ext cx="3364992" cy="822960"/>
          </a:xfrm>
          <a:prstGeom prst="rect">
            <a:avLst/>
          </a:prstGeom>
          <a:noFill/>
        </p:spPr>
        <p:txBody>
          <a:bodyPr wrap="square" lIns="0" tIns="0" rIns="0" bIns="0" anchor="t">
            <a:spAutoFit/>
          </a:bodyPr>
          <a:lstStyle/>
          <a:p>
            <a:pPr algn="l">
              <a:lnSpc>
                <a:spcPct val="120000"/>
              </a:lnSpc>
              <a:spcAft>
                <a:spcPts val="600"/>
              </a:spcAft>
            </a:pPr>
            <a:r>
              <a:rPr sz="1150" b="0">
                <a:solidFill>
                  <a:srgbClr val="1F2933"/>
                </a:solidFill>
                <a:latin typeface="微软雅黑" panose="020B0503020204020204" charset="-122"/>
                <a:ea typeface="微软雅黑" panose="020B0503020204020204" charset="-122"/>
                <a:cs typeface="微软雅黑" panose="020B0503020204020204" charset="-122"/>
              </a:rPr>
              <a:t>美伊冲突持续，油价与航运成本高企</a:t>
            </a:r>
            <a:endParaRPr sz="1150" b="0">
              <a:solidFill>
                <a:srgbClr val="1F2933"/>
              </a:solidFill>
              <a:latin typeface="微软雅黑" panose="020B0503020204020204" charset="-122"/>
              <a:ea typeface="微软雅黑" panose="020B0503020204020204" charset="-122"/>
              <a:cs typeface="微软雅黑" panose="020B0503020204020204" charset="-122"/>
            </a:endParaRPr>
          </a:p>
        </p:txBody>
      </p:sp>
      <p:sp>
        <p:nvSpPr>
          <p:cNvPr id="305" name="TextBox 20"/>
          <p:cNvSpPr txBox="1"/>
          <p:nvPr/>
        </p:nvSpPr>
        <p:spPr>
          <a:xfrm>
            <a:off x="8193024" y="3035808"/>
            <a:ext cx="3364992" cy="365760"/>
          </a:xfrm>
          <a:prstGeom prst="rect">
            <a:avLst/>
          </a:prstGeom>
          <a:noFill/>
        </p:spPr>
        <p:txBody>
          <a:bodyPr wrap="square" lIns="0" tIns="0" rIns="0" bIns="0" anchor="t">
            <a:spAutoFit/>
          </a:bodyPr>
          <a:lstStyle/>
          <a:p>
            <a:pPr algn="l">
              <a:lnSpc>
                <a:spcPct val="110000"/>
              </a:lnSpc>
              <a:spcAft>
                <a:spcPts val="600"/>
              </a:spcAft>
            </a:pPr>
            <a:r>
              <a:rPr sz="1050" b="0">
                <a:solidFill>
                  <a:srgbClr val="0070C0"/>
                </a:solidFill>
                <a:latin typeface="微软雅黑" panose="020B0503020204020204" charset="-122"/>
                <a:ea typeface="微软雅黑" panose="020B0503020204020204" charset="-122"/>
                <a:cs typeface="微软雅黑" panose="020B0503020204020204" charset="-122"/>
              </a:rPr>
              <a:t>能源/商品多头逻辑强化，输入型通胀延续</a:t>
            </a:r>
            <a:endParaRPr sz="1050" b="0">
              <a:solidFill>
                <a:srgbClr val="0070C0"/>
              </a:solidFill>
              <a:latin typeface="微软雅黑" panose="020B0503020204020204" charset="-122"/>
              <a:ea typeface="微软雅黑" panose="020B0503020204020204" charset="-122"/>
              <a:cs typeface="微软雅黑" panose="020B0503020204020204" charset="-122"/>
            </a:endParaRPr>
          </a:p>
        </p:txBody>
      </p:sp>
      <p:sp>
        <p:nvSpPr>
          <p:cNvPr id="306" name="TextBox 21"/>
          <p:cNvSpPr txBox="1"/>
          <p:nvPr/>
        </p:nvSpPr>
        <p:spPr>
          <a:xfrm>
            <a:off x="502920" y="3611880"/>
            <a:ext cx="5486400" cy="457200"/>
          </a:xfrm>
          <a:prstGeom prst="rect">
            <a:avLst/>
          </a:prstGeom>
          <a:noFill/>
        </p:spPr>
        <p:txBody>
          <a:bodyPr wrap="square" lIns="0" tIns="0" rIns="0" bIns="0" anchor="t">
            <a:spAutoFit/>
          </a:bodyPr>
          <a:lstStyle/>
          <a:p>
            <a:pPr algn="l">
              <a:lnSpc>
                <a:spcPct val="115000"/>
              </a:lnSpc>
              <a:spcAft>
                <a:spcPts val="600"/>
              </a:spcAft>
            </a:pPr>
            <a:r>
              <a:rPr sz="1500" b="1">
                <a:solidFill>
                  <a:srgbClr val="0070C0"/>
                </a:solidFill>
                <a:latin typeface="微软雅黑" panose="020B0503020204020204" charset="-122"/>
                <a:ea typeface="微软雅黑" panose="020B0503020204020204" charset="-122"/>
                <a:cs typeface="微软雅黑" panose="020B0503020204020204" charset="-122"/>
              </a:rPr>
              <a:t>调仓方向（建议）</a:t>
            </a:r>
            <a:endParaRPr sz="1500" b="1">
              <a:solidFill>
                <a:srgbClr val="0070C0"/>
              </a:solidFill>
              <a:latin typeface="微软雅黑" panose="020B0503020204020204" charset="-122"/>
              <a:ea typeface="微软雅黑" panose="020B0503020204020204" charset="-122"/>
              <a:cs typeface="微软雅黑" panose="020B0503020204020204" charset="-122"/>
            </a:endParaRPr>
          </a:p>
        </p:txBody>
      </p:sp>
      <p:sp>
        <p:nvSpPr>
          <p:cNvPr id="307" name="TextBox 22"/>
          <p:cNvSpPr txBox="1"/>
          <p:nvPr/>
        </p:nvSpPr>
        <p:spPr>
          <a:xfrm>
            <a:off x="502920" y="4069080"/>
            <a:ext cx="11183112" cy="1828800"/>
          </a:xfrm>
          <a:prstGeom prst="rect">
            <a:avLst/>
          </a:prstGeom>
          <a:noFill/>
        </p:spPr>
        <p:txBody>
          <a:bodyPr wrap="square" lIns="0" tIns="0" rIns="0" bIns="0" anchor="t">
            <a:spAutoFit/>
          </a:bodyPr>
          <a:lstStyle/>
          <a:p>
            <a:pPr algn="l">
              <a:lnSpc>
                <a:spcPct val="150000"/>
              </a:lnSpc>
              <a:spcAft>
                <a:spcPts val="600"/>
              </a:spcAft>
            </a:pPr>
            <a:r>
              <a:rPr sz="1300" b="0">
                <a:solidFill>
                  <a:srgbClr val="1F2933"/>
                </a:solidFill>
                <a:latin typeface="微软雅黑" panose="020B0503020204020204" charset="-122"/>
                <a:ea typeface="微软雅黑" panose="020B0503020204020204" charset="-122"/>
                <a:cs typeface="微软雅黑" panose="020B0503020204020204" charset="-122"/>
              </a:rPr>
              <a:t>· 固收：维持高比例压舱，票息与稳健策略为主，回撤控制核心
· 商品/CTA：价格弹性修复 + 趋势行情，可适度增配趋势型 CTA
· 权益：结构 &gt; 指数，减配小盘指增、增配中性/对冲与低波策略
· 黄金：保留底仓，等待加息预期落地后的配置窗口</a:t>
            </a:r>
            <a:endParaRPr sz="1300" b="0">
              <a:solidFill>
                <a:srgbClr val="1F2933"/>
              </a:solidFill>
              <a:latin typeface="微软雅黑" panose="020B0503020204020204" charset="-122"/>
              <a:ea typeface="微软雅黑" panose="020B0503020204020204" charset="-122"/>
              <a:cs typeface="微软雅黑" panose="020B0503020204020204" charset="-122"/>
            </a:endParaRPr>
          </a:p>
        </p:txBody>
      </p:sp>
      <p:sp>
        <p:nvSpPr>
          <p:cNvPr id="308" name="TextBox 23"/>
          <p:cNvSpPr txBox="1"/>
          <p:nvPr/>
        </p:nvSpPr>
        <p:spPr>
          <a:xfrm>
            <a:off x="502920" y="6455664"/>
            <a:ext cx="7315200" cy="274320"/>
          </a:xfrm>
          <a:prstGeom prst="rect">
            <a:avLst/>
          </a:prstGeom>
          <a:noFill/>
        </p:spPr>
        <p:txBody>
          <a:bodyPr wrap="square" lIns="0" tIns="0" rIns="0" bIns="0" anchor="t">
            <a:spAutoFit/>
          </a:bodyPr>
          <a:lstStyle/>
          <a:p>
            <a:pPr algn="l">
              <a:lnSpc>
                <a:spcPct val="115000"/>
              </a:lnSpc>
              <a:spcAft>
                <a:spcPts val="600"/>
              </a:spcAft>
            </a:pPr>
            <a:r>
              <a:rPr sz="900" b="0">
                <a:solidFill>
                  <a:srgbClr val="595959"/>
                </a:solidFill>
                <a:latin typeface="微软雅黑" panose="020B0503020204020204" charset="-122"/>
                <a:ea typeface="微软雅黑" panose="020B0503020204020204" charset="-122"/>
                <a:cs typeface="微软雅黑" panose="020B0503020204020204" charset="-122"/>
              </a:rPr>
              <a:t>近期宏观变化及资产配置 · 2026.09</a:t>
            </a:r>
            <a:endParaRPr sz="900" b="0">
              <a:solidFill>
                <a:srgbClr val="595959"/>
              </a:solidFill>
              <a:latin typeface="微软雅黑" panose="020B0503020204020204" charset="-122"/>
              <a:ea typeface="微软雅黑" panose="020B0503020204020204" charset="-122"/>
              <a:cs typeface="微软雅黑" panose="020B0503020204020204" charset="-122"/>
            </a:endParaRPr>
          </a:p>
        </p:txBody>
      </p:sp>
      <p:sp>
        <p:nvSpPr>
          <p:cNvPr id="309" name="TextBox 24"/>
          <p:cNvSpPr txBox="1"/>
          <p:nvPr/>
        </p:nvSpPr>
        <p:spPr>
          <a:xfrm>
            <a:off x="10789920" y="6455664"/>
            <a:ext cx="914400" cy="274320"/>
          </a:xfrm>
          <a:prstGeom prst="rect">
            <a:avLst/>
          </a:prstGeom>
          <a:noFill/>
        </p:spPr>
        <p:txBody>
          <a:bodyPr wrap="square" lIns="0" tIns="0" rIns="0" bIns="0" anchor="t">
            <a:spAutoFit/>
          </a:bodyPr>
          <a:lstStyle/>
          <a:p>
            <a:pPr algn="r">
              <a:lnSpc>
                <a:spcPct val="115000"/>
              </a:lnSpc>
              <a:spcAft>
                <a:spcPts val="600"/>
              </a:spcAft>
            </a:pPr>
            <a:r>
              <a:rPr sz="1000" b="0">
                <a:solidFill>
                  <a:srgbClr val="595959"/>
                </a:solidFill>
                <a:latin typeface="微软雅黑" panose="020B0503020204020204" charset="-122"/>
                <a:ea typeface="微软雅黑" panose="020B0503020204020204" charset="-122"/>
                <a:cs typeface="微软雅黑" panose="020B0503020204020204" charset="-122"/>
              </a:rPr>
              <a:t>15</a:t>
            </a:r>
            <a:endParaRPr sz="1000" b="0">
              <a:solidFill>
                <a:srgbClr val="595959"/>
              </a:solidFill>
              <a:latin typeface="微软雅黑" panose="020B0503020204020204" charset="-122"/>
              <a:ea typeface="微软雅黑" panose="020B0503020204020204" charset="-122"/>
              <a:cs typeface="微软雅黑" panose="020B0503020204020204" charset="-122"/>
            </a:endParaRPr>
          </a:p>
        </p:txBody>
      </p:sp>
      <p:pic>
        <p:nvPicPr>
          <p:cNvPr id="310" name="参考模板浅蓝背景弧线"/>
          <p:cNvPicPr/>
          <p:nvPr/>
        </p:nvPicPr>
        <p:blipFill>
          <a:blip r:embed="rId2"/>
          <a:stretch>
            <a:fillRect/>
          </a:stretch>
        </p:blipFill>
        <p:spPr>
          <a:xfrm>
            <a:off x="4457700" y="0"/>
            <a:ext cx="3143250" cy="495300"/>
          </a:xfrm>
          <a:prstGeom prst="rect">
            <a:avLst/>
          </a:prstGeom>
          <a:noFill/>
          <a:ln>
            <a:noFill/>
          </a:ln>
        </p:spPr>
      </p:pic>
      <p:pic>
        <p:nvPicPr>
          <p:cNvPr id="311" name="参考模板右上角标识"/>
          <p:cNvPicPr/>
          <p:nvPr/>
        </p:nvPicPr>
        <p:blipFill>
          <a:blip r:embed="rId3"/>
          <a:stretch>
            <a:fillRect/>
          </a:stretch>
        </p:blipFill>
        <p:spPr>
          <a:xfrm>
            <a:off x="9696450" y="209550"/>
            <a:ext cx="1733550" cy="390525"/>
          </a:xfrm>
          <a:prstGeom prst="rect">
            <a:avLst/>
          </a:prstGeom>
          <a:noFill/>
          <a:ln>
            <a:noFill/>
          </a:ln>
        </p:spPr>
      </p:pic>
    </p:spTree>
  </p:cSld>
  <p:clrMapOvr>
    <a:masterClrMapping/>
  </p:clrMapOvr>
</p:sld>
</file>

<file path=ppt/slides/slide25.xml><?xml version="1.0" encoding="utf-8"?>
<p:sld xmlns:r="http://schemas.openxmlformats.org/officeDocument/2006/relationships" xmlns:p="http://schemas.openxmlformats.org/presentationml/2006/main" xmlns:a="http://schemas.openxmlformats.org/drawingml/2006/main">
  <p:cSld>
    <p:spTree>
      <p:nvGrpSpPr>
        <p:cNvPr id="310" name=""/>
        <p:cNvGrpSpPr/>
        <p:nvPr/>
      </p:nvGrpSpPr>
      <p:grpSpPr>
        <a:xfrm>
          <a:off x="0" y="0"/>
          <a:ext cx="0" cy="0"/>
          <a:chOff x="0" y="0"/>
          <a:chExt cx="0" cy="0"/>
        </a:xfrm>
      </p:grpSpPr>
      <p:sp>
        <p:nvSpPr>
          <p:cNvPr id="311" name="矩形 93"/>
          <p:cNvSpPr/>
          <p:nvPr/>
        </p:nvSpPr>
        <p:spPr>
          <a:xfrm>
            <a:off x="508000" y="457200"/>
            <a:ext cx="88900" cy="571500"/>
          </a:xfrm>
          <a:prstGeom prst="rect">
            <a:avLst/>
          </a:prstGeom>
          <a:solidFill>
            <a:srgbClr val="0070C0"/>
          </a:solidFill>
          <a:ln>
            <a:noFill/>
          </a:ln>
        </p:spPr>
        <p:txBody>
          <a:bodyPr/>
          <a:p>
            <a:pPr/>
            <a:endParaRPr>
              <a:ea typeface="微软雅黑" panose="020B0503020204020204" charset="-122"/>
              <a:cs typeface="微软雅黑" panose="020B0503020204020204" charset="-122"/>
            </a:endParaRPr>
          </a:p>
        </p:txBody>
      </p:sp>
      <p:sp>
        <p:nvSpPr>
          <p:cNvPr id="312" name="矩形 94"/>
          <p:cNvSpPr/>
          <p:nvPr/>
        </p:nvSpPr>
        <p:spPr>
          <a:xfrm>
            <a:off x="508000" y="1016000"/>
            <a:ext cx="2006600" cy="31750"/>
          </a:xfrm>
          <a:prstGeom prst="rect">
            <a:avLst/>
          </a:prstGeom>
          <a:solidFill>
            <a:srgbClr val="54B0E0"/>
          </a:solidFill>
          <a:ln>
            <a:noFill/>
          </a:ln>
        </p:spPr>
        <p:txBody>
          <a:bodyPr/>
          <a:p>
            <a:pPr/>
            <a:endParaRPr>
              <a:ea typeface="微软雅黑" panose="020B0503020204020204" charset="-122"/>
              <a:cs typeface="微软雅黑" panose="020B0503020204020204" charset="-122"/>
            </a:endParaRPr>
          </a:p>
        </p:txBody>
      </p:sp>
      <p:sp>
        <p:nvSpPr>
          <p:cNvPr id="313" name="矩形 95"/>
          <p:cNvSpPr/>
          <p:nvPr/>
        </p:nvSpPr>
        <p:spPr>
          <a:xfrm>
            <a:off x="508000" y="2246157"/>
            <a:ext cx="5461000" cy="2095500"/>
          </a:xfrm>
          <a:prstGeom prst="rect">
            <a:avLst/>
          </a:prstGeom>
          <a:solidFill>
            <a:srgbClr val="FFFFFF"/>
          </a:solidFill>
          <a:ln w="12700">
            <a:solidFill>
              <a:srgbClr val="AED5EB"/>
            </a:solidFill>
            <a:prstDash val="solid"/>
          </a:ln>
        </p:spPr>
        <p:txBody>
          <a:bodyPr/>
          <a:p>
            <a:pPr/>
            <a:endParaRPr>
              <a:ea typeface="微软雅黑" panose="020B0503020204020204" charset="-122"/>
              <a:cs typeface="微软雅黑" panose="020B0503020204020204" charset="-122"/>
            </a:endParaRPr>
          </a:p>
        </p:txBody>
      </p:sp>
      <p:sp>
        <p:nvSpPr>
          <p:cNvPr id="314" name="矩形 96"/>
          <p:cNvSpPr/>
          <p:nvPr/>
        </p:nvSpPr>
        <p:spPr>
          <a:xfrm>
            <a:off x="508000" y="2246157"/>
            <a:ext cx="5461000" cy="571500"/>
          </a:xfrm>
          <a:prstGeom prst="rect">
            <a:avLst/>
          </a:prstGeom>
          <a:solidFill>
            <a:srgbClr val="0070C0"/>
          </a:solidFill>
          <a:ln>
            <a:noFill/>
          </a:ln>
        </p:spPr>
        <p:txBody>
          <a:bodyPr/>
          <a:p>
            <a:pPr/>
            <a:endParaRPr>
              <a:ea typeface="微软雅黑" panose="020B0503020204020204" charset="-122"/>
              <a:cs typeface="微软雅黑" panose="020B0503020204020204" charset="-122"/>
            </a:endParaRPr>
          </a:p>
        </p:txBody>
      </p:sp>
      <p:sp>
        <p:nvSpPr>
          <p:cNvPr id="315" name="矩形 97"/>
          <p:cNvSpPr/>
          <p:nvPr/>
        </p:nvSpPr>
        <p:spPr>
          <a:xfrm>
            <a:off x="6197600" y="2246157"/>
            <a:ext cx="5461000" cy="2095500"/>
          </a:xfrm>
          <a:prstGeom prst="rect">
            <a:avLst/>
          </a:prstGeom>
          <a:solidFill>
            <a:srgbClr val="FFFFFF"/>
          </a:solidFill>
          <a:ln w="12700">
            <a:solidFill>
              <a:srgbClr val="AED5EB"/>
            </a:solidFill>
            <a:prstDash val="solid"/>
          </a:ln>
        </p:spPr>
        <p:txBody>
          <a:bodyPr/>
          <a:p>
            <a:pPr/>
            <a:endParaRPr>
              <a:ea typeface="微软雅黑" panose="020B0503020204020204" charset="-122"/>
              <a:cs typeface="微软雅黑" panose="020B0503020204020204" charset="-122"/>
            </a:endParaRPr>
          </a:p>
        </p:txBody>
      </p:sp>
      <p:sp>
        <p:nvSpPr>
          <p:cNvPr id="316" name="矩形 98"/>
          <p:cNvSpPr/>
          <p:nvPr/>
        </p:nvSpPr>
        <p:spPr>
          <a:xfrm>
            <a:off x="6197600" y="2246157"/>
            <a:ext cx="5461000" cy="571500"/>
          </a:xfrm>
          <a:prstGeom prst="rect">
            <a:avLst/>
          </a:prstGeom>
          <a:solidFill>
            <a:srgbClr val="54B0E0"/>
          </a:solidFill>
          <a:ln>
            <a:noFill/>
          </a:ln>
        </p:spPr>
        <p:txBody>
          <a:bodyPr/>
          <a:p>
            <a:pPr/>
            <a:endParaRPr>
              <a:ea typeface="微软雅黑" panose="020B0503020204020204" charset="-122"/>
              <a:cs typeface="微软雅黑" panose="020B0503020204020204" charset="-122"/>
            </a:endParaRPr>
          </a:p>
        </p:txBody>
      </p:sp>
      <p:sp>
        <p:nvSpPr>
          <p:cNvPr id="317" name="矩形 99"/>
          <p:cNvSpPr/>
          <p:nvPr/>
        </p:nvSpPr>
        <p:spPr>
          <a:xfrm>
            <a:off x="508000" y="6032500"/>
            <a:ext cx="11176000" cy="571500"/>
          </a:xfrm>
          <a:prstGeom prst="rect">
            <a:avLst/>
          </a:prstGeom>
          <a:solidFill>
            <a:srgbClr val="EAF6FC"/>
          </a:solidFill>
          <a:ln>
            <a:noFill/>
          </a:ln>
        </p:spPr>
        <p:txBody>
          <a:bodyPr/>
          <a:p>
            <a:pPr/>
            <a:endParaRPr>
              <a:ea typeface="微软雅黑" panose="020B0503020204020204" charset="-122"/>
              <a:cs typeface="微软雅黑" panose="020B0503020204020204" charset="-122"/>
            </a:endParaRPr>
          </a:p>
        </p:txBody>
      </p:sp>
      <p:sp>
        <p:nvSpPr>
          <p:cNvPr id="318" name="矩形 100"/>
          <p:cNvSpPr/>
          <p:nvPr/>
        </p:nvSpPr>
        <p:spPr>
          <a:xfrm>
            <a:off x="711200" y="419100"/>
            <a:ext cx="8890000" cy="635000"/>
          </a:xfrm>
          <a:prstGeom prst="rect">
            <a:avLst/>
          </a:prstGeom>
          <a:noFill/>
          <a:ln>
            <a:noFill/>
          </a:ln>
        </p:spPr>
        <p:txBody>
          <a:bodyPr/>
          <a:p>
            <a:pPr/>
            <a:r>
              <a:rPr lang="zh-CN" sz="2600">
                <a:solidFill>
                  <a:srgbClr val="0070C0"/>
                </a:solidFill>
                <a:latin typeface="微软雅黑" panose="020B0503020204020204" charset="-122"/>
                <a:ea typeface="微软雅黑" panose="020B0503020204020204" charset="-122"/>
                <a:cs typeface="微软雅黑" panose="020B0503020204020204" charset="-122"/>
              </a:rPr>
              <a:t>2027 年配置计划 · 两种方案</a:t>
            </a:r>
            <a:endParaRPr lang="zh-CN" sz="2600">
              <a:solidFill>
                <a:srgbClr val="0070C0"/>
              </a:solidFill>
              <a:latin typeface="微软雅黑" panose="020B0503020204020204" charset="-122"/>
              <a:ea typeface="微软雅黑" panose="020B0503020204020204" charset="-122"/>
              <a:cs typeface="微软雅黑" panose="020B0503020204020204" charset="-122"/>
            </a:endParaRPr>
          </a:p>
        </p:txBody>
      </p:sp>
      <p:sp>
        <p:nvSpPr>
          <p:cNvPr id="319" name="矩形 101"/>
          <p:cNvSpPr/>
          <p:nvPr/>
        </p:nvSpPr>
        <p:spPr>
          <a:xfrm>
            <a:off x="711200" y="1066800"/>
            <a:ext cx="10160000" cy="330200"/>
          </a:xfrm>
          <a:prstGeom prst="rect">
            <a:avLst/>
          </a:prstGeom>
          <a:noFill/>
          <a:ln>
            <a:noFill/>
          </a:ln>
        </p:spPr>
        <p:txBody>
          <a:bodyPr/>
          <a:p>
            <a:pPr/>
            <a:r>
              <a:rPr lang="zh-CN" sz="1100">
                <a:solidFill>
                  <a:srgbClr val="595959"/>
                </a:solidFill>
                <a:latin typeface="微软雅黑" panose="020B0503020204020204" charset="-122"/>
                <a:ea typeface="微软雅黑" panose="020B0503020204020204" charset="-122"/>
                <a:cs typeface="微软雅黑" panose="020B0503020204020204" charset="-122"/>
              </a:rPr>
              <a:t>以固收为压舱石，弹性策略增厚收益</a:t>
            </a:r>
            <a:endParaRPr lang="zh-CN" sz="1100">
              <a:solidFill>
                <a:srgbClr val="595959"/>
              </a:solidFill>
              <a:latin typeface="微软雅黑" panose="020B0503020204020204" charset="-122"/>
              <a:ea typeface="微软雅黑" panose="020B0503020204020204" charset="-122"/>
              <a:cs typeface="微软雅黑" panose="020B0503020204020204" charset="-122"/>
            </a:endParaRPr>
          </a:p>
        </p:txBody>
      </p:sp>
      <p:sp>
        <p:nvSpPr>
          <p:cNvPr id="320" name="矩形 102"/>
          <p:cNvSpPr/>
          <p:nvPr/>
        </p:nvSpPr>
        <p:spPr>
          <a:xfrm>
            <a:off x="508000" y="2309657"/>
            <a:ext cx="5461000" cy="482600"/>
          </a:xfrm>
          <a:prstGeom prst="rect">
            <a:avLst/>
          </a:prstGeom>
          <a:noFill/>
          <a:ln>
            <a:noFill/>
          </a:ln>
        </p:spPr>
        <p:txBody>
          <a:bodyPr/>
          <a:p>
            <a:pPr/>
            <a:r>
              <a:rPr lang="zh-CN" sz="1600">
                <a:solidFill>
                  <a:srgbClr val="FFFFFF"/>
                </a:solidFill>
                <a:latin typeface="微软雅黑" panose="020B0503020204020204" charset="-122"/>
                <a:ea typeface="微软雅黑" panose="020B0503020204020204" charset="-122"/>
                <a:cs typeface="微软雅黑" panose="020B0503020204020204" charset="-122"/>
              </a:rPr>
              <a:t>方案一 · 稳健型</a:t>
            </a:r>
            <a:endParaRPr lang="zh-CN" sz="160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321" name="矩形 103"/>
          <p:cNvSpPr/>
          <p:nvPr/>
        </p:nvSpPr>
        <p:spPr>
          <a:xfrm>
            <a:off x="787400" y="3008157"/>
            <a:ext cx="4953000" cy="508000"/>
          </a:xfrm>
          <a:prstGeom prst="rect">
            <a:avLst/>
          </a:prstGeom>
          <a:noFill/>
          <a:ln>
            <a:noFill/>
          </a:ln>
        </p:spPr>
        <p:txBody>
          <a:bodyPr/>
          <a:p>
            <a:pPr/>
            <a:r>
              <a:rPr lang="zh-CN" sz="1600">
                <a:solidFill>
                  <a:srgbClr val="1F2933"/>
                </a:solidFill>
                <a:latin typeface="微软雅黑" panose="020B0503020204020204" charset="-122"/>
                <a:ea typeface="微软雅黑" panose="020B0503020204020204" charset="-122"/>
                <a:cs typeface="微软雅黑" panose="020B0503020204020204" charset="-122"/>
              </a:rPr>
              <a:t>90% 固收 + 10% 弹性策略</a:t>
            </a:r>
            <a:endParaRPr lang="zh-CN" sz="1600">
              <a:solidFill>
                <a:srgbClr val="1F2933"/>
              </a:solidFill>
              <a:latin typeface="微软雅黑" panose="020B0503020204020204" charset="-122"/>
              <a:ea typeface="微软雅黑" panose="020B0503020204020204" charset="-122"/>
              <a:cs typeface="微软雅黑" panose="020B0503020204020204" charset="-122"/>
            </a:endParaRPr>
          </a:p>
        </p:txBody>
      </p:sp>
      <p:sp>
        <p:nvSpPr>
          <p:cNvPr id="322" name="矩形 104"/>
          <p:cNvSpPr/>
          <p:nvPr/>
        </p:nvSpPr>
        <p:spPr>
          <a:xfrm>
            <a:off x="787400" y="3643157"/>
            <a:ext cx="4953000" cy="406400"/>
          </a:xfrm>
          <a:prstGeom prst="rect">
            <a:avLst/>
          </a:prstGeom>
          <a:noFill/>
          <a:ln>
            <a:noFill/>
          </a:ln>
        </p:spPr>
        <p:txBody>
          <a:bodyPr/>
          <a:p>
            <a:pPr/>
            <a:r>
              <a:rPr lang="zh-CN" sz="1300">
                <a:solidFill>
                  <a:srgbClr val="1F2933"/>
                </a:solidFill>
                <a:latin typeface="微软雅黑" panose="020B0503020204020204" charset="-122"/>
                <a:ea typeface="微软雅黑" panose="020B0503020204020204" charset="-122"/>
                <a:cs typeface="微软雅黑" panose="020B0503020204020204" charset="-122"/>
              </a:rPr>
              <a:t>极致稳健，回撤控制优先</a:t>
            </a:r>
            <a:endParaRPr lang="zh-CN" sz="1300">
              <a:solidFill>
                <a:srgbClr val="1F2933"/>
              </a:solidFill>
              <a:latin typeface="微软雅黑" panose="020B0503020204020204" charset="-122"/>
              <a:ea typeface="微软雅黑" panose="020B0503020204020204" charset="-122"/>
              <a:cs typeface="微软雅黑" panose="020B0503020204020204" charset="-122"/>
            </a:endParaRPr>
          </a:p>
        </p:txBody>
      </p:sp>
      <p:sp>
        <p:nvSpPr>
          <p:cNvPr id="323" name="矩形 105"/>
          <p:cNvSpPr/>
          <p:nvPr/>
        </p:nvSpPr>
        <p:spPr>
          <a:xfrm>
            <a:off x="6197600" y="2309657"/>
            <a:ext cx="5461000" cy="482600"/>
          </a:xfrm>
          <a:prstGeom prst="rect">
            <a:avLst/>
          </a:prstGeom>
          <a:noFill/>
          <a:ln>
            <a:noFill/>
          </a:ln>
        </p:spPr>
        <p:txBody>
          <a:bodyPr/>
          <a:p>
            <a:pPr/>
            <a:r>
              <a:rPr lang="zh-CN" sz="1600">
                <a:solidFill>
                  <a:srgbClr val="FFFFFF"/>
                </a:solidFill>
                <a:latin typeface="微软雅黑" panose="020B0503020204020204" charset="-122"/>
                <a:ea typeface="微软雅黑" panose="020B0503020204020204" charset="-122"/>
                <a:cs typeface="微软雅黑" panose="020B0503020204020204" charset="-122"/>
              </a:rPr>
              <a:t>方案二 · 均衡型</a:t>
            </a:r>
            <a:endParaRPr lang="zh-CN" sz="160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324" name="矩形 106"/>
          <p:cNvSpPr/>
          <p:nvPr/>
        </p:nvSpPr>
        <p:spPr>
          <a:xfrm>
            <a:off x="6477000" y="3008157"/>
            <a:ext cx="4953000" cy="508000"/>
          </a:xfrm>
          <a:prstGeom prst="rect">
            <a:avLst/>
          </a:prstGeom>
          <a:noFill/>
          <a:ln>
            <a:noFill/>
          </a:ln>
        </p:spPr>
        <p:txBody>
          <a:bodyPr/>
          <a:p>
            <a:pPr/>
            <a:r>
              <a:rPr lang="zh-CN" sz="1600">
                <a:solidFill>
                  <a:srgbClr val="1F2933"/>
                </a:solidFill>
                <a:latin typeface="微软雅黑" panose="020B0503020204020204" charset="-122"/>
                <a:ea typeface="微软雅黑" panose="020B0503020204020204" charset="-122"/>
                <a:cs typeface="微软雅黑" panose="020B0503020204020204" charset="-122"/>
              </a:rPr>
              <a:t>80% 固收 + 20% 弹性策略</a:t>
            </a:r>
            <a:endParaRPr lang="zh-CN" sz="1600">
              <a:solidFill>
                <a:srgbClr val="1F2933"/>
              </a:solidFill>
              <a:latin typeface="微软雅黑" panose="020B0503020204020204" charset="-122"/>
              <a:ea typeface="微软雅黑" panose="020B0503020204020204" charset="-122"/>
              <a:cs typeface="微软雅黑" panose="020B0503020204020204" charset="-122"/>
            </a:endParaRPr>
          </a:p>
        </p:txBody>
      </p:sp>
      <p:sp>
        <p:nvSpPr>
          <p:cNvPr id="325" name="矩形 107"/>
          <p:cNvSpPr/>
          <p:nvPr/>
        </p:nvSpPr>
        <p:spPr>
          <a:xfrm>
            <a:off x="6477000" y="3643157"/>
            <a:ext cx="4953000" cy="406400"/>
          </a:xfrm>
          <a:prstGeom prst="rect">
            <a:avLst/>
          </a:prstGeom>
          <a:noFill/>
          <a:ln>
            <a:noFill/>
          </a:ln>
        </p:spPr>
        <p:txBody>
          <a:bodyPr/>
          <a:p>
            <a:pPr/>
            <a:r>
              <a:rPr lang="zh-CN" sz="1300">
                <a:solidFill>
                  <a:srgbClr val="1F2933"/>
                </a:solidFill>
                <a:latin typeface="微软雅黑" panose="020B0503020204020204" charset="-122"/>
                <a:ea typeface="微软雅黑" panose="020B0503020204020204" charset="-122"/>
                <a:cs typeface="微软雅黑" panose="020B0503020204020204" charset="-122"/>
              </a:rPr>
              <a:t>稳中求进，可控回撤内争取更高弹性</a:t>
            </a:r>
            <a:endParaRPr lang="zh-CN" sz="1300">
              <a:solidFill>
                <a:srgbClr val="1F2933"/>
              </a:solidFill>
              <a:latin typeface="微软雅黑" panose="020B0503020204020204" charset="-122"/>
              <a:ea typeface="微软雅黑" panose="020B0503020204020204" charset="-122"/>
              <a:cs typeface="微软雅黑" panose="020B0503020204020204" charset="-122"/>
            </a:endParaRPr>
          </a:p>
        </p:txBody>
      </p:sp>
      <p:sp>
        <p:nvSpPr>
          <p:cNvPr id="326" name="矩形 108"/>
          <p:cNvSpPr/>
          <p:nvPr/>
        </p:nvSpPr>
        <p:spPr>
          <a:xfrm>
            <a:off x="660400" y="6121400"/>
            <a:ext cx="10922000" cy="431800"/>
          </a:xfrm>
          <a:prstGeom prst="rect">
            <a:avLst/>
          </a:prstGeom>
          <a:noFill/>
          <a:ln>
            <a:noFill/>
          </a:ln>
        </p:spPr>
        <p:txBody>
          <a:bodyPr/>
          <a:p>
            <a:pPr/>
            <a:r>
              <a:rPr lang="zh-CN" sz="1100">
                <a:solidFill>
                  <a:srgbClr val="1F2933"/>
                </a:solidFill>
                <a:latin typeface="微软雅黑" panose="020B0503020204020204" charset="-122"/>
                <a:ea typeface="微软雅黑" panose="020B0503020204020204" charset="-122"/>
                <a:cs typeface="微软雅黑" panose="020B0503020204020204" charset="-122"/>
              </a:rPr>
              <a:t>注：收益与回撤为基于策略历史表现的参考测算，不构成收益承诺；两种方案可结合客户风险偏好切换。</a:t>
            </a:r>
            <a:endParaRPr lang="zh-CN" sz="1100">
              <a:solidFill>
                <a:srgbClr val="1F2933"/>
              </a:solidFill>
              <a:latin typeface="微软雅黑" panose="020B0503020204020204" charset="-122"/>
              <a:ea typeface="微软雅黑" panose="020B0503020204020204" charset="-122"/>
              <a:cs typeface="微软雅黑" panose="020B0503020204020204" charset="-122"/>
            </a:endParaRPr>
          </a:p>
        </p:txBody>
      </p:sp>
      <p:pic>
        <p:nvPicPr>
          <p:cNvPr id="327" name="参考模板浅蓝背景弧线"/>
          <p:cNvPicPr/>
          <p:nvPr/>
        </p:nvPicPr>
        <p:blipFill>
          <a:blip r:embed="rId2"/>
          <a:stretch>
            <a:fillRect/>
          </a:stretch>
        </p:blipFill>
        <p:spPr>
          <a:xfrm>
            <a:off x="4457700" y="0"/>
            <a:ext cx="3143250" cy="495300"/>
          </a:xfrm>
          <a:prstGeom prst="rect">
            <a:avLst/>
          </a:prstGeom>
          <a:noFill/>
          <a:ln>
            <a:noFill/>
          </a:ln>
        </p:spPr>
      </p:pic>
      <p:pic>
        <p:nvPicPr>
          <p:cNvPr id="328" name="参考模板右上角标识"/>
          <p:cNvPicPr/>
          <p:nvPr/>
        </p:nvPicPr>
        <p:blipFill>
          <a:blip r:embed="rId3"/>
          <a:stretch>
            <a:fillRect/>
          </a:stretch>
        </p:blipFill>
        <p:spPr>
          <a:xfrm>
            <a:off x="9696450" y="209550"/>
            <a:ext cx="1733550" cy="390525"/>
          </a:xfrm>
          <a:prstGeom prst="rect">
            <a:avLst/>
          </a:prstGeom>
          <a:noFill/>
          <a:ln>
            <a:noFill/>
          </a:ln>
        </p:spPr>
      </p:pic>
    </p:spTree>
  </p:cSld>
  <p:clrMapOvr>
    <a:masterClrMapping/>
  </p:clrMapOvr>
</p:sld>
</file>

<file path=ppt/slides/slide26.xml><?xml version="1.0" encoding="utf-8"?>
<p:sld xmlns:r="http://schemas.openxmlformats.org/officeDocument/2006/relationships" xmlns:p="http://schemas.openxmlformats.org/presentationml/2006/main" xmlns:a="http://schemas.openxmlformats.org/drawingml/2006/main">
  <p:cSld>
    <p:spTree>
      <p:nvGrpSpPr>
        <p:cNvPr id="327" name=""/>
        <p:cNvGrpSpPr/>
        <p:nvPr/>
      </p:nvGrpSpPr>
      <p:grpSpPr>
        <a:xfrm>
          <a:off x="0" y="0"/>
          <a:ext cx="0" cy="0"/>
          <a:chOff x="0" y="0"/>
          <a:chExt cx="0" cy="0"/>
        </a:xfrm>
      </p:grpSpPr>
      <p:sp>
        <p:nvSpPr>
          <p:cNvPr id="328" name="矩形 110"/>
          <p:cNvSpPr/>
          <p:nvPr/>
        </p:nvSpPr>
        <p:spPr>
          <a:xfrm>
            <a:off x="508000" y="457200"/>
            <a:ext cx="88900" cy="571500"/>
          </a:xfrm>
          <a:prstGeom prst="rect">
            <a:avLst/>
          </a:prstGeom>
          <a:solidFill>
            <a:srgbClr val="0070C0"/>
          </a:solidFill>
          <a:ln>
            <a:noFill/>
          </a:ln>
        </p:spPr>
        <p:txBody>
          <a:bodyPr/>
          <a:p>
            <a:pPr/>
            <a:endParaRPr>
              <a:ea typeface="微软雅黑" panose="020B0503020204020204" charset="-122"/>
              <a:cs typeface="微软雅黑" panose="020B0503020204020204" charset="-122"/>
            </a:endParaRPr>
          </a:p>
        </p:txBody>
      </p:sp>
      <p:sp>
        <p:nvSpPr>
          <p:cNvPr id="329" name="矩形 111"/>
          <p:cNvSpPr/>
          <p:nvPr/>
        </p:nvSpPr>
        <p:spPr>
          <a:xfrm>
            <a:off x="508000" y="1016000"/>
            <a:ext cx="2006600" cy="31750"/>
          </a:xfrm>
          <a:prstGeom prst="rect">
            <a:avLst/>
          </a:prstGeom>
          <a:solidFill>
            <a:srgbClr val="54B0E0"/>
          </a:solidFill>
          <a:ln>
            <a:noFill/>
          </a:ln>
        </p:spPr>
        <p:txBody>
          <a:bodyPr/>
          <a:p>
            <a:pPr/>
            <a:endParaRPr>
              <a:ea typeface="微软雅黑" panose="020B0503020204020204" charset="-122"/>
              <a:cs typeface="微软雅黑" panose="020B0503020204020204" charset="-122"/>
            </a:endParaRPr>
          </a:p>
        </p:txBody>
      </p:sp>
      <p:sp>
        <p:nvSpPr>
          <p:cNvPr id="330" name="矩形 112"/>
          <p:cNvSpPr/>
          <p:nvPr/>
        </p:nvSpPr>
        <p:spPr>
          <a:xfrm>
            <a:off x="508000" y="1651000"/>
            <a:ext cx="5461000" cy="508000"/>
          </a:xfrm>
          <a:prstGeom prst="rect">
            <a:avLst/>
          </a:prstGeom>
          <a:solidFill>
            <a:srgbClr val="0070C0"/>
          </a:solidFill>
          <a:ln>
            <a:noFill/>
          </a:ln>
        </p:spPr>
        <p:txBody>
          <a:bodyPr/>
          <a:p>
            <a:pPr/>
            <a:endParaRPr>
              <a:ea typeface="微软雅黑" panose="020B0503020204020204" charset="-122"/>
              <a:cs typeface="微软雅黑" panose="020B0503020204020204" charset="-122"/>
            </a:endParaRPr>
          </a:p>
        </p:txBody>
      </p:sp>
      <p:sp>
        <p:nvSpPr>
          <p:cNvPr id="331" name="矩形 113"/>
          <p:cNvSpPr/>
          <p:nvPr/>
        </p:nvSpPr>
        <p:spPr>
          <a:xfrm>
            <a:off x="6197600" y="1651000"/>
            <a:ext cx="5461000" cy="508000"/>
          </a:xfrm>
          <a:prstGeom prst="rect">
            <a:avLst/>
          </a:prstGeom>
          <a:solidFill>
            <a:srgbClr val="54B0E0"/>
          </a:solidFill>
          <a:ln>
            <a:noFill/>
          </a:ln>
        </p:spPr>
        <p:txBody>
          <a:bodyPr/>
          <a:p>
            <a:pPr/>
            <a:endParaRPr>
              <a:ea typeface="微软雅黑" panose="020B0503020204020204" charset="-122"/>
              <a:cs typeface="微软雅黑" panose="020B0503020204020204" charset="-122"/>
            </a:endParaRPr>
          </a:p>
        </p:txBody>
      </p:sp>
      <p:sp>
        <p:nvSpPr>
          <p:cNvPr id="332" name="矩形 114"/>
          <p:cNvSpPr/>
          <p:nvPr/>
        </p:nvSpPr>
        <p:spPr>
          <a:xfrm>
            <a:off x="508000" y="6032500"/>
            <a:ext cx="11176000" cy="571500"/>
          </a:xfrm>
          <a:prstGeom prst="rect">
            <a:avLst/>
          </a:prstGeom>
          <a:solidFill>
            <a:srgbClr val="EAF6FC"/>
          </a:solidFill>
          <a:ln>
            <a:noFill/>
          </a:ln>
        </p:spPr>
        <p:txBody>
          <a:bodyPr/>
          <a:p>
            <a:pPr/>
            <a:endParaRPr>
              <a:ea typeface="微软雅黑" panose="020B0503020204020204" charset="-122"/>
              <a:cs typeface="微软雅黑" panose="020B0503020204020204" charset="-122"/>
            </a:endParaRPr>
          </a:p>
        </p:txBody>
      </p:sp>
      <p:sp>
        <p:nvSpPr>
          <p:cNvPr id="333" name="矩形 115"/>
          <p:cNvSpPr/>
          <p:nvPr/>
        </p:nvSpPr>
        <p:spPr>
          <a:xfrm>
            <a:off x="711200" y="419100"/>
            <a:ext cx="6350000" cy="635000"/>
          </a:xfrm>
          <a:prstGeom prst="rect">
            <a:avLst/>
          </a:prstGeom>
          <a:noFill/>
          <a:ln>
            <a:noFill/>
          </a:ln>
        </p:spPr>
        <p:txBody>
          <a:bodyPr/>
          <a:p>
            <a:pPr/>
            <a:r>
              <a:rPr lang="zh-CN" sz="2600">
                <a:solidFill>
                  <a:srgbClr val="0070C0"/>
                </a:solidFill>
                <a:latin typeface="微软雅黑" panose="020B0503020204020204" charset="-122"/>
                <a:ea typeface="微软雅黑" panose="020B0503020204020204" charset="-122"/>
                <a:cs typeface="微软雅黑" panose="020B0503020204020204" charset="-122"/>
              </a:rPr>
              <a:t>弹性策略详解</a:t>
            </a:r>
            <a:endParaRPr lang="zh-CN" sz="2600">
              <a:solidFill>
                <a:srgbClr val="0070C0"/>
              </a:solidFill>
              <a:latin typeface="微软雅黑" panose="020B0503020204020204" charset="-122"/>
              <a:ea typeface="微软雅黑" panose="020B0503020204020204" charset="-122"/>
              <a:cs typeface="微软雅黑" panose="020B0503020204020204" charset="-122"/>
            </a:endParaRPr>
          </a:p>
        </p:txBody>
      </p:sp>
      <p:sp>
        <p:nvSpPr>
          <p:cNvPr id="334" name="矩形 116"/>
          <p:cNvSpPr/>
          <p:nvPr/>
        </p:nvSpPr>
        <p:spPr>
          <a:xfrm>
            <a:off x="711200" y="1066800"/>
            <a:ext cx="10795000" cy="330200"/>
          </a:xfrm>
          <a:prstGeom prst="rect">
            <a:avLst/>
          </a:prstGeom>
          <a:noFill/>
          <a:ln>
            <a:noFill/>
          </a:ln>
        </p:spPr>
        <p:txBody>
          <a:bodyPr/>
          <a:p>
            <a:pPr/>
            <a:r>
              <a:rPr lang="zh-CN" sz="1100">
                <a:solidFill>
                  <a:srgbClr val="595959"/>
                </a:solidFill>
                <a:latin typeface="微软雅黑" panose="020B0503020204020204" charset="-122"/>
                <a:ea typeface="微软雅黑" panose="020B0503020204020204" charset="-122"/>
                <a:cs typeface="微软雅黑" panose="020B0503020204020204" charset="-122"/>
              </a:rPr>
              <a:t>套利 + 量化CTA + 主观CTA · 以低风险、低相关策略增厚组合收益</a:t>
            </a:r>
            <a:endParaRPr lang="zh-CN" sz="1100">
              <a:solidFill>
                <a:srgbClr val="595959"/>
              </a:solidFill>
              <a:latin typeface="微软雅黑" panose="020B0503020204020204" charset="-122"/>
              <a:ea typeface="微软雅黑" panose="020B0503020204020204" charset="-122"/>
              <a:cs typeface="微软雅黑" panose="020B0503020204020204" charset="-122"/>
            </a:endParaRPr>
          </a:p>
        </p:txBody>
      </p:sp>
      <p:sp>
        <p:nvSpPr>
          <p:cNvPr id="335" name="矩形 117"/>
          <p:cNvSpPr/>
          <p:nvPr/>
        </p:nvSpPr>
        <p:spPr>
          <a:xfrm>
            <a:off x="508000" y="1714500"/>
            <a:ext cx="5461000" cy="406400"/>
          </a:xfrm>
          <a:prstGeom prst="rect">
            <a:avLst/>
          </a:prstGeom>
          <a:noFill/>
          <a:ln>
            <a:noFill/>
          </a:ln>
        </p:spPr>
        <p:txBody>
          <a:bodyPr/>
          <a:p>
            <a:pPr/>
            <a:r>
              <a:rPr lang="zh-CN" sz="1500">
                <a:solidFill>
                  <a:srgbClr val="FFFFFF"/>
                </a:solidFill>
                <a:latin typeface="微软雅黑" panose="020B0503020204020204" charset="-122"/>
                <a:ea typeface="微软雅黑" panose="020B0503020204020204" charset="-122"/>
                <a:cs typeface="微软雅黑" panose="020B0503020204020204" charset="-122"/>
              </a:rPr>
              <a:t>套利类策略（套利的种类）</a:t>
            </a:r>
            <a:endParaRPr lang="zh-CN" sz="150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336" name="矩形 118"/>
          <p:cNvSpPr/>
          <p:nvPr/>
        </p:nvSpPr>
        <p:spPr>
          <a:xfrm>
            <a:off x="6197600" y="1714500"/>
            <a:ext cx="5461000" cy="406400"/>
          </a:xfrm>
          <a:prstGeom prst="rect">
            <a:avLst/>
          </a:prstGeom>
          <a:noFill/>
          <a:ln>
            <a:noFill/>
          </a:ln>
        </p:spPr>
        <p:txBody>
          <a:bodyPr/>
          <a:p>
            <a:pPr/>
            <a:r>
              <a:rPr lang="zh-CN" sz="1500">
                <a:solidFill>
                  <a:srgbClr val="FFFFFF"/>
                </a:solidFill>
                <a:latin typeface="微软雅黑" panose="020B0503020204020204" charset="-122"/>
                <a:ea typeface="微软雅黑" panose="020B0503020204020204" charset="-122"/>
                <a:cs typeface="微软雅黑" panose="020B0503020204020204" charset="-122"/>
              </a:rPr>
              <a:t>量化CTA（短周期为主）</a:t>
            </a:r>
            <a:endParaRPr lang="zh-CN" sz="150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337" name="矩形 119"/>
          <p:cNvSpPr/>
          <p:nvPr/>
        </p:nvSpPr>
        <p:spPr>
          <a:xfrm>
            <a:off x="660400" y="2286000"/>
            <a:ext cx="1651000" cy="355600"/>
          </a:xfrm>
          <a:prstGeom prst="rect">
            <a:avLst/>
          </a:prstGeom>
          <a:noFill/>
          <a:ln>
            <a:noFill/>
          </a:ln>
        </p:spPr>
        <p:txBody>
          <a:bodyPr/>
          <a:p>
            <a:pPr/>
            <a:r>
              <a:rPr lang="zh-CN" sz="1100">
                <a:solidFill>
                  <a:srgbClr val="0070C0"/>
                </a:solidFill>
                <a:latin typeface="微软雅黑" panose="020B0503020204020204" charset="-122"/>
                <a:ea typeface="微软雅黑" panose="020B0503020204020204" charset="-122"/>
                <a:cs typeface="微软雅黑" panose="020B0503020204020204" charset="-122"/>
              </a:rPr>
              <a:t>商品期货套利</a:t>
            </a:r>
            <a:endParaRPr lang="zh-CN" sz="1100">
              <a:solidFill>
                <a:srgbClr val="0070C0"/>
              </a:solidFill>
              <a:latin typeface="微软雅黑" panose="020B0503020204020204" charset="-122"/>
              <a:ea typeface="微软雅黑" panose="020B0503020204020204" charset="-122"/>
              <a:cs typeface="微软雅黑" panose="020B0503020204020204" charset="-122"/>
            </a:endParaRPr>
          </a:p>
        </p:txBody>
      </p:sp>
      <p:sp>
        <p:nvSpPr>
          <p:cNvPr id="338" name="矩形 120"/>
          <p:cNvSpPr/>
          <p:nvPr/>
        </p:nvSpPr>
        <p:spPr>
          <a:xfrm>
            <a:off x="2413000" y="2286000"/>
            <a:ext cx="3556000" cy="355600"/>
          </a:xfrm>
          <a:prstGeom prst="rect">
            <a:avLst/>
          </a:prstGeom>
          <a:noFill/>
          <a:ln>
            <a:noFill/>
          </a:ln>
        </p:spPr>
        <p:txBody>
          <a:bodyPr/>
          <a:p>
            <a:pPr/>
            <a:r>
              <a:rPr lang="zh-CN" sz="1000">
                <a:solidFill>
                  <a:srgbClr val="1F2933"/>
                </a:solidFill>
                <a:latin typeface="微软雅黑" panose="020B0503020204020204" charset="-122"/>
                <a:ea typeface="微软雅黑" panose="020B0503020204020204" charset="-122"/>
                <a:cs typeface="微软雅黑" panose="020B0503020204020204" charset="-122"/>
              </a:rPr>
              <a:t>跨期 · 跨品种（产业链）· 跨市场 · 期现</a:t>
            </a:r>
            <a:endParaRPr lang="zh-CN" sz="1000">
              <a:solidFill>
                <a:srgbClr val="1F2933"/>
              </a:solidFill>
              <a:latin typeface="微软雅黑" panose="020B0503020204020204" charset="-122"/>
              <a:ea typeface="微软雅黑" panose="020B0503020204020204" charset="-122"/>
              <a:cs typeface="微软雅黑" panose="020B0503020204020204" charset="-122"/>
            </a:endParaRPr>
          </a:p>
        </p:txBody>
      </p:sp>
      <p:sp>
        <p:nvSpPr>
          <p:cNvPr id="339" name="矩形 121"/>
          <p:cNvSpPr/>
          <p:nvPr/>
        </p:nvSpPr>
        <p:spPr>
          <a:xfrm>
            <a:off x="660400" y="2743200"/>
            <a:ext cx="1651000" cy="355600"/>
          </a:xfrm>
          <a:prstGeom prst="rect">
            <a:avLst/>
          </a:prstGeom>
          <a:noFill/>
          <a:ln>
            <a:noFill/>
          </a:ln>
        </p:spPr>
        <p:txBody>
          <a:bodyPr/>
          <a:p>
            <a:pPr/>
            <a:r>
              <a:rPr lang="zh-CN" sz="1100">
                <a:solidFill>
                  <a:srgbClr val="0070C0"/>
                </a:solidFill>
                <a:latin typeface="微软雅黑" panose="020B0503020204020204" charset="-122"/>
                <a:ea typeface="微软雅黑" panose="020B0503020204020204" charset="-122"/>
                <a:cs typeface="微软雅黑" panose="020B0503020204020204" charset="-122"/>
              </a:rPr>
              <a:t>股指期货套利</a:t>
            </a:r>
            <a:endParaRPr lang="zh-CN" sz="1100">
              <a:solidFill>
                <a:srgbClr val="0070C0"/>
              </a:solidFill>
              <a:latin typeface="微软雅黑" panose="020B0503020204020204" charset="-122"/>
              <a:ea typeface="微软雅黑" panose="020B0503020204020204" charset="-122"/>
              <a:cs typeface="微软雅黑" panose="020B0503020204020204" charset="-122"/>
            </a:endParaRPr>
          </a:p>
        </p:txBody>
      </p:sp>
      <p:sp>
        <p:nvSpPr>
          <p:cNvPr id="340" name="矩形 122"/>
          <p:cNvSpPr/>
          <p:nvPr/>
        </p:nvSpPr>
        <p:spPr>
          <a:xfrm>
            <a:off x="2413000" y="2743200"/>
            <a:ext cx="3556000" cy="355600"/>
          </a:xfrm>
          <a:prstGeom prst="rect">
            <a:avLst/>
          </a:prstGeom>
          <a:noFill/>
          <a:ln>
            <a:noFill/>
          </a:ln>
        </p:spPr>
        <p:txBody>
          <a:bodyPr/>
          <a:p>
            <a:pPr/>
            <a:r>
              <a:rPr lang="zh-CN" sz="1000">
                <a:solidFill>
                  <a:srgbClr val="1F2933"/>
                </a:solidFill>
                <a:latin typeface="微软雅黑" panose="020B0503020204020204" charset="-122"/>
                <a:ea typeface="微软雅黑" panose="020B0503020204020204" charset="-122"/>
                <a:cs typeface="微软雅黑" panose="020B0503020204020204" charset="-122"/>
              </a:rPr>
              <a:t>期现 · 跨期 · 跨品种 · 日内套利（股指期货T+0，无需底仓）</a:t>
            </a:r>
            <a:endParaRPr lang="zh-CN" sz="1000">
              <a:solidFill>
                <a:srgbClr val="1F2933"/>
              </a:solidFill>
              <a:latin typeface="微软雅黑" panose="020B0503020204020204" charset="-122"/>
              <a:ea typeface="微软雅黑" panose="020B0503020204020204" charset="-122"/>
              <a:cs typeface="微软雅黑" panose="020B0503020204020204" charset="-122"/>
            </a:endParaRPr>
          </a:p>
        </p:txBody>
      </p:sp>
      <p:sp>
        <p:nvSpPr>
          <p:cNvPr id="341" name="矩形 123"/>
          <p:cNvSpPr/>
          <p:nvPr/>
        </p:nvSpPr>
        <p:spPr>
          <a:xfrm>
            <a:off x="660400" y="3200400"/>
            <a:ext cx="1651000" cy="355600"/>
          </a:xfrm>
          <a:prstGeom prst="rect">
            <a:avLst/>
          </a:prstGeom>
          <a:noFill/>
          <a:ln>
            <a:noFill/>
          </a:ln>
        </p:spPr>
        <p:txBody>
          <a:bodyPr/>
          <a:p>
            <a:pPr/>
            <a:r>
              <a:rPr lang="zh-CN" sz="1100">
                <a:solidFill>
                  <a:srgbClr val="0070C0"/>
                </a:solidFill>
                <a:latin typeface="微软雅黑" panose="020B0503020204020204" charset="-122"/>
                <a:ea typeface="微软雅黑" panose="020B0503020204020204" charset="-122"/>
                <a:cs typeface="微软雅黑" panose="020B0503020204020204" charset="-122"/>
              </a:rPr>
              <a:t>期权套利</a:t>
            </a:r>
            <a:endParaRPr lang="zh-CN" sz="1100">
              <a:solidFill>
                <a:srgbClr val="0070C0"/>
              </a:solidFill>
              <a:latin typeface="微软雅黑" panose="020B0503020204020204" charset="-122"/>
              <a:ea typeface="微软雅黑" panose="020B0503020204020204" charset="-122"/>
              <a:cs typeface="微软雅黑" panose="020B0503020204020204" charset="-122"/>
            </a:endParaRPr>
          </a:p>
        </p:txBody>
      </p:sp>
      <p:sp>
        <p:nvSpPr>
          <p:cNvPr id="342" name="矩形 124"/>
          <p:cNvSpPr/>
          <p:nvPr/>
        </p:nvSpPr>
        <p:spPr>
          <a:xfrm>
            <a:off x="2413000" y="3200400"/>
            <a:ext cx="3556000" cy="355600"/>
          </a:xfrm>
          <a:prstGeom prst="rect">
            <a:avLst/>
          </a:prstGeom>
          <a:noFill/>
          <a:ln>
            <a:noFill/>
          </a:ln>
        </p:spPr>
        <p:txBody>
          <a:bodyPr/>
          <a:p>
            <a:pPr/>
            <a:r>
              <a:rPr lang="zh-CN" sz="1000">
                <a:solidFill>
                  <a:srgbClr val="1F2933"/>
                </a:solidFill>
                <a:latin typeface="微软雅黑" panose="020B0503020204020204" charset="-122"/>
                <a:ea typeface="微软雅黑" panose="020B0503020204020204" charset="-122"/>
                <a:cs typeface="微软雅黑" panose="020B0503020204020204" charset="-122"/>
              </a:rPr>
              <a:t>波动率 · 盒式 · 蝶式/鹰式 · 平价 · 曲面</a:t>
            </a:r>
            <a:endParaRPr lang="zh-CN" sz="1000">
              <a:solidFill>
                <a:srgbClr val="1F2933"/>
              </a:solidFill>
              <a:latin typeface="微软雅黑" panose="020B0503020204020204" charset="-122"/>
              <a:ea typeface="微软雅黑" panose="020B0503020204020204" charset="-122"/>
              <a:cs typeface="微软雅黑" panose="020B0503020204020204" charset="-122"/>
            </a:endParaRPr>
          </a:p>
        </p:txBody>
      </p:sp>
      <p:sp>
        <p:nvSpPr>
          <p:cNvPr id="343" name="矩形 125"/>
          <p:cNvSpPr/>
          <p:nvPr/>
        </p:nvSpPr>
        <p:spPr>
          <a:xfrm>
            <a:off x="660400" y="3657600"/>
            <a:ext cx="1651000" cy="355600"/>
          </a:xfrm>
          <a:prstGeom prst="rect">
            <a:avLst/>
          </a:prstGeom>
          <a:noFill/>
          <a:ln>
            <a:noFill/>
          </a:ln>
        </p:spPr>
        <p:txBody>
          <a:bodyPr/>
          <a:p>
            <a:pPr/>
            <a:r>
              <a:rPr lang="zh-CN" sz="1100">
                <a:solidFill>
                  <a:srgbClr val="0070C0"/>
                </a:solidFill>
                <a:latin typeface="微软雅黑" panose="020B0503020204020204" charset="-122"/>
                <a:ea typeface="微软雅黑" panose="020B0503020204020204" charset="-122"/>
                <a:cs typeface="微软雅黑" panose="020B0503020204020204" charset="-122"/>
              </a:rPr>
              <a:t>ETF 套利</a:t>
            </a:r>
            <a:endParaRPr lang="zh-CN" sz="1100">
              <a:solidFill>
                <a:srgbClr val="0070C0"/>
              </a:solidFill>
              <a:latin typeface="微软雅黑" panose="020B0503020204020204" charset="-122"/>
              <a:ea typeface="微软雅黑" panose="020B0503020204020204" charset="-122"/>
              <a:cs typeface="微软雅黑" panose="020B0503020204020204" charset="-122"/>
            </a:endParaRPr>
          </a:p>
        </p:txBody>
      </p:sp>
      <p:sp>
        <p:nvSpPr>
          <p:cNvPr id="344" name="矩形 126"/>
          <p:cNvSpPr/>
          <p:nvPr/>
        </p:nvSpPr>
        <p:spPr>
          <a:xfrm>
            <a:off x="2413000" y="3657600"/>
            <a:ext cx="3556000" cy="355600"/>
          </a:xfrm>
          <a:prstGeom prst="rect">
            <a:avLst/>
          </a:prstGeom>
          <a:noFill/>
          <a:ln>
            <a:noFill/>
          </a:ln>
        </p:spPr>
        <p:txBody>
          <a:bodyPr/>
          <a:p>
            <a:pPr/>
            <a:r>
              <a:rPr lang="zh-CN" sz="1000">
                <a:solidFill>
                  <a:srgbClr val="1F2933"/>
                </a:solidFill>
                <a:latin typeface="微软雅黑" panose="020B0503020204020204" charset="-122"/>
                <a:ea typeface="微软雅黑" panose="020B0503020204020204" charset="-122"/>
                <a:cs typeface="微软雅黑" panose="020B0503020204020204" charset="-122"/>
              </a:rPr>
              <a:t>瞬时 · 延时 · 事件 · 期现基差（四类套利）</a:t>
            </a:r>
            <a:endParaRPr lang="zh-CN" sz="1000">
              <a:solidFill>
                <a:srgbClr val="1F2933"/>
              </a:solidFill>
              <a:latin typeface="微软雅黑" panose="020B0503020204020204" charset="-122"/>
              <a:ea typeface="微软雅黑" panose="020B0503020204020204" charset="-122"/>
              <a:cs typeface="微软雅黑" panose="020B0503020204020204" charset="-122"/>
            </a:endParaRPr>
          </a:p>
        </p:txBody>
      </p:sp>
      <p:sp>
        <p:nvSpPr>
          <p:cNvPr id="345" name="矩形 129"/>
          <p:cNvSpPr/>
          <p:nvPr/>
        </p:nvSpPr>
        <p:spPr>
          <a:xfrm>
            <a:off x="660400" y="4114800"/>
            <a:ext cx="1651000" cy="355600"/>
          </a:xfrm>
          <a:prstGeom prst="rect">
            <a:avLst/>
          </a:prstGeom>
          <a:noFill/>
          <a:ln>
            <a:noFill/>
          </a:ln>
        </p:spPr>
        <p:txBody>
          <a:bodyPr/>
          <a:p>
            <a:pPr/>
            <a:r>
              <a:rPr lang="zh-CN" sz="1100">
                <a:solidFill>
                  <a:srgbClr val="0070C0"/>
                </a:solidFill>
                <a:latin typeface="微软雅黑" panose="020B0503020204020204" charset="-122"/>
                <a:ea typeface="微软雅黑" panose="020B0503020204020204" charset="-122"/>
                <a:cs typeface="微软雅黑" panose="020B0503020204020204" charset="-122"/>
              </a:rPr>
              <a:t>可转债套利</a:t>
            </a:r>
            <a:endParaRPr lang="zh-CN" sz="1100">
              <a:solidFill>
                <a:srgbClr val="0070C0"/>
              </a:solidFill>
              <a:latin typeface="微软雅黑" panose="020B0503020204020204" charset="-122"/>
              <a:ea typeface="微软雅黑" panose="020B0503020204020204" charset="-122"/>
              <a:cs typeface="微软雅黑" panose="020B0503020204020204" charset="-122"/>
            </a:endParaRPr>
          </a:p>
        </p:txBody>
      </p:sp>
      <p:sp>
        <p:nvSpPr>
          <p:cNvPr id="346" name="矩形 130"/>
          <p:cNvSpPr/>
          <p:nvPr/>
        </p:nvSpPr>
        <p:spPr>
          <a:xfrm>
            <a:off x="2413000" y="4114800"/>
            <a:ext cx="3556000" cy="355600"/>
          </a:xfrm>
          <a:prstGeom prst="rect">
            <a:avLst/>
          </a:prstGeom>
          <a:noFill/>
          <a:ln>
            <a:noFill/>
          </a:ln>
        </p:spPr>
        <p:txBody>
          <a:bodyPr/>
          <a:p>
            <a:pPr/>
            <a:r>
              <a:rPr lang="zh-CN" sz="1000">
                <a:solidFill>
                  <a:srgbClr val="1F2933"/>
                </a:solidFill>
                <a:latin typeface="微软雅黑" panose="020B0503020204020204" charset="-122"/>
                <a:ea typeface="微软雅黑" panose="020B0503020204020204" charset="-122"/>
                <a:cs typeface="微软雅黑" panose="020B0503020204020204" charset="-122"/>
              </a:rPr>
              <a:t>定价偏差 · 转股 · 条款博弈</a:t>
            </a:r>
            <a:endParaRPr lang="zh-CN" sz="1000">
              <a:solidFill>
                <a:srgbClr val="1F2933"/>
              </a:solidFill>
              <a:latin typeface="微软雅黑" panose="020B0503020204020204" charset="-122"/>
              <a:ea typeface="微软雅黑" panose="020B0503020204020204" charset="-122"/>
              <a:cs typeface="微软雅黑" panose="020B0503020204020204" charset="-122"/>
            </a:endParaRPr>
          </a:p>
        </p:txBody>
      </p:sp>
      <p:sp>
        <p:nvSpPr>
          <p:cNvPr id="347" name="矩形 143"/>
          <p:cNvSpPr/>
          <p:nvPr/>
        </p:nvSpPr>
        <p:spPr>
          <a:xfrm>
            <a:off x="660400" y="6121400"/>
            <a:ext cx="10922000" cy="431800"/>
          </a:xfrm>
          <a:prstGeom prst="rect">
            <a:avLst/>
          </a:prstGeom>
          <a:noFill/>
          <a:ln>
            <a:noFill/>
          </a:ln>
        </p:spPr>
        <p:txBody>
          <a:bodyPr/>
          <a:p>
            <a:pPr/>
            <a:r>
              <a:rPr lang="zh-CN" sz="1100">
                <a:solidFill>
                  <a:srgbClr val="1F2933"/>
                </a:solidFill>
                <a:latin typeface="微软雅黑" panose="020B0503020204020204" charset="-122"/>
                <a:ea typeface="微软雅黑" panose="020B0503020204020204" charset="-122"/>
                <a:cs typeface="微软雅黑" panose="020B0503020204020204" charset="-122"/>
              </a:rPr>
              <a:t>定位：套利 + 量化CTA + 主观CTA 三块共同构成弹性策略，与固收低相关，是 10%~20% 弹性仓位的核心构成。</a:t>
            </a:r>
            <a:endParaRPr lang="zh-CN" sz="1100">
              <a:solidFill>
                <a:srgbClr val="1F2933"/>
              </a:solidFill>
              <a:latin typeface="微软雅黑" panose="020B0503020204020204" charset="-122"/>
              <a:ea typeface="微软雅黑" panose="020B0503020204020204" charset="-122"/>
              <a:cs typeface="微软雅黑" panose="020B0503020204020204" charset="-122"/>
            </a:endParaRPr>
          </a:p>
        </p:txBody>
      </p:sp>
      <p:sp>
        <p:nvSpPr>
          <p:cNvPr id="348" name="矩形 151"/>
          <p:cNvSpPr/>
          <p:nvPr/>
        </p:nvSpPr>
        <p:spPr>
          <a:xfrm>
            <a:off x="6197600" y="3403600"/>
            <a:ext cx="5461000" cy="508000"/>
          </a:xfrm>
          <a:prstGeom prst="rect">
            <a:avLst/>
          </a:prstGeom>
          <a:solidFill>
            <a:srgbClr val="54B0E0"/>
          </a:solidFill>
          <a:ln>
            <a:noFill/>
          </a:ln>
        </p:spPr>
        <p:txBody>
          <a:bodyPr/>
          <a:p>
            <a:pPr/>
            <a:endParaRPr>
              <a:ea typeface="微软雅黑" panose="020B0503020204020204" charset="-122"/>
              <a:cs typeface="微软雅黑" panose="020B0503020204020204" charset="-122"/>
            </a:endParaRPr>
          </a:p>
        </p:txBody>
      </p:sp>
      <p:sp>
        <p:nvSpPr>
          <p:cNvPr id="349" name="矩形 152"/>
          <p:cNvSpPr/>
          <p:nvPr/>
        </p:nvSpPr>
        <p:spPr>
          <a:xfrm>
            <a:off x="6197600" y="3467100"/>
            <a:ext cx="5461000" cy="406400"/>
          </a:xfrm>
          <a:prstGeom prst="rect">
            <a:avLst/>
          </a:prstGeom>
          <a:noFill/>
          <a:ln>
            <a:noFill/>
          </a:ln>
        </p:spPr>
        <p:txBody>
          <a:bodyPr/>
          <a:p>
            <a:pPr/>
            <a:r>
              <a:rPr lang="zh-CN" sz="1500">
                <a:solidFill>
                  <a:srgbClr val="FFFFFF"/>
                </a:solidFill>
                <a:latin typeface="微软雅黑" panose="020B0503020204020204" charset="-122"/>
                <a:ea typeface="微软雅黑" panose="020B0503020204020204" charset="-122"/>
                <a:cs typeface="微软雅黑" panose="020B0503020204020204" charset="-122"/>
              </a:rPr>
              <a:t>主观CTA</a:t>
            </a:r>
            <a:endParaRPr lang="zh-CN" sz="150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350" name="矩形 153"/>
          <p:cNvSpPr/>
          <p:nvPr/>
        </p:nvSpPr>
        <p:spPr>
          <a:xfrm>
            <a:off x="6350000" y="2286000"/>
            <a:ext cx="1524000" cy="355600"/>
          </a:xfrm>
          <a:prstGeom prst="rect">
            <a:avLst/>
          </a:prstGeom>
          <a:noFill/>
          <a:ln>
            <a:noFill/>
          </a:ln>
        </p:spPr>
        <p:txBody>
          <a:bodyPr/>
          <a:p>
            <a:pPr/>
            <a:r>
              <a:rPr lang="zh-CN" sz="1100">
                <a:solidFill>
                  <a:srgbClr val="0070C0"/>
                </a:solidFill>
                <a:latin typeface="微软雅黑" panose="020B0503020204020204" charset="-122"/>
                <a:ea typeface="微软雅黑" panose="020B0503020204020204" charset="-122"/>
                <a:cs typeface="微软雅黑" panose="020B0503020204020204" charset="-122"/>
              </a:rPr>
              <a:t>短周期为主</a:t>
            </a:r>
            <a:endParaRPr lang="zh-CN" sz="1100">
              <a:solidFill>
                <a:srgbClr val="0070C0"/>
              </a:solidFill>
              <a:latin typeface="微软雅黑" panose="020B0503020204020204" charset="-122"/>
              <a:ea typeface="微软雅黑" panose="020B0503020204020204" charset="-122"/>
              <a:cs typeface="微软雅黑" panose="020B0503020204020204" charset="-122"/>
            </a:endParaRPr>
          </a:p>
        </p:txBody>
      </p:sp>
      <p:sp>
        <p:nvSpPr>
          <p:cNvPr id="351" name="矩形 154"/>
          <p:cNvSpPr/>
          <p:nvPr/>
        </p:nvSpPr>
        <p:spPr>
          <a:xfrm>
            <a:off x="8026400" y="2286000"/>
            <a:ext cx="3530600" cy="355600"/>
          </a:xfrm>
          <a:prstGeom prst="rect">
            <a:avLst/>
          </a:prstGeom>
          <a:noFill/>
          <a:ln>
            <a:noFill/>
          </a:ln>
        </p:spPr>
        <p:txBody>
          <a:bodyPr/>
          <a:p>
            <a:pPr/>
            <a:r>
              <a:rPr lang="zh-CN" sz="1000">
                <a:solidFill>
                  <a:srgbClr val="1F2933"/>
                </a:solidFill>
                <a:latin typeface="微软雅黑" panose="020B0503020204020204" charset="-122"/>
                <a:ea typeface="微软雅黑" panose="020B0503020204020204" charset="-122"/>
                <a:cs typeface="微软雅黑" panose="020B0503020204020204" charset="-122"/>
              </a:rPr>
              <a:t>日内/短周期趋势，波动小、回撤可控</a:t>
            </a:r>
            <a:endParaRPr lang="zh-CN" sz="1000">
              <a:solidFill>
                <a:srgbClr val="1F2933"/>
              </a:solidFill>
              <a:latin typeface="微软雅黑" panose="020B0503020204020204" charset="-122"/>
              <a:ea typeface="微软雅黑" panose="020B0503020204020204" charset="-122"/>
              <a:cs typeface="微软雅黑" panose="020B0503020204020204" charset="-122"/>
            </a:endParaRPr>
          </a:p>
        </p:txBody>
      </p:sp>
      <p:sp>
        <p:nvSpPr>
          <p:cNvPr id="352" name="矩形 155"/>
          <p:cNvSpPr/>
          <p:nvPr/>
        </p:nvSpPr>
        <p:spPr>
          <a:xfrm>
            <a:off x="6350000" y="2819400"/>
            <a:ext cx="1524000" cy="355600"/>
          </a:xfrm>
          <a:prstGeom prst="rect">
            <a:avLst/>
          </a:prstGeom>
          <a:noFill/>
          <a:ln>
            <a:noFill/>
          </a:ln>
        </p:spPr>
        <p:txBody>
          <a:bodyPr/>
          <a:p>
            <a:pPr/>
            <a:r>
              <a:rPr lang="zh-CN" sz="1100">
                <a:solidFill>
                  <a:srgbClr val="0070C0"/>
                </a:solidFill>
                <a:latin typeface="微软雅黑" panose="020B0503020204020204" charset="-122"/>
                <a:ea typeface="微软雅黑" panose="020B0503020204020204" charset="-122"/>
                <a:cs typeface="微软雅黑" panose="020B0503020204020204" charset="-122"/>
              </a:rPr>
              <a:t>中长周期</a:t>
            </a:r>
            <a:endParaRPr lang="zh-CN" sz="1100">
              <a:solidFill>
                <a:srgbClr val="0070C0"/>
              </a:solidFill>
              <a:latin typeface="微软雅黑" panose="020B0503020204020204" charset="-122"/>
              <a:ea typeface="微软雅黑" panose="020B0503020204020204" charset="-122"/>
              <a:cs typeface="微软雅黑" panose="020B0503020204020204" charset="-122"/>
            </a:endParaRPr>
          </a:p>
        </p:txBody>
      </p:sp>
      <p:sp>
        <p:nvSpPr>
          <p:cNvPr id="353" name="矩形 156"/>
          <p:cNvSpPr/>
          <p:nvPr/>
        </p:nvSpPr>
        <p:spPr>
          <a:xfrm>
            <a:off x="8026400" y="2819400"/>
            <a:ext cx="3530600" cy="355600"/>
          </a:xfrm>
          <a:prstGeom prst="rect">
            <a:avLst/>
          </a:prstGeom>
          <a:noFill/>
          <a:ln>
            <a:noFill/>
          </a:ln>
        </p:spPr>
        <p:txBody>
          <a:bodyPr/>
          <a:p>
            <a:pPr/>
            <a:r>
              <a:rPr lang="zh-CN" sz="1000">
                <a:solidFill>
                  <a:srgbClr val="1F2933"/>
                </a:solidFill>
                <a:latin typeface="微软雅黑" panose="020B0503020204020204" charset="-122"/>
                <a:ea typeface="微软雅黑" panose="020B0503020204020204" charset="-122"/>
                <a:cs typeface="微软雅黑" panose="020B0503020204020204" charset="-122"/>
              </a:rPr>
              <a:t>看宏观驱动，趋势明确时择时增配</a:t>
            </a:r>
            <a:endParaRPr lang="zh-CN" sz="1000">
              <a:solidFill>
                <a:srgbClr val="1F2933"/>
              </a:solidFill>
              <a:latin typeface="微软雅黑" panose="020B0503020204020204" charset="-122"/>
              <a:ea typeface="微软雅黑" panose="020B0503020204020204" charset="-122"/>
              <a:cs typeface="微软雅黑" panose="020B0503020204020204" charset="-122"/>
            </a:endParaRPr>
          </a:p>
        </p:txBody>
      </p:sp>
      <p:sp>
        <p:nvSpPr>
          <p:cNvPr id="354" name="矩形 157"/>
          <p:cNvSpPr/>
          <p:nvPr/>
        </p:nvSpPr>
        <p:spPr>
          <a:xfrm>
            <a:off x="6350000" y="4089400"/>
            <a:ext cx="1524000" cy="355600"/>
          </a:xfrm>
          <a:prstGeom prst="rect">
            <a:avLst/>
          </a:prstGeom>
          <a:noFill/>
          <a:ln>
            <a:noFill/>
          </a:ln>
        </p:spPr>
        <p:txBody>
          <a:bodyPr/>
          <a:p>
            <a:pPr/>
            <a:r>
              <a:rPr lang="zh-CN" sz="1100">
                <a:solidFill>
                  <a:srgbClr val="0070C0"/>
                </a:solidFill>
                <a:latin typeface="微软雅黑" panose="020B0503020204020204" charset="-122"/>
                <a:ea typeface="微软雅黑" panose="020B0503020204020204" charset="-122"/>
                <a:cs typeface="微软雅黑" panose="020B0503020204020204" charset="-122"/>
              </a:rPr>
              <a:t>主观交易</a:t>
            </a:r>
            <a:endParaRPr lang="zh-CN" sz="1100">
              <a:solidFill>
                <a:srgbClr val="0070C0"/>
              </a:solidFill>
              <a:latin typeface="微软雅黑" panose="020B0503020204020204" charset="-122"/>
              <a:ea typeface="微软雅黑" panose="020B0503020204020204" charset="-122"/>
              <a:cs typeface="微软雅黑" panose="020B0503020204020204" charset="-122"/>
            </a:endParaRPr>
          </a:p>
        </p:txBody>
      </p:sp>
      <p:sp>
        <p:nvSpPr>
          <p:cNvPr id="355" name="矩形 158"/>
          <p:cNvSpPr/>
          <p:nvPr/>
        </p:nvSpPr>
        <p:spPr>
          <a:xfrm>
            <a:off x="8026400" y="4089400"/>
            <a:ext cx="3530600" cy="355600"/>
          </a:xfrm>
          <a:prstGeom prst="rect">
            <a:avLst/>
          </a:prstGeom>
          <a:noFill/>
          <a:ln>
            <a:noFill/>
          </a:ln>
        </p:spPr>
        <p:txBody>
          <a:bodyPr/>
          <a:p>
            <a:pPr/>
            <a:r>
              <a:rPr lang="zh-CN" sz="1000">
                <a:solidFill>
                  <a:srgbClr val="1F2933"/>
                </a:solidFill>
                <a:latin typeface="微软雅黑" panose="020B0503020204020204" charset="-122"/>
                <a:ea typeface="微软雅黑" panose="020B0503020204020204" charset="-122"/>
                <a:cs typeface="微软雅黑" panose="020B0503020204020204" charset="-122"/>
              </a:rPr>
              <a:t>基本面研究 + 盘感，人为主导</a:t>
            </a:r>
            <a:endParaRPr lang="zh-CN" sz="1000">
              <a:solidFill>
                <a:srgbClr val="1F2933"/>
              </a:solidFill>
              <a:latin typeface="微软雅黑" panose="020B0503020204020204" charset="-122"/>
              <a:ea typeface="微软雅黑" panose="020B0503020204020204" charset="-122"/>
              <a:cs typeface="微软雅黑" panose="020B0503020204020204" charset="-122"/>
            </a:endParaRPr>
          </a:p>
        </p:txBody>
      </p:sp>
      <p:sp>
        <p:nvSpPr>
          <p:cNvPr id="356" name="矩形 159"/>
          <p:cNvSpPr/>
          <p:nvPr/>
        </p:nvSpPr>
        <p:spPr>
          <a:xfrm>
            <a:off x="6350000" y="4622800"/>
            <a:ext cx="1524000" cy="355600"/>
          </a:xfrm>
          <a:prstGeom prst="rect">
            <a:avLst/>
          </a:prstGeom>
          <a:noFill/>
          <a:ln>
            <a:noFill/>
          </a:ln>
        </p:spPr>
        <p:txBody>
          <a:bodyPr/>
          <a:p>
            <a:pPr/>
            <a:r>
              <a:rPr lang="zh-CN" sz="1100">
                <a:solidFill>
                  <a:srgbClr val="0070C0"/>
                </a:solidFill>
                <a:latin typeface="微软雅黑" panose="020B0503020204020204" charset="-122"/>
                <a:ea typeface="微软雅黑" panose="020B0503020204020204" charset="-122"/>
                <a:cs typeface="微软雅黑" panose="020B0503020204020204" charset="-122"/>
              </a:rPr>
              <a:t>与量化互补</a:t>
            </a:r>
            <a:endParaRPr lang="zh-CN" sz="1100">
              <a:solidFill>
                <a:srgbClr val="0070C0"/>
              </a:solidFill>
              <a:latin typeface="微软雅黑" panose="020B0503020204020204" charset="-122"/>
              <a:ea typeface="微软雅黑" panose="020B0503020204020204" charset="-122"/>
              <a:cs typeface="微软雅黑" panose="020B0503020204020204" charset="-122"/>
            </a:endParaRPr>
          </a:p>
        </p:txBody>
      </p:sp>
      <p:sp>
        <p:nvSpPr>
          <p:cNvPr id="357" name="矩形 160"/>
          <p:cNvSpPr/>
          <p:nvPr/>
        </p:nvSpPr>
        <p:spPr>
          <a:xfrm>
            <a:off x="8026400" y="4622800"/>
            <a:ext cx="3530600" cy="355600"/>
          </a:xfrm>
          <a:prstGeom prst="rect">
            <a:avLst/>
          </a:prstGeom>
          <a:noFill/>
          <a:ln>
            <a:noFill/>
          </a:ln>
        </p:spPr>
        <p:txBody>
          <a:bodyPr/>
          <a:p>
            <a:pPr/>
            <a:r>
              <a:rPr lang="zh-CN" sz="1000">
                <a:solidFill>
                  <a:srgbClr val="1F2933"/>
                </a:solidFill>
                <a:latin typeface="微软雅黑" panose="020B0503020204020204" charset="-122"/>
                <a:ea typeface="微软雅黑" panose="020B0503020204020204" charset="-122"/>
                <a:cs typeface="微软雅黑" panose="020B0503020204020204" charset="-122"/>
              </a:rPr>
              <a:t>收益来源不同、相关性低</a:t>
            </a:r>
            <a:endParaRPr lang="zh-CN" sz="1000">
              <a:solidFill>
                <a:srgbClr val="1F2933"/>
              </a:solidFill>
              <a:latin typeface="微软雅黑" panose="020B0503020204020204" charset="-122"/>
              <a:ea typeface="微软雅黑" panose="020B0503020204020204" charset="-122"/>
              <a:cs typeface="微软雅黑" panose="020B0503020204020204" charset="-122"/>
            </a:endParaRPr>
          </a:p>
        </p:txBody>
      </p:sp>
      <p:pic>
        <p:nvPicPr>
          <p:cNvPr id="358" name="参考模板浅蓝背景弧线"/>
          <p:cNvPicPr/>
          <p:nvPr/>
        </p:nvPicPr>
        <p:blipFill>
          <a:blip r:embed="rId2"/>
          <a:stretch>
            <a:fillRect/>
          </a:stretch>
        </p:blipFill>
        <p:spPr>
          <a:xfrm>
            <a:off x="4457700" y="0"/>
            <a:ext cx="3143250" cy="495300"/>
          </a:xfrm>
          <a:prstGeom prst="rect">
            <a:avLst/>
          </a:prstGeom>
          <a:noFill/>
          <a:ln>
            <a:noFill/>
          </a:ln>
        </p:spPr>
      </p:pic>
      <p:pic>
        <p:nvPicPr>
          <p:cNvPr id="359" name="参考模板右上角标识"/>
          <p:cNvPicPr/>
          <p:nvPr/>
        </p:nvPicPr>
        <p:blipFill>
          <a:blip r:embed="rId3"/>
          <a:stretch>
            <a:fillRect/>
          </a:stretch>
        </p:blipFill>
        <p:spPr>
          <a:xfrm>
            <a:off x="9696450" y="209550"/>
            <a:ext cx="1733550" cy="390525"/>
          </a:xfrm>
          <a:prstGeom prst="rect">
            <a:avLst/>
          </a:prstGeom>
          <a:noFill/>
          <a:ln>
            <a:noFill/>
          </a:ln>
        </p:spPr>
      </p:pic>
    </p:spTree>
  </p:cSld>
  <p:clrMapOvr>
    <a:masterClrMapping/>
  </p:clrMapOvr>
</p:sld>
</file>

<file path=ppt/slides/slide27.xml><?xml version="1.0" encoding="utf-8"?>
<p:sld xmlns:r="http://schemas.openxmlformats.org/officeDocument/2006/relationships" xmlns:p="http://schemas.openxmlformats.org/presentationml/2006/main" xmlns:a="http://schemas.openxmlformats.org/drawingml/2006/main">
  <p:cSld>
    <p:spTree>
      <p:nvGrpSpPr>
        <p:cNvPr id="358" name=""/>
        <p:cNvGrpSpPr/>
        <p:nvPr/>
      </p:nvGrpSpPr>
      <p:grpSpPr>
        <a:xfrm>
          <a:off x="0" y="0"/>
          <a:ext cx="0" cy="0"/>
          <a:chOff x="0" y="0"/>
          <a:chExt cx="0" cy="0"/>
        </a:xfrm>
      </p:grpSpPr>
      <p:sp>
        <p:nvSpPr>
          <p:cNvPr id="359" name="Rectangle 1"/>
          <p:cNvSpPr/>
          <p:nvPr/>
        </p:nvSpPr>
        <p:spPr>
          <a:xfrm>
            <a:off x="502920" y="457200"/>
            <a:ext cx="82296" cy="566928"/>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360" name="TextBox 2"/>
          <p:cNvSpPr txBox="1"/>
          <p:nvPr/>
        </p:nvSpPr>
        <p:spPr>
          <a:xfrm>
            <a:off x="713232" y="420624"/>
            <a:ext cx="9601200" cy="640080"/>
          </a:xfrm>
          <a:prstGeom prst="rect">
            <a:avLst/>
          </a:prstGeom>
          <a:noFill/>
        </p:spPr>
        <p:txBody>
          <a:bodyPr wrap="square" lIns="0" tIns="0" rIns="0" bIns="0" anchor="ctr">
            <a:spAutoFit/>
          </a:bodyPr>
          <a:lstStyle/>
          <a:p>
            <a:pPr algn="l">
              <a:lnSpc>
                <a:spcPct val="115000"/>
              </a:lnSpc>
              <a:spcAft>
                <a:spcPts val="600"/>
              </a:spcAft>
            </a:pPr>
            <a:r>
              <a:rPr sz="2600" b="1">
                <a:solidFill>
                  <a:srgbClr val="0070C0"/>
                </a:solidFill>
                <a:latin typeface="微软雅黑" panose="020B0503020204020204" charset="-122"/>
                <a:ea typeface="微软雅黑" panose="020B0503020204020204" charset="-122"/>
                <a:cs typeface="微软雅黑" panose="020B0503020204020204" charset="-122"/>
              </a:rPr>
              <a:t>关于回撤</a:t>
            </a:r>
            <a:endParaRPr sz="2600" b="1">
              <a:solidFill>
                <a:srgbClr val="0070C0"/>
              </a:solidFill>
              <a:latin typeface="微软雅黑" panose="020B0503020204020204" charset="-122"/>
              <a:ea typeface="微软雅黑" panose="020B0503020204020204" charset="-122"/>
              <a:cs typeface="微软雅黑" panose="020B0503020204020204" charset="-122"/>
            </a:endParaRPr>
          </a:p>
        </p:txBody>
      </p:sp>
      <p:sp>
        <p:nvSpPr>
          <p:cNvPr id="361" name="TextBox 3"/>
          <p:cNvSpPr txBox="1"/>
          <p:nvPr/>
        </p:nvSpPr>
        <p:spPr>
          <a:xfrm>
            <a:off x="713232" y="1042415"/>
            <a:ext cx="10515600" cy="365760"/>
          </a:xfrm>
          <a:prstGeom prst="rect">
            <a:avLst/>
          </a:prstGeom>
          <a:noFill/>
        </p:spPr>
        <p:txBody>
          <a:bodyPr wrap="square" lIns="0" tIns="0" rIns="0" bIns="0" anchor="t">
            <a:spAutoFit/>
          </a:bodyPr>
          <a:lstStyle/>
          <a:p>
            <a:pPr algn="l">
              <a:lnSpc>
                <a:spcPct val="115000"/>
              </a:lnSpc>
              <a:spcAft>
                <a:spcPts val="600"/>
              </a:spcAft>
            </a:pPr>
            <a:r>
              <a:rPr sz="1100" b="0">
                <a:solidFill>
                  <a:srgbClr val="595959"/>
                </a:solidFill>
                <a:latin typeface="微软雅黑" panose="020B0503020204020204" charset="-122"/>
                <a:ea typeface="微软雅黑" panose="020B0503020204020204" charset="-122"/>
                <a:cs typeface="微软雅黑" panose="020B0503020204020204" charset="-122"/>
              </a:rPr>
              <a:t>组合最大回撤 &lt;1% 的约束下，如何控制风险</a:t>
            </a:r>
            <a:endParaRPr sz="1100" b="0">
              <a:solidFill>
                <a:srgbClr val="595959"/>
              </a:solidFill>
              <a:latin typeface="微软雅黑" panose="020B0503020204020204" charset="-122"/>
              <a:ea typeface="微软雅黑" panose="020B0503020204020204" charset="-122"/>
              <a:cs typeface="微软雅黑" panose="020B0503020204020204" charset="-122"/>
            </a:endParaRPr>
          </a:p>
        </p:txBody>
      </p:sp>
      <p:sp>
        <p:nvSpPr>
          <p:cNvPr id="362" name="Rectangle 4"/>
          <p:cNvSpPr/>
          <p:nvPr/>
        </p:nvSpPr>
        <p:spPr>
          <a:xfrm>
            <a:off x="502920" y="1005840"/>
            <a:ext cx="2011680" cy="27940"/>
          </a:xfrm>
          <a:prstGeom prst="rect">
            <a:avLst/>
          </a:prstGeom>
          <a:solidFill>
            <a:srgbClr val="54B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363" name="Rectangle 5"/>
          <p:cNvSpPr/>
          <p:nvPr/>
        </p:nvSpPr>
        <p:spPr>
          <a:xfrm>
            <a:off x="502920" y="1060704"/>
            <a:ext cx="11183112" cy="11430"/>
          </a:xfrm>
          <a:prstGeom prst="rect">
            <a:avLst/>
          </a:prstGeom>
          <a:solidFill>
            <a:srgbClr val="AED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364" name="Rectangle 6"/>
          <p:cNvSpPr/>
          <p:nvPr/>
        </p:nvSpPr>
        <p:spPr>
          <a:xfrm>
            <a:off x="502920" y="1737360"/>
            <a:ext cx="146304" cy="146304"/>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365" name="TextBox 7"/>
          <p:cNvSpPr txBox="1"/>
          <p:nvPr/>
        </p:nvSpPr>
        <p:spPr>
          <a:xfrm>
            <a:off x="822960" y="1664208"/>
            <a:ext cx="2377440" cy="548640"/>
          </a:xfrm>
          <a:prstGeom prst="rect">
            <a:avLst/>
          </a:prstGeom>
          <a:noFill/>
        </p:spPr>
        <p:txBody>
          <a:bodyPr wrap="square" lIns="0" tIns="0" rIns="0" bIns="0" anchor="t">
            <a:spAutoFit/>
          </a:bodyPr>
          <a:lstStyle/>
          <a:p>
            <a:pPr algn="l">
              <a:lnSpc>
                <a:spcPct val="115000"/>
              </a:lnSpc>
              <a:spcAft>
                <a:spcPts val="600"/>
              </a:spcAft>
            </a:pPr>
            <a:r>
              <a:rPr sz="1400" b="1">
                <a:solidFill>
                  <a:srgbClr val="0070C0"/>
                </a:solidFill>
                <a:latin typeface="微软雅黑" panose="020B0503020204020204" charset="-122"/>
                <a:ea typeface="微软雅黑" panose="020B0503020204020204" charset="-122"/>
                <a:cs typeface="微软雅黑" panose="020B0503020204020204" charset="-122"/>
              </a:rPr>
              <a:t>约束先行</a:t>
            </a:r>
            <a:endParaRPr sz="1400" b="1">
              <a:solidFill>
                <a:srgbClr val="0070C0"/>
              </a:solidFill>
              <a:latin typeface="微软雅黑" panose="020B0503020204020204" charset="-122"/>
              <a:ea typeface="微软雅黑" panose="020B0503020204020204" charset="-122"/>
              <a:cs typeface="微软雅黑" panose="020B0503020204020204" charset="-122"/>
            </a:endParaRPr>
          </a:p>
        </p:txBody>
      </p:sp>
      <p:sp>
        <p:nvSpPr>
          <p:cNvPr id="366" name="TextBox 8"/>
          <p:cNvSpPr txBox="1"/>
          <p:nvPr/>
        </p:nvSpPr>
        <p:spPr>
          <a:xfrm>
            <a:off x="3291840" y="1691640"/>
            <a:ext cx="8321040" cy="640080"/>
          </a:xfrm>
          <a:prstGeom prst="rect">
            <a:avLst/>
          </a:prstGeom>
          <a:noFill/>
        </p:spPr>
        <p:txBody>
          <a:bodyPr wrap="square" lIns="0" tIns="0" rIns="0" bIns="0" anchor="t">
            <a:spAutoFit/>
          </a:bodyPr>
          <a:lstStyle/>
          <a:p>
            <a:pPr algn="l">
              <a:lnSpc>
                <a:spcPct val="115000"/>
              </a:lnSpc>
              <a:spcAft>
                <a:spcPts val="600"/>
              </a:spcAft>
            </a:pPr>
            <a:r>
              <a:rPr sz="1250" b="0">
                <a:solidFill>
                  <a:srgbClr val="1F2933"/>
                </a:solidFill>
                <a:latin typeface="微软雅黑" panose="020B0503020204020204" charset="-122"/>
                <a:ea typeface="微软雅黑" panose="020B0503020204020204" charset="-122"/>
                <a:cs typeface="微软雅黑" panose="020B0503020204020204" charset="-122"/>
              </a:rPr>
              <a:t>以最大回撤 &lt;1% 为硬性红线，反推各资产仓位上限与相关性结构。</a:t>
            </a:r>
            <a:endParaRPr sz="1250" b="0">
              <a:solidFill>
                <a:srgbClr val="1F2933"/>
              </a:solidFill>
              <a:latin typeface="微软雅黑" panose="020B0503020204020204" charset="-122"/>
              <a:ea typeface="微软雅黑" panose="020B0503020204020204" charset="-122"/>
              <a:cs typeface="微软雅黑" panose="020B0503020204020204" charset="-122"/>
            </a:endParaRPr>
          </a:p>
        </p:txBody>
      </p:sp>
      <p:sp>
        <p:nvSpPr>
          <p:cNvPr id="367" name="Rectangle 9"/>
          <p:cNvSpPr/>
          <p:nvPr/>
        </p:nvSpPr>
        <p:spPr>
          <a:xfrm>
            <a:off x="502920" y="2514600"/>
            <a:ext cx="146304" cy="146304"/>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368" name="TextBox 10"/>
          <p:cNvSpPr txBox="1"/>
          <p:nvPr/>
        </p:nvSpPr>
        <p:spPr>
          <a:xfrm>
            <a:off x="822960" y="2441448"/>
            <a:ext cx="2377440" cy="548640"/>
          </a:xfrm>
          <a:prstGeom prst="rect">
            <a:avLst/>
          </a:prstGeom>
          <a:noFill/>
        </p:spPr>
        <p:txBody>
          <a:bodyPr wrap="square" lIns="0" tIns="0" rIns="0" bIns="0" anchor="t">
            <a:spAutoFit/>
          </a:bodyPr>
          <a:lstStyle/>
          <a:p>
            <a:pPr algn="l">
              <a:lnSpc>
                <a:spcPct val="115000"/>
              </a:lnSpc>
              <a:spcAft>
                <a:spcPts val="600"/>
              </a:spcAft>
            </a:pPr>
            <a:r>
              <a:rPr sz="1400" b="1">
                <a:solidFill>
                  <a:srgbClr val="0070C0"/>
                </a:solidFill>
                <a:latin typeface="微软雅黑" panose="020B0503020204020204" charset="-122"/>
                <a:ea typeface="微软雅黑" panose="020B0503020204020204" charset="-122"/>
                <a:cs typeface="微软雅黑" panose="020B0503020204020204" charset="-122"/>
              </a:rPr>
              <a:t>低相关配置</a:t>
            </a:r>
            <a:endParaRPr sz="1400" b="1">
              <a:solidFill>
                <a:srgbClr val="0070C0"/>
              </a:solidFill>
              <a:latin typeface="微软雅黑" panose="020B0503020204020204" charset="-122"/>
              <a:ea typeface="微软雅黑" panose="020B0503020204020204" charset="-122"/>
              <a:cs typeface="微软雅黑" panose="020B0503020204020204" charset="-122"/>
            </a:endParaRPr>
          </a:p>
        </p:txBody>
      </p:sp>
      <p:sp>
        <p:nvSpPr>
          <p:cNvPr id="369" name="TextBox 11"/>
          <p:cNvSpPr txBox="1"/>
          <p:nvPr/>
        </p:nvSpPr>
        <p:spPr>
          <a:xfrm>
            <a:off x="3291840" y="2468880"/>
            <a:ext cx="8321040" cy="640080"/>
          </a:xfrm>
          <a:prstGeom prst="rect">
            <a:avLst/>
          </a:prstGeom>
          <a:noFill/>
        </p:spPr>
        <p:txBody>
          <a:bodyPr wrap="square" lIns="0" tIns="0" rIns="0" bIns="0" anchor="t">
            <a:spAutoFit/>
          </a:bodyPr>
          <a:lstStyle/>
          <a:p>
            <a:pPr algn="l">
              <a:lnSpc>
                <a:spcPct val="115000"/>
              </a:lnSpc>
              <a:spcAft>
                <a:spcPts val="600"/>
              </a:spcAft>
            </a:pPr>
            <a:r>
              <a:rPr sz="1250" b="0">
                <a:solidFill>
                  <a:srgbClr val="1F2933"/>
                </a:solidFill>
                <a:latin typeface="微软雅黑" panose="020B0503020204020204" charset="-122"/>
                <a:ea typeface="微软雅黑" panose="020B0503020204020204" charset="-122"/>
                <a:cs typeface="微软雅黑" panose="020B0503020204020204" charset="-122"/>
              </a:rPr>
              <a:t>固收、CTA、权益、宏观多策略搭配，利用低相关性对冲单一资产波动。</a:t>
            </a:r>
            <a:endParaRPr sz="1250" b="0">
              <a:solidFill>
                <a:srgbClr val="1F2933"/>
              </a:solidFill>
              <a:latin typeface="微软雅黑" panose="020B0503020204020204" charset="-122"/>
              <a:ea typeface="微软雅黑" panose="020B0503020204020204" charset="-122"/>
              <a:cs typeface="微软雅黑" panose="020B0503020204020204" charset="-122"/>
            </a:endParaRPr>
          </a:p>
        </p:txBody>
      </p:sp>
      <p:sp>
        <p:nvSpPr>
          <p:cNvPr id="370" name="Rectangle 12"/>
          <p:cNvSpPr/>
          <p:nvPr/>
        </p:nvSpPr>
        <p:spPr>
          <a:xfrm>
            <a:off x="502920" y="3291840"/>
            <a:ext cx="146304" cy="146304"/>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371" name="TextBox 13"/>
          <p:cNvSpPr txBox="1"/>
          <p:nvPr/>
        </p:nvSpPr>
        <p:spPr>
          <a:xfrm>
            <a:off x="822960" y="3218688"/>
            <a:ext cx="2377440" cy="548640"/>
          </a:xfrm>
          <a:prstGeom prst="rect">
            <a:avLst/>
          </a:prstGeom>
          <a:noFill/>
        </p:spPr>
        <p:txBody>
          <a:bodyPr wrap="square" lIns="0" tIns="0" rIns="0" bIns="0" anchor="t">
            <a:spAutoFit/>
          </a:bodyPr>
          <a:lstStyle/>
          <a:p>
            <a:pPr algn="l">
              <a:lnSpc>
                <a:spcPct val="115000"/>
              </a:lnSpc>
              <a:spcAft>
                <a:spcPts val="600"/>
              </a:spcAft>
            </a:pPr>
            <a:r>
              <a:rPr sz="1400" b="1">
                <a:solidFill>
                  <a:srgbClr val="0070C0"/>
                </a:solidFill>
                <a:latin typeface="微软雅黑" panose="020B0503020204020204" charset="-122"/>
                <a:ea typeface="微软雅黑" panose="020B0503020204020204" charset="-122"/>
                <a:cs typeface="微软雅黑" panose="020B0503020204020204" charset="-122"/>
              </a:rPr>
              <a:t>压舱石</a:t>
            </a:r>
            <a:endParaRPr sz="1400" b="1">
              <a:solidFill>
                <a:srgbClr val="0070C0"/>
              </a:solidFill>
              <a:latin typeface="微软雅黑" panose="020B0503020204020204" charset="-122"/>
              <a:ea typeface="微软雅黑" panose="020B0503020204020204" charset="-122"/>
              <a:cs typeface="微软雅黑" panose="020B0503020204020204" charset="-122"/>
            </a:endParaRPr>
          </a:p>
        </p:txBody>
      </p:sp>
      <p:sp>
        <p:nvSpPr>
          <p:cNvPr id="372" name="TextBox 14"/>
          <p:cNvSpPr txBox="1"/>
          <p:nvPr/>
        </p:nvSpPr>
        <p:spPr>
          <a:xfrm>
            <a:off x="3291840" y="3246120"/>
            <a:ext cx="8321040" cy="640080"/>
          </a:xfrm>
          <a:prstGeom prst="rect">
            <a:avLst/>
          </a:prstGeom>
          <a:noFill/>
        </p:spPr>
        <p:txBody>
          <a:bodyPr wrap="square" lIns="0" tIns="0" rIns="0" bIns="0" anchor="t">
            <a:spAutoFit/>
          </a:bodyPr>
          <a:lstStyle/>
          <a:p>
            <a:pPr algn="l">
              <a:lnSpc>
                <a:spcPct val="115000"/>
              </a:lnSpc>
              <a:spcAft>
                <a:spcPts val="600"/>
              </a:spcAft>
            </a:pPr>
            <a:r>
              <a:rPr sz="1250" b="0">
                <a:solidFill>
                  <a:srgbClr val="1F2933"/>
                </a:solidFill>
                <a:latin typeface="微软雅黑" panose="020B0503020204020204" charset="-122"/>
                <a:ea typeface="微软雅黑" panose="020B0503020204020204" charset="-122"/>
                <a:cs typeface="微软雅黑" panose="020B0503020204020204" charset="-122"/>
              </a:rPr>
              <a:t>固收策略占比约 60%，作为组合安全垫，平滑净值波动。</a:t>
            </a:r>
            <a:endParaRPr sz="1250" b="0">
              <a:solidFill>
                <a:srgbClr val="1F2933"/>
              </a:solidFill>
              <a:latin typeface="微软雅黑" panose="020B0503020204020204" charset="-122"/>
              <a:ea typeface="微软雅黑" panose="020B0503020204020204" charset="-122"/>
              <a:cs typeface="微软雅黑" panose="020B0503020204020204" charset="-122"/>
            </a:endParaRPr>
          </a:p>
        </p:txBody>
      </p:sp>
      <p:sp>
        <p:nvSpPr>
          <p:cNvPr id="373" name="Rectangle 15"/>
          <p:cNvSpPr/>
          <p:nvPr/>
        </p:nvSpPr>
        <p:spPr>
          <a:xfrm>
            <a:off x="502920" y="4069080"/>
            <a:ext cx="146304" cy="146304"/>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374" name="TextBox 16"/>
          <p:cNvSpPr txBox="1"/>
          <p:nvPr/>
        </p:nvSpPr>
        <p:spPr>
          <a:xfrm>
            <a:off x="822960" y="3995928"/>
            <a:ext cx="2377440" cy="548640"/>
          </a:xfrm>
          <a:prstGeom prst="rect">
            <a:avLst/>
          </a:prstGeom>
          <a:noFill/>
        </p:spPr>
        <p:txBody>
          <a:bodyPr wrap="square" lIns="0" tIns="0" rIns="0" bIns="0" anchor="t">
            <a:spAutoFit/>
          </a:bodyPr>
          <a:lstStyle/>
          <a:p>
            <a:pPr algn="l">
              <a:lnSpc>
                <a:spcPct val="115000"/>
              </a:lnSpc>
              <a:spcAft>
                <a:spcPts val="600"/>
              </a:spcAft>
            </a:pPr>
            <a:r>
              <a:rPr sz="1400" b="1">
                <a:solidFill>
                  <a:srgbClr val="0070C0"/>
                </a:solidFill>
                <a:latin typeface="微软雅黑" panose="020B0503020204020204" charset="-122"/>
                <a:ea typeface="微软雅黑" panose="020B0503020204020204" charset="-122"/>
                <a:cs typeface="微软雅黑" panose="020B0503020204020204" charset="-122"/>
              </a:rPr>
              <a:t>动态再平衡</a:t>
            </a:r>
            <a:endParaRPr sz="1400" b="1">
              <a:solidFill>
                <a:srgbClr val="0070C0"/>
              </a:solidFill>
              <a:latin typeface="微软雅黑" panose="020B0503020204020204" charset="-122"/>
              <a:ea typeface="微软雅黑" panose="020B0503020204020204" charset="-122"/>
              <a:cs typeface="微软雅黑" panose="020B0503020204020204" charset="-122"/>
            </a:endParaRPr>
          </a:p>
        </p:txBody>
      </p:sp>
      <p:sp>
        <p:nvSpPr>
          <p:cNvPr id="375" name="TextBox 17"/>
          <p:cNvSpPr txBox="1"/>
          <p:nvPr/>
        </p:nvSpPr>
        <p:spPr>
          <a:xfrm>
            <a:off x="3291840" y="4023360"/>
            <a:ext cx="8321040" cy="640080"/>
          </a:xfrm>
          <a:prstGeom prst="rect">
            <a:avLst/>
          </a:prstGeom>
          <a:noFill/>
        </p:spPr>
        <p:txBody>
          <a:bodyPr wrap="square" lIns="0" tIns="0" rIns="0" bIns="0" anchor="t">
            <a:spAutoFit/>
          </a:bodyPr>
          <a:lstStyle/>
          <a:p>
            <a:pPr algn="l">
              <a:lnSpc>
                <a:spcPct val="115000"/>
              </a:lnSpc>
              <a:spcAft>
                <a:spcPts val="600"/>
              </a:spcAft>
            </a:pPr>
            <a:r>
              <a:rPr sz="1250" b="0">
                <a:solidFill>
                  <a:srgbClr val="1F2933"/>
                </a:solidFill>
                <a:latin typeface="微软雅黑" panose="020B0503020204020204" charset="-122"/>
                <a:ea typeface="微软雅黑" panose="020B0503020204020204" charset="-122"/>
                <a:cs typeface="微软雅黑" panose="020B0503020204020204" charset="-122"/>
              </a:rPr>
              <a:t>按月度/触发式再平衡，防止单一策略超配放大回撤。</a:t>
            </a:r>
            <a:endParaRPr sz="1250" b="0">
              <a:solidFill>
                <a:srgbClr val="1F2933"/>
              </a:solidFill>
              <a:latin typeface="微软雅黑" panose="020B0503020204020204" charset="-122"/>
              <a:ea typeface="微软雅黑" panose="020B0503020204020204" charset="-122"/>
              <a:cs typeface="微软雅黑" panose="020B0503020204020204" charset="-122"/>
            </a:endParaRPr>
          </a:p>
        </p:txBody>
      </p:sp>
      <p:sp>
        <p:nvSpPr>
          <p:cNvPr id="376" name="Rectangle 18"/>
          <p:cNvSpPr/>
          <p:nvPr/>
        </p:nvSpPr>
        <p:spPr>
          <a:xfrm>
            <a:off x="502920" y="4846320"/>
            <a:ext cx="146304" cy="146304"/>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377" name="TextBox 19"/>
          <p:cNvSpPr txBox="1"/>
          <p:nvPr/>
        </p:nvSpPr>
        <p:spPr>
          <a:xfrm>
            <a:off x="822960" y="4773168"/>
            <a:ext cx="2377440" cy="548640"/>
          </a:xfrm>
          <a:prstGeom prst="rect">
            <a:avLst/>
          </a:prstGeom>
          <a:noFill/>
        </p:spPr>
        <p:txBody>
          <a:bodyPr wrap="square" lIns="0" tIns="0" rIns="0" bIns="0" anchor="t">
            <a:spAutoFit/>
          </a:bodyPr>
          <a:lstStyle/>
          <a:p>
            <a:pPr algn="l">
              <a:lnSpc>
                <a:spcPct val="115000"/>
              </a:lnSpc>
              <a:spcAft>
                <a:spcPts val="600"/>
              </a:spcAft>
            </a:pPr>
            <a:r>
              <a:rPr sz="1400" b="1">
                <a:solidFill>
                  <a:srgbClr val="0070C0"/>
                </a:solidFill>
                <a:latin typeface="微软雅黑" panose="020B0503020204020204" charset="-122"/>
                <a:ea typeface="微软雅黑" panose="020B0503020204020204" charset="-122"/>
                <a:cs typeface="微软雅黑" panose="020B0503020204020204" charset="-122"/>
              </a:rPr>
              <a:t>风控监测</a:t>
            </a:r>
            <a:endParaRPr sz="1400" b="1">
              <a:solidFill>
                <a:srgbClr val="0070C0"/>
              </a:solidFill>
              <a:latin typeface="微软雅黑" panose="020B0503020204020204" charset="-122"/>
              <a:ea typeface="微软雅黑" panose="020B0503020204020204" charset="-122"/>
              <a:cs typeface="微软雅黑" panose="020B0503020204020204" charset="-122"/>
            </a:endParaRPr>
          </a:p>
        </p:txBody>
      </p:sp>
      <p:sp>
        <p:nvSpPr>
          <p:cNvPr id="378" name="TextBox 20"/>
          <p:cNvSpPr txBox="1"/>
          <p:nvPr/>
        </p:nvSpPr>
        <p:spPr>
          <a:xfrm>
            <a:off x="3291840" y="4800600"/>
            <a:ext cx="8321040" cy="640080"/>
          </a:xfrm>
          <a:prstGeom prst="rect">
            <a:avLst/>
          </a:prstGeom>
          <a:noFill/>
        </p:spPr>
        <p:txBody>
          <a:bodyPr wrap="square" lIns="0" tIns="0" rIns="0" bIns="0" anchor="t">
            <a:spAutoFit/>
          </a:bodyPr>
          <a:lstStyle/>
          <a:p>
            <a:pPr algn="l">
              <a:lnSpc>
                <a:spcPct val="115000"/>
              </a:lnSpc>
              <a:spcAft>
                <a:spcPts val="600"/>
              </a:spcAft>
            </a:pPr>
            <a:r>
              <a:rPr sz="1250" b="0">
                <a:solidFill>
                  <a:srgbClr val="1F2933"/>
                </a:solidFill>
                <a:latin typeface="微软雅黑" panose="020B0503020204020204" charset="-122"/>
                <a:ea typeface="微软雅黑" panose="020B0503020204020204" charset="-122"/>
                <a:cs typeface="微软雅黑" panose="020B0503020204020204" charset="-122"/>
              </a:rPr>
              <a:t>持续跟踪组合净值、回撤、各策略相关性，设置预警阈值。</a:t>
            </a:r>
            <a:endParaRPr sz="1250" b="0">
              <a:solidFill>
                <a:srgbClr val="1F2933"/>
              </a:solidFill>
              <a:latin typeface="微软雅黑" panose="020B0503020204020204" charset="-122"/>
              <a:ea typeface="微软雅黑" panose="020B0503020204020204" charset="-122"/>
              <a:cs typeface="微软雅黑" panose="020B0503020204020204" charset="-122"/>
            </a:endParaRPr>
          </a:p>
        </p:txBody>
      </p:sp>
      <p:sp>
        <p:nvSpPr>
          <p:cNvPr id="379" name="Rectangle 21"/>
          <p:cNvSpPr/>
          <p:nvPr/>
        </p:nvSpPr>
        <p:spPr>
          <a:xfrm>
            <a:off x="502920" y="5897880"/>
            <a:ext cx="11183112" cy="566928"/>
          </a:xfrm>
          <a:prstGeom prst="rect">
            <a:avLst/>
          </a:prstGeom>
          <a:solidFill>
            <a:srgbClr val="EA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380" name="Rectangle 22"/>
          <p:cNvSpPr/>
          <p:nvPr/>
        </p:nvSpPr>
        <p:spPr>
          <a:xfrm>
            <a:off x="502920" y="5897880"/>
            <a:ext cx="11183112" cy="566928"/>
          </a:xfrm>
          <a:prstGeom prst="rect">
            <a:avLst/>
          </a:prstGeom>
          <a:solidFill>
            <a:srgbClr val="EAF6FC"/>
          </a:solidFill>
          <a:ln>
            <a:noFill/>
          </a:ln>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l">
              <a:lnSpc>
                <a:spcPct val="110000"/>
              </a:lnSpc>
              <a:spcAft>
                <a:spcPts val="400"/>
              </a:spcAft>
            </a:pPr>
            <a:r>
              <a:rPr sz="1300" b="1">
                <a:solidFill>
                  <a:srgbClr val="0070C0"/>
                </a:solidFill>
                <a:latin typeface="微软雅黑" panose="020B0503020204020204" charset="-122"/>
                <a:ea typeface="微软雅黑" panose="020B0503020204020204" charset="-122"/>
                <a:cs typeface="微软雅黑" panose="020B0503020204020204" charset="-122"/>
              </a:rPr>
              <a:t>目标：</a:t>
            </a:r>
            <a:r>
              <a:rPr sz="1300" b="0">
                <a:solidFill>
                  <a:srgbClr val="1F2933"/>
                </a:solidFill>
                <a:latin typeface="微软雅黑" panose="020B0503020204020204" charset="-122"/>
                <a:ea typeface="微软雅黑" panose="020B0503020204020204" charset="-122"/>
                <a:cs typeface="微软雅黑" panose="020B0503020204020204" charset="-122"/>
              </a:rPr>
              <a:t>在最大回撤 &lt;1% 的硬约束下，追求年化 6% 的绝对收益。</a:t>
            </a:r>
            <a:endParaRPr sz="1300" b="0">
              <a:solidFill>
                <a:srgbClr val="1F2933"/>
              </a:solidFill>
              <a:latin typeface="微软雅黑" panose="020B0503020204020204" charset="-122"/>
              <a:ea typeface="微软雅黑" panose="020B0503020204020204" charset="-122"/>
              <a:cs typeface="微软雅黑" panose="020B0503020204020204" charset="-122"/>
            </a:endParaRPr>
          </a:p>
        </p:txBody>
      </p:sp>
      <p:sp>
        <p:nvSpPr>
          <p:cNvPr id="381" name="TextBox 23"/>
          <p:cNvSpPr txBox="1"/>
          <p:nvPr/>
        </p:nvSpPr>
        <p:spPr>
          <a:xfrm>
            <a:off x="502920" y="6455664"/>
            <a:ext cx="7315200" cy="274320"/>
          </a:xfrm>
          <a:prstGeom prst="rect">
            <a:avLst/>
          </a:prstGeom>
          <a:noFill/>
        </p:spPr>
        <p:txBody>
          <a:bodyPr wrap="square" lIns="0" tIns="0" rIns="0" bIns="0" anchor="t">
            <a:spAutoFit/>
          </a:bodyPr>
          <a:lstStyle/>
          <a:p>
            <a:pPr algn="l">
              <a:lnSpc>
                <a:spcPct val="115000"/>
              </a:lnSpc>
              <a:spcAft>
                <a:spcPts val="600"/>
              </a:spcAft>
            </a:pPr>
            <a:r>
              <a:rPr sz="900" b="0">
                <a:solidFill>
                  <a:srgbClr val="595959"/>
                </a:solidFill>
                <a:latin typeface="微软雅黑" panose="020B0503020204020204" charset="-122"/>
                <a:ea typeface="微软雅黑" panose="020B0503020204020204" charset="-122"/>
                <a:cs typeface="微软雅黑" panose="020B0503020204020204" charset="-122"/>
              </a:rPr>
              <a:t>近期宏观变化及资产配置 · 2026.09</a:t>
            </a:r>
            <a:endParaRPr sz="900" b="0">
              <a:solidFill>
                <a:srgbClr val="595959"/>
              </a:solidFill>
              <a:latin typeface="微软雅黑" panose="020B0503020204020204" charset="-122"/>
              <a:ea typeface="微软雅黑" panose="020B0503020204020204" charset="-122"/>
              <a:cs typeface="微软雅黑" panose="020B0503020204020204" charset="-122"/>
            </a:endParaRPr>
          </a:p>
        </p:txBody>
      </p:sp>
      <p:sp>
        <p:nvSpPr>
          <p:cNvPr id="382" name="TextBox 24"/>
          <p:cNvSpPr txBox="1"/>
          <p:nvPr/>
        </p:nvSpPr>
        <p:spPr>
          <a:xfrm>
            <a:off x="10789920" y="6455664"/>
            <a:ext cx="914400" cy="274320"/>
          </a:xfrm>
          <a:prstGeom prst="rect">
            <a:avLst/>
          </a:prstGeom>
          <a:noFill/>
        </p:spPr>
        <p:txBody>
          <a:bodyPr wrap="square" lIns="0" tIns="0" rIns="0" bIns="0" anchor="t">
            <a:spAutoFit/>
          </a:bodyPr>
          <a:lstStyle/>
          <a:p>
            <a:pPr algn="r">
              <a:lnSpc>
                <a:spcPct val="115000"/>
              </a:lnSpc>
              <a:spcAft>
                <a:spcPts val="600"/>
              </a:spcAft>
            </a:pPr>
            <a:r>
              <a:rPr sz="1000" b="0">
                <a:solidFill>
                  <a:srgbClr val="595959"/>
                </a:solidFill>
                <a:latin typeface="微软雅黑" panose="020B0503020204020204" charset="-122"/>
                <a:ea typeface="微软雅黑" panose="020B0503020204020204" charset="-122"/>
                <a:cs typeface="微软雅黑" panose="020B0503020204020204" charset="-122"/>
              </a:rPr>
              <a:t>16</a:t>
            </a:r>
            <a:endParaRPr sz="1000" b="0">
              <a:solidFill>
                <a:srgbClr val="595959"/>
              </a:solidFill>
              <a:latin typeface="微软雅黑" panose="020B0503020204020204" charset="-122"/>
              <a:ea typeface="微软雅黑" panose="020B0503020204020204" charset="-122"/>
              <a:cs typeface="微软雅黑" panose="020B0503020204020204" charset="-122"/>
            </a:endParaRPr>
          </a:p>
        </p:txBody>
      </p:sp>
      <p:pic>
        <p:nvPicPr>
          <p:cNvPr id="383" name="参考模板浅蓝背景弧线"/>
          <p:cNvPicPr/>
          <p:nvPr/>
        </p:nvPicPr>
        <p:blipFill>
          <a:blip r:embed="rId2"/>
          <a:stretch>
            <a:fillRect/>
          </a:stretch>
        </p:blipFill>
        <p:spPr>
          <a:xfrm>
            <a:off x="4457700" y="0"/>
            <a:ext cx="3143250" cy="495300"/>
          </a:xfrm>
          <a:prstGeom prst="rect">
            <a:avLst/>
          </a:prstGeom>
          <a:noFill/>
          <a:ln>
            <a:noFill/>
          </a:ln>
        </p:spPr>
      </p:pic>
      <p:pic>
        <p:nvPicPr>
          <p:cNvPr id="384" name="参考模板右上角标识"/>
          <p:cNvPicPr/>
          <p:nvPr/>
        </p:nvPicPr>
        <p:blipFill>
          <a:blip r:embed="rId3"/>
          <a:stretch>
            <a:fillRect/>
          </a:stretch>
        </p:blipFill>
        <p:spPr>
          <a:xfrm>
            <a:off x="9696450" y="209550"/>
            <a:ext cx="1733550" cy="390525"/>
          </a:xfrm>
          <a:prstGeom prst="rect">
            <a:avLst/>
          </a:prstGeom>
          <a:noFill/>
          <a:ln>
            <a:noFill/>
          </a:ln>
        </p:spPr>
      </p:pic>
    </p:spTree>
  </p:cSld>
  <p:clrMapOvr>
    <a:masterClrMapping/>
  </p:clrMapOvr>
</p:sld>
</file>

<file path=ppt/slides/slide28.xml><?xml version="1.0" encoding="utf-8"?>
<p:sld xmlns:r="http://schemas.openxmlformats.org/officeDocument/2006/relationships" xmlns:p="http://schemas.openxmlformats.org/presentationml/2006/main" xmlns:a="http://schemas.openxmlformats.org/drawingml/2006/main">
  <p:cSld>
    <p:spTree>
      <p:nvGrpSpPr>
        <p:cNvPr id="383" name=""/>
        <p:cNvGrpSpPr/>
        <p:nvPr/>
      </p:nvGrpSpPr>
      <p:grpSpPr>
        <a:xfrm>
          <a:off x="0" y="0"/>
          <a:ext cx="0" cy="0"/>
          <a:chOff x="0" y="0"/>
          <a:chExt cx="0" cy="0"/>
        </a:xfrm>
      </p:grpSpPr>
      <p:sp>
        <p:nvSpPr>
          <p:cNvPr id="384" name="Rectangle 1"/>
          <p:cNvSpPr/>
          <p:nvPr/>
        </p:nvSpPr>
        <p:spPr>
          <a:xfrm>
            <a:off x="0" y="0"/>
            <a:ext cx="12191695" cy="6858000"/>
          </a:xfrm>
          <a:prstGeom prst="rect">
            <a:avLst/>
          </a:prstGeom>
          <a:solidFill>
            <a:srgbClr val="EAF6FC"/>
          </a:solidFill>
          <a:ln>
            <a:noFill/>
          </a:ln>
          <a:effectLst/>
        </p:spPr>
        <p:style>
          <a:lnRef idx="1">
            <a:srgbClr val="0070C0"/>
          </a:lnRef>
          <a:fillRef idx="3">
            <a:srgbClr val="0070C0"/>
          </a:fillRef>
          <a:effectRef idx="2">
            <a:srgbClr val="0070C0"/>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385" name="Rectangle 2"/>
          <p:cNvSpPr/>
          <p:nvPr/>
        </p:nvSpPr>
        <p:spPr>
          <a:xfrm>
            <a:off x="0" y="6693408"/>
            <a:ext cx="12191695" cy="164592"/>
          </a:xfrm>
          <a:prstGeom prst="rect">
            <a:avLst/>
          </a:prstGeom>
          <a:solidFill>
            <a:srgbClr val="0070C0"/>
          </a:solidFill>
          <a:ln>
            <a:noFill/>
          </a:ln>
          <a:effectLst/>
        </p:spPr>
        <p:style>
          <a:lnRef idx="1">
            <a:srgbClr val="0070C0"/>
          </a:lnRef>
          <a:fillRef idx="3">
            <a:srgbClr val="0070C0"/>
          </a:fillRef>
          <a:effectRef idx="2">
            <a:srgbClr val="0070C0"/>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386" name="TextBox 3"/>
          <p:cNvSpPr txBox="1"/>
          <p:nvPr/>
        </p:nvSpPr>
        <p:spPr>
          <a:xfrm>
            <a:off x="1097280" y="2103120"/>
            <a:ext cx="9144000" cy="822960"/>
          </a:xfrm>
          <a:prstGeom prst="rect">
            <a:avLst/>
          </a:prstGeom>
          <a:noFill/>
        </p:spPr>
        <p:txBody>
          <a:bodyPr wrap="square" lIns="0" tIns="0" rIns="0" bIns="0" anchor="t">
            <a:spAutoFit/>
          </a:bodyPr>
          <a:lstStyle/>
          <a:p>
            <a:pPr algn="l">
              <a:lnSpc>
                <a:spcPct val="115000"/>
              </a:lnSpc>
              <a:spcAft>
                <a:spcPts val="600"/>
              </a:spcAft>
            </a:pPr>
            <a:r>
              <a:rPr sz="3600" b="1">
                <a:solidFill>
                  <a:srgbClr val="1C4274"/>
                </a:solidFill>
                <a:latin typeface="微软雅黑" panose="020B0503020204020204" charset="-122"/>
                <a:ea typeface="微软雅黑" panose="020B0503020204020204" charset="-122"/>
                <a:cs typeface="微软雅黑" panose="020B0503020204020204" charset="-122"/>
              </a:rPr>
              <a:t>心中有信 · 未来可期</a:t>
            </a:r>
            <a:endParaRPr sz="3600" b="1">
              <a:solidFill>
                <a:srgbClr val="1C4274"/>
              </a:solidFill>
              <a:latin typeface="微软雅黑" panose="020B0503020204020204" charset="-122"/>
              <a:ea typeface="微软雅黑" panose="020B0503020204020204" charset="-122"/>
              <a:cs typeface="微软雅黑" panose="020B0503020204020204" charset="-122"/>
            </a:endParaRPr>
          </a:p>
        </p:txBody>
      </p:sp>
      <p:sp>
        <p:nvSpPr>
          <p:cNvPr id="387" name="Rectangle 4"/>
          <p:cNvSpPr/>
          <p:nvPr/>
        </p:nvSpPr>
        <p:spPr>
          <a:xfrm>
            <a:off x="1115568" y="3063240"/>
            <a:ext cx="2377440" cy="25400"/>
          </a:xfrm>
          <a:prstGeom prst="rect">
            <a:avLst/>
          </a:prstGeom>
          <a:solidFill>
            <a:srgbClr val="54B0E0"/>
          </a:solidFill>
          <a:ln>
            <a:noFill/>
          </a:ln>
          <a:effectLst/>
        </p:spPr>
        <p:style>
          <a:lnRef idx="1">
            <a:srgbClr val="0070C0"/>
          </a:lnRef>
          <a:fillRef idx="3">
            <a:srgbClr val="0070C0"/>
          </a:fillRef>
          <a:effectRef idx="2">
            <a:srgbClr val="0070C0"/>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388" name="TextBox 5"/>
          <p:cNvSpPr txBox="1"/>
          <p:nvPr/>
        </p:nvSpPr>
        <p:spPr>
          <a:xfrm>
            <a:off x="1097280" y="3383280"/>
            <a:ext cx="9144000" cy="457200"/>
          </a:xfrm>
          <a:prstGeom prst="rect">
            <a:avLst/>
          </a:prstGeom>
          <a:noFill/>
        </p:spPr>
        <p:txBody>
          <a:bodyPr wrap="square" lIns="0" tIns="0" rIns="0" bIns="0" anchor="t">
            <a:spAutoFit/>
          </a:bodyPr>
          <a:lstStyle/>
          <a:p>
            <a:pPr algn="l">
              <a:lnSpc>
                <a:spcPct val="115000"/>
              </a:lnSpc>
              <a:spcAft>
                <a:spcPts val="600"/>
              </a:spcAft>
            </a:pPr>
            <a:r>
              <a:rPr sz="1600" b="0">
                <a:solidFill>
                  <a:srgbClr val="1C4274"/>
                </a:solidFill>
                <a:latin typeface="微软雅黑" panose="020B0503020204020204" charset="-122"/>
                <a:ea typeface="微软雅黑" panose="020B0503020204020204" charset="-122"/>
                <a:cs typeface="微软雅黑" panose="020B0503020204020204" charset="-122"/>
              </a:rPr>
              <a:t>近期宏观变化及资产配置  ·  2026.09</a:t>
            </a:r>
            <a:endParaRPr sz="1600" b="0">
              <a:solidFill>
                <a:srgbClr val="1C4274"/>
              </a:solidFill>
              <a:latin typeface="微软雅黑" panose="020B0503020204020204" charset="-122"/>
              <a:ea typeface="微软雅黑" panose="020B0503020204020204" charset="-122"/>
              <a:cs typeface="微软雅黑" panose="020B0503020204020204" charset="-122"/>
            </a:endParaRPr>
          </a:p>
        </p:txBody>
      </p:sp>
      <p:sp>
        <p:nvSpPr>
          <p:cNvPr id="389" name="TextBox 6"/>
          <p:cNvSpPr txBox="1"/>
          <p:nvPr/>
        </p:nvSpPr>
        <p:spPr>
          <a:xfrm>
            <a:off x="1097280" y="4480560"/>
            <a:ext cx="9144000" cy="1280160"/>
          </a:xfrm>
          <a:prstGeom prst="rect">
            <a:avLst/>
          </a:prstGeom>
          <a:noFill/>
        </p:spPr>
        <p:txBody>
          <a:bodyPr wrap="square" lIns="0" tIns="0" rIns="0" bIns="0" anchor="t">
            <a:spAutoFit/>
          </a:bodyPr>
          <a:lstStyle/>
          <a:p>
            <a:pPr algn="l">
              <a:lnSpc>
                <a:spcPct val="150000"/>
              </a:lnSpc>
              <a:spcAft>
                <a:spcPts val="600"/>
              </a:spcAft>
            </a:pPr>
            <a:r>
              <a:rPr sz="1200" b="0">
                <a:solidFill>
                  <a:srgbClr val="54B0E0"/>
                </a:solidFill>
                <a:latin typeface="微软雅黑" panose="020B0503020204020204" charset="-122"/>
                <a:ea typeface="微软雅黑" panose="020B0503020204020204" charset="-122"/>
                <a:cs typeface="微软雅黑" panose="020B0503020204020204" charset="-122"/>
              </a:rPr>
              <a:t>总部地址：深圳市福田区中心三路8号卓越时代广场（二期）北座13层
上海地址：上海市浦东新区杨高南路799号陆家嘴世纪金融广场3号楼23层
网址：www.citicsf.com    全国热线：400 9908 826</a:t>
            </a:r>
            <a:endParaRPr sz="1200" b="0">
              <a:solidFill>
                <a:srgbClr val="54B0E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微软雅黑"/>
        <a:font script="Hebr" typeface="微软雅黑"/>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微软雅黑"/>
        <a:font script="Hebr" typeface="微软雅黑"/>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Application>Tencent office</Applicat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2026-09-16T12:06:48Z</dcterms:created>
  <dcterms:modified xsi:type="dcterms:W3CDTF">2026-09-16T12:06:48Z</dcterms:modified>
</cp:coreProperties>
</file>