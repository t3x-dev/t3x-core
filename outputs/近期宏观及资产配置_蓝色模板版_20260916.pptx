
<file path=[Content_Types].xml><?xml version="1.0" encoding="utf-8"?>
<Types xmlns="http://schemas.openxmlformats.org/package/2006/content-types">
  <Default Extension="rels" ContentType="application/vnd.openxmlformats-package.relationships+xml"/>
  <Default Extension="xml" ContentType="application/xml"/>
  <Default Extension="svg" ContentType="image/svg+xml"/>
  <Default Extension="png" ContentType="image/png"/>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2.xml" ContentType="application/vnd.openxmlformats-officedocument.presentationml.slide+xml"/>
  <Override PartName="/ppt/slides/slide22.xml" ContentType="application/vnd.openxmlformats-officedocument.presentationml.slide+xml"/>
  <Override PartName="/ppt/presentation.xml" ContentType="application/vnd.openxmlformats-officedocument.presentationml.presentation.main+xml"/>
  <Override PartName="/ppt/notesSlides/notesSlide10.xml" ContentType="application/vnd.openxmlformats-officedocument.presentationml.notesSlide+xml"/>
  <Override PartName="/docProps/core.xml" ContentType="application/vnd.openxmlformats-package.core-properties+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s/slide19.xml" ContentType="application/vnd.openxmlformats-officedocument.presentationml.slide+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s/slide18.xml" ContentType="application/vnd.openxmlformats-officedocument.presentationml.slide+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s/slide15.xml" ContentType="application/vnd.openxmlformats-officedocument.presentationml.slide+xml"/>
  <Override PartName="/ppt/presProps.xml" ContentType="application/vnd.openxmlformats-officedocument.presentationml.presProps+xml"/>
  <Override PartName="/ppt/slideLayouts/slideLayout9.xml" ContentType="application/vnd.openxmlformats-officedocument.presentationml.slideLayout+xml"/>
  <Override PartName="/ppt/slides/slide14.xml" ContentType="application/vnd.openxmlformats-officedocument.presentationml.slide+xml"/>
  <Override PartName="/ppt/slides/slide4.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slides/slide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25.xml" ContentType="application/vnd.openxmlformats-officedocument.presentationml.slide+xml"/>
  <Override PartName="/ppt/slides/slide6.xml" ContentType="application/vnd.openxmlformats-officedocument.presentationml.slide+xml"/>
  <Override PartName="/ppt/slides/slide26.xml" ContentType="application/vnd.openxmlformats-officedocument.presentationml.slide+xml"/>
  <Override PartName="/ppt/slides/slide7.xml" ContentType="application/vnd.openxmlformats-officedocument.presentationml.slide+xml"/>
  <Override PartName="/ppt/viewProps.xml" ContentType="application/vnd.openxmlformats-officedocument.presentationml.viewProps+xml"/>
  <Override PartName="/ppt/slides/slide27.xml" ContentType="application/vnd.openxmlformats-officedocument.presentationml.slide+xml"/>
  <Override PartName="/ppt/slides/slide8.xml" ContentType="application/vnd.openxmlformats-officedocument.presentationml.slide+xml"/>
  <Override PartName="/ppt/slides/slide28.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notesSlides/notesSlide11.xml" ContentType="application/vnd.openxmlformats-officedocument.presentationml.notesSlide+xml"/>
  <Override PartName="/ppt/notesSlides/notesSlide1.xml" ContentType="application/vnd.openxmlformats-officedocument.presentationml.notesSlide+xml"/>
  <Override PartName="/ppt/notesSlides/notesSlide3.xml" ContentType="application/vnd.openxmlformats-officedocument.presentationml.notesSlide+xml"/>
  <Override PartName="/ppt/theme/theme2.xml" ContentType="application/vnd.openxmlformats-officedocument.them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1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2.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Default Extension="jpeg" ContentType="image/jpeg"/>
</Types>
</file>

<file path=_rels/.rels><?xml version="1.0" encoding="UTF-8" standalone="yes"?><Relationships xmlns="http://schemas.openxmlformats.org/package/2006/relationships"><Relationship Id="rId2" Type="http://schemas.openxmlformats.org/officeDocument/2006/relationships/extended-properties" Target="docProps/app.xml" /><Relationship Id="rId0" Type="http://schemas.openxmlformats.org/officeDocument/2006/relationships/officeDocument" Target="ppt/presentation.xml" /><Relationship Id="rId1" Type="http://schemas.openxmlformats.org/package/2006/relationships/metadata/core-properties" Target="docProps/core.xml" /></Relationships>
</file>

<file path=ppt/presentation.xml><?xml version="1.0" encoding="utf-8"?>
<p:presentation xmlns:p="http://schemas.openxmlformats.org/presentationml/2006/main" xmlns:p15="http://schemas.microsoft.com/office/powerpoint/2012/main" xmlns:r="http://schemas.openxmlformats.org/officeDocument/2006/relationships" xmlns:a="http://schemas.openxmlformats.org/drawingml/2006/main" xmlns:mc="http://schemas.openxmlformats.org/markup-compatibility/2006" firstSlideNum="1" mc:Ignorable="p15">
  <p:sldMasterIdLst>
    <p:sldMasterId id="2147483648" r:id="rId0"/>
  </p:sldMasterIdLst>
  <p:notesMasterIdLst>
    <p:notesMasterId r:id="rId29"/>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p15:guide id="1" orient="horz" pos="2160" userDrawn="1">
          <p15:clr>
            <a:srgbClr val="A4A3A4"/>
          </p15:clr>
        </p15:guide>
        <p15:guide id="2" pos="2880" userDrawn="1">
          <p15:clr>
            <a:srgbClr val="A4A3A4"/>
          </p15:clr>
        </p15:guide>
      </p15:sldGuideLst>
    </p:ext>
  </p:extLst>
</p:presentation>
</file>

<file path=ppt/presProps.xml><?xml version="1.0" encoding="utf-8"?>
<p:presentationPr xmlns:p="http://schemas.openxmlformats.org/presentationml/2006/main">
  <p:extLst>
    <p:ext uri="{E76CE94A-603C-4142-B9EB-6D1370010A27}"/>
    <p:ext uri="{D31A062A-798A-4329-ABDD-BBA856620510}"/>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xmlns:a="http://schemas.openxmlformats.org/drawing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0" Type="http://schemas.openxmlformats.org/officeDocument/2006/relationships/slideMaster" Target="slideMasters/slideMaster1.xml" /><Relationship Id="rId24" Type="http://schemas.openxmlformats.org/officeDocument/2006/relationships/slide" Target="slides/slide24.xml" /><Relationship Id="rId10" Type="http://schemas.openxmlformats.org/officeDocument/2006/relationships/slide" Target="slides/slide10.xml" /><Relationship Id="rId1" Type="http://schemas.openxmlformats.org/officeDocument/2006/relationships/slide" Target="slides/slide1.xml" /><Relationship Id="rId9" Type="http://schemas.openxmlformats.org/officeDocument/2006/relationships/slide" Target="slides/slide9.xml" /><Relationship Id="rId30" Type="http://schemas.openxmlformats.org/officeDocument/2006/relationships/presProps" Target="presProps.xml" /><Relationship Id="rId15" Type="http://schemas.openxmlformats.org/officeDocument/2006/relationships/slide" Target="slides/slide15.xml" /><Relationship Id="rId12" Type="http://schemas.openxmlformats.org/officeDocument/2006/relationships/slide" Target="slides/slide12.xml" /><Relationship Id="rId11" Type="http://schemas.openxmlformats.org/officeDocument/2006/relationships/slide" Target="slides/slide11.xml" /><Relationship Id="rId13" Type="http://schemas.openxmlformats.org/officeDocument/2006/relationships/slide" Target="slides/slide13.xml" /><Relationship Id="rId14" Type="http://schemas.openxmlformats.org/officeDocument/2006/relationships/slide" Target="slides/slide14.xml" /><Relationship Id="rId16" Type="http://schemas.openxmlformats.org/officeDocument/2006/relationships/slide" Target="slides/slide16.xml" /><Relationship Id="rId17" Type="http://schemas.openxmlformats.org/officeDocument/2006/relationships/slide" Target="slides/slide17.xml" /><Relationship Id="rId18" Type="http://schemas.openxmlformats.org/officeDocument/2006/relationships/slide" Target="slides/slide18.xml" /><Relationship Id="rId19" Type="http://schemas.openxmlformats.org/officeDocument/2006/relationships/slide" Target="slides/slide19.xml" /><Relationship Id="rId2" Type="http://schemas.openxmlformats.org/officeDocument/2006/relationships/slide" Target="slides/slide2.xml" /><Relationship Id="rId20" Type="http://schemas.openxmlformats.org/officeDocument/2006/relationships/slide" Target="slides/slide20.xml" /><Relationship Id="rId21" Type="http://schemas.openxmlformats.org/officeDocument/2006/relationships/slide" Target="slides/slide21.xml" /><Relationship Id="rId22" Type="http://schemas.openxmlformats.org/officeDocument/2006/relationships/slide" Target="slides/slide22.xml" /><Relationship Id="rId23" Type="http://schemas.openxmlformats.org/officeDocument/2006/relationships/slide" Target="slides/slide23.xml" /><Relationship Id="rId25" Type="http://schemas.openxmlformats.org/officeDocument/2006/relationships/slide" Target="slides/slide25.xml" /><Relationship Id="rId26" Type="http://schemas.openxmlformats.org/officeDocument/2006/relationships/slide" Target="slides/slide26.xml" /><Relationship Id="rId27" Type="http://schemas.openxmlformats.org/officeDocument/2006/relationships/slide" Target="slides/slide27.xml" /><Relationship Id="rId29" Type="http://schemas.openxmlformats.org/officeDocument/2006/relationships/notesMaster" Target="notesMasters/notesMaster1.xml" /><Relationship Id="rId28" Type="http://schemas.openxmlformats.org/officeDocument/2006/relationships/slide" Target="slides/slide28.xml" /><Relationship Id="rId5" Type="http://schemas.openxmlformats.org/officeDocument/2006/relationships/slide" Target="slides/slide5.xml" /><Relationship Id="rId3" Type="http://schemas.openxmlformats.org/officeDocument/2006/relationships/slide" Target="slides/slide3.xml" /><Relationship Id="rId6" Type="http://schemas.openxmlformats.org/officeDocument/2006/relationships/slide" Target="slides/slide6.xml" /><Relationship Id="rId31" Type="http://schemas.openxmlformats.org/officeDocument/2006/relationships/tableStyles" Target="tableStyles.xml" /><Relationship Id="rId4" Type="http://schemas.openxmlformats.org/officeDocument/2006/relationships/slide" Target="slides/slide4.xml" /><Relationship Id="rId32" Type="http://schemas.openxmlformats.org/officeDocument/2006/relationships/viewProps" Target="viewProps.xml" /><Relationship Id="rId7" Type="http://schemas.openxmlformats.org/officeDocument/2006/relationships/slide" Target="slides/slide7.xml" /><Relationship Id="rId8" Type="http://schemas.openxmlformats.org/officeDocument/2006/relationships/slide" Target="slides/slide8.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微软雅黑" panose="020B0503020204020204" charset="-122"/>
                <a:cs typeface="微软雅黑" panose="020B0503020204020204" charset="-122"/>
              </a:defRPr>
            </a:lvl1pPr>
          </a:lstStyle>
          <a:p>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微软雅黑" panose="020B0503020204020204" charset="-122"/>
                <a:cs typeface="微软雅黑" panose="020B0503020204020204" charset="-122"/>
              </a:defRPr>
            </a:lvl1pPr>
          </a:lstStyle>
          <a:p>
            <a:pPr/>
            <a:fld id="{0F89C1C7-3DCD-1040-A9CF-14679D8B5DDD}" type="datetimeFigureOut">
              <a:rPr lang="en-US" smtClean="0"/>
              <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微软雅黑" panose="020B0503020204020204" charset="-122"/>
                <a:cs typeface="微软雅黑" panose="020B0503020204020204" charset="-122"/>
              </a:defRPr>
            </a:lvl1p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微软雅黑" panose="020B0503020204020204" charset="-122"/>
                <a:cs typeface="微软雅黑" panose="020B0503020204020204" charset="-122"/>
              </a:defRPr>
            </a:lvl1pPr>
          </a:lstStyle>
          <a:p>
            <a:pPr/>
            <a:fld id="{BB5E49A5-4136-284D-997B-48E1D791AD67}" type="slidenum">
              <a:rPr lang="en-US" smtClean="0"/>
              <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微软雅黑" panose="020B0503020204020204" charset="-122"/>
        <a:cs typeface="微软雅黑" panose="020B0503020204020204" charset="-122"/>
      </a:defRPr>
    </a:lvl1pPr>
    <a:lvl2pPr marL="457200" algn="l" defTabSz="457200" rtl="0" eaLnBrk="1" latinLnBrk="0" hangingPunct="1">
      <a:defRPr sz="1200" kern="1200">
        <a:solidFill>
          <a:schemeClr val="tx1"/>
        </a:solidFill>
        <a:latin typeface="+mn-lt"/>
        <a:ea typeface="微软雅黑" panose="020B0503020204020204" charset="-122"/>
        <a:cs typeface="微软雅黑" panose="020B0503020204020204" charset="-122"/>
      </a:defRPr>
    </a:lvl2pPr>
    <a:lvl3pPr marL="914400" algn="l" defTabSz="457200" rtl="0" eaLnBrk="1" latinLnBrk="0" hangingPunct="1">
      <a:defRPr sz="1200" kern="1200">
        <a:solidFill>
          <a:schemeClr val="tx1"/>
        </a:solidFill>
        <a:latin typeface="+mn-lt"/>
        <a:ea typeface="微软雅黑" panose="020B0503020204020204" charset="-122"/>
        <a:cs typeface="微软雅黑" panose="020B0503020204020204" charset="-122"/>
      </a:defRPr>
    </a:lvl3pPr>
    <a:lvl4pPr marL="1371600" algn="l" defTabSz="457200" rtl="0" eaLnBrk="1" latinLnBrk="0" hangingPunct="1">
      <a:defRPr sz="1200" kern="1200">
        <a:solidFill>
          <a:schemeClr val="tx1"/>
        </a:solidFill>
        <a:latin typeface="+mn-lt"/>
        <a:ea typeface="微软雅黑" panose="020B0503020204020204" charset="-122"/>
        <a:cs typeface="微软雅黑" panose="020B0503020204020204" charset="-122"/>
      </a:defRPr>
    </a:lvl4pPr>
    <a:lvl5pPr marL="1828800" algn="l" defTabSz="457200" rtl="0" eaLnBrk="1" latinLnBrk="0" hangingPunct="1">
      <a:defRPr sz="1200" kern="1200">
        <a:solidFill>
          <a:schemeClr val="tx1"/>
        </a:solidFill>
        <a:latin typeface="+mn-lt"/>
        <a:ea typeface="微软雅黑" panose="020B0503020204020204" charset="-122"/>
        <a:cs typeface="微软雅黑" panose="020B0503020204020204" charset="-122"/>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0"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Relationships xmlns="http://schemas.openxmlformats.org/package/2006/relationships"><Relationship Id="rId0" Type="http://schemas.openxmlformats.org/officeDocument/2006/relationships/slide" Target="../slides/slide11.xml" /><Relationship Id="rId1" Type="http://schemas.openxmlformats.org/officeDocument/2006/relationships/notesMaster" Target="../notesMasters/notesMaster1.xml" /></Relationships>
</file>

<file path=ppt/notesSlides/_rels/notesSlide3.xml.rels><?xml version="1.0" encoding="UTF-8" standalone="yes"?><Relationships xmlns="http://schemas.openxmlformats.org/package/2006/relationships"><Relationship Id="rId0" Type="http://schemas.openxmlformats.org/officeDocument/2006/relationships/slide" Target="../slides/slide12.xml" /><Relationship Id="rId1" Type="http://schemas.openxmlformats.org/officeDocument/2006/relationships/notesMaster" Target="../notesMasters/notesMaster1.xml" /></Relationships>
</file>

<file path=ppt/notesSlides/_rels/notesSlide4.xml.rels><?xml version="1.0" encoding="UTF-8" standalone="yes"?><Relationships xmlns="http://schemas.openxmlformats.org/package/2006/relationships"><Relationship Id="rId0" Type="http://schemas.openxmlformats.org/officeDocument/2006/relationships/slide" Target="../slides/slide13.xml" /><Relationship Id="rId1" Type="http://schemas.openxmlformats.org/officeDocument/2006/relationships/notesMaster" Target="../notesMasters/notesMaster1.xml" /></Relationships>
</file>

<file path=ppt/notesSlides/_rels/notesSlide5.xml.rels><?xml version="1.0" encoding="UTF-8" standalone="yes"?><Relationships xmlns="http://schemas.openxmlformats.org/package/2006/relationships"><Relationship Id="rId0" Type="http://schemas.openxmlformats.org/officeDocument/2006/relationships/slide" Target="../slides/slide14.xml" /><Relationship Id="rId1" Type="http://schemas.openxmlformats.org/officeDocument/2006/relationships/notesMaster" Target="../notesMasters/notesMaster1.xml" /></Relationships>
</file>

<file path=ppt/notesSlides/_rels/notesSlide6.xml.rels><?xml version="1.0" encoding="UTF-8" standalone="yes"?><Relationships xmlns="http://schemas.openxmlformats.org/package/2006/relationships"><Relationship Id="rId0" Type="http://schemas.openxmlformats.org/officeDocument/2006/relationships/slide" Target="../slides/slide15.xml" /><Relationship Id="rId1" Type="http://schemas.openxmlformats.org/officeDocument/2006/relationships/notesMaster" Target="../notesMasters/notesMaster1.xml" /></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6.xml" /></Relationships>
</file>

<file path=ppt/notesSlides/_rels/notesSlide8.xml.rels><?xml version="1.0" encoding="UTF-8" standalone="yes"?><Relationships xmlns="http://schemas.openxmlformats.org/package/2006/relationships"><Relationship Id="rId0" Type="http://schemas.openxmlformats.org/officeDocument/2006/relationships/slide" Target="../slides/slide17.xml" /><Relationship Id="rId1" Type="http://schemas.openxmlformats.org/officeDocument/2006/relationships/notesMaster" Target="../notesMasters/notesMaster1.xml" /></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8.xml" /></Relationships>
</file>

<file path=ppt/notesSlides/_rels/notesSlide10.xml.rels><?xml version="1.0" encoding="UTF-8" standalone="yes"?><Relationships xmlns="http://schemas.openxmlformats.org/package/2006/relationships"><Relationship Id="rId0"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1.xml.rels><?xml version="1.0" encoding="UTF-8" standalone="yes"?><Relationships xmlns="http://schemas.openxmlformats.org/package/2006/relationships"><Relationship Id="rId0" Type="http://schemas.openxmlformats.org/officeDocument/2006/relationships/slide" Target="../slides/slide2.xml" /><Relationship Id="rId1" Type="http://schemas.openxmlformats.org/officeDocument/2006/relationships/notesMaster" Target="../notesMasters/notesMaster1.xml" /></Relationships>
</file>

<file path=ppt/notesSlides/_rels/notesSlide12.xml.rels><?xml version="1.0" encoding="UTF-8" standalone="yes"?><Relationships xmlns="http://schemas.openxmlformats.org/package/2006/relationships"><Relationship Id="rId0"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3.xml.rels><?xml version="1.0" encoding="UTF-8" standalone="yes"?><Relationships xmlns="http://schemas.openxmlformats.org/package/2006/relationships"><Relationship Id="rId0"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4.xml.rels><?xml version="1.0" encoding="UTF-8" standalone="yes"?><Relationships xmlns="http://schemas.openxmlformats.org/package/2006/relationships"><Relationship Id="rId0"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5.xml.rels><?xml version="1.0" encoding="UTF-8" standalone="yes"?><Relationships xmlns="http://schemas.openxmlformats.org/package/2006/relationships"><Relationship Id="rId0"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6.xml.rels><?xml version="1.0" encoding="UTF-8" standalone="yes"?><Relationships xmlns="http://schemas.openxmlformats.org/package/2006/relationships"><Relationship Id="rId0"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5.xml" /></Relationships>
</file>

<file path=ppt/notesSlides/_rels/notesSlide18.xml.rels><?xml version="1.0" encoding="UTF-8" standalone="yes"?><Relationships xmlns="http://schemas.openxmlformats.org/package/2006/relationships"><Relationship Id="rId0"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9.xml.rels><?xml version="1.0" encoding="UTF-8" standalone="yes"?><Relationships xmlns="http://schemas.openxmlformats.org/package/2006/relationships"><Relationship Id="rId0"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0.xml.rels><?xml version="1.0" encoding="UTF-8" standalone="yes"?><Relationships xmlns="http://schemas.openxmlformats.org/package/2006/relationships"><Relationship Id="rId0" Type="http://schemas.openxmlformats.org/officeDocument/2006/relationships/slide" Target="../slides/slide5.xml" /><Relationship Id="rId1" Type="http://schemas.openxmlformats.org/officeDocument/2006/relationships/notesMaster" Target="../notesMasters/notesMaster1.xml" /></Relationships>
</file>

<file path=ppt/notesSlides/_rels/notesSlide21.xml.rels><?xml version="1.0" encoding="UTF-8" standalone="yes"?><Relationships xmlns="http://schemas.openxmlformats.org/package/2006/relationships"><Relationship Id="rId0" Type="http://schemas.openxmlformats.org/officeDocument/2006/relationships/slide" Target="../slides/slide6.xml" /><Relationship Id="rId1" Type="http://schemas.openxmlformats.org/officeDocument/2006/relationships/notesMaster" Target="../notesMasters/notesMaster1.xml" /></Relationships>
</file>

<file path=ppt/notesSlides/_rels/notesSlide22.xml.rels><?xml version="1.0" encoding="UTF-8" standalone="yes"?><Relationships xmlns="http://schemas.openxmlformats.org/package/2006/relationships"><Relationship Id="rId0" Type="http://schemas.openxmlformats.org/officeDocument/2006/relationships/slide" Target="../slides/slide7.xml" /><Relationship Id="rId1" Type="http://schemas.openxmlformats.org/officeDocument/2006/relationships/notesMaster" Target="../notesMasters/notesMaster1.xml" /></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8.xml" /></Relationships>
</file>

<file path=ppt/notesSlides/_rels/notesSlide24.xml.rels><?xml version="1.0" encoding="UTF-8" standalone="yes"?><Relationships xmlns="http://schemas.openxmlformats.org/package/2006/relationships"><Relationship Id="rId0"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a:pPr/>
            <a:endParaRPr/>
          </a:p>
        </p:txBody>
      </p:sp>
      <p:sp>
        <p:nvSpPr>
          <p:cNvPr id="3" name="Notes Placeholder 2"/>
          <p:cNvSpPr>
            <a:spLocks noGrp="1"/>
          </p:cNvSpPr>
          <p:nvPr>
            <p:ph type="body" sz="quarter" idx="3"/>
          </p:nvPr>
        </p:nvSpPr>
        <p:spPr/>
        <p:txBody>
          <a:bodyPr/>
          <a:lstStyle/>
          <a:p>
            <a:pPr/>
            <a:r>
              <a:rPr/>
              <a:t>[Speaker Notes]</a:t>
            </a:r>
            <a:endParaRPr/>
          </a:p>
          <a:p>
            <a:pPr/>
            <a:r>
              <a:rPr/>
              <a:t>封面沿用 8 月版版式，仅更新月份与数据截至日期。正式交付时请核对机构落款与合规用语。</a:t>
            </a:r>
            <a:endParaRPr/>
          </a:p>
          <a:p>
            <a:pPr/>
            <a:endParaRPr/>
          </a:p>
          <a:p>
            <a:pPr/>
            <a:r>
              <a:rPr/>
              <a:t>[Sources]</a:t>
            </a:r>
            <a:endParaRPr/>
          </a:p>
          <a:p>
            <a:pPr/>
            <a:r>
              <a:rPr/>
              <a:t>数据截至 2026-09-08；版式沿用《近期宏观及资产配置 20260821》。</a:t>
            </a:r>
            <a:endParaRPr/>
          </a:p>
        </p:txBody>
      </p:sp>
      <p:sp>
        <p:nvSpPr>
          <p:cNvPr id="4" name="Slide Number Placeholder 3"/>
          <p:cNvSpPr>
            <a:spLocks noGrp="1"/>
          </p:cNvSpPr>
          <p:nvPr>
            <p:ph type="sldNum" sz="quarter" idx="5"/>
          </p:nvPr>
        </p:nvSpPr>
        <p:spPr/>
        <p:txBody>
          <a:bodyPr/>
          <a:p>
            <a:pPr/>
            <a:endParaRPr/>
          </a:p>
        </p:txBody>
      </p:sp>
    </p:spTree>
  </p:cSld>
  <p:clrMapOvr>
    <a:masterClrMapping/>
  </p:clrMapOvr>
</p:notes>
</file>

<file path=ppt/notesSlides/notesSlide2.xml><?xml version="1.0" encoding="utf-8"?>
<p:notes xmlns:p="http://schemas.openxmlformats.org/presentationml/2006/main" xmlns:a="http://schemas.openxmlformats.org/drawingml/2006/main">
  <p:cSld>
    <p:spTree>
      <p:nvGrpSpPr>
        <p:cNvPr id="5" name=""/>
        <p:cNvGrpSpPr/>
        <p:nvPr/>
      </p:nvGrpSpPr>
      <p:grpSpPr>
        <a:xfrm>
          <a:off x="0" y="0"/>
          <a:ext cx="0" cy="0"/>
          <a:chOff x="0" y="0"/>
          <a:chExt cx="0" cy="0"/>
        </a:xfrm>
      </p:grpSpPr>
      <p:sp>
        <p:nvSpPr>
          <p:cNvPr id="6" name="Slide Image Placeholder 1"/>
          <p:cNvSpPr>
            <a:spLocks noGrp="1"/>
          </p:cNvSpPr>
          <p:nvPr>
            <p:ph type="sldImg" idx="2"/>
          </p:nvPr>
        </p:nvSpPr>
        <p:spPr/>
        <p:txBody>
          <a:bodyPr/>
          <a:p>
            <a:pPr/>
            <a:endParaRPr/>
          </a:p>
        </p:txBody>
      </p:sp>
      <p:sp>
        <p:nvSpPr>
          <p:cNvPr id="7" name="Notes Placeholder 2"/>
          <p:cNvSpPr>
            <a:spLocks noGrp="1"/>
          </p:cNvSpPr>
          <p:nvPr>
            <p:ph type="body" sz="quarter" idx="3"/>
          </p:nvPr>
        </p:nvSpPr>
        <p:spPr/>
        <p:txBody>
          <a:bodyPr/>
          <a:lstStyle/>
          <a:p>
            <a:pPr/>
            <a:r>
              <a:rPr/>
              <a:t>[Speaker Notes]</a:t>
            </a:r>
            <a:endParaRPr/>
          </a:p>
          <a:p>
            <a:pPr/>
            <a:r>
              <a:rPr/>
              <a:t>资产现状及展望：用一张表覆盖股债商汇金。核心观点——权益结构&gt;指数、固收票息为主、商品/CTA环境改善、黄金中长期多头、人民币偏强。</a:t>
            </a:r>
            <a:endParaRPr/>
          </a:p>
          <a:p>
            <a:pPr/>
            <a:endParaRPr/>
          </a:p>
          <a:p>
            <a:pPr/>
            <a:r>
              <a:rPr/>
              <a:t>[Sources]</a:t>
            </a:r>
            <a:endParaRPr/>
          </a:p>
          <a:p>
            <a:pPr/>
            <a:r>
              <a:rPr/>
              <a:t>上证/深成/创业板收盘（9/8）；恒指（9/2）；中国 10Y 国债（9/3）；美债 10Y（9/9）；COMEX 黄金/WTI/LME 铜（9/8）；在岸人民币（9/5）。</a:t>
            </a:r>
            <a:endParaRPr/>
          </a:p>
        </p:txBody>
      </p:sp>
      <p:sp>
        <p:nvSpPr>
          <p:cNvPr id="8" name="Slide Number Placeholder 3"/>
          <p:cNvSpPr>
            <a:spLocks noGrp="1"/>
          </p:cNvSpPr>
          <p:nvPr>
            <p:ph type="sldNum" sz="quarter" idx="5"/>
          </p:nvPr>
        </p:nvSpPr>
        <p:spPr/>
        <p:txBody>
          <a:bodyPr/>
          <a:p>
            <a:pPr/>
            <a:endParaRPr/>
          </a:p>
        </p:txBody>
      </p:sp>
    </p:spTree>
  </p:cSld>
  <p:clrMapOvr>
    <a:masterClrMapping/>
  </p:clrMapOvr>
</p:notes>
</file>

<file path=ppt/notesSlides/notesSlide3.xml><?xml version="1.0" encoding="utf-8"?>
<p:notes xmlns:p="http://schemas.openxmlformats.org/presentationml/2006/main" xmlns:a="http://schemas.openxmlformats.org/drawingml/2006/main">
  <p:cSld>
    <p:spTree>
      <p:nvGrpSpPr>
        <p:cNvPr id="9" name=""/>
        <p:cNvGrpSpPr/>
        <p:nvPr/>
      </p:nvGrpSpPr>
      <p:grpSpPr>
        <a:xfrm>
          <a:off x="0" y="0"/>
          <a:ext cx="0" cy="0"/>
          <a:chOff x="0" y="0"/>
          <a:chExt cx="0" cy="0"/>
        </a:xfrm>
      </p:grpSpPr>
      <p:sp>
        <p:nvSpPr>
          <p:cNvPr id="10" name="Slide Image Placeholder 1"/>
          <p:cNvSpPr>
            <a:spLocks noGrp="1"/>
          </p:cNvSpPr>
          <p:nvPr>
            <p:ph type="sldImg" idx="2"/>
          </p:nvPr>
        </p:nvSpPr>
        <p:spPr/>
        <p:txBody>
          <a:bodyPr/>
          <a:p>
            <a:pPr/>
            <a:endParaRPr/>
          </a:p>
        </p:txBody>
      </p:sp>
      <p:sp>
        <p:nvSpPr>
          <p:cNvPr id="11" name="Notes Placeholder 2"/>
          <p:cNvSpPr>
            <a:spLocks noGrp="1"/>
          </p:cNvSpPr>
          <p:nvPr>
            <p:ph type="body" sz="quarter" idx="3"/>
          </p:nvPr>
        </p:nvSpPr>
        <p:spPr/>
        <p:txBody>
          <a:bodyPr/>
          <a:lstStyle/>
          <a:p>
            <a:pPr/>
            <a:r>
              <a:rPr/>
              <a:t>[Speaker Notes]</a:t>
            </a:r>
            <a:endParaRPr/>
          </a:p>
          <a:p>
            <a:pPr/>
            <a:r>
              <a:rPr/>
              <a:t>资产现状及展望：用一张表覆盖股债商汇金。核心观点——权益结构&gt;指数、固收票息为主、商品/CTA环境改善、黄金中长期多头、人民币偏强。</a:t>
            </a:r>
            <a:endParaRPr/>
          </a:p>
          <a:p>
            <a:pPr/>
            <a:endParaRPr/>
          </a:p>
          <a:p>
            <a:pPr/>
            <a:r>
              <a:rPr/>
              <a:t>[Sources]</a:t>
            </a:r>
            <a:endParaRPr/>
          </a:p>
          <a:p>
            <a:pPr/>
            <a:r>
              <a:rPr/>
              <a:t>上证/深成/创业板收盘（9/8）；恒指（9/2）；中国 10Y 国债（9/3）；美债 10Y（9/9）；COMEX 黄金/WTI/LME 铜（9/8）；在岸人民币（9/5）。</a:t>
            </a:r>
            <a:endParaRPr/>
          </a:p>
        </p:txBody>
      </p:sp>
      <p:sp>
        <p:nvSpPr>
          <p:cNvPr id="12" name="Slide Number Placeholder 3"/>
          <p:cNvSpPr>
            <a:spLocks noGrp="1"/>
          </p:cNvSpPr>
          <p:nvPr>
            <p:ph type="sldNum" sz="quarter" idx="5"/>
          </p:nvPr>
        </p:nvSpPr>
        <p:spPr/>
        <p:txBody>
          <a:bodyPr/>
          <a:p>
            <a:pPr/>
            <a:endParaRPr/>
          </a:p>
        </p:txBody>
      </p:sp>
    </p:spTree>
  </p:cSld>
  <p:clrMapOvr>
    <a:masterClrMapping/>
  </p:clrMapOvr>
</p:notes>
</file>

<file path=ppt/notesSlides/notesSlide4.xml><?xml version="1.0" encoding="utf-8"?>
<p:notes xmlns:p="http://schemas.openxmlformats.org/presentationml/2006/main" xmlns:a="http://schemas.openxmlformats.org/drawingml/2006/main">
  <p:cSld>
    <p:spTree>
      <p:nvGrpSpPr>
        <p:cNvPr id="13" name=""/>
        <p:cNvGrpSpPr/>
        <p:nvPr/>
      </p:nvGrpSpPr>
      <p:grpSpPr>
        <a:xfrm>
          <a:off x="0" y="0"/>
          <a:ext cx="0" cy="0"/>
          <a:chOff x="0" y="0"/>
          <a:chExt cx="0" cy="0"/>
        </a:xfrm>
      </p:grpSpPr>
      <p:sp>
        <p:nvSpPr>
          <p:cNvPr id="14" name="Slide Image Placeholder 1"/>
          <p:cNvSpPr>
            <a:spLocks noGrp="1"/>
          </p:cNvSpPr>
          <p:nvPr>
            <p:ph type="sldImg" idx="2"/>
          </p:nvPr>
        </p:nvSpPr>
        <p:spPr/>
        <p:txBody>
          <a:bodyPr/>
          <a:p>
            <a:pPr/>
            <a:endParaRPr/>
          </a:p>
        </p:txBody>
      </p:sp>
      <p:sp>
        <p:nvSpPr>
          <p:cNvPr id="15"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16" name="Slide Number Placeholder 3"/>
          <p:cNvSpPr>
            <a:spLocks noGrp="1"/>
          </p:cNvSpPr>
          <p:nvPr>
            <p:ph type="sldNum" sz="quarter" idx="5"/>
          </p:nvPr>
        </p:nvSpPr>
        <p:spPr/>
        <p:txBody>
          <a:bodyPr/>
          <a:p>
            <a:pPr/>
            <a:endParaRPr/>
          </a:p>
        </p:txBody>
      </p:sp>
    </p:spTree>
  </p:cSld>
  <p:clrMapOvr>
    <a:masterClrMapping/>
  </p:clrMapOvr>
</p:notes>
</file>

<file path=ppt/notesSlides/notesSlide5.xml><?xml version="1.0" encoding="utf-8"?>
<p:notes xmlns:p="http://schemas.openxmlformats.org/presentationml/2006/main" xmlns:a="http://schemas.openxmlformats.org/drawingml/2006/main">
  <p:cSld>
    <p:spTree>
      <p:nvGrpSpPr>
        <p:cNvPr id="17" name=""/>
        <p:cNvGrpSpPr/>
        <p:nvPr/>
      </p:nvGrpSpPr>
      <p:grpSpPr>
        <a:xfrm>
          <a:off x="0" y="0"/>
          <a:ext cx="0" cy="0"/>
          <a:chOff x="0" y="0"/>
          <a:chExt cx="0" cy="0"/>
        </a:xfrm>
      </p:grpSpPr>
      <p:sp>
        <p:nvSpPr>
          <p:cNvPr id="18" name="Slide Image Placeholder 1"/>
          <p:cNvSpPr>
            <a:spLocks noGrp="1"/>
          </p:cNvSpPr>
          <p:nvPr>
            <p:ph type="sldImg" idx="2"/>
          </p:nvPr>
        </p:nvSpPr>
        <p:spPr/>
        <p:txBody>
          <a:bodyPr/>
          <a:p>
            <a:pPr/>
            <a:endParaRPr/>
          </a:p>
        </p:txBody>
      </p:sp>
      <p:sp>
        <p:nvSpPr>
          <p:cNvPr id="19"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20" name="Slide Number Placeholder 3"/>
          <p:cNvSpPr>
            <a:spLocks noGrp="1"/>
          </p:cNvSpPr>
          <p:nvPr>
            <p:ph type="sldNum" sz="quarter" idx="5"/>
          </p:nvPr>
        </p:nvSpPr>
        <p:spPr/>
        <p:txBody>
          <a:bodyPr/>
          <a:p>
            <a:pPr/>
            <a:endParaRPr/>
          </a:p>
        </p:txBody>
      </p:sp>
    </p:spTree>
  </p:cSld>
  <p:clrMapOvr>
    <a:masterClrMapping/>
  </p:clrMapOvr>
</p:notes>
</file>

<file path=ppt/notesSlides/notesSlide6.xml><?xml version="1.0" encoding="utf-8"?>
<p:notes xmlns:p="http://schemas.openxmlformats.org/presentationml/2006/main" xmlns:a="http://schemas.openxmlformats.org/drawingml/2006/main">
  <p:cSld>
    <p:spTree>
      <p:nvGrpSpPr>
        <p:cNvPr id="21" name=""/>
        <p:cNvGrpSpPr/>
        <p:nvPr/>
      </p:nvGrpSpPr>
      <p:grpSpPr>
        <a:xfrm>
          <a:off x="0" y="0"/>
          <a:ext cx="0" cy="0"/>
          <a:chOff x="0" y="0"/>
          <a:chExt cx="0" cy="0"/>
        </a:xfrm>
      </p:grpSpPr>
      <p:sp>
        <p:nvSpPr>
          <p:cNvPr id="22" name="Slide Image Placeholder 1"/>
          <p:cNvSpPr>
            <a:spLocks noGrp="1"/>
          </p:cNvSpPr>
          <p:nvPr>
            <p:ph type="sldImg" idx="2"/>
          </p:nvPr>
        </p:nvSpPr>
        <p:spPr/>
        <p:txBody>
          <a:bodyPr/>
          <a:p>
            <a:pPr/>
            <a:endParaRPr/>
          </a:p>
        </p:txBody>
      </p:sp>
      <p:sp>
        <p:nvSpPr>
          <p:cNvPr id="23"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24" name="Slide Number Placeholder 3"/>
          <p:cNvSpPr>
            <a:spLocks noGrp="1"/>
          </p:cNvSpPr>
          <p:nvPr>
            <p:ph type="sldNum" sz="quarter" idx="5"/>
          </p:nvPr>
        </p:nvSpPr>
        <p:spPr/>
        <p:txBody>
          <a:bodyPr/>
          <a:p>
            <a:pPr/>
            <a:endParaRPr/>
          </a:p>
        </p:txBody>
      </p:sp>
    </p:spTree>
  </p:cSld>
  <p:clrMapOvr>
    <a:masterClrMapping/>
  </p:clrMapOvr>
</p:notes>
</file>

<file path=ppt/notesSlides/notesSlide7.xml><?xml version="1.0" encoding="utf-8"?>
<p:notes xmlns:p="http://schemas.openxmlformats.org/presentationml/2006/main" xmlns:a="http://schemas.openxmlformats.org/drawingml/2006/main">
  <p:cSld>
    <p:spTree>
      <p:nvGrpSpPr>
        <p:cNvPr id="25" name=""/>
        <p:cNvGrpSpPr/>
        <p:nvPr/>
      </p:nvGrpSpPr>
      <p:grpSpPr>
        <a:xfrm>
          <a:off x="0" y="0"/>
          <a:ext cx="0" cy="0"/>
          <a:chOff x="0" y="0"/>
          <a:chExt cx="0" cy="0"/>
        </a:xfrm>
      </p:grpSpPr>
      <p:sp>
        <p:nvSpPr>
          <p:cNvPr id="26" name="Slide Image Placeholder 1"/>
          <p:cNvSpPr>
            <a:spLocks noGrp="1"/>
          </p:cNvSpPr>
          <p:nvPr>
            <p:ph type="sldImg" idx="2"/>
          </p:nvPr>
        </p:nvSpPr>
        <p:spPr/>
        <p:txBody>
          <a:bodyPr/>
          <a:p>
            <a:pPr/>
            <a:endParaRPr/>
          </a:p>
        </p:txBody>
      </p:sp>
      <p:sp>
        <p:nvSpPr>
          <p:cNvPr id="27"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28" name="Slide Number Placeholder 3"/>
          <p:cNvSpPr>
            <a:spLocks noGrp="1"/>
          </p:cNvSpPr>
          <p:nvPr>
            <p:ph type="sldNum" sz="quarter" idx="5"/>
          </p:nvPr>
        </p:nvSpPr>
        <p:spPr/>
        <p:txBody>
          <a:bodyPr/>
          <a:p>
            <a:pPr/>
            <a:endParaRPr/>
          </a:p>
        </p:txBody>
      </p:sp>
    </p:spTree>
  </p:cSld>
  <p:clrMapOvr>
    <a:masterClrMapping/>
  </p:clrMapOvr>
</p:notes>
</file>

<file path=ppt/notesSlides/notesSlide8.xml><?xml version="1.0" encoding="utf-8"?>
<p:notes xmlns:p="http://schemas.openxmlformats.org/presentationml/2006/main" xmlns:a="http://schemas.openxmlformats.org/drawingml/2006/main">
  <p:cSld>
    <p:spTree>
      <p:nvGrpSpPr>
        <p:cNvPr id="29" name=""/>
        <p:cNvGrpSpPr/>
        <p:nvPr/>
      </p:nvGrpSpPr>
      <p:grpSpPr>
        <a:xfrm>
          <a:off x="0" y="0"/>
          <a:ext cx="0" cy="0"/>
          <a:chOff x="0" y="0"/>
          <a:chExt cx="0" cy="0"/>
        </a:xfrm>
      </p:grpSpPr>
      <p:sp>
        <p:nvSpPr>
          <p:cNvPr id="30" name="Slide Image Placeholder 1"/>
          <p:cNvSpPr>
            <a:spLocks noGrp="1"/>
          </p:cNvSpPr>
          <p:nvPr>
            <p:ph type="sldImg" idx="2"/>
          </p:nvPr>
        </p:nvSpPr>
        <p:spPr/>
        <p:txBody>
          <a:bodyPr/>
          <a:p>
            <a:pPr/>
            <a:endParaRPr/>
          </a:p>
        </p:txBody>
      </p:sp>
      <p:sp>
        <p:nvSpPr>
          <p:cNvPr id="31"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32" name="Slide Number Placeholder 3"/>
          <p:cNvSpPr>
            <a:spLocks noGrp="1"/>
          </p:cNvSpPr>
          <p:nvPr>
            <p:ph type="sldNum" sz="quarter" idx="5"/>
          </p:nvPr>
        </p:nvSpPr>
        <p:spPr/>
        <p:txBody>
          <a:bodyPr/>
          <a:p>
            <a:pPr/>
            <a:endParaRPr/>
          </a:p>
        </p:txBody>
      </p:sp>
    </p:spTree>
  </p:cSld>
  <p:clrMapOvr>
    <a:masterClrMapping/>
  </p:clrMapOvr>
</p:notes>
</file>

<file path=ppt/notesSlides/notesSlide9.xml><?xml version="1.0" encoding="utf-8"?>
<p:notes xmlns:p="http://schemas.openxmlformats.org/presentationml/2006/main" xmlns:a="http://schemas.openxmlformats.org/drawingml/2006/main">
  <p:cSld>
    <p:spTree>
      <p:nvGrpSpPr>
        <p:cNvPr id="33" name=""/>
        <p:cNvGrpSpPr/>
        <p:nvPr/>
      </p:nvGrpSpPr>
      <p:grpSpPr>
        <a:xfrm>
          <a:off x="0" y="0"/>
          <a:ext cx="0" cy="0"/>
          <a:chOff x="0" y="0"/>
          <a:chExt cx="0" cy="0"/>
        </a:xfrm>
      </p:grpSpPr>
      <p:sp>
        <p:nvSpPr>
          <p:cNvPr id="34" name="Slide Image Placeholder 1"/>
          <p:cNvSpPr>
            <a:spLocks noGrp="1"/>
          </p:cNvSpPr>
          <p:nvPr>
            <p:ph type="sldImg" idx="2"/>
          </p:nvPr>
        </p:nvSpPr>
        <p:spPr/>
        <p:txBody>
          <a:bodyPr/>
          <a:p>
            <a:pPr/>
            <a:endParaRPr/>
          </a:p>
        </p:txBody>
      </p:sp>
      <p:sp>
        <p:nvSpPr>
          <p:cNvPr id="35"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36" name="Slide Number Placeholder 3"/>
          <p:cNvSpPr>
            <a:spLocks noGrp="1"/>
          </p:cNvSpPr>
          <p:nvPr>
            <p:ph type="sldNum" sz="quarter" idx="5"/>
          </p:nvPr>
        </p:nvSpPr>
        <p:spPr/>
        <p:txBody>
          <a:bodyPr/>
          <a:p>
            <a:pPr/>
            <a:endParaRPr/>
          </a:p>
        </p:txBody>
      </p:sp>
    </p:spTree>
  </p:cSld>
  <p:clrMapOvr>
    <a:masterClrMapping/>
  </p:clrMapOvr>
</p:notes>
</file>

<file path=ppt/notesSlides/notesSlide10.xml><?xml version="1.0" encoding="utf-8"?>
<p:notes xmlns:p="http://schemas.openxmlformats.org/presentationml/2006/main" xmlns:a="http://schemas.openxmlformats.org/drawingml/2006/main">
  <p:cSld>
    <p:spTree>
      <p:nvGrpSpPr>
        <p:cNvPr id="37" name=""/>
        <p:cNvGrpSpPr/>
        <p:nvPr/>
      </p:nvGrpSpPr>
      <p:grpSpPr>
        <a:xfrm>
          <a:off x="0" y="0"/>
          <a:ext cx="0" cy="0"/>
          <a:chOff x="0" y="0"/>
          <a:chExt cx="0" cy="0"/>
        </a:xfrm>
      </p:grpSpPr>
      <p:sp>
        <p:nvSpPr>
          <p:cNvPr id="38" name="Slide Image Placeholder 1"/>
          <p:cNvSpPr>
            <a:spLocks noGrp="1"/>
          </p:cNvSpPr>
          <p:nvPr>
            <p:ph type="sldImg" idx="2"/>
          </p:nvPr>
        </p:nvSpPr>
        <p:spPr/>
        <p:txBody>
          <a:bodyPr/>
          <a:p>
            <a:pPr/>
            <a:endParaRPr/>
          </a:p>
        </p:txBody>
      </p:sp>
      <p:sp>
        <p:nvSpPr>
          <p:cNvPr id="39"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40" name="Slide Number Placeholder 3"/>
          <p:cNvSpPr>
            <a:spLocks noGrp="1"/>
          </p:cNvSpPr>
          <p:nvPr>
            <p:ph type="sldNum" sz="quarter" idx="5"/>
          </p:nvPr>
        </p:nvSpPr>
        <p:spPr/>
        <p:txBody>
          <a:bodyPr/>
          <a:p>
            <a:pPr/>
            <a:endParaRPr/>
          </a:p>
        </p:txBody>
      </p:sp>
    </p:spTree>
  </p:cSld>
  <p:clrMapOvr>
    <a:masterClrMapping/>
  </p:clrMapOvr>
</p:notes>
</file>

<file path=ppt/notesSlides/notesSlide11.xml><?xml version="1.0" encoding="utf-8"?>
<p:notes xmlns:p="http://schemas.openxmlformats.org/presentationml/2006/main" xmlns:a="http://schemas.openxmlformats.org/drawingml/2006/main">
  <p:cSld>
    <p:spTree>
      <p:nvGrpSpPr>
        <p:cNvPr id="41" name=""/>
        <p:cNvGrpSpPr/>
        <p:nvPr/>
      </p:nvGrpSpPr>
      <p:grpSpPr>
        <a:xfrm>
          <a:off x="0" y="0"/>
          <a:ext cx="0" cy="0"/>
          <a:chOff x="0" y="0"/>
          <a:chExt cx="0" cy="0"/>
        </a:xfrm>
      </p:grpSpPr>
      <p:sp>
        <p:nvSpPr>
          <p:cNvPr id="42" name="Slide Image Placeholder 1"/>
          <p:cNvSpPr>
            <a:spLocks noGrp="1"/>
          </p:cNvSpPr>
          <p:nvPr>
            <p:ph type="sldImg" idx="2"/>
          </p:nvPr>
        </p:nvSpPr>
        <p:spPr/>
        <p:txBody>
          <a:bodyPr/>
          <a:p>
            <a:pPr/>
            <a:endParaRPr/>
          </a:p>
        </p:txBody>
      </p:sp>
      <p:sp>
        <p:nvSpPr>
          <p:cNvPr id="43" name="Notes Placeholder 2"/>
          <p:cNvSpPr>
            <a:spLocks noGrp="1"/>
          </p:cNvSpPr>
          <p:nvPr>
            <p:ph type="body" sz="quarter" idx="3"/>
          </p:nvPr>
        </p:nvSpPr>
        <p:spPr/>
        <p:txBody>
          <a:bodyPr/>
          <a:lstStyle/>
          <a:p>
            <a:pPr/>
            <a:r>
              <a:rPr/>
              <a:t>[Speaker Notes]</a:t>
            </a:r>
            <a:endParaRPr/>
          </a:p>
          <a:p>
            <a:pPr/>
            <a:r>
              <a:rPr/>
              <a:t>客户需求定位页，沿用 8 月版口径，突出‘年化 6% + 最大回撤 &lt;1%’的硬约束。</a:t>
            </a:r>
            <a:endParaRPr/>
          </a:p>
          <a:p>
            <a:pPr/>
            <a:endParaRPr/>
          </a:p>
          <a:p>
            <a:pPr/>
            <a:r>
              <a:rPr/>
              <a:t>[Sources]</a:t>
            </a:r>
            <a:endParaRPr/>
          </a:p>
          <a:p>
            <a:pPr/>
            <a:r>
              <a:rPr/>
              <a:t>沿用《近期宏观及资产配置 20260821》第 2 页。</a:t>
            </a:r>
            <a:endParaRPr/>
          </a:p>
        </p:txBody>
      </p:sp>
      <p:sp>
        <p:nvSpPr>
          <p:cNvPr id="44" name="Slide Number Placeholder 3"/>
          <p:cNvSpPr>
            <a:spLocks noGrp="1"/>
          </p:cNvSpPr>
          <p:nvPr>
            <p:ph type="sldNum" sz="quarter" idx="5"/>
          </p:nvPr>
        </p:nvSpPr>
        <p:spPr/>
        <p:txBody>
          <a:bodyPr/>
          <a:p>
            <a:pPr/>
            <a:endParaRPr/>
          </a:p>
        </p:txBody>
      </p:sp>
    </p:spTree>
  </p:cSld>
  <p:clrMapOvr>
    <a:masterClrMapping/>
  </p:clrMapOvr>
</p:notes>
</file>

<file path=ppt/notesSlides/notesSlide12.xml><?xml version="1.0" encoding="utf-8"?>
<p:notes xmlns:p="http://schemas.openxmlformats.org/presentationml/2006/main" xmlns:a="http://schemas.openxmlformats.org/drawingml/2006/main">
  <p:cSld>
    <p:spTree>
      <p:nvGrpSpPr>
        <p:cNvPr id="45" name=""/>
        <p:cNvGrpSpPr/>
        <p:nvPr/>
      </p:nvGrpSpPr>
      <p:grpSpPr>
        <a:xfrm>
          <a:off x="0" y="0"/>
          <a:ext cx="0" cy="0"/>
          <a:chOff x="0" y="0"/>
          <a:chExt cx="0" cy="0"/>
        </a:xfrm>
      </p:grpSpPr>
      <p:sp>
        <p:nvSpPr>
          <p:cNvPr id="46" name="Slide Image Placeholder 1"/>
          <p:cNvSpPr>
            <a:spLocks noGrp="1"/>
          </p:cNvSpPr>
          <p:nvPr>
            <p:ph type="sldImg" idx="2"/>
          </p:nvPr>
        </p:nvSpPr>
        <p:spPr/>
        <p:txBody>
          <a:bodyPr/>
          <a:p>
            <a:pPr/>
            <a:endParaRPr/>
          </a:p>
        </p:txBody>
      </p:sp>
      <p:sp>
        <p:nvSpPr>
          <p:cNvPr id="47"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48" name="Slide Number Placeholder 3"/>
          <p:cNvSpPr>
            <a:spLocks noGrp="1"/>
          </p:cNvSpPr>
          <p:nvPr>
            <p:ph type="sldNum" sz="quarter" idx="5"/>
          </p:nvPr>
        </p:nvSpPr>
        <p:spPr/>
        <p:txBody>
          <a:bodyPr/>
          <a:p>
            <a:pPr/>
            <a:endParaRPr/>
          </a:p>
        </p:txBody>
      </p:sp>
    </p:spTree>
  </p:cSld>
  <p:clrMapOvr>
    <a:masterClrMapping/>
  </p:clrMapOvr>
</p:notes>
</file>

<file path=ppt/notesSlides/notesSlide13.xml><?xml version="1.0" encoding="utf-8"?>
<p:notes xmlns:p="http://schemas.openxmlformats.org/presentationml/2006/main" xmlns:a="http://schemas.openxmlformats.org/drawingml/2006/main">
  <p:cSld>
    <p:spTree>
      <p:nvGrpSpPr>
        <p:cNvPr id="49" name=""/>
        <p:cNvGrpSpPr/>
        <p:nvPr/>
      </p:nvGrpSpPr>
      <p:grpSpPr>
        <a:xfrm>
          <a:off x="0" y="0"/>
          <a:ext cx="0" cy="0"/>
          <a:chOff x="0" y="0"/>
          <a:chExt cx="0" cy="0"/>
        </a:xfrm>
      </p:grpSpPr>
      <p:sp>
        <p:nvSpPr>
          <p:cNvPr id="50" name="Slide Image Placeholder 1"/>
          <p:cNvSpPr>
            <a:spLocks noGrp="1"/>
          </p:cNvSpPr>
          <p:nvPr>
            <p:ph type="sldImg" idx="2"/>
          </p:nvPr>
        </p:nvSpPr>
        <p:spPr/>
        <p:txBody>
          <a:bodyPr/>
          <a:p>
            <a:pPr/>
            <a:endParaRPr/>
          </a:p>
        </p:txBody>
      </p:sp>
      <p:sp>
        <p:nvSpPr>
          <p:cNvPr id="51" name="Notes Placeholder 2"/>
          <p:cNvSpPr>
            <a:spLocks noGrp="1"/>
          </p:cNvSpPr>
          <p:nvPr>
            <p:ph type="body" sz="quarter" idx="3"/>
          </p:nvPr>
        </p:nvSpPr>
        <p:spPr/>
        <p:txBody>
          <a:bodyPr/>
          <a:lstStyle/>
          <a:p>
            <a:pPr/>
            <a:r>
              <a:rPr/>
              <a:t>[Speaker Notes]</a:t>
            </a:r>
            <a:endParaRPr/>
          </a:p>
          <a:p>
            <a:pPr/>
            <a:r>
              <a:rPr/>
              <a:t>配置比例页：保留 8 月版固收 60%/CTA 26%/权益 8%/宏观 6% 的比例作占位，业绩指标（年化 4.82%、最大回撤 1.19%）沿用 8 月数据并标注待更新。用户拿到最新净值后替换即可。</a:t>
            </a:r>
            <a:endParaRPr/>
          </a:p>
          <a:p>
            <a:pPr/>
            <a:endParaRPr/>
          </a:p>
          <a:p>
            <a:pPr/>
            <a:r>
              <a:rPr/>
              <a:t>[Sources]</a:t>
            </a:r>
            <a:endParaRPr/>
          </a:p>
          <a:p>
            <a:pPr/>
            <a:r>
              <a:rPr/>
              <a:t>沿用《近期宏观及资产配置 20260821》第 12 页。</a:t>
            </a:r>
            <a:endParaRPr/>
          </a:p>
        </p:txBody>
      </p:sp>
      <p:sp>
        <p:nvSpPr>
          <p:cNvPr id="52" name="Slide Number Placeholder 3"/>
          <p:cNvSpPr>
            <a:spLocks noGrp="1"/>
          </p:cNvSpPr>
          <p:nvPr>
            <p:ph type="sldNum" sz="quarter" idx="5"/>
          </p:nvPr>
        </p:nvSpPr>
        <p:spPr/>
        <p:txBody>
          <a:bodyPr/>
          <a:p>
            <a:pPr/>
            <a:endParaRPr/>
          </a:p>
        </p:txBody>
      </p:sp>
    </p:spTree>
  </p:cSld>
  <p:clrMapOvr>
    <a:masterClrMapping/>
  </p:clrMapOvr>
</p:notes>
</file>

<file path=ppt/notesSlides/notesSlide14.xml><?xml version="1.0" encoding="utf-8"?>
<p:notes xmlns:p="http://schemas.openxmlformats.org/presentationml/2006/main" xmlns:a="http://schemas.openxmlformats.org/drawingml/2006/main">
  <p:cSld>
    <p:spTree>
      <p:nvGrpSpPr>
        <p:cNvPr id="53" name=""/>
        <p:cNvGrpSpPr/>
        <p:nvPr/>
      </p:nvGrpSpPr>
      <p:grpSpPr>
        <a:xfrm>
          <a:off x="0" y="0"/>
          <a:ext cx="0" cy="0"/>
          <a:chOff x="0" y="0"/>
          <a:chExt cx="0" cy="0"/>
        </a:xfrm>
      </p:grpSpPr>
      <p:sp>
        <p:nvSpPr>
          <p:cNvPr id="54" name="Slide Image Placeholder 1"/>
          <p:cNvSpPr>
            <a:spLocks noGrp="1"/>
          </p:cNvSpPr>
          <p:nvPr>
            <p:ph type="sldImg" idx="2"/>
          </p:nvPr>
        </p:nvSpPr>
        <p:spPr/>
        <p:txBody>
          <a:bodyPr/>
          <a:p>
            <a:pPr/>
            <a:endParaRPr/>
          </a:p>
        </p:txBody>
      </p:sp>
      <p:sp>
        <p:nvSpPr>
          <p:cNvPr id="55"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56" name="Slide Number Placeholder 3"/>
          <p:cNvSpPr>
            <a:spLocks noGrp="1"/>
          </p:cNvSpPr>
          <p:nvPr>
            <p:ph type="sldNum" sz="quarter" idx="5"/>
          </p:nvPr>
        </p:nvSpPr>
        <p:spPr/>
        <p:txBody>
          <a:bodyPr/>
          <a:p>
            <a:pPr/>
            <a:endParaRPr/>
          </a:p>
        </p:txBody>
      </p:sp>
    </p:spTree>
  </p:cSld>
  <p:clrMapOvr>
    <a:masterClrMapping/>
  </p:clrMapOvr>
</p:notes>
</file>

<file path=ppt/notesSlides/notesSlide15.xml><?xml version="1.0" encoding="utf-8"?>
<p:notes xmlns:p="http://schemas.openxmlformats.org/presentationml/2006/main" xmlns:a="http://schemas.openxmlformats.org/drawingml/2006/main">
  <p:cSld>
    <p:spTree>
      <p:nvGrpSpPr>
        <p:cNvPr id="57" name=""/>
        <p:cNvGrpSpPr/>
        <p:nvPr/>
      </p:nvGrpSpPr>
      <p:grpSpPr>
        <a:xfrm>
          <a:off x="0" y="0"/>
          <a:ext cx="0" cy="0"/>
          <a:chOff x="0" y="0"/>
          <a:chExt cx="0" cy="0"/>
        </a:xfrm>
      </p:grpSpPr>
      <p:sp>
        <p:nvSpPr>
          <p:cNvPr id="58" name="Slide Image Placeholder 1"/>
          <p:cNvSpPr>
            <a:spLocks noGrp="1"/>
          </p:cNvSpPr>
          <p:nvPr>
            <p:ph type="sldImg" idx="2"/>
          </p:nvPr>
        </p:nvSpPr>
        <p:spPr/>
        <p:txBody>
          <a:bodyPr/>
          <a:p>
            <a:pPr/>
            <a:endParaRPr/>
          </a:p>
        </p:txBody>
      </p:sp>
      <p:sp>
        <p:nvSpPr>
          <p:cNvPr id="59" name="Notes Placeholder 2"/>
          <p:cNvSpPr>
            <a:spLocks noGrp="1"/>
          </p:cNvSpPr>
          <p:nvPr>
            <p:ph type="body" sz="quarter" idx="3"/>
          </p:nvPr>
        </p:nvSpPr>
        <p:spPr/>
        <p:txBody>
          <a:bodyPr/>
          <a:lstStyle/>
          <a:p>
            <a:pPr/>
            <a:r>
              <a:rPr/>
              <a:t>[Speaker Notes]</a:t>
            </a:r>
            <a:endParaRPr/>
          </a:p>
          <a:p>
            <a:pPr/>
            <a:r>
              <a:rPr/>
              <a:t>产品明细占位表：保留 8 月版 12 只产品与合计数据，亏损项标红。最新净值待用户提供后替换。</a:t>
            </a:r>
            <a:endParaRPr/>
          </a:p>
          <a:p>
            <a:pPr/>
            <a:endParaRPr/>
          </a:p>
          <a:p>
            <a:pPr/>
            <a:r>
              <a:rPr/>
              <a:t>[Sources]</a:t>
            </a:r>
            <a:endParaRPr/>
          </a:p>
          <a:p>
            <a:pPr/>
            <a:r>
              <a:rPr/>
              <a:t>沿用《近期宏观及资产配置 20260821》第 13 页。</a:t>
            </a:r>
            <a:endParaRPr/>
          </a:p>
        </p:txBody>
      </p:sp>
      <p:sp>
        <p:nvSpPr>
          <p:cNvPr id="60" name="Slide Number Placeholder 3"/>
          <p:cNvSpPr>
            <a:spLocks noGrp="1"/>
          </p:cNvSpPr>
          <p:nvPr>
            <p:ph type="sldNum" sz="quarter" idx="5"/>
          </p:nvPr>
        </p:nvSpPr>
        <p:spPr/>
        <p:txBody>
          <a:bodyPr/>
          <a:p>
            <a:pPr/>
            <a:endParaRPr/>
          </a:p>
        </p:txBody>
      </p:sp>
    </p:spTree>
  </p:cSld>
  <p:clrMapOvr>
    <a:masterClrMapping/>
  </p:clrMapOvr>
</p:notes>
</file>

<file path=ppt/notesSlides/notesSlide16.xml><?xml version="1.0" encoding="utf-8"?>
<p:notes xmlns:p="http://schemas.openxmlformats.org/presentationml/2006/main" xmlns:a="http://schemas.openxmlformats.org/drawingml/2006/main">
  <p:cSld>
    <p:spTree>
      <p:nvGrpSpPr>
        <p:cNvPr id="61" name=""/>
        <p:cNvGrpSpPr/>
        <p:nvPr/>
      </p:nvGrpSpPr>
      <p:grpSpPr>
        <a:xfrm>
          <a:off x="0" y="0"/>
          <a:ext cx="0" cy="0"/>
          <a:chOff x="0" y="0"/>
          <a:chExt cx="0" cy="0"/>
        </a:xfrm>
      </p:grpSpPr>
      <p:sp>
        <p:nvSpPr>
          <p:cNvPr id="62" name="Slide Image Placeholder 1"/>
          <p:cNvSpPr>
            <a:spLocks noGrp="1"/>
          </p:cNvSpPr>
          <p:nvPr>
            <p:ph type="sldImg" idx="2"/>
          </p:nvPr>
        </p:nvSpPr>
        <p:spPr/>
        <p:txBody>
          <a:bodyPr/>
          <a:p>
            <a:pPr/>
            <a:endParaRPr/>
          </a:p>
        </p:txBody>
      </p:sp>
      <p:sp>
        <p:nvSpPr>
          <p:cNvPr id="63" name="Notes Placeholder 2"/>
          <p:cNvSpPr>
            <a:spLocks noGrp="1"/>
          </p:cNvSpPr>
          <p:nvPr>
            <p:ph type="body" sz="quarter" idx="3"/>
          </p:nvPr>
        </p:nvSpPr>
        <p:spPr/>
        <p:txBody>
          <a:bodyPr/>
          <a:lstStyle/>
          <a:p>
            <a:pPr/>
            <a:r>
              <a:rPr/>
              <a:t>[Speaker Notes]</a:t>
            </a:r>
            <a:endParaRPr/>
          </a:p>
          <a:p>
            <a:pPr/>
            <a:r>
              <a:rPr/>
              <a:t>未来展望与调仓计划：9 月核心变量为 9/11 美国 CPI、9/16 美联储议息、中东局势。调仓方向偏防御——固收压舱、CTA 适度增配、权益结构切换、黄金保留底仓。</a:t>
            </a:r>
            <a:endParaRPr/>
          </a:p>
          <a:p>
            <a:pPr/>
            <a:endParaRPr/>
          </a:p>
          <a:p>
            <a:pPr/>
            <a:r>
              <a:rPr/>
              <a:t>[Sources]</a:t>
            </a:r>
            <a:endParaRPr/>
          </a:p>
          <a:p>
            <a:pPr/>
            <a:r>
              <a:rPr/>
              <a:t>CME FedWatch；财联社；路透。</a:t>
            </a:r>
            <a:endParaRPr/>
          </a:p>
        </p:txBody>
      </p:sp>
      <p:sp>
        <p:nvSpPr>
          <p:cNvPr id="64" name="Slide Number Placeholder 3"/>
          <p:cNvSpPr>
            <a:spLocks noGrp="1"/>
          </p:cNvSpPr>
          <p:nvPr>
            <p:ph type="sldNum" sz="quarter" idx="5"/>
          </p:nvPr>
        </p:nvSpPr>
        <p:spPr/>
        <p:txBody>
          <a:bodyPr/>
          <a:p>
            <a:pPr/>
            <a:endParaRPr/>
          </a:p>
        </p:txBody>
      </p:sp>
    </p:spTree>
  </p:cSld>
  <p:clrMapOvr>
    <a:masterClrMapping/>
  </p:clrMapOvr>
</p:notes>
</file>

<file path=ppt/notesSlides/notesSlide17.xml><?xml version="1.0" encoding="utf-8"?>
<p:notes xmlns:p="http://schemas.openxmlformats.org/presentationml/2006/main" xmlns:a="http://schemas.openxmlformats.org/drawingml/2006/main">
  <p:cSld>
    <p:spTree>
      <p:nvGrpSpPr>
        <p:cNvPr id="65" name=""/>
        <p:cNvGrpSpPr/>
        <p:nvPr/>
      </p:nvGrpSpPr>
      <p:grpSpPr>
        <a:xfrm>
          <a:off x="0" y="0"/>
          <a:ext cx="0" cy="0"/>
          <a:chOff x="0" y="0"/>
          <a:chExt cx="0" cy="0"/>
        </a:xfrm>
      </p:grpSpPr>
      <p:sp>
        <p:nvSpPr>
          <p:cNvPr id="66" name="文本占位符 21"/>
          <p:cNvSpPr/>
          <p:nvPr>
            <p:ph type="body"/>
          </p:nvPr>
        </p:nvSpPr>
        <p:spPr>
          <a:xfrm>
            <a:off x="0" y="0"/>
            <a:ext cx="177800" cy="444500"/>
          </a:xfrm>
        </p:spPr>
        <p:txBody>
          <a:bodyPr/>
          <a:p>
            <a:pPr/>
            <a:r>
              <a:rPr lang="en-US"/>
              <a:t>[Speaker Notes] 2027配置计划：给客户两种方案——方案一 90%固收+10%弹性（稳健型，回撤&lt;1%）；方案二 80%固收+20%弹性（均衡型，回撤≤1.5%）。收益为参考测算。[Sources] 基于固收约4%、弹性策略约8%~15%的假设测算，待产品实际数据校准。</a:t>
            </a:r>
            <a:endParaRPr lang="en-US"/>
          </a:p>
        </p:txBody>
      </p:sp>
    </p:spTree>
  </p:cSld>
  <p:clrMapOvr>
    <a:masterClrMapping/>
  </p:clrMapOvr>
</p:notes>
</file>

<file path=ppt/notesSlides/notesSlide18.xml><?xml version="1.0" encoding="utf-8"?>
<p:notes xmlns:p="http://schemas.openxmlformats.org/presentationml/2006/main" xmlns:a="http://schemas.openxmlformats.org/drawingml/2006/main">
  <p:cSld>
    <p:spTree>
      <p:nvGrpSpPr>
        <p:cNvPr id="67" name=""/>
        <p:cNvGrpSpPr/>
        <p:nvPr/>
      </p:nvGrpSpPr>
      <p:grpSpPr>
        <a:xfrm>
          <a:off x="0" y="0"/>
          <a:ext cx="0" cy="0"/>
          <a:chOff x="0" y="0"/>
          <a:chExt cx="0" cy="0"/>
        </a:xfrm>
      </p:grpSpPr>
      <p:sp>
        <p:nvSpPr>
          <p:cNvPr id="68" name="文本占位符 23"/>
          <p:cNvSpPr/>
          <p:nvPr>
            <p:ph type="body"/>
          </p:nvPr>
        </p:nvSpPr>
        <p:spPr>
          <a:xfrm>
            <a:off x="0" y="0"/>
            <a:ext cx="177800" cy="444500"/>
          </a:xfrm>
        </p:spPr>
        <p:txBody>
          <a:bodyPr/>
          <a:p>
            <a:pPr/>
            <a:r>
              <a:rPr lang="en-US"/>
              <a:t>[Speaker Notes] 弹性策略详解：套利类8大分类（商品/股指/期权/ETF/债券/可转债/跨境外汇/统计套利）+期货策略4维度（逻辑/周期/标的/形式）。[Sources] 策略分类体系，内部尽调框架。</a:t>
            </a:r>
            <a:endParaRPr lang="en-US"/>
          </a:p>
        </p:txBody>
      </p:sp>
    </p:spTree>
  </p:cSld>
  <p:clrMapOvr>
    <a:masterClrMapping/>
  </p:clrMapOvr>
</p:notes>
</file>

<file path=ppt/notesSlides/notesSlide19.xml><?xml version="1.0" encoding="utf-8"?>
<p:notes xmlns:p="http://schemas.openxmlformats.org/presentationml/2006/main" xmlns:a="http://schemas.openxmlformats.org/drawingml/2006/main">
  <p:cSld>
    <p:spTree>
      <p:nvGrpSpPr>
        <p:cNvPr id="69" name=""/>
        <p:cNvGrpSpPr/>
        <p:nvPr/>
      </p:nvGrpSpPr>
      <p:grpSpPr>
        <a:xfrm>
          <a:off x="0" y="0"/>
          <a:ext cx="0" cy="0"/>
          <a:chOff x="0" y="0"/>
          <a:chExt cx="0" cy="0"/>
        </a:xfrm>
      </p:grpSpPr>
      <p:sp>
        <p:nvSpPr>
          <p:cNvPr id="70" name="Slide Image Placeholder 1"/>
          <p:cNvSpPr>
            <a:spLocks noGrp="1"/>
          </p:cNvSpPr>
          <p:nvPr>
            <p:ph type="sldImg" idx="2"/>
          </p:nvPr>
        </p:nvSpPr>
        <p:spPr/>
        <p:txBody>
          <a:bodyPr/>
          <a:p>
            <a:pPr/>
            <a:endParaRPr/>
          </a:p>
        </p:txBody>
      </p:sp>
      <p:sp>
        <p:nvSpPr>
          <p:cNvPr id="71" name="Notes Placeholder 2"/>
          <p:cNvSpPr>
            <a:spLocks noGrp="1"/>
          </p:cNvSpPr>
          <p:nvPr>
            <p:ph type="body" sz="quarter" idx="3"/>
          </p:nvPr>
        </p:nvSpPr>
        <p:spPr/>
        <p:txBody>
          <a:bodyPr/>
          <a:lstStyle/>
          <a:p>
            <a:pPr/>
            <a:r>
              <a:rPr/>
              <a:t>[Speaker Notes]</a:t>
            </a:r>
            <a:endParaRPr/>
          </a:p>
          <a:p>
            <a:pPr/>
            <a:r>
              <a:rPr/>
              <a:t>回撤控制机制页：约束先行、低相关配置、固收压舱、动态再平衡、风控监测五要点。</a:t>
            </a:r>
            <a:endParaRPr/>
          </a:p>
          <a:p>
            <a:pPr/>
            <a:endParaRPr/>
          </a:p>
          <a:p>
            <a:pPr/>
            <a:r>
              <a:rPr/>
              <a:t>[Sources]</a:t>
            </a:r>
            <a:endParaRPr/>
          </a:p>
          <a:p>
            <a:pPr/>
            <a:r>
              <a:rPr/>
              <a:t>内部风控框架。</a:t>
            </a:r>
            <a:endParaRPr/>
          </a:p>
        </p:txBody>
      </p:sp>
      <p:sp>
        <p:nvSpPr>
          <p:cNvPr id="72" name="Slide Number Placeholder 3"/>
          <p:cNvSpPr>
            <a:spLocks noGrp="1"/>
          </p:cNvSpPr>
          <p:nvPr>
            <p:ph type="sldNum" sz="quarter" idx="5"/>
          </p:nvPr>
        </p:nvSpPr>
        <p:spPr/>
        <p:txBody>
          <a:bodyPr/>
          <a:p>
            <a:pPr/>
            <a:endParaRPr/>
          </a:p>
        </p:txBody>
      </p:sp>
    </p:spTree>
  </p:cSld>
  <p:clrMapOvr>
    <a:masterClrMapping/>
  </p:clrMapOvr>
</p:notes>
</file>

<file path=ppt/notesSlides/notesSlide20.xml><?xml version="1.0" encoding="utf-8"?>
<p:notes xmlns:p="http://schemas.openxmlformats.org/presentationml/2006/main" xmlns:a="http://schemas.openxmlformats.org/drawingml/2006/main">
  <p:cSld>
    <p:spTree>
      <p:nvGrpSpPr>
        <p:cNvPr id="73" name=""/>
        <p:cNvGrpSpPr/>
        <p:nvPr/>
      </p:nvGrpSpPr>
      <p:grpSpPr>
        <a:xfrm>
          <a:off x="0" y="0"/>
          <a:ext cx="0" cy="0"/>
          <a:chOff x="0" y="0"/>
          <a:chExt cx="0" cy="0"/>
        </a:xfrm>
      </p:grpSpPr>
      <p:sp>
        <p:nvSpPr>
          <p:cNvPr id="74" name="Slide Image Placeholder 1"/>
          <p:cNvSpPr>
            <a:spLocks noGrp="1"/>
          </p:cNvSpPr>
          <p:nvPr>
            <p:ph type="sldImg" idx="2"/>
          </p:nvPr>
        </p:nvSpPr>
        <p:spPr/>
        <p:txBody>
          <a:bodyPr/>
          <a:p>
            <a:pPr/>
            <a:endParaRPr/>
          </a:p>
        </p:txBody>
      </p:sp>
      <p:sp>
        <p:nvSpPr>
          <p:cNvPr id="75" name="Notes Placeholder 2"/>
          <p:cNvSpPr>
            <a:spLocks noGrp="1"/>
          </p:cNvSpPr>
          <p:nvPr>
            <p:ph type="body" sz="quarter" idx="3"/>
          </p:nvPr>
        </p:nvSpPr>
        <p:spPr/>
        <p:txBody>
          <a:bodyPr/>
          <a:lstStyle/>
          <a:p>
            <a:pPr/>
            <a:r>
              <a:rPr/>
              <a:t>[Speaker Notes]</a:t>
            </a:r>
            <a:endParaRPr/>
          </a:p>
          <a:p>
            <a:pPr/>
            <a:r>
              <a:rPr/>
              <a:t>本页是 9 月版相对 8 月版最大的叙事反转：8 月版写‘加息预期回落’，本版改写‘加息预期升温’。核心链条：杰克逊霍尔沃什鹰派定调 → 巴尔/沃勒分歧 → 8 月非农 16.2 万远超预期 → 9 月加息概率升至约 60%。落点强调中国政策与资产相对独立。</a:t>
            </a:r>
            <a:endParaRPr/>
          </a:p>
          <a:p>
            <a:pPr/>
            <a:endParaRPr/>
          </a:p>
          <a:p>
            <a:pPr/>
            <a:r>
              <a:rPr/>
              <a:t>[Sources]</a:t>
            </a:r>
            <a:endParaRPr/>
          </a:p>
          <a:p>
            <a:pPr/>
            <a:r>
              <a:rPr/>
              <a:t>CME FedWatch（9/8）；汇通网《杰克逊霍尔定调》（9/1）；财联社《国际大行集体押注美联储9月加息》（9/8）；Regards of Wall Street（9 月 FOMC 专题）；美国 BLS 8 月非农。</a:t>
            </a:r>
            <a:endParaRPr/>
          </a:p>
        </p:txBody>
      </p:sp>
      <p:sp>
        <p:nvSpPr>
          <p:cNvPr id="76" name="Slide Number Placeholder 3"/>
          <p:cNvSpPr>
            <a:spLocks noGrp="1"/>
          </p:cNvSpPr>
          <p:nvPr>
            <p:ph type="sldNum" sz="quarter" idx="5"/>
          </p:nvPr>
        </p:nvSpPr>
        <p:spPr/>
        <p:txBody>
          <a:bodyPr/>
          <a:p>
            <a:pPr/>
            <a:endParaRPr/>
          </a:p>
        </p:txBody>
      </p:sp>
    </p:spTree>
  </p:cSld>
  <p:clrMapOvr>
    <a:masterClrMapping/>
  </p:clrMapOvr>
</p:notes>
</file>

<file path=ppt/notesSlides/notesSlide21.xml><?xml version="1.0" encoding="utf-8"?>
<p:notes xmlns:p="http://schemas.openxmlformats.org/presentationml/2006/main" xmlns:a="http://schemas.openxmlformats.org/drawingml/2006/main">
  <p:cSld>
    <p:spTree>
      <p:nvGrpSpPr>
        <p:cNvPr id="77" name=""/>
        <p:cNvGrpSpPr/>
        <p:nvPr/>
      </p:nvGrpSpPr>
      <p:grpSpPr>
        <a:xfrm>
          <a:off x="0" y="0"/>
          <a:ext cx="0" cy="0"/>
          <a:chOff x="0" y="0"/>
          <a:chExt cx="0" cy="0"/>
        </a:xfrm>
      </p:grpSpPr>
      <p:sp>
        <p:nvSpPr>
          <p:cNvPr id="78" name="Slide Image Placeholder 1"/>
          <p:cNvSpPr>
            <a:spLocks noGrp="1"/>
          </p:cNvSpPr>
          <p:nvPr>
            <p:ph type="sldImg" idx="2"/>
          </p:nvPr>
        </p:nvSpPr>
        <p:spPr/>
        <p:txBody>
          <a:bodyPr/>
          <a:p>
            <a:pPr/>
            <a:endParaRPr/>
          </a:p>
        </p:txBody>
      </p:sp>
      <p:sp>
        <p:nvSpPr>
          <p:cNvPr id="79" name="Notes Placeholder 2"/>
          <p:cNvSpPr>
            <a:spLocks noGrp="1"/>
          </p:cNvSpPr>
          <p:nvPr>
            <p:ph type="body" sz="quarter" idx="3"/>
          </p:nvPr>
        </p:nvSpPr>
        <p:spPr/>
        <p:txBody>
          <a:bodyPr/>
          <a:lstStyle/>
          <a:p>
            <a:pPr/>
            <a:r>
              <a:rPr/>
              <a:t>[Speaker Notes]</a:t>
            </a:r>
            <a:endParaRPr/>
          </a:p>
          <a:p>
            <a:pPr/>
            <a:r>
              <a:rPr/>
              <a:t>延续 8 月版‘美伊局势’页，更新为 9 月最新冲突进展与油价。强调滞胀风险，以及其对国内 PPI、商品/CTA 策略的正向传导。</a:t>
            </a:r>
            <a:endParaRPr/>
          </a:p>
          <a:p>
            <a:pPr/>
            <a:endParaRPr/>
          </a:p>
          <a:p>
            <a:pPr/>
            <a:r>
              <a:rPr/>
              <a:t>[Sources]</a:t>
            </a:r>
            <a:endParaRPr/>
          </a:p>
          <a:p>
            <a:pPr/>
            <a:r>
              <a:rPr/>
              <a:t>华尔街见闻 9/9 早餐；国际金融报 9/3 要情；陆家嘴财经早餐 9/5；LME/WTI 收盘数据。</a:t>
            </a:r>
            <a:endParaRPr/>
          </a:p>
        </p:txBody>
      </p:sp>
      <p:sp>
        <p:nvSpPr>
          <p:cNvPr id="80" name="Slide Number Placeholder 3"/>
          <p:cNvSpPr>
            <a:spLocks noGrp="1"/>
          </p:cNvSpPr>
          <p:nvPr>
            <p:ph type="sldNum" sz="quarter" idx="5"/>
          </p:nvPr>
        </p:nvSpPr>
        <p:spPr/>
        <p:txBody>
          <a:bodyPr/>
          <a:p>
            <a:pPr/>
            <a:endParaRPr/>
          </a:p>
        </p:txBody>
      </p:sp>
    </p:spTree>
  </p:cSld>
  <p:clrMapOvr>
    <a:masterClrMapping/>
  </p:clrMapOvr>
</p:notes>
</file>

<file path=ppt/notesSlides/notesSlide22.xml><?xml version="1.0" encoding="utf-8"?>
<p:notes xmlns:p="http://schemas.openxmlformats.org/presentationml/2006/main" xmlns:a="http://schemas.openxmlformats.org/drawingml/2006/main">
  <p:cSld>
    <p:spTree>
      <p:nvGrpSpPr>
        <p:cNvPr id="81" name=""/>
        <p:cNvGrpSpPr/>
        <p:nvPr/>
      </p:nvGrpSpPr>
      <p:grpSpPr>
        <a:xfrm>
          <a:off x="0" y="0"/>
          <a:ext cx="0" cy="0"/>
          <a:chOff x="0" y="0"/>
          <a:chExt cx="0" cy="0"/>
        </a:xfrm>
      </p:grpSpPr>
      <p:sp>
        <p:nvSpPr>
          <p:cNvPr id="82" name="Slide Image Placeholder 1"/>
          <p:cNvSpPr>
            <a:spLocks noGrp="1"/>
          </p:cNvSpPr>
          <p:nvPr>
            <p:ph type="sldImg" idx="2"/>
          </p:nvPr>
        </p:nvSpPr>
        <p:spPr/>
        <p:txBody>
          <a:bodyPr/>
          <a:p>
            <a:pPr/>
            <a:endParaRPr/>
          </a:p>
        </p:txBody>
      </p:sp>
      <p:sp>
        <p:nvSpPr>
          <p:cNvPr id="83" name="Notes Placeholder 2"/>
          <p:cNvSpPr>
            <a:spLocks noGrp="1"/>
          </p:cNvSpPr>
          <p:nvPr>
            <p:ph type="body" sz="quarter" idx="3"/>
          </p:nvPr>
        </p:nvSpPr>
        <p:spPr/>
        <p:txBody>
          <a:bodyPr/>
          <a:lstStyle/>
          <a:p>
            <a:pPr/>
            <a:r>
              <a:rPr/>
              <a:t>[Speaker Notes]</a:t>
            </a:r>
            <a:endParaRPr/>
          </a:p>
          <a:p>
            <a:pPr/>
            <a:r>
              <a:rPr/>
              <a:t>延续 8 月版‘政治局会议’页，但结论方向调整：8 月版写‘降准降息预期升温’，本版据最新信息改为‘相机抉择、宽松延后’。LPR 连续 15 个月不动是硬数据。</a:t>
            </a:r>
            <a:endParaRPr/>
          </a:p>
          <a:p>
            <a:pPr/>
            <a:endParaRPr/>
          </a:p>
          <a:p>
            <a:pPr/>
            <a:r>
              <a:rPr/>
              <a:t>[Sources]</a:t>
            </a:r>
            <a:endParaRPr/>
          </a:p>
          <a:p>
            <a:pPr/>
            <a:r>
              <a:rPr/>
              <a:t>央行 8/1 下半年工作会议；7/30 政治局会议；1 年期 LPR 报价（8/20）；华创证券张瑜团队。</a:t>
            </a:r>
            <a:endParaRPr/>
          </a:p>
        </p:txBody>
      </p:sp>
      <p:sp>
        <p:nvSpPr>
          <p:cNvPr id="84" name="Slide Number Placeholder 3"/>
          <p:cNvSpPr>
            <a:spLocks noGrp="1"/>
          </p:cNvSpPr>
          <p:nvPr>
            <p:ph type="sldNum" sz="quarter" idx="5"/>
          </p:nvPr>
        </p:nvSpPr>
        <p:spPr/>
        <p:txBody>
          <a:bodyPr/>
          <a:p>
            <a:pPr/>
            <a:endParaRPr/>
          </a:p>
        </p:txBody>
      </p:sp>
    </p:spTree>
  </p:cSld>
  <p:clrMapOvr>
    <a:masterClrMapping/>
  </p:clrMapOvr>
</p:notes>
</file>

<file path=ppt/notesSlides/notesSlide23.xml><?xml version="1.0" encoding="utf-8"?>
<p:notes xmlns:p="http://schemas.openxmlformats.org/presentationml/2006/main" xmlns:a="http://schemas.openxmlformats.org/drawingml/2006/main">
  <p:cSld>
    <p:spTree>
      <p:nvGrpSpPr>
        <p:cNvPr id="85" name=""/>
        <p:cNvGrpSpPr/>
        <p:nvPr/>
      </p:nvGrpSpPr>
      <p:grpSpPr>
        <a:xfrm>
          <a:off x="0" y="0"/>
          <a:ext cx="0" cy="0"/>
          <a:chOff x="0" y="0"/>
          <a:chExt cx="0" cy="0"/>
        </a:xfrm>
      </p:grpSpPr>
      <p:sp>
        <p:nvSpPr>
          <p:cNvPr id="86" name="Slide Image Placeholder 1"/>
          <p:cNvSpPr>
            <a:spLocks noGrp="1"/>
          </p:cNvSpPr>
          <p:nvPr>
            <p:ph type="sldImg" idx="2"/>
          </p:nvPr>
        </p:nvSpPr>
        <p:spPr/>
        <p:txBody>
          <a:bodyPr/>
          <a:p>
            <a:pPr/>
            <a:endParaRPr/>
          </a:p>
        </p:txBody>
      </p:sp>
      <p:sp>
        <p:nvSpPr>
          <p:cNvPr id="87" name="Notes Placeholder 2"/>
          <p:cNvSpPr>
            <a:spLocks noGrp="1"/>
          </p:cNvSpPr>
          <p:nvPr>
            <p:ph type="body" sz="quarter" idx="3"/>
          </p:nvPr>
        </p:nvSpPr>
        <p:spPr/>
        <p:txBody>
          <a:bodyPr/>
          <a:lstStyle/>
          <a:p>
            <a:pPr/>
            <a:r>
              <a:rPr/>
              <a:t>[Speaker Notes]</a:t>
            </a:r>
            <a:endParaRPr/>
          </a:p>
          <a:p>
            <a:pPr/>
            <a:r>
              <a:rPr/>
              <a:t>8 月经济数据页：CPI 0.8%、PPI 3.8%、PMI 49.8%、出口 +25%。突出‘外需强内需弱、价格回升’的结构特征，为商品/上游资产提供支撑。</a:t>
            </a:r>
            <a:endParaRPr/>
          </a:p>
          <a:p>
            <a:pPr/>
            <a:endParaRPr/>
          </a:p>
          <a:p>
            <a:pPr/>
            <a:r>
              <a:rPr/>
              <a:t>[Sources]</a:t>
            </a:r>
            <a:endParaRPr/>
          </a:p>
          <a:p>
            <a:pPr/>
            <a:r>
              <a:rPr/>
              <a:t>国家统计局 8 月 CPI/PPI（9/9）；8 月 PMI（9/1）；海关总署 8 月进出口（9/8）；广发宏观高频数据。</a:t>
            </a:r>
            <a:endParaRPr/>
          </a:p>
        </p:txBody>
      </p:sp>
      <p:sp>
        <p:nvSpPr>
          <p:cNvPr id="88" name="Slide Number Placeholder 3"/>
          <p:cNvSpPr>
            <a:spLocks noGrp="1"/>
          </p:cNvSpPr>
          <p:nvPr>
            <p:ph type="sldNum" sz="quarter" idx="5"/>
          </p:nvPr>
        </p:nvSpPr>
        <p:spPr/>
        <p:txBody>
          <a:bodyPr/>
          <a:p>
            <a:pPr/>
            <a:endParaRPr/>
          </a:p>
        </p:txBody>
      </p:sp>
    </p:spTree>
  </p:cSld>
  <p:clrMapOvr>
    <a:masterClrMapping/>
  </p:clrMapOvr>
</p:notes>
</file>

<file path=ppt/notesSlides/notesSlide24.xml><?xml version="1.0" encoding="utf-8"?>
<p:notes xmlns:p="http://schemas.openxmlformats.org/presentationml/2006/main" xmlns:a="http://schemas.openxmlformats.org/drawingml/2006/main">
  <p:cSld>
    <p:spTree>
      <p:nvGrpSpPr>
        <p:cNvPr id="89" name=""/>
        <p:cNvGrpSpPr/>
        <p:nvPr/>
      </p:nvGrpSpPr>
      <p:grpSpPr>
        <a:xfrm>
          <a:off x="0" y="0"/>
          <a:ext cx="0" cy="0"/>
          <a:chOff x="0" y="0"/>
          <a:chExt cx="0" cy="0"/>
        </a:xfrm>
      </p:grpSpPr>
      <p:sp>
        <p:nvSpPr>
          <p:cNvPr id="90" name="Slide Image Placeholder 1"/>
          <p:cNvSpPr>
            <a:spLocks noGrp="1"/>
          </p:cNvSpPr>
          <p:nvPr>
            <p:ph type="sldImg" idx="2"/>
          </p:nvPr>
        </p:nvSpPr>
        <p:spPr/>
        <p:txBody>
          <a:bodyPr/>
          <a:p>
            <a:pPr/>
            <a:endParaRPr/>
          </a:p>
        </p:txBody>
      </p:sp>
      <p:sp>
        <p:nvSpPr>
          <p:cNvPr id="91" name="Notes Placeholder 2"/>
          <p:cNvSpPr>
            <a:spLocks noGrp="1"/>
          </p:cNvSpPr>
          <p:nvPr>
            <p:ph type="body" sz="quarter" idx="3"/>
          </p:nvPr>
        </p:nvSpPr>
        <p:spPr/>
        <p:txBody>
          <a:bodyPr/>
          <a:lstStyle/>
          <a:p>
            <a:pPr/>
            <a:r>
              <a:rPr/>
              <a:t>[Speaker Notes]</a:t>
            </a:r>
            <a:endParaRPr/>
          </a:p>
          <a:p>
            <a:pPr/>
            <a:r>
              <a:rPr/>
              <a:t>宏观小结页：海外/国内/对资产启示三栏。核心判断——海外紧缩+地缘扰动压制风险偏好，但中国资产相对独立；国内稳增长有后手。</a:t>
            </a:r>
            <a:endParaRPr/>
          </a:p>
          <a:p>
            <a:pPr/>
            <a:endParaRPr/>
          </a:p>
          <a:p>
            <a:pPr/>
            <a:r>
              <a:rPr/>
              <a:t>[Sources]</a:t>
            </a:r>
            <a:endParaRPr/>
          </a:p>
          <a:p>
            <a:pPr/>
            <a:r>
              <a:rPr/>
              <a:t>综合前述数据源。</a:t>
            </a:r>
            <a:endParaRPr/>
          </a:p>
        </p:txBody>
      </p:sp>
      <p:sp>
        <p:nvSpPr>
          <p:cNvPr id="92" name="Slide Number Placeholder 3"/>
          <p:cNvSpPr>
            <a:spLocks noGrp="1"/>
          </p:cNvSpPr>
          <p:nvPr>
            <p:ph type="sldNum" sz="quarter" idx="5"/>
          </p:nvPr>
        </p:nvSpPr>
        <p:spPr/>
        <p:txBody>
          <a:bodyPr/>
          <a:p>
            <a:pPr/>
            <a:endParaRPr/>
          </a:p>
        </p:txBody>
      </p:sp>
    </p:spTree>
  </p:cSld>
  <p:clrMapOvr>
    <a:masterClrMapping/>
  </p:clrMapOvr>
</p:note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2.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3.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4.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5.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6.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7.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8.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9.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0.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pPr/>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r>
              <a:rPr lang="en-US" smtClean="0"/>
              <a:t>Click to edit Master subtitle style</a:t>
            </a:r>
            <a:endParaRPr lang="en-US"/>
          </a:p>
        </p:txBody>
      </p:sp>
      <p:sp>
        <p:nvSpPr>
          <p:cNvPr id="4" name="Date Placeholder 3"/>
          <p:cNvSpPr>
            <a:spLocks noGrp="1"/>
          </p:cNvSpPr>
          <p:nvPr>
            <p:ph type="dt" sz="half" idx="10"/>
          </p:nvPr>
        </p:nvSpPr>
        <p:spPr/>
        <p:txBody>
          <a:bodyPr/>
          <a:lstStyle/>
          <a:p>
            <a:pPr/>
            <a:fld id="{5BCAD085-E8A6-8845-BD4E-CB4CCA059FC4}" type="datetimeFigureOut">
              <a:rPr lang="en-US" smtClean="0"/>
              <a:t/>
            </a:fld>
            <a:endParaRPr lang="en-US"/>
          </a:p>
        </p:txBody>
      </p:sp>
      <p:sp>
        <p:nvSpPr>
          <p:cNvPr id="5" name="Footer Placeholder 4"/>
          <p:cNvSpPr>
            <a:spLocks noGrp="1"/>
          </p:cNvSpPr>
          <p:nvPr>
            <p:ph type="ftr" sz="quarter" idx="11"/>
          </p:nvPr>
        </p:nvSpPr>
        <p:spPr/>
        <p:txBody>
          <a:bodyPr/>
          <a:lstStyle/>
          <a:p>
            <a:pPr/>
            <a:endParaRPr lang="en-US"/>
          </a:p>
        </p:txBody>
      </p:sp>
      <p:sp>
        <p:nvSpPr>
          <p:cNvPr id="6" name="Slide Number Placeholder 5"/>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2.xml><?xml version="1.0" encoding="utf-8"?>
<p:sldLayout xmlns:p="http://schemas.openxmlformats.org/presentationml/2006/main" xmlns:a="http://schemas.openxmlformats.org/drawingml/2006/main" type="obj">
  <p:cSld name="Title and Content">
    <p:spTree>
      <p:nvGrpSpPr>
        <p:cNvPr id="7" name=""/>
        <p:cNvGrpSpPr/>
        <p:nvPr/>
      </p:nvGrpSpPr>
      <p:grpSpPr>
        <a:xfrm>
          <a:off x="0" y="0"/>
          <a:ext cx="0" cy="0"/>
          <a:chOff x="0" y="0"/>
          <a:chExt cx="0" cy="0"/>
        </a:xfrm>
      </p:grpSpPr>
      <p:sp>
        <p:nvSpPr>
          <p:cNvPr id="8" name="Title 1"/>
          <p:cNvSpPr>
            <a:spLocks noGrp="1"/>
          </p:cNvSpPr>
          <p:nvPr>
            <p:ph type="title"/>
          </p:nvPr>
        </p:nvSpPr>
        <p:spPr/>
        <p:txBody>
          <a:bodyPr/>
          <a:lstStyle/>
          <a:p>
            <a:pPr/>
            <a:r>
              <a:rPr lang="en-US" smtClean="0"/>
              <a:t>Click to edit Master title style</a:t>
            </a:r>
            <a:endParaRPr lang="en-US"/>
          </a:p>
        </p:txBody>
      </p:sp>
      <p:sp>
        <p:nvSpPr>
          <p:cNvPr id="9"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 name="Date Placeholder 3"/>
          <p:cNvSpPr>
            <a:spLocks noGrp="1"/>
          </p:cNvSpPr>
          <p:nvPr>
            <p:ph type="dt" sz="half" idx="10"/>
          </p:nvPr>
        </p:nvSpPr>
        <p:spPr/>
        <p:txBody>
          <a:bodyPr/>
          <a:lstStyle/>
          <a:p>
            <a:pPr/>
            <a:fld id="{5BCAD085-E8A6-8845-BD4E-CB4CCA059FC4}" type="datetimeFigureOut">
              <a:rPr lang="en-US" smtClean="0"/>
              <a:t/>
            </a:fld>
            <a:endParaRPr lang="en-US"/>
          </a:p>
        </p:txBody>
      </p:sp>
      <p:sp>
        <p:nvSpPr>
          <p:cNvPr id="11" name="Footer Placeholder 4"/>
          <p:cNvSpPr>
            <a:spLocks noGrp="1"/>
          </p:cNvSpPr>
          <p:nvPr>
            <p:ph type="ftr" sz="quarter" idx="11"/>
          </p:nvPr>
        </p:nvSpPr>
        <p:spPr/>
        <p:txBody>
          <a:bodyPr/>
          <a:lstStyle/>
          <a:p>
            <a:pPr/>
            <a:endParaRPr lang="en-US"/>
          </a:p>
        </p:txBody>
      </p:sp>
      <p:sp>
        <p:nvSpPr>
          <p:cNvPr id="12" name="Slide Number Placeholder 5"/>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3.xml><?xml version="1.0" encoding="utf-8"?>
<p:sldLayout xmlns:p="http://schemas.openxmlformats.org/presentationml/2006/main" xmlns:a="http://schemas.openxmlformats.org/drawingml/2006/main" type="secHead">
  <p:cSld name="Section Header">
    <p:spTree>
      <p:nvGrpSpPr>
        <p:cNvPr id="19" name=""/>
        <p:cNvGrpSpPr/>
        <p:nvPr/>
      </p:nvGrpSpPr>
      <p:grpSpPr>
        <a:xfrm>
          <a:off x="0" y="0"/>
          <a:ext cx="0" cy="0"/>
          <a:chOff x="0" y="0"/>
          <a:chExt cx="0" cy="0"/>
        </a:xfrm>
      </p:grpSpPr>
      <p:sp>
        <p:nvSpPr>
          <p:cNvPr id="20" name="Title 1"/>
          <p:cNvSpPr>
            <a:spLocks noGrp="1"/>
          </p:cNvSpPr>
          <p:nvPr>
            <p:ph type="title"/>
          </p:nvPr>
        </p:nvSpPr>
        <p:spPr>
          <a:xfrm>
            <a:off x="722313" y="4406900"/>
            <a:ext cx="7772400" cy="1362075"/>
          </a:xfrm>
        </p:spPr>
        <p:txBody>
          <a:bodyPr anchor="t"/>
          <a:lstStyle>
            <a:lvl1pPr algn="l">
              <a:defRPr sz="4000" b="1" cap="all"/>
            </a:lvl1pPr>
          </a:lstStyle>
          <a:p>
            <a:pPr/>
            <a:r>
              <a:rPr lang="en-US" smtClean="0"/>
              <a:t>Click to edit Master title style</a:t>
            </a:r>
            <a:endParaRPr lang="en-US"/>
          </a:p>
        </p:txBody>
      </p:sp>
      <p:sp>
        <p:nvSpPr>
          <p:cNvPr id="21"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22" name="Date Placeholder 3"/>
          <p:cNvSpPr>
            <a:spLocks noGrp="1"/>
          </p:cNvSpPr>
          <p:nvPr>
            <p:ph type="dt" sz="half" idx="10"/>
          </p:nvPr>
        </p:nvSpPr>
        <p:spPr/>
        <p:txBody>
          <a:bodyPr/>
          <a:lstStyle/>
          <a:p>
            <a:pPr/>
            <a:fld id="{5BCAD085-E8A6-8845-BD4E-CB4CCA059FC4}" type="datetimeFigureOut">
              <a:rPr lang="en-US" smtClean="0"/>
              <a:t/>
            </a:fld>
            <a:endParaRPr lang="en-US"/>
          </a:p>
        </p:txBody>
      </p:sp>
      <p:sp>
        <p:nvSpPr>
          <p:cNvPr id="23" name="Footer Placeholder 4"/>
          <p:cNvSpPr>
            <a:spLocks noGrp="1"/>
          </p:cNvSpPr>
          <p:nvPr>
            <p:ph type="ftr" sz="quarter" idx="11"/>
          </p:nvPr>
        </p:nvSpPr>
        <p:spPr/>
        <p:txBody>
          <a:bodyPr/>
          <a:lstStyle/>
          <a:p>
            <a:pPr/>
            <a:endParaRPr lang="en-US"/>
          </a:p>
        </p:txBody>
      </p:sp>
      <p:sp>
        <p:nvSpPr>
          <p:cNvPr id="24" name="Slide Number Placeholder 5"/>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4.xml><?xml version="1.0" encoding="utf-8"?>
<p:sldLayout xmlns:p="http://schemas.openxmlformats.org/presentationml/2006/main" xmlns:a="http://schemas.openxmlformats.org/drawingml/2006/main" type="twoObj">
  <p:cSld name="Two Content">
    <p:spTree>
      <p:nvGrpSpPr>
        <p:cNvPr id="25" name=""/>
        <p:cNvGrpSpPr/>
        <p:nvPr/>
      </p:nvGrpSpPr>
      <p:grpSpPr>
        <a:xfrm>
          <a:off x="0" y="0"/>
          <a:ext cx="0" cy="0"/>
          <a:chOff x="0" y="0"/>
          <a:chExt cx="0" cy="0"/>
        </a:xfrm>
      </p:grpSpPr>
      <p:sp>
        <p:nvSpPr>
          <p:cNvPr id="26" name="Title 1"/>
          <p:cNvSpPr>
            <a:spLocks noGrp="1"/>
          </p:cNvSpPr>
          <p:nvPr>
            <p:ph type="title"/>
          </p:nvPr>
        </p:nvSpPr>
        <p:spPr/>
        <p:txBody>
          <a:bodyPr/>
          <a:lstStyle/>
          <a:p>
            <a:pPr/>
            <a:r>
              <a:rPr lang="en-US" smtClean="0"/>
              <a:t>Click to edit Master title style</a:t>
            </a:r>
            <a:endParaRPr lang="en-US"/>
          </a:p>
        </p:txBody>
      </p:sp>
      <p:sp>
        <p:nvSpPr>
          <p:cNvPr id="27"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28"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29" name="Date Placeholder 4"/>
          <p:cNvSpPr>
            <a:spLocks noGrp="1"/>
          </p:cNvSpPr>
          <p:nvPr>
            <p:ph type="dt" sz="half" idx="10"/>
          </p:nvPr>
        </p:nvSpPr>
        <p:spPr/>
        <p:txBody>
          <a:bodyPr/>
          <a:lstStyle/>
          <a:p>
            <a:pPr/>
            <a:fld id="{5BCAD085-E8A6-8845-BD4E-CB4CCA059FC4}" type="datetimeFigureOut">
              <a:rPr lang="en-US" smtClean="0"/>
              <a:t/>
            </a:fld>
            <a:endParaRPr lang="en-US"/>
          </a:p>
        </p:txBody>
      </p:sp>
      <p:sp>
        <p:nvSpPr>
          <p:cNvPr id="30" name="Footer Placeholder 5"/>
          <p:cNvSpPr>
            <a:spLocks noGrp="1"/>
          </p:cNvSpPr>
          <p:nvPr>
            <p:ph type="ftr" sz="quarter" idx="11"/>
          </p:nvPr>
        </p:nvSpPr>
        <p:spPr/>
        <p:txBody>
          <a:bodyPr/>
          <a:lstStyle/>
          <a:p>
            <a:pPr/>
            <a:endParaRPr lang="en-US"/>
          </a:p>
        </p:txBody>
      </p:sp>
      <p:sp>
        <p:nvSpPr>
          <p:cNvPr id="31" name="Slide Number Placeholder 6"/>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5.xml><?xml version="1.0" encoding="utf-8"?>
<p:sldLayout xmlns:p="http://schemas.openxmlformats.org/presentationml/2006/main" xmlns:a="http://schemas.openxmlformats.org/drawingml/2006/main" type="twoTxTwoObj">
  <p:cSld name="Comparison">
    <p:spTree>
      <p:nvGrpSpPr>
        <p:cNvPr id="32" name=""/>
        <p:cNvGrpSpPr/>
        <p:nvPr/>
      </p:nvGrpSpPr>
      <p:grpSpPr>
        <a:xfrm>
          <a:off x="0" y="0"/>
          <a:ext cx="0" cy="0"/>
          <a:chOff x="0" y="0"/>
          <a:chExt cx="0" cy="0"/>
        </a:xfrm>
      </p:grpSpPr>
      <p:sp>
        <p:nvSpPr>
          <p:cNvPr id="33" name="Title 1"/>
          <p:cNvSpPr>
            <a:spLocks noGrp="1"/>
          </p:cNvSpPr>
          <p:nvPr>
            <p:ph type="title"/>
          </p:nvPr>
        </p:nvSpPr>
        <p:spPr/>
        <p:txBody>
          <a:bodyPr/>
          <a:lstStyle>
            <a:lvl1pPr>
              <a:defRPr/>
            </a:lvl1pPr>
          </a:lstStyle>
          <a:p>
            <a:pPr/>
            <a:r>
              <a:rPr lang="en-US" smtClean="0"/>
              <a:t>Click to edit Master title style</a:t>
            </a:r>
            <a:endParaRPr lang="en-US"/>
          </a:p>
        </p:txBody>
      </p:sp>
      <p:sp>
        <p:nvSpPr>
          <p:cNvPr id="34"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35"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6"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37"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8" name="Date Placeholder 6"/>
          <p:cNvSpPr>
            <a:spLocks noGrp="1"/>
          </p:cNvSpPr>
          <p:nvPr>
            <p:ph type="dt" sz="half" idx="10"/>
          </p:nvPr>
        </p:nvSpPr>
        <p:spPr/>
        <p:txBody>
          <a:bodyPr/>
          <a:lstStyle/>
          <a:p>
            <a:pPr/>
            <a:fld id="{5BCAD085-E8A6-8845-BD4E-CB4CCA059FC4}" type="datetimeFigureOut">
              <a:rPr lang="en-US" smtClean="0"/>
              <a:t/>
            </a:fld>
            <a:endParaRPr lang="en-US"/>
          </a:p>
        </p:txBody>
      </p:sp>
      <p:sp>
        <p:nvSpPr>
          <p:cNvPr id="39" name="Footer Placeholder 7"/>
          <p:cNvSpPr>
            <a:spLocks noGrp="1"/>
          </p:cNvSpPr>
          <p:nvPr>
            <p:ph type="ftr" sz="quarter" idx="11"/>
          </p:nvPr>
        </p:nvSpPr>
        <p:spPr/>
        <p:txBody>
          <a:bodyPr/>
          <a:lstStyle/>
          <a:p>
            <a:pPr/>
            <a:endParaRPr lang="en-US"/>
          </a:p>
        </p:txBody>
      </p:sp>
      <p:sp>
        <p:nvSpPr>
          <p:cNvPr id="40" name="Slide Number Placeholder 8"/>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6.xml><?xml version="1.0" encoding="utf-8"?>
<p:sldLayout xmlns:p="http://schemas.openxmlformats.org/presentationml/2006/main" xmlns:a="http://schemas.openxmlformats.org/drawingml/2006/main" type="titleOnly">
  <p:cSld name="Title Only">
    <p:spTree>
      <p:nvGrpSpPr>
        <p:cNvPr id="41" name=""/>
        <p:cNvGrpSpPr/>
        <p:nvPr/>
      </p:nvGrpSpPr>
      <p:grpSpPr>
        <a:xfrm>
          <a:off x="0" y="0"/>
          <a:ext cx="0" cy="0"/>
          <a:chOff x="0" y="0"/>
          <a:chExt cx="0" cy="0"/>
        </a:xfrm>
      </p:grpSpPr>
      <p:sp>
        <p:nvSpPr>
          <p:cNvPr id="42" name="Title 1"/>
          <p:cNvSpPr>
            <a:spLocks noGrp="1"/>
          </p:cNvSpPr>
          <p:nvPr>
            <p:ph type="title"/>
          </p:nvPr>
        </p:nvSpPr>
        <p:spPr/>
        <p:txBody>
          <a:bodyPr/>
          <a:lstStyle/>
          <a:p>
            <a:pPr/>
            <a:r>
              <a:rPr lang="en-US" smtClean="0"/>
              <a:t>Click to edit Master title style</a:t>
            </a:r>
            <a:endParaRPr lang="en-US"/>
          </a:p>
        </p:txBody>
      </p:sp>
      <p:sp>
        <p:nvSpPr>
          <p:cNvPr id="43" name="Date Placeholder 2"/>
          <p:cNvSpPr>
            <a:spLocks noGrp="1"/>
          </p:cNvSpPr>
          <p:nvPr>
            <p:ph type="dt" sz="half" idx="10"/>
          </p:nvPr>
        </p:nvSpPr>
        <p:spPr/>
        <p:txBody>
          <a:bodyPr/>
          <a:lstStyle/>
          <a:p>
            <a:pPr/>
            <a:fld id="{5BCAD085-E8A6-8845-BD4E-CB4CCA059FC4}" type="datetimeFigureOut">
              <a:rPr lang="en-US" smtClean="0"/>
              <a:t/>
            </a:fld>
            <a:endParaRPr lang="en-US"/>
          </a:p>
        </p:txBody>
      </p:sp>
      <p:sp>
        <p:nvSpPr>
          <p:cNvPr id="44" name="Footer Placeholder 3"/>
          <p:cNvSpPr>
            <a:spLocks noGrp="1"/>
          </p:cNvSpPr>
          <p:nvPr>
            <p:ph type="ftr" sz="quarter" idx="11"/>
          </p:nvPr>
        </p:nvSpPr>
        <p:spPr/>
        <p:txBody>
          <a:bodyPr/>
          <a:lstStyle/>
          <a:p>
            <a:pPr/>
            <a:endParaRPr lang="en-US"/>
          </a:p>
        </p:txBody>
      </p:sp>
      <p:sp>
        <p:nvSpPr>
          <p:cNvPr id="45" name="Slide Number Placeholder 4"/>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7.xml><?xml version="1.0" encoding="utf-8"?>
<p:sldLayout xmlns:p="http://schemas.openxmlformats.org/presentationml/2006/main" xmlns:a="http://schemas.openxmlformats.org/drawingml/2006/main" type="blank">
  <p:cSld name="Blank">
    <p:spTree>
      <p:nvGrpSpPr>
        <p:cNvPr id="46" name=""/>
        <p:cNvGrpSpPr/>
        <p:nvPr/>
      </p:nvGrpSpPr>
      <p:grpSpPr>
        <a:xfrm>
          <a:off x="0" y="0"/>
          <a:ext cx="0" cy="0"/>
          <a:chOff x="0" y="0"/>
          <a:chExt cx="0" cy="0"/>
        </a:xfrm>
      </p:grpSpPr>
      <p:sp>
        <p:nvSpPr>
          <p:cNvPr id="47" name="Date Placeholder 1"/>
          <p:cNvSpPr>
            <a:spLocks noGrp="1"/>
          </p:cNvSpPr>
          <p:nvPr>
            <p:ph type="dt" sz="half" idx="10"/>
          </p:nvPr>
        </p:nvSpPr>
        <p:spPr/>
        <p:txBody>
          <a:bodyPr/>
          <a:lstStyle/>
          <a:p>
            <a:pPr/>
            <a:fld id="{5BCAD085-E8A6-8845-BD4E-CB4CCA059FC4}" type="datetimeFigureOut">
              <a:rPr lang="en-US" smtClean="0"/>
              <a:t/>
            </a:fld>
            <a:endParaRPr lang="en-US"/>
          </a:p>
        </p:txBody>
      </p:sp>
      <p:sp>
        <p:nvSpPr>
          <p:cNvPr id="48" name="Footer Placeholder 2"/>
          <p:cNvSpPr>
            <a:spLocks noGrp="1"/>
          </p:cNvSpPr>
          <p:nvPr>
            <p:ph type="ftr" sz="quarter" idx="11"/>
          </p:nvPr>
        </p:nvSpPr>
        <p:spPr/>
        <p:txBody>
          <a:bodyPr/>
          <a:lstStyle/>
          <a:p>
            <a:pPr/>
            <a:endParaRPr lang="en-US"/>
          </a:p>
        </p:txBody>
      </p:sp>
      <p:sp>
        <p:nvSpPr>
          <p:cNvPr id="49" name="Slide Number Placeholder 3"/>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8.xml><?xml version="1.0" encoding="utf-8"?>
<p:sldLayout xmlns:p="http://schemas.openxmlformats.org/presentationml/2006/main" xmlns:a="http://schemas.openxmlformats.org/drawingml/2006/main" type="objTx">
  <p:cSld name="Content with Caption">
    <p:spTree>
      <p:nvGrpSpPr>
        <p:cNvPr id="50" name=""/>
        <p:cNvGrpSpPr/>
        <p:nvPr/>
      </p:nvGrpSpPr>
      <p:grpSpPr>
        <a:xfrm>
          <a:off x="0" y="0"/>
          <a:ext cx="0" cy="0"/>
          <a:chOff x="0" y="0"/>
          <a:chExt cx="0" cy="0"/>
        </a:xfrm>
      </p:grpSpPr>
      <p:sp>
        <p:nvSpPr>
          <p:cNvPr id="51" name="Title 1"/>
          <p:cNvSpPr>
            <a:spLocks noGrp="1"/>
          </p:cNvSpPr>
          <p:nvPr>
            <p:ph type="title"/>
          </p:nvPr>
        </p:nvSpPr>
        <p:spPr>
          <a:xfrm>
            <a:off x="457200" y="273050"/>
            <a:ext cx="3008313" cy="1162050"/>
          </a:xfrm>
        </p:spPr>
        <p:txBody>
          <a:bodyPr anchor="b"/>
          <a:lstStyle>
            <a:lvl1pPr algn="l">
              <a:defRPr sz="2000" b="1"/>
            </a:lvl1pPr>
          </a:lstStyle>
          <a:p>
            <a:pPr/>
            <a:r>
              <a:rPr lang="en-US" smtClean="0"/>
              <a:t>Click to edit Master title style</a:t>
            </a:r>
            <a:endParaRPr lang="en-US"/>
          </a:p>
        </p:txBody>
      </p:sp>
      <p:sp>
        <p:nvSpPr>
          <p:cNvPr id="52"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3"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4" name="Date Placeholder 4"/>
          <p:cNvSpPr>
            <a:spLocks noGrp="1"/>
          </p:cNvSpPr>
          <p:nvPr>
            <p:ph type="dt" sz="half" idx="10"/>
          </p:nvPr>
        </p:nvSpPr>
        <p:spPr/>
        <p:txBody>
          <a:bodyPr/>
          <a:lstStyle/>
          <a:p>
            <a:pPr/>
            <a:fld id="{5BCAD085-E8A6-8845-BD4E-CB4CCA059FC4}" type="datetimeFigureOut">
              <a:rPr lang="en-US" smtClean="0"/>
              <a:t/>
            </a:fld>
            <a:endParaRPr lang="en-US"/>
          </a:p>
        </p:txBody>
      </p:sp>
      <p:sp>
        <p:nvSpPr>
          <p:cNvPr id="55" name="Footer Placeholder 5"/>
          <p:cNvSpPr>
            <a:spLocks noGrp="1"/>
          </p:cNvSpPr>
          <p:nvPr>
            <p:ph type="ftr" sz="quarter" idx="11"/>
          </p:nvPr>
        </p:nvSpPr>
        <p:spPr/>
        <p:txBody>
          <a:bodyPr/>
          <a:lstStyle/>
          <a:p>
            <a:pPr/>
            <a:endParaRPr lang="en-US"/>
          </a:p>
        </p:txBody>
      </p:sp>
      <p:sp>
        <p:nvSpPr>
          <p:cNvPr id="56" name="Slide Number Placeholder 6"/>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9.xml><?xml version="1.0" encoding="utf-8"?>
<p:sldLayout xmlns:p="http://schemas.openxmlformats.org/presentationml/2006/main" xmlns:a="http://schemas.openxmlformats.org/drawingml/2006/main" type="picTx">
  <p:cSld name="Picture with Caption">
    <p:spTree>
      <p:nvGrpSpPr>
        <p:cNvPr id="57" name=""/>
        <p:cNvGrpSpPr/>
        <p:nvPr/>
      </p:nvGrpSpPr>
      <p:grpSpPr>
        <a:xfrm>
          <a:off x="0" y="0"/>
          <a:ext cx="0" cy="0"/>
          <a:chOff x="0" y="0"/>
          <a:chExt cx="0" cy="0"/>
        </a:xfrm>
      </p:grpSpPr>
      <p:sp>
        <p:nvSpPr>
          <p:cNvPr id="58" name="Title 1"/>
          <p:cNvSpPr>
            <a:spLocks noGrp="1"/>
          </p:cNvSpPr>
          <p:nvPr>
            <p:ph type="title"/>
          </p:nvPr>
        </p:nvSpPr>
        <p:spPr>
          <a:xfrm>
            <a:off x="1792288" y="4800600"/>
            <a:ext cx="5486400" cy="566738"/>
          </a:xfrm>
        </p:spPr>
        <p:txBody>
          <a:bodyPr anchor="b"/>
          <a:lstStyle>
            <a:lvl1pPr algn="l">
              <a:defRPr sz="2000" b="1"/>
            </a:lvl1pPr>
          </a:lstStyle>
          <a:p>
            <a:pPr/>
            <a:r>
              <a:rPr lang="en-US" smtClean="0"/>
              <a:t>Click to edit Master title style</a:t>
            </a:r>
            <a:endParaRPr lang="en-US"/>
          </a:p>
        </p:txBody>
      </p:sp>
      <p:sp>
        <p:nvSpPr>
          <p:cNvPr id="59"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endParaRPr lang="en-US"/>
          </a:p>
        </p:txBody>
      </p:sp>
      <p:sp>
        <p:nvSpPr>
          <p:cNvPr id="6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61" name="Date Placeholder 4"/>
          <p:cNvSpPr>
            <a:spLocks noGrp="1"/>
          </p:cNvSpPr>
          <p:nvPr>
            <p:ph type="dt" sz="half" idx="10"/>
          </p:nvPr>
        </p:nvSpPr>
        <p:spPr/>
        <p:txBody>
          <a:bodyPr/>
          <a:lstStyle/>
          <a:p>
            <a:pPr/>
            <a:fld id="{5BCAD085-E8A6-8845-BD4E-CB4CCA059FC4}" type="datetimeFigureOut">
              <a:rPr lang="en-US" smtClean="0"/>
              <a:t/>
            </a:fld>
            <a:endParaRPr lang="en-US"/>
          </a:p>
        </p:txBody>
      </p:sp>
      <p:sp>
        <p:nvSpPr>
          <p:cNvPr id="62" name="Footer Placeholder 5"/>
          <p:cNvSpPr>
            <a:spLocks noGrp="1"/>
          </p:cNvSpPr>
          <p:nvPr>
            <p:ph type="ftr" sz="quarter" idx="11"/>
          </p:nvPr>
        </p:nvSpPr>
        <p:spPr/>
        <p:txBody>
          <a:bodyPr/>
          <a:lstStyle/>
          <a:p>
            <a:pPr/>
            <a:endParaRPr lang="en-US"/>
          </a:p>
        </p:txBody>
      </p:sp>
      <p:sp>
        <p:nvSpPr>
          <p:cNvPr id="63" name="Slide Number Placeholder 6"/>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10.xml><?xml version="1.0" encoding="utf-8"?>
<p:sldLayout xmlns:p="http://schemas.openxmlformats.org/presentationml/2006/main" xmlns:a="http://schemas.openxmlformats.org/drawingml/2006/main" type="vertTx">
  <p:cSld name="Title and Vertical Text">
    <p:spTree>
      <p:nvGrpSpPr>
        <p:cNvPr id="64" name=""/>
        <p:cNvGrpSpPr/>
        <p:nvPr/>
      </p:nvGrpSpPr>
      <p:grpSpPr>
        <a:xfrm>
          <a:off x="0" y="0"/>
          <a:ext cx="0" cy="0"/>
          <a:chOff x="0" y="0"/>
          <a:chExt cx="0" cy="0"/>
        </a:xfrm>
      </p:grpSpPr>
      <p:sp>
        <p:nvSpPr>
          <p:cNvPr id="65" name="Title 1"/>
          <p:cNvSpPr>
            <a:spLocks noGrp="1"/>
          </p:cNvSpPr>
          <p:nvPr>
            <p:ph type="title"/>
          </p:nvPr>
        </p:nvSpPr>
        <p:spPr/>
        <p:txBody>
          <a:bodyPr/>
          <a:lstStyle/>
          <a:p>
            <a:pPr/>
            <a:r>
              <a:rPr lang="en-US" smtClean="0"/>
              <a:t>Click to edit Master title style</a:t>
            </a:r>
            <a:endParaRPr lang="en-US"/>
          </a:p>
        </p:txBody>
      </p:sp>
      <p:sp>
        <p:nvSpPr>
          <p:cNvPr id="66"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7" name="Date Placeholder 3"/>
          <p:cNvSpPr>
            <a:spLocks noGrp="1"/>
          </p:cNvSpPr>
          <p:nvPr>
            <p:ph type="dt" sz="half" idx="10"/>
          </p:nvPr>
        </p:nvSpPr>
        <p:spPr/>
        <p:txBody>
          <a:bodyPr/>
          <a:lstStyle/>
          <a:p>
            <a:pPr/>
            <a:fld id="{5BCAD085-E8A6-8845-BD4E-CB4CCA059FC4}" type="datetimeFigureOut">
              <a:rPr lang="en-US" smtClean="0"/>
              <a:t/>
            </a:fld>
            <a:endParaRPr lang="en-US"/>
          </a:p>
        </p:txBody>
      </p:sp>
      <p:sp>
        <p:nvSpPr>
          <p:cNvPr id="68" name="Footer Placeholder 4"/>
          <p:cNvSpPr>
            <a:spLocks noGrp="1"/>
          </p:cNvSpPr>
          <p:nvPr>
            <p:ph type="ftr" sz="quarter" idx="11"/>
          </p:nvPr>
        </p:nvSpPr>
        <p:spPr/>
        <p:txBody>
          <a:bodyPr/>
          <a:lstStyle/>
          <a:p>
            <a:pPr/>
            <a:endParaRPr lang="en-US"/>
          </a:p>
        </p:txBody>
      </p:sp>
      <p:sp>
        <p:nvSpPr>
          <p:cNvPr id="69" name="Slide Number Placeholder 5"/>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Layouts/slideLayout11.xml><?xml version="1.0" encoding="utf-8"?>
<p:sldLayout xmlns:p="http://schemas.openxmlformats.org/presentationml/2006/main" xmlns:a="http://schemas.openxmlformats.org/drawingml/2006/main" type="vertTitleAndTx">
  <p:cSld name="Vertical Title and Text">
    <p:spTree>
      <p:nvGrpSpPr>
        <p:cNvPr id="13" name=""/>
        <p:cNvGrpSpPr/>
        <p:nvPr/>
      </p:nvGrpSpPr>
      <p:grpSpPr>
        <a:xfrm>
          <a:off x="0" y="0"/>
          <a:ext cx="0" cy="0"/>
          <a:chOff x="0" y="0"/>
          <a:chExt cx="0" cy="0"/>
        </a:xfrm>
      </p:grpSpPr>
      <p:sp>
        <p:nvSpPr>
          <p:cNvPr id="14" name="Vertical Title 1"/>
          <p:cNvSpPr>
            <a:spLocks noGrp="1"/>
          </p:cNvSpPr>
          <p:nvPr>
            <p:ph type="title" orient="vert"/>
          </p:nvPr>
        </p:nvSpPr>
        <p:spPr>
          <a:xfrm>
            <a:off x="6629400" y="274638"/>
            <a:ext cx="2057400" cy="5851525"/>
          </a:xfrm>
        </p:spPr>
        <p:txBody>
          <a:bodyPr vert="eaVert"/>
          <a:lstStyle/>
          <a:p>
            <a:pPr/>
            <a:r>
              <a:rPr lang="en-US" smtClean="0"/>
              <a:t>Click to edit Master title style</a:t>
            </a:r>
            <a:endParaRPr lang="en-US"/>
          </a:p>
        </p:txBody>
      </p:sp>
      <p:sp>
        <p:nvSpPr>
          <p:cNvPr id="15"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6" name="Date Placeholder 3"/>
          <p:cNvSpPr>
            <a:spLocks noGrp="1"/>
          </p:cNvSpPr>
          <p:nvPr>
            <p:ph type="dt" sz="half" idx="10"/>
          </p:nvPr>
        </p:nvSpPr>
        <p:spPr/>
        <p:txBody>
          <a:bodyPr/>
          <a:lstStyle/>
          <a:p>
            <a:pPr/>
            <a:fld id="{5BCAD085-E8A6-8845-BD4E-CB4CCA059FC4}" type="datetimeFigureOut">
              <a:rPr lang="en-US" smtClean="0"/>
              <a:t/>
            </a:fld>
            <a:endParaRPr lang="en-US"/>
          </a:p>
        </p:txBody>
      </p:sp>
      <p:sp>
        <p:nvSpPr>
          <p:cNvPr id="17" name="Footer Placeholder 4"/>
          <p:cNvSpPr>
            <a:spLocks noGrp="1"/>
          </p:cNvSpPr>
          <p:nvPr>
            <p:ph type="ftr" sz="quarter" idx="11"/>
          </p:nvPr>
        </p:nvSpPr>
        <p:spPr/>
        <p:txBody>
          <a:bodyPr/>
          <a:lstStyle/>
          <a:p>
            <a:pPr/>
            <a:endParaRPr lang="en-US"/>
          </a:p>
        </p:txBody>
      </p:sp>
      <p:sp>
        <p:nvSpPr>
          <p:cNvPr id="18" name="Slide Number Placeholder 5"/>
          <p:cNvSpPr>
            <a:spLocks noGrp="1"/>
          </p:cNvSpPr>
          <p:nvPr>
            <p:ph type="sldNum" sz="quarter" idx="12"/>
          </p:nvPr>
        </p:nvSpPr>
        <p:spPr/>
        <p:txBody>
          <a:bodyPr/>
          <a:lstStyle/>
          <a:p>
            <a:pPr/>
            <a:fld id="{C1FF6DA9-008F-8B48-92A6-B652298478BF}" type="slidenum">
              <a:rPr lang="en-US" smtClean="0"/>
              <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slideLayout" Target="../slideLayouts/slideLayout2.xml" /><Relationship Id="rId10" Type="http://schemas.openxmlformats.org/officeDocument/2006/relationships/slideLayout" Target="../slideLayouts/slideLayout11.xml" /><Relationship Id="rId5" Type="http://schemas.openxmlformats.org/officeDocument/2006/relationships/slideLayout" Target="../slideLayouts/slideLayout6.xml" /><Relationship Id="rId11" Type="http://schemas.openxmlformats.org/officeDocument/2006/relationships/theme" Target="../theme/theme1.xml" /><Relationship Id="rId2" Type="http://schemas.openxmlformats.org/officeDocument/2006/relationships/slideLayout" Target="../slideLayouts/slideLayout3.xml" /><Relationship Id="rId4" Type="http://schemas.openxmlformats.org/officeDocument/2006/relationships/slideLayout" Target="../slideLayouts/slideLayout5.xml" /><Relationship Id="rId3" Type="http://schemas.openxmlformats.org/officeDocument/2006/relationships/slideLayout" Target="../slideLayouts/slideLayout4.xml" /><Relationship Id="rId6" Type="http://schemas.openxmlformats.org/officeDocument/2006/relationships/slideLayout" Target="../slideLayouts/slideLayout7.xml" /><Relationship Id="rId7" Type="http://schemas.openxmlformats.org/officeDocument/2006/relationships/slideLayout" Target="../slideLayouts/slideLayout8.xml" /><Relationship Id="rId8" Type="http://schemas.openxmlformats.org/officeDocument/2006/relationships/slideLayout" Target="../slideLayouts/slideLayout9.xml" /><Relationship Id="rId9" Type="http://schemas.openxmlformats.org/officeDocument/2006/relationships/slideLayout" Target="../slideLayouts/slideLayout10.xml" /></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pPr/>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微软雅黑" panose="020B0503020204020204" charset="-122"/>
                <a:cs typeface="微软雅黑" panose="020B0503020204020204" charset="-122"/>
              </a:defRPr>
            </a:lvl1pPr>
          </a:lstStyle>
          <a:p>
            <a:pPr/>
            <a:fld id="{5BCAD085-E8A6-8845-BD4E-CB4CCA059FC4}" type="datetimeFigureOut">
              <a:rPr lang="en-US" smtClean="0"/>
              <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微软雅黑" panose="020B0503020204020204" charset="-122"/>
                <a:cs typeface="微软雅黑" panose="020B0503020204020204" charset="-122"/>
              </a:defRPr>
            </a:lvl1pPr>
          </a:lstStyle>
          <a:p>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ea typeface="微软雅黑" panose="020B0503020204020204" charset="-122"/>
                <a:cs typeface="微软雅黑" panose="020B0503020204020204" charset="-122"/>
              </a:defRPr>
            </a:lvl1pPr>
          </a:lstStyle>
          <a:p>
            <a:pPr/>
            <a:fld id="{C1FF6DA9-008F-8B48-92A6-B652298478BF}" type="slidenum">
              <a:rPr lang="en-US" smtClean="0"/>
              <a:t/>
            </a:fld>
            <a:endParaRPr lang="en-US"/>
          </a:p>
        </p:txBody>
      </p:sp>
    </p:spTree>
  </p:cSld>
  <p:clrMap bg1="lt1" tx1="dk1" bg2="lt2" tx2="dk2" accent1="accent1" accent2="accent2" accent3="accent3" accent4="accent4" accent5="accent5" accent6="accent6" hlink="hlink" folHlink="folHlink"/>
  <p:sldLayoutIdLst>
    <p:sldLayoutId id="2147483649" r:id="rId0"/>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txStyles>
    <p:titleStyle>
      <a:lvl1pPr algn="ctr" defTabSz="457200" rtl="0" eaLnBrk="1" latinLnBrk="0" hangingPunct="1">
        <a:spcBef>
          <a:spcPct val="1"/>
        </a:spcBef>
        <a:buNone/>
        <a:defRPr sz="4400" kern="1200">
          <a:solidFill>
            <a:schemeClr val="tx1"/>
          </a:solidFill>
          <a:latin typeface="+mj-lt"/>
          <a:ea typeface="微软雅黑" panose="020B0503020204020204" charset="-122"/>
          <a:cs typeface="微软雅黑" panose="020B0503020204020204" charset="-122"/>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微软雅黑" panose="020B0503020204020204" charset="-122"/>
          <a:cs typeface="微软雅黑" panose="020B0503020204020204" charset="-122"/>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微软雅黑" panose="020B0503020204020204" charset="-122"/>
          <a:cs typeface="微软雅黑" panose="020B0503020204020204" charset="-122"/>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微软雅黑" panose="020B0503020204020204" charset="-122"/>
          <a:cs typeface="微软雅黑" panose="020B0503020204020204" charset="-122"/>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微软雅黑" panose="020B0503020204020204" charset="-122"/>
          <a:cs typeface="微软雅黑" panose="020B0503020204020204" charset="-122"/>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1.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image" Target="../media/blue-template-arc.png"/><Relationship Id="rId2" Type="http://schemas.openxmlformats.org/officeDocument/2006/relationships/image" Target="../media/blue-template-logo.jpeg"/></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7.xml"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20.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6.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21.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22.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23.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24.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7.xml" /></Relationships>
</file>

<file path=ppt/slides/_rels/slide11.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2.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12.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3.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13.xml.rels><?xml version="1.0" encoding="UTF-8" standalone="yes"?><Relationships xmlns="http://schemas.openxmlformats.org/package/2006/relationships"><Relationship Id="rId0" Type="http://schemas.openxmlformats.org/officeDocument/2006/relationships/slideLayout" Target="../slideLayouts/slideLayout7.xml" /><Relationship Id="rId4" Type="http://schemas.openxmlformats.org/officeDocument/2006/relationships/image" Target="media/image3.svg" /><Relationship Id="rId2" Type="http://schemas.openxmlformats.org/officeDocument/2006/relationships/image" Target="media/image1.svg" /><Relationship Id="rId1" Type="http://schemas.openxmlformats.org/officeDocument/2006/relationships/notesSlide" Target="../notesSlides/notesSlide4.xml" /><Relationship Id="rId3" Type="http://schemas.openxmlformats.org/officeDocument/2006/relationships/image" Target="media/image2.svg" /><Relationship Id="rId5" Type="http://schemas.openxmlformats.org/officeDocument/2006/relationships/image" Target="media/image4.png" /><Relationship Id="rId6" Type="http://schemas.openxmlformats.org/officeDocument/2006/relationships/image" Target="../media/blue-template-arc.png"/><Relationship Id="rId7" Type="http://schemas.openxmlformats.org/officeDocument/2006/relationships/image" Target="../media/blue-template-logo.jpeg"/></Relationships>
</file>

<file path=ppt/slides/_rels/slide14.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5.xml" /><Relationship Id="rId2" Type="http://schemas.openxmlformats.org/officeDocument/2006/relationships/image" Target="media/image5.svg" /><Relationship Id="rId4" Type="http://schemas.openxmlformats.org/officeDocument/2006/relationships/image" Target="media/image7.png" /><Relationship Id="rId3" Type="http://schemas.openxmlformats.org/officeDocument/2006/relationships/image" Target="media/image6.svg" /><Relationship Id="rId5" Type="http://schemas.openxmlformats.org/officeDocument/2006/relationships/image" Target="media/image8.png" /><Relationship Id="rId6" Type="http://schemas.openxmlformats.org/officeDocument/2006/relationships/image" Target="../media/blue-template-arc.png"/><Relationship Id="rId7" Type="http://schemas.openxmlformats.org/officeDocument/2006/relationships/image" Target="../media/blue-template-logo.jpeg"/></Relationships>
</file>

<file path=ppt/slides/_rels/slide15.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6.xml" /><Relationship Id="rId2" Type="http://schemas.openxmlformats.org/officeDocument/2006/relationships/image" Target="media/image9.svg" /><Relationship Id="rId3" Type="http://schemas.openxmlformats.org/officeDocument/2006/relationships/image" Target="media/image10.svg" /><Relationship Id="rId4" Type="http://schemas.openxmlformats.org/officeDocument/2006/relationships/image" Target="media/image11.png" /><Relationship Id="rId5" Type="http://schemas.openxmlformats.org/officeDocument/2006/relationships/image" Target="media/image12.png" /><Relationship Id="rId6" Type="http://schemas.openxmlformats.org/officeDocument/2006/relationships/image" Target="../media/blue-template-arc.png"/><Relationship Id="rId7" Type="http://schemas.openxmlformats.org/officeDocument/2006/relationships/image" Target="../media/blue-template-logo.jpeg"/></Relationships>
</file>

<file path=ppt/slides/_rels/slide16.xml.rels><?xml version="1.0" encoding="UTF-8" standalone="yes"?><Relationships xmlns="http://schemas.openxmlformats.org/package/2006/relationships"><Relationship Id="rId5" Type="http://schemas.openxmlformats.org/officeDocument/2006/relationships/image" Target="media/image6.svg" /><Relationship Id="rId3" Type="http://schemas.openxmlformats.org/officeDocument/2006/relationships/image" Target="media/image13.svg" /><Relationship Id="rId1" Type="http://schemas.openxmlformats.org/officeDocument/2006/relationships/notesSlide" Target="../notesSlides/notesSlide7.xml" /><Relationship Id="rId0" Type="http://schemas.openxmlformats.org/officeDocument/2006/relationships/slideLayout" Target="../slideLayouts/slideLayout7.xml" /><Relationship Id="rId2" Type="http://schemas.openxmlformats.org/officeDocument/2006/relationships/image" Target="media/image5.svg" /><Relationship Id="rId4" Type="http://schemas.openxmlformats.org/officeDocument/2006/relationships/image" Target="media/image14.svg" /><Relationship Id="rId6" Type="http://schemas.openxmlformats.org/officeDocument/2006/relationships/image" Target="media/image15.png" /><Relationship Id="rId7" Type="http://schemas.openxmlformats.org/officeDocument/2006/relationships/image" Target="media/image16.png" /><Relationship Id="rId8" Type="http://schemas.openxmlformats.org/officeDocument/2006/relationships/image" Target="../media/blue-template-arc.png"/><Relationship Id="rId9" Type="http://schemas.openxmlformats.org/officeDocument/2006/relationships/image" Target="../media/blue-template-logo.jpeg"/></Relationships>
</file>

<file path=ppt/slides/_rels/slide17.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8.xml" /><Relationship Id="rId2" Type="http://schemas.openxmlformats.org/officeDocument/2006/relationships/image" Target="media/image17.png" /><Relationship Id="rId5" Type="http://schemas.openxmlformats.org/officeDocument/2006/relationships/image" Target="media/image18.png" /><Relationship Id="rId4" Type="http://schemas.openxmlformats.org/officeDocument/2006/relationships/image" Target="media/image13.svg" /><Relationship Id="rId3" Type="http://schemas.openxmlformats.org/officeDocument/2006/relationships/image" Target="media/image5.svg" /><Relationship Id="rId6" Type="http://schemas.openxmlformats.org/officeDocument/2006/relationships/image" Target="../media/blue-template-arc.png"/><Relationship Id="rId7" Type="http://schemas.openxmlformats.org/officeDocument/2006/relationships/image" Target="../media/blue-template-logo.jpeg"/></Relationships>
</file>

<file path=ppt/slides/_rels/slide18.xml.rels><?xml version="1.0" encoding="UTF-8" standalone="yes"?><Relationships xmlns="http://schemas.openxmlformats.org/package/2006/relationships"><Relationship Id="rId3" Type="http://schemas.openxmlformats.org/officeDocument/2006/relationships/image" Target="media/image20.svg" /><Relationship Id="rId0" Type="http://schemas.openxmlformats.org/officeDocument/2006/relationships/slideLayout" Target="../slideLayouts/slideLayout7.xml" /><Relationship Id="rId1" Type="http://schemas.openxmlformats.org/officeDocument/2006/relationships/notesSlide" Target="../notesSlides/notesSlide9.xml" /><Relationship Id="rId2" Type="http://schemas.openxmlformats.org/officeDocument/2006/relationships/image" Target="media/image19.png" /><Relationship Id="rId4" Type="http://schemas.openxmlformats.org/officeDocument/2006/relationships/image" Target="media/image21.svg" /><Relationship Id="rId5" Type="http://schemas.openxmlformats.org/officeDocument/2006/relationships/image" Target="../media/blue-template-arc.png"/><Relationship Id="rId6" Type="http://schemas.openxmlformats.org/officeDocument/2006/relationships/image" Target="../media/blue-template-logo.jpeg"/></Relationships>
</file>

<file path=ppt/slides/_rels/slide19.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0.xml" /><Relationship Id="rId2" Type="http://schemas.openxmlformats.org/officeDocument/2006/relationships/image" Target="media/image2.svg" /><Relationship Id="rId3" Type="http://schemas.openxmlformats.org/officeDocument/2006/relationships/image" Target="media/image3.svg" /><Relationship Id="rId4" Type="http://schemas.openxmlformats.org/officeDocument/2006/relationships/image" Target="media/image22.png" /><Relationship Id="rId5" Type="http://schemas.openxmlformats.org/officeDocument/2006/relationships/image" Target="../media/blue-template-arc.png"/><Relationship Id="rId6" Type="http://schemas.openxmlformats.org/officeDocument/2006/relationships/image" Target="../media/blue-template-logo.jpeg"/></Relationships>
</file>

<file path=ppt/slides/_rels/slide20.xml.rels><?xml version="1.0" encoding="UTF-8" standalone="yes"?><Relationships xmlns="http://schemas.openxmlformats.org/package/2006/relationships"><Relationship Id="rId4" Type="http://schemas.openxmlformats.org/officeDocument/2006/relationships/image" Target="media/image25.svg" /><Relationship Id="rId0" Type="http://schemas.openxmlformats.org/officeDocument/2006/relationships/slideLayout" Target="../slideLayouts/slideLayout7.xml" /><Relationship Id="rId1" Type="http://schemas.openxmlformats.org/officeDocument/2006/relationships/notesSlide" Target="../notesSlides/notesSlide12.xml" /><Relationship Id="rId2" Type="http://schemas.openxmlformats.org/officeDocument/2006/relationships/image" Target="media/image23.png" /><Relationship Id="rId3" Type="http://schemas.openxmlformats.org/officeDocument/2006/relationships/image" Target="media/image24.svg" /><Relationship Id="rId5" Type="http://schemas.openxmlformats.org/officeDocument/2006/relationships/image" Target="../media/blue-template-arc.png"/><Relationship Id="rId6" Type="http://schemas.openxmlformats.org/officeDocument/2006/relationships/image" Target="../media/blue-template-logo.jpeg"/></Relationships>
</file>

<file path=ppt/slides/_rels/slide21.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3.xml" /><Relationship Id="rId2" Type="http://schemas.openxmlformats.org/officeDocument/2006/relationships/image" Target="media/image26.png" /><Relationship Id="rId3" Type="http://schemas.openxmlformats.org/officeDocument/2006/relationships/image" Target="../media/blue-template-arc.png"/><Relationship Id="rId4" Type="http://schemas.openxmlformats.org/officeDocument/2006/relationships/image" Target="../media/blue-template-logo.jpeg"/></Relationships>
</file>

<file path=ppt/slides/_rels/slide22.xml.rels><?xml version="1.0" encoding="UTF-8" standalone="yes"?><Relationships xmlns="http://schemas.openxmlformats.org/package/2006/relationships"><Relationship Id="rId1" Type="http://schemas.openxmlformats.org/officeDocument/2006/relationships/notesSlide" Target="../notesSlides/notesSlide14.xml" /><Relationship Id="rId0" Type="http://schemas.openxmlformats.org/officeDocument/2006/relationships/slideLayout" Target="../slideLayouts/slideLayout7.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23.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5.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24.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6.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25.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7.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26.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8.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27.xml.rels><?xml version="1.0" encoding="UTF-8" standalone="yes"?><Relationships xmlns="http://schemas.openxmlformats.org/package/2006/relationships"><Relationship Id="rId0" Type="http://schemas.openxmlformats.org/officeDocument/2006/relationships/slideLayout" Target="../slideLayouts/slideLayout7.xml" /><Relationship Id="rId1" Type="http://schemas.openxmlformats.org/officeDocument/2006/relationships/notesSlide" Target="../notesSlides/notesSlide19.xml" /><Relationship Id="rId2" Type="http://schemas.openxmlformats.org/officeDocument/2006/relationships/image" Target="../media/blue-template-arc.png"/><Relationship Id="rId3" Type="http://schemas.openxmlformats.org/officeDocument/2006/relationships/image" Target="../media/blue-template-logo.jpeg"/></Relationships>
</file>

<file path=ppt/slides/_rels/slide28.xml.rels><?xml version="1.0" encoding="UTF-8" standalone="yes"?><Relationships xmlns="http://schemas.openxmlformats.org/package/2006/relationships"><Relationship Id="rId0" Type="http://schemas.openxmlformats.org/officeDocument/2006/relationships/slideLayout" Target="../slideLayouts/slideLayout7.xml" /></Relationships>
</file>

<file path=ppt/slides/slide1.xml><?xml version="1.0" encoding="utf-8"?>
<p:sld xmlns:r="http://schemas.openxmlformats.org/officeDocument/2006/relationship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 name="Rectangle 2"/>
          <p:cNvSpPr/>
          <p:nvPr/>
        </p:nvSpPr>
        <p:spPr>
          <a:xfrm>
            <a:off x="0" y="6693408"/>
            <a:ext cx="12191695" cy="164592"/>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 name="Rectangle 3"/>
          <p:cNvSpPr/>
          <p:nvPr/>
        </p:nvSpPr>
        <p:spPr>
          <a:xfrm>
            <a:off x="822960" y="1920240"/>
            <a:ext cx="146304" cy="274320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 name="TextBox 4"/>
          <p:cNvSpPr txBox="1"/>
          <p:nvPr/>
        </p:nvSpPr>
        <p:spPr>
          <a:xfrm>
            <a:off x="1234440" y="1737360"/>
            <a:ext cx="10058400" cy="1097280"/>
          </a:xfrm>
          <a:prstGeom prst="rect">
            <a:avLst/>
          </a:prstGeom>
          <a:noFill/>
        </p:spPr>
        <p:txBody>
          <a:bodyPr wrap="square" lIns="0" tIns="0" rIns="0" bIns="0" anchor="t">
            <a:spAutoFit/>
          </a:bodyPr>
          <a:lstStyle/>
          <a:p>
            <a:pPr algn="l">
              <a:lnSpc>
                <a:spcPct val="115000"/>
              </a:lnSpc>
              <a:spcAft>
                <a:spcPts val="600"/>
              </a:spcAft>
            </a:pPr>
            <a:r>
              <a:rPr sz="4000" b="1">
                <a:solidFill>
                  <a:srgbClr val="0070C0"/>
                </a:solidFill>
                <a:latin typeface="微软雅黑" panose="020B0503020204020204" charset="-122"/>
                <a:ea typeface="微软雅黑" panose="020B0503020204020204" charset="-122"/>
                <a:cs typeface="微软雅黑" panose="020B0503020204020204" charset="-122"/>
              </a:rPr>
              <a:t>心中有信 · 未来可期</a:t>
            </a:r>
            <a:endParaRPr sz="40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1234440" y="2880360"/>
            <a:ext cx="10058400" cy="1280160"/>
          </a:xfrm>
          <a:prstGeom prst="rect">
            <a:avLst/>
          </a:prstGeom>
          <a:noFill/>
        </p:spPr>
        <p:txBody>
          <a:bodyPr wrap="square" lIns="0" tIns="0" rIns="0" bIns="0" anchor="t">
            <a:spAutoFit/>
          </a:bodyPr>
          <a:lstStyle/>
          <a:p>
            <a:pPr algn="l">
              <a:lnSpc>
                <a:spcPct val="115000"/>
              </a:lnSpc>
              <a:spcAft>
                <a:spcPts val="600"/>
              </a:spcAft>
            </a:pPr>
            <a:r>
              <a:rPr sz="4400" b="1">
                <a:solidFill>
                  <a:srgbClr val="1F2933"/>
                </a:solidFill>
                <a:latin typeface="微软雅黑" panose="020B0503020204020204" charset="-122"/>
                <a:ea typeface="微软雅黑" panose="020B0503020204020204" charset="-122"/>
                <a:cs typeface="微软雅黑" panose="020B0503020204020204" charset="-122"/>
              </a:rPr>
              <a:t>近期宏观变化及资产配置</a:t>
            </a:r>
            <a:endParaRPr sz="44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7" name="Rectangle 6"/>
          <p:cNvSpPr/>
          <p:nvPr/>
        </p:nvSpPr>
        <p:spPr>
          <a:xfrm>
            <a:off x="1261872" y="4343400"/>
            <a:ext cx="2743200" cy="3175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8" name="TextBox 7"/>
          <p:cNvSpPr txBox="1"/>
          <p:nvPr/>
        </p:nvSpPr>
        <p:spPr>
          <a:xfrm>
            <a:off x="1234440" y="4617720"/>
            <a:ext cx="5486400" cy="548640"/>
          </a:xfrm>
          <a:prstGeom prst="rect">
            <a:avLst/>
          </a:prstGeom>
          <a:noFill/>
        </p:spPr>
        <p:txBody>
          <a:bodyPr wrap="square" lIns="0" tIns="0" rIns="0" bIns="0" anchor="t">
            <a:spAutoFit/>
          </a:bodyPr>
          <a:lstStyle/>
          <a:p>
            <a:pPr algn="l">
              <a:lnSpc>
                <a:spcPct val="115000"/>
              </a:lnSpc>
              <a:spcAft>
                <a:spcPts val="600"/>
              </a:spcAft>
            </a:pPr>
            <a:r>
              <a:rPr sz="2200" b="0">
                <a:solidFill>
                  <a:srgbClr val="383535"/>
                </a:solidFill>
                <a:latin typeface="微软雅黑" panose="020B0503020204020204" charset="-122"/>
                <a:ea typeface="微软雅黑" panose="020B0503020204020204" charset="-122"/>
                <a:cs typeface="微软雅黑" panose="020B0503020204020204" charset="-122"/>
              </a:rPr>
              <a:t>2026.09</a:t>
            </a:r>
            <a:endParaRPr sz="2200" b="0">
              <a:solidFill>
                <a:srgbClr val="383535"/>
              </a:solidFill>
              <a:latin typeface="微软雅黑" panose="020B0503020204020204" charset="-122"/>
              <a:ea typeface="微软雅黑" panose="020B0503020204020204" charset="-122"/>
              <a:cs typeface="微软雅黑" panose="020B0503020204020204" charset="-122"/>
            </a:endParaRPr>
          </a:p>
        </p:txBody>
      </p:sp>
      <p:sp>
        <p:nvSpPr>
          <p:cNvPr id="9" name="TextBox 8"/>
          <p:cNvSpPr txBox="1"/>
          <p:nvPr/>
        </p:nvSpPr>
        <p:spPr>
          <a:xfrm>
            <a:off x="1234440" y="5166360"/>
            <a:ext cx="9144000" cy="212090"/>
          </a:xfrm>
          <a:prstGeom prst="rect">
            <a:avLst/>
          </a:prstGeom>
          <a:noFill/>
        </p:spPr>
        <p:txBody>
          <a:bodyPr wrap="square" lIns="0" tIns="0" rIns="0" bIns="0" anchor="t">
            <a:spAutoFit/>
          </a:bodyPr>
          <a:lstStyle/>
          <a:p>
            <a:pPr algn="l">
              <a:lnSpc>
                <a:spcPct val="115000"/>
              </a:lnSpc>
              <a:spcAft>
                <a:spcPts val="600"/>
              </a:spcAft>
            </a:pPr>
            <a:r>
              <a:rPr sz="1200" b="0">
                <a:solidFill>
                  <a:srgbClr val="595959"/>
                </a:solidFill>
                <a:latin typeface="微软雅黑" panose="020B0503020204020204" charset="-122"/>
                <a:ea typeface="微软雅黑" panose="020B0503020204020204" charset="-122"/>
                <a:cs typeface="微软雅黑" panose="020B0503020204020204" charset="-122"/>
              </a:rPr>
              <a:t>数据截至 2026 年 9 月 8 日</a:t>
            </a:r>
            <a:endParaRPr sz="1200" b="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10" name="参考模板浅蓝背景弧线"/>
          <p:cNvPicPr/>
          <p:nvPr/>
        </p:nvPicPr>
        <p:blipFill>
          <a:blip r:embed="rId2"/>
          <a:stretch>
            <a:fillRect/>
          </a:stretch>
        </p:blipFill>
        <p:spPr>
          <a:xfrm>
            <a:off x="4457700" y="0"/>
            <a:ext cx="3143250" cy="495300"/>
          </a:xfrm>
          <a:prstGeom prst="rect">
            <a:avLst/>
          </a:prstGeom>
          <a:noFill/>
          <a:ln>
            <a:noFill/>
          </a:ln>
        </p:spPr>
      </p:pic>
      <p:pic>
        <p:nvPicPr>
          <p:cNvPr id="11"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2.xml><?xml version="1.0" encoding="utf-8"?>
<p:sld xmlns:r="http://schemas.openxmlformats.org/officeDocument/2006/relationships" xmlns:p="http://schemas.openxmlformats.org/presentationml/2006/main" xmlns:a="http://schemas.openxmlformats.org/drawingml/2006/main">
  <p:cSld>
    <p:spTree>
      <p:nvGrpSpPr>
        <p:cNvPr id="160" name=""/>
        <p:cNvGrpSpPr/>
        <p:nvPr/>
      </p:nvGrpSpPr>
      <p:grpSpPr>
        <a:xfrm>
          <a:off x="0" y="0"/>
          <a:ext cx="0" cy="0"/>
          <a:chOff x="0" y="0"/>
          <a:chExt cx="0" cy="0"/>
        </a:xfrm>
      </p:grpSpPr>
      <p:sp>
        <p:nvSpPr>
          <p:cNvPr id="161"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62"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客户需求定位</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63"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sz="1100" b="0">
                <a:solidFill>
                  <a:srgbClr val="595959"/>
                </a:solidFill>
                <a:latin typeface="微软雅黑" panose="020B0503020204020204" charset="-122"/>
                <a:ea typeface="微软雅黑" panose="020B0503020204020204" charset="-122"/>
                <a:cs typeface="微软雅黑" panose="020B0503020204020204" charset="-122"/>
              </a:rPr>
              <a:t>构建标准化资产配置组合 · 硬性回撤约束下的稳健增值</a:t>
            </a:r>
            <a:endParaRPr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164"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65"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66" name="Rectangle 6"/>
          <p:cNvSpPr/>
          <p:nvPr/>
        </p:nvSpPr>
        <p:spPr>
          <a:xfrm>
            <a:off x="502920" y="1691640"/>
            <a:ext cx="1371600" cy="4572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67" name="Rectangle 7"/>
          <p:cNvSpPr/>
          <p:nvPr/>
        </p:nvSpPr>
        <p:spPr>
          <a:xfrm>
            <a:off x="502920" y="1691640"/>
            <a:ext cx="1371600" cy="4572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400" b="1">
                <a:solidFill>
                  <a:srgbClr val="0070C0"/>
                </a:solidFill>
                <a:latin typeface="微软雅黑" panose="020B0503020204020204" charset="-122"/>
                <a:ea typeface="微软雅黑" panose="020B0503020204020204" charset="-122"/>
                <a:cs typeface="微软雅黑" panose="020B0503020204020204" charset="-122"/>
              </a:rPr>
              <a:t>主体属性</a:t>
            </a:r>
            <a:endParaRPr sz="14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68" name="TextBox 8"/>
          <p:cNvSpPr txBox="1"/>
          <p:nvPr/>
        </p:nvSpPr>
        <p:spPr>
          <a:xfrm>
            <a:off x="2057400" y="1709928"/>
            <a:ext cx="9509760" cy="914400"/>
          </a:xfrm>
          <a:prstGeom prst="rect">
            <a:avLst/>
          </a:prstGeom>
          <a:noFill/>
        </p:spPr>
        <p:txBody>
          <a:bodyPr wrap="square" lIns="0" tIns="0" rIns="0" bIns="0" anchor="t">
            <a:spAutoFit/>
          </a:bodyPr>
          <a:lstStyle/>
          <a:p>
            <a:pPr algn="l">
              <a:lnSpc>
                <a:spcPct val="125000"/>
              </a:lnSpc>
              <a:spcAft>
                <a:spcPts val="600"/>
              </a:spcAft>
            </a:pPr>
            <a:r>
              <a:rPr sz="1400" b="0">
                <a:solidFill>
                  <a:srgbClr val="1F2933"/>
                </a:solidFill>
                <a:latin typeface="微软雅黑" panose="020B0503020204020204" charset="-122"/>
                <a:ea typeface="微软雅黑" panose="020B0503020204020204" charset="-122"/>
                <a:cs typeface="微软雅黑" panose="020B0503020204020204" charset="-122"/>
              </a:rPr>
              <a:t>经营稳健的实体企业，资金核心诉求是安全性优先、流动性匹配经营节奏、兼顾稳健增值，对本金安全与回撤控制有极致要求。</a:t>
            </a:r>
            <a:endParaRPr sz="140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169" name="Rectangle 9"/>
          <p:cNvSpPr/>
          <p:nvPr/>
        </p:nvSpPr>
        <p:spPr>
          <a:xfrm>
            <a:off x="502920" y="2514600"/>
            <a:ext cx="1371600" cy="4572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70" name="Rectangle 10"/>
          <p:cNvSpPr/>
          <p:nvPr/>
        </p:nvSpPr>
        <p:spPr>
          <a:xfrm>
            <a:off x="502920" y="2514600"/>
            <a:ext cx="1371600" cy="4572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400" b="1">
                <a:solidFill>
                  <a:srgbClr val="0070C0"/>
                </a:solidFill>
                <a:latin typeface="微软雅黑" panose="020B0503020204020204" charset="-122"/>
                <a:ea typeface="微软雅黑" panose="020B0503020204020204" charset="-122"/>
                <a:cs typeface="微软雅黑" panose="020B0503020204020204" charset="-122"/>
              </a:rPr>
              <a:t>核心目标</a:t>
            </a:r>
            <a:endParaRPr sz="14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71" name="TextBox 11"/>
          <p:cNvSpPr txBox="1"/>
          <p:nvPr/>
        </p:nvSpPr>
        <p:spPr>
          <a:xfrm>
            <a:off x="2057400" y="2532888"/>
            <a:ext cx="9509760" cy="914400"/>
          </a:xfrm>
          <a:prstGeom prst="rect">
            <a:avLst/>
          </a:prstGeom>
          <a:noFill/>
        </p:spPr>
        <p:txBody>
          <a:bodyPr wrap="square" lIns="0" tIns="0" rIns="0" bIns="0" anchor="t">
            <a:spAutoFit/>
          </a:bodyPr>
          <a:lstStyle/>
          <a:p>
            <a:pPr algn="l">
              <a:lnSpc>
                <a:spcPct val="125000"/>
              </a:lnSpc>
              <a:spcAft>
                <a:spcPts val="600"/>
              </a:spcAft>
            </a:pPr>
            <a:r>
              <a:rPr sz="1400" b="0">
                <a:solidFill>
                  <a:srgbClr val="1F2933"/>
                </a:solidFill>
                <a:latin typeface="微软雅黑" panose="020B0503020204020204" charset="-122"/>
                <a:ea typeface="微软雅黑" panose="020B0503020204020204" charset="-122"/>
                <a:cs typeface="微软雅黑" panose="020B0503020204020204" charset="-122"/>
              </a:rPr>
              <a:t>构建标准化的资产配置组合，硬性约束为组合最大回撤控制在 1% 以内，同时达成“年化 6%”的投资收益目标。</a:t>
            </a:r>
            <a:endParaRPr sz="140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172" name="Rectangle 12"/>
          <p:cNvSpPr/>
          <p:nvPr/>
        </p:nvSpPr>
        <p:spPr>
          <a:xfrm>
            <a:off x="502920" y="3337560"/>
            <a:ext cx="1371600" cy="4572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73" name="Rectangle 13"/>
          <p:cNvSpPr/>
          <p:nvPr/>
        </p:nvSpPr>
        <p:spPr>
          <a:xfrm>
            <a:off x="502920" y="3337560"/>
            <a:ext cx="1371600" cy="457200"/>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400" b="1">
                <a:solidFill>
                  <a:srgbClr val="0070C0"/>
                </a:solidFill>
                <a:latin typeface="微软雅黑" panose="020B0503020204020204" charset="-122"/>
                <a:ea typeface="微软雅黑" panose="020B0503020204020204" charset="-122"/>
                <a:cs typeface="微软雅黑" panose="020B0503020204020204" charset="-122"/>
              </a:rPr>
              <a:t>持仓现状</a:t>
            </a:r>
            <a:endParaRPr sz="14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74" name="TextBox 14"/>
          <p:cNvSpPr txBox="1"/>
          <p:nvPr/>
        </p:nvSpPr>
        <p:spPr>
          <a:xfrm>
            <a:off x="2057400" y="3355848"/>
            <a:ext cx="9509760" cy="914400"/>
          </a:xfrm>
          <a:prstGeom prst="rect">
            <a:avLst/>
          </a:prstGeom>
          <a:noFill/>
        </p:spPr>
        <p:txBody>
          <a:bodyPr wrap="square" lIns="0" tIns="0" rIns="0" bIns="0" anchor="t">
            <a:spAutoFit/>
          </a:bodyPr>
          <a:lstStyle/>
          <a:p>
            <a:pPr algn="l">
              <a:lnSpc>
                <a:spcPct val="125000"/>
              </a:lnSpc>
              <a:spcAft>
                <a:spcPts val="600"/>
              </a:spcAft>
            </a:pPr>
            <a:r>
              <a:rPr sz="1400" b="0">
                <a:solidFill>
                  <a:srgbClr val="1F2933"/>
                </a:solidFill>
                <a:latin typeface="微软雅黑" panose="020B0503020204020204" charset="-122"/>
                <a:ea typeface="微软雅黑" panose="020B0503020204020204" charset="-122"/>
                <a:cs typeface="微软雅黑" panose="020B0503020204020204" charset="-122"/>
              </a:rPr>
              <a:t>贵司当前已布局部分高风险高收益类产品，本次方案将通过多资产、低相关性策略的科学配置，对冲现有高风险持仓的波动，实现整体组合的风险收益平衡。</a:t>
            </a:r>
            <a:endParaRPr sz="140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175" name="Rectangle 15"/>
          <p:cNvSpPr/>
          <p:nvPr/>
        </p:nvSpPr>
        <p:spPr>
          <a:xfrm>
            <a:off x="502920" y="4297680"/>
            <a:ext cx="5394960" cy="155448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76" name="Rectangle 16"/>
          <p:cNvSpPr/>
          <p:nvPr/>
        </p:nvSpPr>
        <p:spPr>
          <a:xfrm>
            <a:off x="502920" y="4297680"/>
            <a:ext cx="5394960" cy="155448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lang="en-US" sz="4000" b="1">
                <a:solidFill>
                  <a:srgbClr val="FFFFFF"/>
                </a:solidFill>
                <a:latin typeface="微软雅黑" panose="020B0503020204020204" charset="-122"/>
                <a:ea typeface="微软雅黑" panose="020B0503020204020204" charset="-122"/>
                <a:cs typeface="微软雅黑" panose="020B0503020204020204" charset="-122"/>
              </a:rPr>
              <a:t>4-6</a:t>
            </a:r>
            <a:r>
              <a:rPr sz="4000" b="1">
                <a:solidFill>
                  <a:srgbClr val="FFFFFF"/>
                </a:solidFill>
                <a:latin typeface="微软雅黑" panose="020B0503020204020204" charset="-122"/>
                <a:ea typeface="微软雅黑" panose="020B0503020204020204" charset="-122"/>
                <a:cs typeface="微软雅黑" panose="020B0503020204020204" charset="-122"/>
              </a:rPr>
              <a:t>%</a:t>
            </a:r>
            <a:endParaRPr sz="4000" b="1">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110000"/>
              </a:lnSpc>
              <a:spcAft>
                <a:spcPts val="400"/>
              </a:spcAft>
            </a:pPr>
            <a:r>
              <a:rPr sz="1400" b="0">
                <a:solidFill>
                  <a:srgbClr val="FFFFFF"/>
                </a:solidFill>
                <a:latin typeface="微软雅黑" panose="020B0503020204020204" charset="-122"/>
                <a:ea typeface="微软雅黑" panose="020B0503020204020204" charset="-122"/>
                <a:cs typeface="微软雅黑" panose="020B0503020204020204" charset="-122"/>
              </a:rPr>
              <a:t>绝对收益年化目标</a:t>
            </a:r>
            <a:endParaRPr sz="140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7" name="Rectangle 17"/>
          <p:cNvSpPr/>
          <p:nvPr/>
        </p:nvSpPr>
        <p:spPr>
          <a:xfrm>
            <a:off x="6309360" y="4297680"/>
            <a:ext cx="5394960" cy="155448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78" name="Rectangle 18"/>
          <p:cNvSpPr/>
          <p:nvPr/>
        </p:nvSpPr>
        <p:spPr>
          <a:xfrm>
            <a:off x="6309360" y="4297680"/>
            <a:ext cx="5394960" cy="155448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4000" b="1">
                <a:solidFill>
                  <a:srgbClr val="FFFFFF"/>
                </a:solidFill>
                <a:latin typeface="微软雅黑" panose="020B0503020204020204" charset="-122"/>
                <a:ea typeface="微软雅黑" panose="020B0503020204020204" charset="-122"/>
                <a:cs typeface="微软雅黑" panose="020B0503020204020204" charset="-122"/>
              </a:rPr>
              <a:t>&lt; 1%</a:t>
            </a:r>
            <a:endParaRPr sz="4000" b="1">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110000"/>
              </a:lnSpc>
              <a:spcAft>
                <a:spcPts val="400"/>
              </a:spcAft>
            </a:pPr>
            <a:r>
              <a:rPr sz="1400" b="0">
                <a:solidFill>
                  <a:srgbClr val="FFFFFF"/>
                </a:solidFill>
                <a:latin typeface="微软雅黑" panose="020B0503020204020204" charset="-122"/>
                <a:ea typeface="微软雅黑" panose="020B0503020204020204" charset="-122"/>
                <a:cs typeface="微软雅黑" panose="020B0503020204020204" charset="-122"/>
              </a:rPr>
              <a:t>最大回撤红线</a:t>
            </a:r>
            <a:endParaRPr sz="140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9" name="TextBox 19"/>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180" name="TextBox 20"/>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2</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181" name="参考模板浅蓝背景弧线"/>
          <p:cNvPicPr/>
          <p:nvPr/>
        </p:nvPicPr>
        <p:blipFill>
          <a:blip r:embed="rId2"/>
          <a:stretch>
            <a:fillRect/>
          </a:stretch>
        </p:blipFill>
        <p:spPr>
          <a:xfrm>
            <a:off x="4457700" y="0"/>
            <a:ext cx="3143250" cy="495300"/>
          </a:xfrm>
          <a:prstGeom prst="rect">
            <a:avLst/>
          </a:prstGeom>
          <a:noFill/>
          <a:ln>
            <a:noFill/>
          </a:ln>
        </p:spPr>
      </p:pic>
      <p:pic>
        <p:nvPicPr>
          <p:cNvPr id="182"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3.xml><?xml version="1.0" encoding="utf-8"?>
<p:sld xmlns:r="http://schemas.openxmlformats.org/officeDocument/2006/relationships" xmlns:p="http://schemas.openxmlformats.org/presentationml/2006/main" xmlns:a="http://schemas.openxmlformats.org/drawingml/2006/main">
  <p:cSld>
    <p:spTree>
      <p:nvGrpSpPr>
        <p:cNvPr id="390" name=""/>
        <p:cNvGrpSpPr/>
        <p:nvPr/>
      </p:nvGrpSpPr>
      <p:grpSpPr>
        <a:xfrm>
          <a:off x="0" y="0"/>
          <a:ext cx="0" cy="0"/>
          <a:chOff x="0" y="0"/>
          <a:chExt cx="0" cy="0"/>
        </a:xfrm>
      </p:grpSpPr>
      <p:sp>
        <p:nvSpPr>
          <p:cNvPr id="391"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92" name="TextBox 2"/>
          <p:cNvSpPr txBox="1"/>
          <p:nvPr/>
        </p:nvSpPr>
        <p:spPr>
          <a:xfrm>
            <a:off x="822960" y="640080"/>
            <a:ext cx="3657600" cy="822960"/>
          </a:xfrm>
          <a:prstGeom prst="rect">
            <a:avLst/>
          </a:prstGeom>
          <a:noFill/>
        </p:spPr>
        <p:txBody>
          <a:bodyPr wrap="square" lIns="0" tIns="0" rIns="0" bIns="0" anchor="t">
            <a:spAutoFit/>
          </a:bodyPr>
          <a:lstStyle/>
          <a:p>
            <a:pPr algn="l">
              <a:lnSpc>
                <a:spcPct val="115000"/>
              </a:lnSpc>
              <a:spcAft>
                <a:spcPts val="600"/>
              </a:spcAft>
            </a:pPr>
            <a:r>
              <a:rPr sz="1800" b="1">
                <a:solidFill>
                  <a:srgbClr val="54B0E0"/>
                </a:solidFill>
                <a:latin typeface="微软雅黑" panose="020B0503020204020204" charset="-122"/>
                <a:ea typeface="微软雅黑" panose="020B0503020204020204" charset="-122"/>
                <a:cs typeface="微软雅黑" panose="020B0503020204020204" charset="-122"/>
              </a:rPr>
              <a:t>CONTENT</a:t>
            </a:r>
            <a:endParaRPr sz="1800" b="1">
              <a:solidFill>
                <a:srgbClr val="54B0E0"/>
              </a:solidFill>
              <a:latin typeface="微软雅黑" panose="020B0503020204020204" charset="-122"/>
              <a:ea typeface="微软雅黑" panose="020B0503020204020204" charset="-122"/>
              <a:cs typeface="微软雅黑" panose="020B0503020204020204" charset="-122"/>
            </a:endParaRPr>
          </a:p>
        </p:txBody>
      </p:sp>
      <p:sp>
        <p:nvSpPr>
          <p:cNvPr id="393" name="TextBox 3"/>
          <p:cNvSpPr txBox="1"/>
          <p:nvPr/>
        </p:nvSpPr>
        <p:spPr>
          <a:xfrm>
            <a:off x="822960" y="1280160"/>
            <a:ext cx="3657600" cy="731520"/>
          </a:xfrm>
          <a:prstGeom prst="rect">
            <a:avLst/>
          </a:prstGeom>
          <a:noFill/>
        </p:spPr>
        <p:txBody>
          <a:bodyPr wrap="square" lIns="0" tIns="0" rIns="0" bIns="0" anchor="t">
            <a:spAutoFit/>
          </a:bodyPr>
          <a:lstStyle/>
          <a:p>
            <a:pPr algn="l">
              <a:lnSpc>
                <a:spcPct val="115000"/>
              </a:lnSpc>
              <a:spcAft>
                <a:spcPts val="600"/>
              </a:spcAft>
            </a:pPr>
            <a:r>
              <a:rPr sz="3400" b="1">
                <a:solidFill>
                  <a:srgbClr val="1F2933"/>
                </a:solidFill>
                <a:latin typeface="微软雅黑" panose="020B0503020204020204" charset="-122"/>
                <a:ea typeface="微软雅黑" panose="020B0503020204020204" charset="-122"/>
                <a:cs typeface="微软雅黑" panose="020B0503020204020204" charset="-122"/>
              </a:rPr>
              <a:t>目  录</a:t>
            </a:r>
            <a:endParaRPr sz="34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94" name="Rectangle 4"/>
          <p:cNvSpPr/>
          <p:nvPr/>
        </p:nvSpPr>
        <p:spPr>
          <a:xfrm>
            <a:off x="841248" y="2011680"/>
            <a:ext cx="1097280" cy="317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95" name="TextBox 5"/>
          <p:cNvSpPr txBox="1"/>
          <p:nvPr/>
        </p:nvSpPr>
        <p:spPr>
          <a:xfrm>
            <a:off x="914400" y="2743200"/>
            <a:ext cx="1828800" cy="914400"/>
          </a:xfrm>
          <a:prstGeom prst="rect">
            <a:avLst/>
          </a:prstGeom>
          <a:noFill/>
        </p:spPr>
        <p:txBody>
          <a:bodyPr wrap="square" lIns="0" tIns="0" rIns="0" bIns="0" anchor="t">
            <a:spAutoFit/>
          </a:bodyPr>
          <a:lstStyle/>
          <a:p>
            <a:pPr algn="l">
              <a:lnSpc>
                <a:spcPct val="115000"/>
              </a:lnSpc>
              <a:spcAft>
                <a:spcPts val="600"/>
              </a:spcAft>
            </a:pPr>
            <a:r>
              <a:rPr sz="4600" b="1">
                <a:solidFill>
                  <a:srgbClr val="FFFFFF"/>
                </a:solidFill>
                <a:latin typeface="微软雅黑" panose="020B0503020204020204" charset="-122"/>
                <a:ea typeface="微软雅黑" panose="020B0503020204020204" charset="-122"/>
                <a:cs typeface="微软雅黑" panose="020B0503020204020204" charset="-122"/>
              </a:rPr>
              <a:t>01</a:t>
            </a:r>
            <a:endParaRPr sz="4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96" name="TextBox 6"/>
          <p:cNvSpPr txBox="1"/>
          <p:nvPr/>
        </p:nvSpPr>
        <p:spPr>
          <a:xfrm>
            <a:off x="2834640" y="2788920"/>
            <a:ext cx="7315200" cy="640080"/>
          </a:xfrm>
          <a:prstGeom prst="rect">
            <a:avLst/>
          </a:prstGeom>
          <a:noFill/>
        </p:spPr>
        <p:txBody>
          <a:bodyPr wrap="square" lIns="0" tIns="0" rIns="0" bIns="0" anchor="t">
            <a:spAutoFit/>
          </a:bodyPr>
          <a:lstStyle/>
          <a:p>
            <a:pPr algn="l">
              <a:lnSpc>
                <a:spcPct val="115000"/>
              </a:lnSpc>
              <a:spcAft>
                <a:spcPts val="600"/>
              </a:spcAft>
            </a:pPr>
            <a:r>
              <a:rPr sz="2600" b="1">
                <a:solidFill>
                  <a:srgbClr val="1F2933"/>
                </a:solidFill>
                <a:latin typeface="微软雅黑" panose="020B0503020204020204" charset="-122"/>
                <a:ea typeface="微软雅黑" panose="020B0503020204020204" charset="-122"/>
                <a:cs typeface="微软雅黑" panose="020B0503020204020204" charset="-122"/>
              </a:rPr>
              <a:t>近期宏观</a:t>
            </a:r>
            <a:endParaRPr sz="26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97" name="TextBox 7"/>
          <p:cNvSpPr txBox="1"/>
          <p:nvPr/>
        </p:nvSpPr>
        <p:spPr>
          <a:xfrm>
            <a:off x="2834640" y="3520440"/>
            <a:ext cx="8229600" cy="365760"/>
          </a:xfrm>
          <a:prstGeom prst="rect">
            <a:avLst/>
          </a:prstGeom>
          <a:noFill/>
        </p:spPr>
        <p:txBody>
          <a:bodyPr wrap="square" lIns="0" tIns="0" rIns="0" bIns="0" anchor="t">
            <a:spAutoFit/>
          </a:bodyPr>
          <a:lstStyle/>
          <a:p>
            <a:pPr algn="l">
              <a:lnSpc>
                <a:spcPct val="115000"/>
              </a:lnSpc>
              <a:spcAft>
                <a:spcPts val="600"/>
              </a:spcAft>
            </a:pPr>
            <a:r>
              <a:rPr sz="1200" b="0">
                <a:solidFill>
                  <a:srgbClr val="595959"/>
                </a:solidFill>
                <a:latin typeface="微软雅黑" panose="020B0503020204020204" charset="-122"/>
                <a:ea typeface="微软雅黑" panose="020B0503020204020204" charset="-122"/>
                <a:cs typeface="微软雅黑" panose="020B0503020204020204" charset="-122"/>
              </a:rPr>
              <a:t>海外宏观 · 国内宏观 · 宏观小结</a:t>
            </a:r>
            <a:endParaRPr sz="12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98" name="TextBox 8"/>
          <p:cNvSpPr txBox="1"/>
          <p:nvPr/>
        </p:nvSpPr>
        <p:spPr>
          <a:xfrm>
            <a:off x="914400" y="4297680"/>
            <a:ext cx="1828800" cy="914400"/>
          </a:xfrm>
          <a:prstGeom prst="rect">
            <a:avLst/>
          </a:prstGeom>
          <a:noFill/>
        </p:spPr>
        <p:txBody>
          <a:bodyPr wrap="square" lIns="0" tIns="0" rIns="0" bIns="0" anchor="t">
            <a:spAutoFit/>
          </a:bodyPr>
          <a:lstStyle/>
          <a:p>
            <a:pPr algn="l">
              <a:lnSpc>
                <a:spcPct val="115000"/>
              </a:lnSpc>
              <a:spcAft>
                <a:spcPts val="600"/>
              </a:spcAft>
            </a:pPr>
            <a:r>
              <a:rPr sz="4600" b="1">
                <a:solidFill>
                  <a:srgbClr val="FFFFFF"/>
                </a:solidFill>
                <a:latin typeface="微软雅黑" panose="020B0503020204020204" charset="-122"/>
                <a:ea typeface="微软雅黑" panose="020B0503020204020204" charset="-122"/>
                <a:cs typeface="微软雅黑" panose="020B0503020204020204" charset="-122"/>
              </a:rPr>
              <a:t>02</a:t>
            </a:r>
            <a:endParaRPr sz="4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99" name="TextBox 9"/>
          <p:cNvSpPr txBox="1"/>
          <p:nvPr/>
        </p:nvSpPr>
        <p:spPr>
          <a:xfrm>
            <a:off x="2834640" y="4343400"/>
            <a:ext cx="7315200" cy="640080"/>
          </a:xfrm>
          <a:prstGeom prst="rect">
            <a:avLst/>
          </a:prstGeom>
          <a:noFill/>
        </p:spPr>
        <p:txBody>
          <a:bodyPr wrap="square" lIns="0" tIns="0" rIns="0" bIns="0" anchor="t">
            <a:spAutoFit/>
          </a:bodyPr>
          <a:lstStyle/>
          <a:p>
            <a:pPr algn="l">
              <a:lnSpc>
                <a:spcPct val="115000"/>
              </a:lnSpc>
              <a:spcAft>
                <a:spcPts val="600"/>
              </a:spcAft>
            </a:pPr>
            <a:r>
              <a:rPr sz="2600" b="1">
                <a:solidFill>
                  <a:srgbClr val="1F2933"/>
                </a:solidFill>
                <a:latin typeface="微软雅黑" panose="020B0503020204020204" charset="-122"/>
                <a:ea typeface="微软雅黑" panose="020B0503020204020204" charset="-122"/>
                <a:cs typeface="微软雅黑" panose="020B0503020204020204" charset="-122"/>
              </a:rPr>
              <a:t>大类资产配置</a:t>
            </a:r>
            <a:endParaRPr sz="26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00" name="TextBox 10"/>
          <p:cNvSpPr txBox="1"/>
          <p:nvPr/>
        </p:nvSpPr>
        <p:spPr>
          <a:xfrm>
            <a:off x="2834640" y="5074920"/>
            <a:ext cx="8229600" cy="365760"/>
          </a:xfrm>
          <a:prstGeom prst="rect">
            <a:avLst/>
          </a:prstGeom>
          <a:noFill/>
        </p:spPr>
        <p:txBody>
          <a:bodyPr wrap="square" lIns="0" tIns="0" rIns="0" bIns="0" anchor="t">
            <a:spAutoFit/>
          </a:bodyPr>
          <a:lstStyle/>
          <a:p>
            <a:pPr algn="l">
              <a:lnSpc>
                <a:spcPct val="115000"/>
              </a:lnSpc>
              <a:spcAft>
                <a:spcPts val="600"/>
              </a:spcAft>
            </a:pPr>
            <a:r>
              <a:rPr sz="1200" b="0">
                <a:solidFill>
                  <a:srgbClr val="595959"/>
                </a:solidFill>
                <a:latin typeface="微软雅黑" panose="020B0503020204020204" charset="-122"/>
                <a:ea typeface="微软雅黑" panose="020B0503020204020204" charset="-122"/>
                <a:cs typeface="微软雅黑" panose="020B0503020204020204" charset="-122"/>
              </a:rPr>
              <a:t>资产现状及展望 · 配置比例 · 产品配置 · 调仓计划</a:t>
            </a:r>
            <a:endParaRPr sz="12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01" name="TextBox 11"/>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02" name="TextBox 12"/>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3</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403" name="参考模板浅蓝背景弧线"/>
          <p:cNvPicPr/>
          <p:nvPr/>
        </p:nvPicPr>
        <p:blipFill>
          <a:blip r:embed="rId1"/>
          <a:stretch>
            <a:fillRect/>
          </a:stretch>
        </p:blipFill>
        <p:spPr>
          <a:xfrm>
            <a:off x="4457700" y="0"/>
            <a:ext cx="3143250" cy="495300"/>
          </a:xfrm>
          <a:prstGeom prst="rect">
            <a:avLst/>
          </a:prstGeom>
          <a:noFill/>
          <a:ln>
            <a:noFill/>
          </a:ln>
        </p:spPr>
      </p:pic>
      <p:pic>
        <p:nvPicPr>
          <p:cNvPr id="404" name="参考模板右上角标识"/>
          <p:cNvPicPr/>
          <p:nvPr/>
        </p:nvPicPr>
        <p:blipFill>
          <a:blip r:embed="rId2"/>
          <a:stretch>
            <a:fillRect/>
          </a:stretch>
        </p:blipFill>
        <p:spPr>
          <a:xfrm>
            <a:off x="9696450" y="209550"/>
            <a:ext cx="1733550" cy="390525"/>
          </a:xfrm>
          <a:prstGeom prst="rect">
            <a:avLst/>
          </a:prstGeom>
          <a:noFill/>
          <a:ln>
            <a:noFill/>
          </a:ln>
        </p:spPr>
      </p:pic>
    </p:spTree>
  </p:cSld>
  <p:clrMapOvr>
    <a:masterClrMapping/>
  </p:clrMapOvr>
</p:sld>
</file>

<file path=ppt/slides/slide4.xml><?xml version="1.0" encoding="utf-8"?>
<p:sld xmlns:r="http://schemas.openxmlformats.org/officeDocument/2006/relationships" xmlns:p="http://schemas.openxmlformats.org/presentationml/2006/main" xmlns:a="http://schemas.openxmlformats.org/drawingml/2006/main">
  <p:cSld>
    <p:spTree>
      <p:nvGrpSpPr>
        <p:cNvPr id="403" name=""/>
        <p:cNvGrpSpPr/>
        <p:nvPr/>
      </p:nvGrpSpPr>
      <p:grpSpPr>
        <a:xfrm>
          <a:off x="0" y="0"/>
          <a:ext cx="0" cy="0"/>
          <a:chOff x="0" y="0"/>
          <a:chExt cx="0" cy="0"/>
        </a:xfrm>
      </p:grpSpPr>
      <p:sp>
        <p:nvSpPr>
          <p:cNvPr id="404" name="Rectangle 1"/>
          <p:cNvSpPr/>
          <p:nvPr/>
        </p:nvSpPr>
        <p:spPr>
          <a:xfrm>
            <a:off x="0" y="0"/>
            <a:ext cx="12191695" cy="6858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05" name="Rectangle 2"/>
          <p:cNvSpPr/>
          <p:nvPr/>
        </p:nvSpPr>
        <p:spPr>
          <a:xfrm>
            <a:off x="822960" y="2148840"/>
            <a:ext cx="128016" cy="246888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06" name="TextBox 3"/>
          <p:cNvSpPr txBox="1"/>
          <p:nvPr/>
        </p:nvSpPr>
        <p:spPr>
          <a:xfrm>
            <a:off x="1280160" y="1920240"/>
            <a:ext cx="4572000" cy="1280160"/>
          </a:xfrm>
          <a:prstGeom prst="rect">
            <a:avLst/>
          </a:prstGeom>
          <a:noFill/>
        </p:spPr>
        <p:txBody>
          <a:bodyPr wrap="square" lIns="0" tIns="0" rIns="0" bIns="0" anchor="t">
            <a:spAutoFit/>
          </a:bodyPr>
          <a:lstStyle/>
          <a:p>
            <a:pPr algn="l">
              <a:lnSpc>
                <a:spcPct val="115000"/>
              </a:lnSpc>
              <a:spcAft>
                <a:spcPts val="600"/>
              </a:spcAft>
            </a:pPr>
            <a:r>
              <a:rPr sz="2200" b="1">
                <a:solidFill>
                  <a:srgbClr val="54B0E0"/>
                </a:solidFill>
                <a:latin typeface="微软雅黑" panose="020B0503020204020204" charset="-122"/>
                <a:ea typeface="微软雅黑" panose="020B0503020204020204" charset="-122"/>
                <a:cs typeface="微软雅黑" panose="020B0503020204020204" charset="-122"/>
              </a:rPr>
              <a:t>PART 01</a:t>
            </a:r>
            <a:endParaRPr sz="2200" b="1">
              <a:solidFill>
                <a:srgbClr val="54B0E0"/>
              </a:solidFill>
              <a:latin typeface="微软雅黑" panose="020B0503020204020204" charset="-122"/>
              <a:ea typeface="微软雅黑" panose="020B0503020204020204" charset="-122"/>
              <a:cs typeface="微软雅黑" panose="020B0503020204020204" charset="-122"/>
            </a:endParaRPr>
          </a:p>
        </p:txBody>
      </p:sp>
      <p:sp>
        <p:nvSpPr>
          <p:cNvPr id="407" name="TextBox 4"/>
          <p:cNvSpPr txBox="1"/>
          <p:nvPr/>
        </p:nvSpPr>
        <p:spPr>
          <a:xfrm>
            <a:off x="1280160" y="3017520"/>
            <a:ext cx="5486400" cy="1280160"/>
          </a:xfrm>
          <a:prstGeom prst="rect">
            <a:avLst/>
          </a:prstGeom>
          <a:noFill/>
        </p:spPr>
        <p:txBody>
          <a:bodyPr wrap="square" lIns="0" tIns="0" rIns="0" bIns="0" anchor="t">
            <a:spAutoFit/>
          </a:bodyPr>
          <a:lstStyle/>
          <a:p>
            <a:pPr algn="l">
              <a:lnSpc>
                <a:spcPct val="115000"/>
              </a:lnSpc>
              <a:spcAft>
                <a:spcPts val="600"/>
              </a:spcAft>
            </a:pPr>
            <a:r>
              <a:rPr sz="5200" b="1">
                <a:solidFill>
                  <a:srgbClr val="FFFFFF"/>
                </a:solidFill>
                <a:latin typeface="微软雅黑" panose="020B0503020204020204" charset="-122"/>
                <a:ea typeface="微软雅黑" panose="020B0503020204020204" charset="-122"/>
                <a:cs typeface="微软雅黑" panose="020B0503020204020204" charset="-122"/>
              </a:rPr>
              <a:t>近期宏观</a:t>
            </a:r>
            <a:endParaRPr sz="52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08" name="TextBox 5"/>
          <p:cNvSpPr txBox="1"/>
          <p:nvPr/>
        </p:nvSpPr>
        <p:spPr>
          <a:xfrm>
            <a:off x="1280160" y="4572000"/>
            <a:ext cx="7315200" cy="457200"/>
          </a:xfrm>
          <a:prstGeom prst="rect">
            <a:avLst/>
          </a:prstGeom>
          <a:noFill/>
        </p:spPr>
        <p:txBody>
          <a:bodyPr wrap="square" lIns="0" tIns="0" rIns="0" bIns="0" anchor="t">
            <a:spAutoFit/>
          </a:bodyPr>
          <a:lstStyle/>
          <a:p>
            <a:pPr algn="l">
              <a:lnSpc>
                <a:spcPct val="115000"/>
              </a:lnSpc>
              <a:spcAft>
                <a:spcPts val="600"/>
              </a:spcAft>
            </a:pPr>
            <a:r>
              <a:rPr sz="1300" b="0">
                <a:solidFill>
                  <a:srgbClr val="FFFFFF"/>
                </a:solidFill>
                <a:latin typeface="微软雅黑" panose="020B0503020204020204" charset="-122"/>
                <a:ea typeface="微软雅黑" panose="020B0503020204020204" charset="-122"/>
                <a:cs typeface="微软雅黑" panose="020B0503020204020204" charset="-122"/>
              </a:rPr>
              <a:t>Chapter 01  ·  Macro Review</a:t>
            </a:r>
            <a:endParaRPr sz="130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09" name="TextBox 6"/>
          <p:cNvSpPr txBox="1"/>
          <p:nvPr/>
        </p:nvSpPr>
        <p:spPr>
          <a:xfrm>
            <a:off x="8229600" y="2377440"/>
            <a:ext cx="3200400" cy="2286000"/>
          </a:xfrm>
          <a:prstGeom prst="rect">
            <a:avLst/>
          </a:prstGeom>
          <a:noFill/>
        </p:spPr>
        <p:txBody>
          <a:bodyPr wrap="square" lIns="0" tIns="0" rIns="0" bIns="0" anchor="t">
            <a:spAutoFit/>
          </a:bodyPr>
          <a:lstStyle/>
          <a:p>
            <a:pPr algn="l">
              <a:lnSpc>
                <a:spcPct val="115000"/>
              </a:lnSpc>
              <a:spcAft>
                <a:spcPts val="600"/>
              </a:spcAft>
            </a:pPr>
            <a:r>
              <a:rPr sz="16000" b="1">
                <a:solidFill>
                  <a:srgbClr val="3A3A3A"/>
                </a:solidFill>
                <a:latin typeface="微软雅黑" panose="020B0503020204020204" charset="-122"/>
                <a:ea typeface="微软雅黑" panose="020B0503020204020204" charset="-122"/>
                <a:cs typeface="微软雅黑" panose="020B0503020204020204" charset="-122"/>
              </a:rPr>
              <a:t>01</a:t>
            </a:r>
            <a:endParaRPr sz="16000" b="1">
              <a:solidFill>
                <a:srgbClr val="3A3A3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r="http://schemas.openxmlformats.org/officeDocument/2006/relationships" xmlns:p="http://schemas.openxmlformats.org/presentationml/2006/main" xmlns:a="http://schemas.openxmlformats.org/drawingml/2006/main">
  <p:cSld>
    <p:spTree>
      <p:nvGrpSpPr>
        <p:cNvPr id="410" name=""/>
        <p:cNvGrpSpPr/>
        <p:nvPr/>
      </p:nvGrpSpPr>
      <p:grpSpPr>
        <a:xfrm>
          <a:off x="0" y="0"/>
          <a:ext cx="0" cy="0"/>
          <a:chOff x="0" y="0"/>
          <a:chExt cx="0" cy="0"/>
        </a:xfrm>
      </p:grpSpPr>
      <p:sp>
        <p:nvSpPr>
          <p:cNvPr id="411"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12"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lang="zh-CN" sz="2600" b="1">
                <a:solidFill>
                  <a:srgbClr val="0070C0"/>
                </a:solidFill>
                <a:latin typeface="微软雅黑" panose="020B0503020204020204" charset="-122"/>
                <a:ea typeface="微软雅黑" panose="020B0503020204020204" charset="-122"/>
                <a:cs typeface="微软雅黑" panose="020B0503020204020204" charset="-122"/>
              </a:rPr>
              <a:t>海外宏观：美联储 9 月加息预期坐实</a:t>
            </a:r>
            <a:endParaRPr lang="zh-CN"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13"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lang="zh-CN" sz="1100" b="0">
                <a:solidFill>
                  <a:srgbClr val="595959"/>
                </a:solidFill>
                <a:latin typeface="微软雅黑" panose="020B0503020204020204" charset="-122"/>
                <a:ea typeface="微软雅黑" panose="020B0503020204020204" charset="-122"/>
                <a:cs typeface="微软雅黑" panose="020B0503020204020204" charset="-122"/>
              </a:rPr>
              <a:t>杰克逊霍尔鹰派定调 + 非农超预期，加息概率升至九成以上</a:t>
            </a:r>
            <a:endParaRPr lang="zh-CN"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14"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15"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16" name="Rectangle 18"/>
          <p:cNvSpPr/>
          <p:nvPr/>
        </p:nvSpPr>
        <p:spPr>
          <a:xfrm>
            <a:off x="502920" y="5989320"/>
            <a:ext cx="11183112" cy="65836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17" name="Rectangle 19"/>
          <p:cNvSpPr/>
          <p:nvPr/>
        </p:nvSpPr>
        <p:spPr>
          <a:xfrm>
            <a:off x="502920" y="5989320"/>
            <a:ext cx="11183112" cy="65836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lnSpc>
                <a:spcPct val="110000"/>
              </a:lnSpc>
              <a:spcAft>
                <a:spcPts val="400"/>
              </a:spcAft>
            </a:pPr>
            <a:r>
              <a:rPr lang="zh-CN" sz="1300" b="0">
                <a:solidFill>
                  <a:srgbClr val="0070C0"/>
                </a:solidFill>
                <a:latin typeface="微软雅黑" panose="020B0503020204020204" charset="-122"/>
                <a:ea typeface="微软雅黑" panose="020B0503020204020204" charset="-122"/>
                <a:cs typeface="微软雅黑" panose="020B0503020204020204" charset="-122"/>
              </a:rPr>
              <a:t>加息预期主导，风险偏好承压；人民币逆势走强，政策独立。</a:t>
            </a:r>
            <a:endParaRPr lang="zh-CN" sz="1300" b="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18" name="TextBox 20"/>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19" name="TextBox 21"/>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5</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20" name="圆角矩形 244"/>
          <p:cNvSpPr/>
          <p:nvPr/>
        </p:nvSpPr>
        <p:spPr>
          <a:xfrm>
            <a:off x="5080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21" name="圆角矩形 245"/>
          <p:cNvSpPr/>
          <p:nvPr/>
        </p:nvSpPr>
        <p:spPr>
          <a:xfrm>
            <a:off x="42799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22" name="圆角矩形 246"/>
          <p:cNvSpPr/>
          <p:nvPr/>
        </p:nvSpPr>
        <p:spPr>
          <a:xfrm>
            <a:off x="80518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23" name="圆角矩形 247"/>
          <p:cNvSpPr/>
          <p:nvPr/>
        </p:nvSpPr>
        <p:spPr>
          <a:xfrm>
            <a:off x="5080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24" name="圆角矩形 248"/>
          <p:cNvSpPr/>
          <p:nvPr/>
        </p:nvSpPr>
        <p:spPr>
          <a:xfrm>
            <a:off x="42799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25" name="圆角矩形 249"/>
          <p:cNvSpPr/>
          <p:nvPr/>
        </p:nvSpPr>
        <p:spPr>
          <a:xfrm>
            <a:off x="80518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26" name="圆角矩形 250"/>
          <p:cNvSpPr/>
          <p:nvPr/>
        </p:nvSpPr>
        <p:spPr>
          <a:xfrm>
            <a:off x="7112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27" name="圆角矩形 251"/>
          <p:cNvSpPr/>
          <p:nvPr/>
        </p:nvSpPr>
        <p:spPr>
          <a:xfrm>
            <a:off x="44831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28" name="圆角矩形 252"/>
          <p:cNvSpPr/>
          <p:nvPr/>
        </p:nvSpPr>
        <p:spPr>
          <a:xfrm>
            <a:off x="82550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29" name="圆角矩形 253"/>
          <p:cNvSpPr/>
          <p:nvPr/>
        </p:nvSpPr>
        <p:spPr>
          <a:xfrm>
            <a:off x="7112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30" name="圆角矩形 254"/>
          <p:cNvSpPr/>
          <p:nvPr/>
        </p:nvSpPr>
        <p:spPr>
          <a:xfrm>
            <a:off x="44831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31" name="圆角矩形 255"/>
          <p:cNvSpPr/>
          <p:nvPr/>
        </p:nvSpPr>
        <p:spPr>
          <a:xfrm>
            <a:off x="82550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32" name="矩形 256"/>
          <p:cNvSpPr/>
          <p:nvPr/>
        </p:nvSpPr>
        <p:spPr>
          <a:xfrm>
            <a:off x="7112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杰克逊霍尔定调</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33" name="矩形 257"/>
          <p:cNvSpPr/>
          <p:nvPr/>
        </p:nvSpPr>
        <p:spPr>
          <a:xfrm>
            <a:off x="44831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官员立场</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34" name="矩形 258"/>
          <p:cNvSpPr/>
          <p:nvPr/>
        </p:nvSpPr>
        <p:spPr>
          <a:xfrm>
            <a:off x="82550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非农就业</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35" name="矩形 259"/>
          <p:cNvSpPr/>
          <p:nvPr/>
        </p:nvSpPr>
        <p:spPr>
          <a:xfrm>
            <a:off x="7112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加息概率</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36" name="矩形 260"/>
          <p:cNvSpPr/>
          <p:nvPr/>
        </p:nvSpPr>
        <p:spPr>
          <a:xfrm>
            <a:off x="44831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美债 10Y</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37" name="矩形 261"/>
          <p:cNvSpPr/>
          <p:nvPr/>
        </p:nvSpPr>
        <p:spPr>
          <a:xfrm>
            <a:off x="82550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关键变量</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38" name="矩形 262"/>
          <p:cNvSpPr/>
          <p:nvPr/>
        </p:nvSpPr>
        <p:spPr>
          <a:xfrm>
            <a:off x="7112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偏鹰</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39" name="矩形 263"/>
          <p:cNvSpPr/>
          <p:nvPr/>
        </p:nvSpPr>
        <p:spPr>
          <a:xfrm>
            <a:off x="44831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鹰派</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40" name="矩形 264"/>
          <p:cNvSpPr/>
          <p:nvPr/>
        </p:nvSpPr>
        <p:spPr>
          <a:xfrm>
            <a:off x="82550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+16.2万</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41" name="矩形 265"/>
          <p:cNvSpPr/>
          <p:nvPr/>
        </p:nvSpPr>
        <p:spPr>
          <a:xfrm>
            <a:off x="7112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95%</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42" name="矩形 266"/>
          <p:cNvSpPr/>
          <p:nvPr/>
        </p:nvSpPr>
        <p:spPr>
          <a:xfrm>
            <a:off x="44831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5.00%</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43" name="矩形 267"/>
          <p:cNvSpPr/>
          <p:nvPr/>
        </p:nvSpPr>
        <p:spPr>
          <a:xfrm>
            <a:off x="82550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8月CPI</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44" name="矩形 268"/>
          <p:cNvSpPr/>
          <p:nvPr/>
        </p:nvSpPr>
        <p:spPr>
          <a:xfrm>
            <a:off x="7112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通胀未实质改善则继续收紧</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45" name="矩形 269"/>
          <p:cNvSpPr/>
          <p:nvPr/>
        </p:nvSpPr>
        <p:spPr>
          <a:xfrm>
            <a:off x="44831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沃什鹰派定调 · 委员分歧</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46" name="矩形 270"/>
          <p:cNvSpPr/>
          <p:nvPr/>
        </p:nvSpPr>
        <p:spPr>
          <a:xfrm>
            <a:off x="82550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预期仅 5 万｜失业率 4.1%</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47" name="矩形 271"/>
          <p:cNvSpPr/>
          <p:nvPr/>
        </p:nvSpPr>
        <p:spPr>
          <a:xfrm>
            <a:off x="7112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9月加息25bp｜利率3.75–4.00%</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48" name="矩形 272"/>
          <p:cNvSpPr/>
          <p:nvPr/>
        </p:nvSpPr>
        <p:spPr>
          <a:xfrm>
            <a:off x="44831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30Y 5.25%</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49" name="矩形 273"/>
          <p:cNvSpPr/>
          <p:nvPr/>
        </p:nvSpPr>
        <p:spPr>
          <a:xfrm>
            <a:off x="82550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同比3.4%｜核心环比0.3%超预期</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450" name="参考模板浅蓝背景弧线"/>
          <p:cNvPicPr/>
          <p:nvPr/>
        </p:nvPicPr>
        <p:blipFill>
          <a:blip r:embed="rId2"/>
          <a:stretch>
            <a:fillRect/>
          </a:stretch>
        </p:blipFill>
        <p:spPr>
          <a:xfrm>
            <a:off x="4457700" y="0"/>
            <a:ext cx="3143250" cy="495300"/>
          </a:xfrm>
          <a:prstGeom prst="rect">
            <a:avLst/>
          </a:prstGeom>
          <a:noFill/>
          <a:ln>
            <a:noFill/>
          </a:ln>
        </p:spPr>
      </p:pic>
      <p:pic>
        <p:nvPicPr>
          <p:cNvPr id="451"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6.xml><?xml version="1.0" encoding="utf-8"?>
<p:sld xmlns:r="http://schemas.openxmlformats.org/officeDocument/2006/relationships" xmlns:p="http://schemas.openxmlformats.org/presentationml/2006/main" xmlns:a="http://schemas.openxmlformats.org/drawingml/2006/main">
  <p:cSld>
    <p:spTree>
      <p:nvGrpSpPr>
        <p:cNvPr id="450" name=""/>
        <p:cNvGrpSpPr/>
        <p:nvPr/>
      </p:nvGrpSpPr>
      <p:grpSpPr>
        <a:xfrm>
          <a:off x="0" y="0"/>
          <a:ext cx="0" cy="0"/>
          <a:chOff x="0" y="0"/>
          <a:chExt cx="0" cy="0"/>
        </a:xfrm>
      </p:grpSpPr>
      <p:sp>
        <p:nvSpPr>
          <p:cNvPr id="451"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52"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海外宏观：中东冲突升级，油价与商品高企</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53"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sz="1100" b="0">
                <a:solidFill>
                  <a:srgbClr val="595959"/>
                </a:solidFill>
                <a:latin typeface="微软雅黑" panose="020B0503020204020204" charset="-122"/>
                <a:ea typeface="微软雅黑" panose="020B0503020204020204" charset="-122"/>
                <a:cs typeface="微软雅黑" panose="020B0503020204020204" charset="-122"/>
              </a:rPr>
              <a:t>地缘风险推升能源与商品价格，输入型再通胀成为全球主线</a:t>
            </a:r>
            <a:endParaRPr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54"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55"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56" name="Rectangle 16"/>
          <p:cNvSpPr/>
          <p:nvPr/>
        </p:nvSpPr>
        <p:spPr>
          <a:xfrm>
            <a:off x="502920" y="5989320"/>
            <a:ext cx="11183112" cy="65836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57" name="Rectangle 17"/>
          <p:cNvSpPr/>
          <p:nvPr/>
        </p:nvSpPr>
        <p:spPr>
          <a:xfrm>
            <a:off x="502920" y="5989320"/>
            <a:ext cx="11183112" cy="65836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lnSpc>
                <a:spcPct val="110000"/>
              </a:lnSpc>
              <a:spcAft>
                <a:spcPts val="400"/>
              </a:spcAft>
            </a:pPr>
            <a:r>
              <a:rPr lang="zh-CN" sz="1300" b="0">
                <a:solidFill>
                  <a:srgbClr val="0070C0"/>
                </a:solidFill>
                <a:latin typeface="微软雅黑" panose="020B0503020204020204" charset="-122"/>
                <a:ea typeface="微软雅黑" panose="020B0503020204020204" charset="-122"/>
                <a:cs typeface="微软雅黑" panose="020B0503020204020204" charset="-122"/>
              </a:rPr>
              <a:t>输入型涨价叠加加息，滞胀担忧升温；国内 PPI 与商品受益。</a:t>
            </a:r>
            <a:endParaRPr lang="zh-CN" sz="1300" b="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58" name="TextBox 1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59" name="TextBox 1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6</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60" name="圆角矩形 284"/>
          <p:cNvSpPr/>
          <p:nvPr/>
        </p:nvSpPr>
        <p:spPr>
          <a:xfrm>
            <a:off x="5080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61" name="圆角矩形 285"/>
          <p:cNvSpPr/>
          <p:nvPr/>
        </p:nvSpPr>
        <p:spPr>
          <a:xfrm>
            <a:off x="42799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62" name="圆角矩形 286"/>
          <p:cNvSpPr/>
          <p:nvPr/>
        </p:nvSpPr>
        <p:spPr>
          <a:xfrm>
            <a:off x="80518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63" name="圆角矩形 287"/>
          <p:cNvSpPr/>
          <p:nvPr/>
        </p:nvSpPr>
        <p:spPr>
          <a:xfrm>
            <a:off x="5080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64" name="圆角矩形 288"/>
          <p:cNvSpPr/>
          <p:nvPr/>
        </p:nvSpPr>
        <p:spPr>
          <a:xfrm>
            <a:off x="42799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65" name="圆角矩形 289"/>
          <p:cNvSpPr/>
          <p:nvPr/>
        </p:nvSpPr>
        <p:spPr>
          <a:xfrm>
            <a:off x="7112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66" name="圆角矩形 290"/>
          <p:cNvSpPr/>
          <p:nvPr/>
        </p:nvSpPr>
        <p:spPr>
          <a:xfrm>
            <a:off x="44831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67" name="圆角矩形 291"/>
          <p:cNvSpPr/>
          <p:nvPr/>
        </p:nvSpPr>
        <p:spPr>
          <a:xfrm>
            <a:off x="82550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68" name="圆角矩形 292"/>
          <p:cNvSpPr/>
          <p:nvPr/>
        </p:nvSpPr>
        <p:spPr>
          <a:xfrm>
            <a:off x="7112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69" name="圆角矩形 293"/>
          <p:cNvSpPr/>
          <p:nvPr/>
        </p:nvSpPr>
        <p:spPr>
          <a:xfrm>
            <a:off x="44831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470" name="矩形 294"/>
          <p:cNvSpPr/>
          <p:nvPr/>
        </p:nvSpPr>
        <p:spPr>
          <a:xfrm>
            <a:off x="7112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地缘冲突</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71" name="矩形 295"/>
          <p:cNvSpPr/>
          <p:nvPr/>
        </p:nvSpPr>
        <p:spPr>
          <a:xfrm>
            <a:off x="44831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油价 WTI</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72" name="矩形 296"/>
          <p:cNvSpPr/>
          <p:nvPr/>
        </p:nvSpPr>
        <p:spPr>
          <a:xfrm>
            <a:off x="82550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黄金</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73" name="矩形 297"/>
          <p:cNvSpPr/>
          <p:nvPr/>
        </p:nvSpPr>
        <p:spPr>
          <a:xfrm>
            <a:off x="7112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铜 LME</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74" name="矩形 298"/>
          <p:cNvSpPr/>
          <p:nvPr/>
        </p:nvSpPr>
        <p:spPr>
          <a:xfrm>
            <a:off x="44831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农产品</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75" name="矩形 299"/>
          <p:cNvSpPr/>
          <p:nvPr/>
        </p:nvSpPr>
        <p:spPr>
          <a:xfrm>
            <a:off x="7112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升级</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76" name="矩形 300"/>
          <p:cNvSpPr/>
          <p:nvPr/>
        </p:nvSpPr>
        <p:spPr>
          <a:xfrm>
            <a:off x="44831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105.83</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77" name="矩形 301"/>
          <p:cNvSpPr/>
          <p:nvPr/>
        </p:nvSpPr>
        <p:spPr>
          <a:xfrm>
            <a:off x="82550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4333</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78" name="矩形 302"/>
          <p:cNvSpPr/>
          <p:nvPr/>
        </p:nvSpPr>
        <p:spPr>
          <a:xfrm>
            <a:off x="7112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14114</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79" name="矩形 303"/>
          <p:cNvSpPr/>
          <p:nvPr/>
        </p:nvSpPr>
        <p:spPr>
          <a:xfrm>
            <a:off x="44831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共振</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480" name="矩形 304"/>
          <p:cNvSpPr/>
          <p:nvPr/>
        </p:nvSpPr>
        <p:spPr>
          <a:xfrm>
            <a:off x="7112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沙特管道遭袭停运 · 美军封锁伊朗</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81" name="矩形 305"/>
          <p:cNvSpPr/>
          <p:nvPr/>
        </p:nvSpPr>
        <p:spPr>
          <a:xfrm>
            <a:off x="44831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布伦特108.75｜周涨约17%</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82" name="矩形 306"/>
          <p:cNvSpPr/>
          <p:nvPr/>
        </p:nvSpPr>
        <p:spPr>
          <a:xfrm>
            <a:off x="82550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COMEX｜周跌1.4%</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83" name="矩形 307"/>
          <p:cNvSpPr/>
          <p:nvPr/>
        </p:nvSpPr>
        <p:spPr>
          <a:xfrm>
            <a:off x="7112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年内+11%｜高位回落</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84" name="矩形 308"/>
          <p:cNvSpPr/>
          <p:nvPr/>
        </p:nvSpPr>
        <p:spPr>
          <a:xfrm>
            <a:off x="44831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食品指数新高｜小麦玉米三年高</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485" name="参考模板浅蓝背景弧线"/>
          <p:cNvPicPr/>
          <p:nvPr/>
        </p:nvPicPr>
        <p:blipFill>
          <a:blip r:embed="rId2"/>
          <a:stretch>
            <a:fillRect/>
          </a:stretch>
        </p:blipFill>
        <p:spPr>
          <a:xfrm>
            <a:off x="4457700" y="0"/>
            <a:ext cx="3143250" cy="495300"/>
          </a:xfrm>
          <a:prstGeom prst="rect">
            <a:avLst/>
          </a:prstGeom>
          <a:noFill/>
          <a:ln>
            <a:noFill/>
          </a:ln>
        </p:spPr>
      </p:pic>
      <p:pic>
        <p:nvPicPr>
          <p:cNvPr id="486"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7.xml><?xml version="1.0" encoding="utf-8"?>
<p:sld xmlns:r="http://schemas.openxmlformats.org/officeDocument/2006/relationships" xmlns:p="http://schemas.openxmlformats.org/presentationml/2006/main" xmlns:a="http://schemas.openxmlformats.org/drawingml/2006/main">
  <p:cSld>
    <p:spTree>
      <p:nvGrpSpPr>
        <p:cNvPr id="485" name=""/>
        <p:cNvGrpSpPr/>
        <p:nvPr/>
      </p:nvGrpSpPr>
      <p:grpSpPr>
        <a:xfrm>
          <a:off x="0" y="0"/>
          <a:ext cx="0" cy="0"/>
          <a:chOff x="0" y="0"/>
          <a:chExt cx="0" cy="0"/>
        </a:xfrm>
      </p:grpSpPr>
      <p:sp>
        <p:nvSpPr>
          <p:cNvPr id="486"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87"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国内宏观：政策“相机抉择”，宽松有后手</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88"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sz="1100" b="0">
                <a:solidFill>
                  <a:srgbClr val="595959"/>
                </a:solidFill>
                <a:latin typeface="微软雅黑" panose="020B0503020204020204" charset="-122"/>
                <a:ea typeface="微软雅黑" panose="020B0503020204020204" charset="-122"/>
                <a:cs typeface="微软雅黑" panose="020B0503020204020204" charset="-122"/>
              </a:rPr>
              <a:t>政治局会议定调扩内需，总量工具待命，LPR 连续 15 个月不动</a:t>
            </a:r>
            <a:endParaRPr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89"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90"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91" name="Rectangle 16"/>
          <p:cNvSpPr/>
          <p:nvPr/>
        </p:nvSpPr>
        <p:spPr>
          <a:xfrm>
            <a:off x="502920" y="5989320"/>
            <a:ext cx="11183112" cy="65836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92" name="Rectangle 17"/>
          <p:cNvSpPr/>
          <p:nvPr/>
        </p:nvSpPr>
        <p:spPr>
          <a:xfrm>
            <a:off x="502920" y="5989320"/>
            <a:ext cx="11183112" cy="65836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lnSpc>
                <a:spcPct val="110000"/>
              </a:lnSpc>
              <a:spcAft>
                <a:spcPts val="400"/>
              </a:spcAft>
            </a:pPr>
            <a:r>
              <a:rPr lang="zh-CN" sz="1300" b="0">
                <a:solidFill>
                  <a:srgbClr val="0070C0"/>
                </a:solidFill>
                <a:latin typeface="微软雅黑" panose="020B0503020204020204" charset="-122"/>
                <a:ea typeface="微软雅黑" panose="020B0503020204020204" charset="-122"/>
                <a:cs typeface="微软雅黑" panose="020B0503020204020204" charset="-122"/>
              </a:rPr>
              <a:t>以稳为主、相机抉择；资金面平稳（DR007 1.37%）。</a:t>
            </a:r>
            <a:endParaRPr lang="zh-CN" sz="1300" b="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93" name="TextBox 1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94" name="TextBox 1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7</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95" name="圆角矩形 319"/>
          <p:cNvSpPr/>
          <p:nvPr/>
        </p:nvSpPr>
        <p:spPr>
          <a:xfrm>
            <a:off x="5080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96" name="圆角矩形 320"/>
          <p:cNvSpPr/>
          <p:nvPr/>
        </p:nvSpPr>
        <p:spPr>
          <a:xfrm>
            <a:off x="42799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97" name="圆角矩形 321"/>
          <p:cNvSpPr/>
          <p:nvPr/>
        </p:nvSpPr>
        <p:spPr>
          <a:xfrm>
            <a:off x="80518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98" name="圆角矩形 322"/>
          <p:cNvSpPr/>
          <p:nvPr/>
        </p:nvSpPr>
        <p:spPr>
          <a:xfrm>
            <a:off x="5080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499" name="圆角矩形 323"/>
          <p:cNvSpPr/>
          <p:nvPr/>
        </p:nvSpPr>
        <p:spPr>
          <a:xfrm>
            <a:off x="42799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500" name="圆角矩形 324"/>
          <p:cNvSpPr/>
          <p:nvPr/>
        </p:nvSpPr>
        <p:spPr>
          <a:xfrm>
            <a:off x="7112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01" name="圆角矩形 325"/>
          <p:cNvSpPr/>
          <p:nvPr/>
        </p:nvSpPr>
        <p:spPr>
          <a:xfrm>
            <a:off x="44831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02" name="圆角矩形 326"/>
          <p:cNvSpPr/>
          <p:nvPr/>
        </p:nvSpPr>
        <p:spPr>
          <a:xfrm>
            <a:off x="82550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03" name="圆角矩形 327"/>
          <p:cNvSpPr/>
          <p:nvPr/>
        </p:nvSpPr>
        <p:spPr>
          <a:xfrm>
            <a:off x="7112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04" name="圆角矩形 328"/>
          <p:cNvSpPr/>
          <p:nvPr/>
        </p:nvSpPr>
        <p:spPr>
          <a:xfrm>
            <a:off x="44831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05" name="矩形 329"/>
          <p:cNvSpPr/>
          <p:nvPr/>
        </p:nvSpPr>
        <p:spPr>
          <a:xfrm>
            <a:off x="7112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政治局</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06" name="矩形 330"/>
          <p:cNvSpPr/>
          <p:nvPr/>
        </p:nvSpPr>
        <p:spPr>
          <a:xfrm>
            <a:off x="44831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货币政策</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07" name="矩形 331"/>
          <p:cNvSpPr/>
          <p:nvPr/>
        </p:nvSpPr>
        <p:spPr>
          <a:xfrm>
            <a:off x="82550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LPR</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08" name="矩形 332"/>
          <p:cNvSpPr/>
          <p:nvPr/>
        </p:nvSpPr>
        <p:spPr>
          <a:xfrm>
            <a:off x="7112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降准先行</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09" name="矩形 333"/>
          <p:cNvSpPr/>
          <p:nvPr/>
        </p:nvSpPr>
        <p:spPr>
          <a:xfrm>
            <a:off x="44831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触发信号</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10" name="矩形 334"/>
          <p:cNvSpPr/>
          <p:nvPr/>
        </p:nvSpPr>
        <p:spPr>
          <a:xfrm>
            <a:off x="7112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扩内需</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11" name="矩形 335"/>
          <p:cNvSpPr/>
          <p:nvPr/>
        </p:nvSpPr>
        <p:spPr>
          <a:xfrm>
            <a:off x="44831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待命</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12" name="矩形 336"/>
          <p:cNvSpPr/>
          <p:nvPr/>
        </p:nvSpPr>
        <p:spPr>
          <a:xfrm>
            <a:off x="82550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3.0/3.5%</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13" name="矩形 337"/>
          <p:cNvSpPr/>
          <p:nvPr/>
        </p:nvSpPr>
        <p:spPr>
          <a:xfrm>
            <a:off x="7112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四季度</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14" name="矩形 338"/>
          <p:cNvSpPr/>
          <p:nvPr/>
        </p:nvSpPr>
        <p:spPr>
          <a:xfrm>
            <a:off x="44831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利润转负</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15" name="矩形 339"/>
          <p:cNvSpPr/>
          <p:nvPr/>
        </p:nvSpPr>
        <p:spPr>
          <a:xfrm>
            <a:off x="7112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加快财政支出与债券使用</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16" name="矩形 340"/>
          <p:cNvSpPr/>
          <p:nvPr/>
        </p:nvSpPr>
        <p:spPr>
          <a:xfrm>
            <a:off x="44831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降准降息总量工具</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17" name="矩形 341"/>
          <p:cNvSpPr/>
          <p:nvPr/>
        </p:nvSpPr>
        <p:spPr>
          <a:xfrm>
            <a:off x="82550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连续15个月不动</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18" name="矩形 342"/>
          <p:cNvSpPr/>
          <p:nvPr/>
        </p:nvSpPr>
        <p:spPr>
          <a:xfrm>
            <a:off x="7112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置换式降准概率最高</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19" name="矩形 343"/>
          <p:cNvSpPr/>
          <p:nvPr/>
        </p:nvSpPr>
        <p:spPr>
          <a:xfrm>
            <a:off x="44831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或美联储转宽</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520" name="参考模板浅蓝背景弧线"/>
          <p:cNvPicPr/>
          <p:nvPr/>
        </p:nvPicPr>
        <p:blipFill>
          <a:blip r:embed="rId2"/>
          <a:stretch>
            <a:fillRect/>
          </a:stretch>
        </p:blipFill>
        <p:spPr>
          <a:xfrm>
            <a:off x="4457700" y="0"/>
            <a:ext cx="3143250" cy="495300"/>
          </a:xfrm>
          <a:prstGeom prst="rect">
            <a:avLst/>
          </a:prstGeom>
          <a:noFill/>
          <a:ln>
            <a:noFill/>
          </a:ln>
        </p:spPr>
      </p:pic>
      <p:pic>
        <p:nvPicPr>
          <p:cNvPr id="521"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8.xml><?xml version="1.0" encoding="utf-8"?>
<p:sld xmlns:r="http://schemas.openxmlformats.org/officeDocument/2006/relationships" xmlns:p="http://schemas.openxmlformats.org/presentationml/2006/main" xmlns:a="http://schemas.openxmlformats.org/drawingml/2006/main">
  <p:cSld>
    <p:spTree>
      <p:nvGrpSpPr>
        <p:cNvPr id="520" name=""/>
        <p:cNvGrpSpPr/>
        <p:nvPr/>
      </p:nvGrpSpPr>
      <p:grpSpPr>
        <a:xfrm>
          <a:off x="0" y="0"/>
          <a:ext cx="0" cy="0"/>
          <a:chOff x="0" y="0"/>
          <a:chExt cx="0" cy="0"/>
        </a:xfrm>
      </p:grpSpPr>
      <p:sp>
        <p:nvSpPr>
          <p:cNvPr id="521"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22"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国内宏观：8 月物价回暖、外需强劲</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23"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sz="1100" b="0">
                <a:solidFill>
                  <a:srgbClr val="595959"/>
                </a:solidFill>
                <a:latin typeface="微软雅黑" panose="020B0503020204020204" charset="-122"/>
                <a:ea typeface="微软雅黑" panose="020B0503020204020204" charset="-122"/>
                <a:cs typeface="微软雅黑" panose="020B0503020204020204" charset="-122"/>
              </a:rPr>
              <a:t>CPI/PPI 双双回升，出口创单月新高，内需修复仍待发力</a:t>
            </a:r>
            <a:endParaRPr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24"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25"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26" name="Rectangle 16"/>
          <p:cNvSpPr/>
          <p:nvPr/>
        </p:nvSpPr>
        <p:spPr>
          <a:xfrm>
            <a:off x="502920" y="5989320"/>
            <a:ext cx="11183112" cy="65836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27" name="Rectangle 17"/>
          <p:cNvSpPr/>
          <p:nvPr/>
        </p:nvSpPr>
        <p:spPr>
          <a:xfrm>
            <a:off x="502920" y="5989320"/>
            <a:ext cx="11183112" cy="65836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lnSpc>
                <a:spcPct val="110000"/>
              </a:lnSpc>
              <a:spcAft>
                <a:spcPts val="400"/>
              </a:spcAft>
            </a:pPr>
            <a:r>
              <a:rPr lang="zh-CN" sz="1300" b="0">
                <a:solidFill>
                  <a:srgbClr val="0070C0"/>
                </a:solidFill>
                <a:latin typeface="微软雅黑" panose="020B0503020204020204" charset="-122"/>
                <a:ea typeface="微软雅黑" panose="020B0503020204020204" charset="-122"/>
                <a:cs typeface="微软雅黑" panose="020B0503020204020204" charset="-122"/>
              </a:rPr>
              <a:t>外需强、内需弱；价格回升，利好上游与商品。</a:t>
            </a:r>
            <a:endParaRPr lang="zh-CN" sz="1300" b="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28" name="TextBox 1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29" name="TextBox 1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8</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30" name="圆角矩形 354"/>
          <p:cNvSpPr/>
          <p:nvPr/>
        </p:nvSpPr>
        <p:spPr>
          <a:xfrm>
            <a:off x="5080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531" name="圆角矩形 355"/>
          <p:cNvSpPr/>
          <p:nvPr/>
        </p:nvSpPr>
        <p:spPr>
          <a:xfrm>
            <a:off x="42799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532" name="圆角矩形 356"/>
          <p:cNvSpPr/>
          <p:nvPr/>
        </p:nvSpPr>
        <p:spPr>
          <a:xfrm>
            <a:off x="8051800" y="14986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533" name="圆角矩形 357"/>
          <p:cNvSpPr/>
          <p:nvPr/>
        </p:nvSpPr>
        <p:spPr>
          <a:xfrm>
            <a:off x="5080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534" name="圆角矩形 358"/>
          <p:cNvSpPr/>
          <p:nvPr/>
        </p:nvSpPr>
        <p:spPr>
          <a:xfrm>
            <a:off x="4279900" y="3733800"/>
            <a:ext cx="3606800" cy="2057400"/>
          </a:xfrm>
          <a:prstGeom prst="roundRect">
            <a:avLst>
              <a:gd name="adj" fmla="val 4376"/>
            </a:avLst>
          </a:prstGeom>
          <a:solidFill>
            <a:srgbClr val="F4FAFE">
              <a:alpha val="100000"/>
            </a:srgbClr>
          </a:solidFill>
          <a:ln w="12700">
            <a:solidFill>
              <a:srgbClr val="AED5EB">
                <a:alpha val="100000"/>
              </a:srgbClr>
            </a:solidFill>
            <a:prstDash val="solid"/>
          </a:ln>
        </p:spPr>
        <p:txBody>
          <a:bodyPr/>
          <a:p>
            <a:pPr/>
            <a:endParaRPr>
              <a:ea typeface="微软雅黑" panose="020B0503020204020204" charset="-122"/>
              <a:cs typeface="微软雅黑" panose="020B0503020204020204" charset="-122"/>
            </a:endParaRPr>
          </a:p>
        </p:txBody>
      </p:sp>
      <p:sp>
        <p:nvSpPr>
          <p:cNvPr id="535" name="圆角矩形 359"/>
          <p:cNvSpPr/>
          <p:nvPr/>
        </p:nvSpPr>
        <p:spPr>
          <a:xfrm>
            <a:off x="7112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36" name="圆角矩形 360"/>
          <p:cNvSpPr/>
          <p:nvPr/>
        </p:nvSpPr>
        <p:spPr>
          <a:xfrm>
            <a:off x="44831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37" name="圆角矩形 361"/>
          <p:cNvSpPr/>
          <p:nvPr/>
        </p:nvSpPr>
        <p:spPr>
          <a:xfrm>
            <a:off x="8255000" y="17018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38" name="圆角矩形 362"/>
          <p:cNvSpPr/>
          <p:nvPr/>
        </p:nvSpPr>
        <p:spPr>
          <a:xfrm>
            <a:off x="7112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39" name="圆角矩形 363"/>
          <p:cNvSpPr/>
          <p:nvPr/>
        </p:nvSpPr>
        <p:spPr>
          <a:xfrm>
            <a:off x="4483100" y="3937000"/>
            <a:ext cx="304800" cy="50800"/>
          </a:xfrm>
          <a:prstGeom prst="roundRect">
            <a:avLst>
              <a:gd name="adj" fmla="val 4376"/>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540" name="矩形 364"/>
          <p:cNvSpPr/>
          <p:nvPr/>
        </p:nvSpPr>
        <p:spPr>
          <a:xfrm>
            <a:off x="7112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CPI</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41" name="矩形 365"/>
          <p:cNvSpPr/>
          <p:nvPr/>
        </p:nvSpPr>
        <p:spPr>
          <a:xfrm>
            <a:off x="44831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PPI</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42" name="矩形 366"/>
          <p:cNvSpPr/>
          <p:nvPr/>
        </p:nvSpPr>
        <p:spPr>
          <a:xfrm>
            <a:off x="8255000" y="18034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PMI</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43" name="矩形 367"/>
          <p:cNvSpPr/>
          <p:nvPr/>
        </p:nvSpPr>
        <p:spPr>
          <a:xfrm>
            <a:off x="7112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出口</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44" name="矩形 368"/>
          <p:cNvSpPr/>
          <p:nvPr/>
        </p:nvSpPr>
        <p:spPr>
          <a:xfrm>
            <a:off x="4483100" y="4038600"/>
            <a:ext cx="3200400" cy="254000"/>
          </a:xfrm>
          <a:prstGeom prst="rect">
            <a:avLst/>
          </a:prstGeom>
          <a:noFill/>
          <a:ln>
            <a:noFill/>
          </a:ln>
        </p:spPr>
        <p:txBody>
          <a:bodyPr/>
          <a:p>
            <a:pPr/>
            <a:r>
              <a:rPr lang="zh-CN" sz="1200" b="1">
                <a:solidFill>
                  <a:srgbClr val="0070C0"/>
                </a:solidFill>
                <a:latin typeface="微软雅黑" panose="020B0503020204020204" charset="-122"/>
                <a:ea typeface="微软雅黑" panose="020B0503020204020204" charset="-122"/>
                <a:cs typeface="微软雅黑" panose="020B0503020204020204" charset="-122"/>
              </a:rPr>
              <a:t>内需</a:t>
            </a:r>
            <a:endParaRPr lang="zh-CN" sz="1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45" name="矩形 369"/>
          <p:cNvSpPr/>
          <p:nvPr/>
        </p:nvSpPr>
        <p:spPr>
          <a:xfrm>
            <a:off x="7112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0.8%</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46" name="矩形 370"/>
          <p:cNvSpPr/>
          <p:nvPr/>
        </p:nvSpPr>
        <p:spPr>
          <a:xfrm>
            <a:off x="44831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3.8%</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47" name="矩形 371"/>
          <p:cNvSpPr/>
          <p:nvPr/>
        </p:nvSpPr>
        <p:spPr>
          <a:xfrm>
            <a:off x="8255000" y="21590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49.8%</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48" name="矩形 372"/>
          <p:cNvSpPr/>
          <p:nvPr/>
        </p:nvSpPr>
        <p:spPr>
          <a:xfrm>
            <a:off x="7112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+25%</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49" name="矩形 373"/>
          <p:cNvSpPr/>
          <p:nvPr/>
        </p:nvSpPr>
        <p:spPr>
          <a:xfrm>
            <a:off x="4483100" y="4394200"/>
            <a:ext cx="3200400" cy="457200"/>
          </a:xfrm>
          <a:prstGeom prst="rect">
            <a:avLst/>
          </a:prstGeom>
          <a:noFill/>
          <a:ln>
            <a:noFill/>
          </a:ln>
        </p:spPr>
        <p:txBody>
          <a:bodyPr/>
          <a:p>
            <a:pPr/>
            <a:r>
              <a:rPr lang="zh-CN" sz="2200" b="1">
                <a:solidFill>
                  <a:srgbClr val="1F2933"/>
                </a:solidFill>
                <a:latin typeface="微软雅黑" panose="020B0503020204020204" charset="-122"/>
                <a:ea typeface="微软雅黑" panose="020B0503020204020204" charset="-122"/>
                <a:cs typeface="微软雅黑" panose="020B0503020204020204" charset="-122"/>
              </a:rPr>
              <a:t>偏弱</a:t>
            </a:r>
            <a:endParaRPr lang="zh-CN" sz="2200" b="1">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50" name="矩形 374"/>
          <p:cNvSpPr/>
          <p:nvPr/>
        </p:nvSpPr>
        <p:spPr>
          <a:xfrm>
            <a:off x="7112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前值0.5%｜环比+0.4%</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51" name="矩形 375"/>
          <p:cNvSpPr/>
          <p:nvPr/>
        </p:nvSpPr>
        <p:spPr>
          <a:xfrm>
            <a:off x="44831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前值3.5%｜环比+0.4%</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52" name="矩形 376"/>
          <p:cNvSpPr/>
          <p:nvPr/>
        </p:nvSpPr>
        <p:spPr>
          <a:xfrm>
            <a:off x="8255000" y="27686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新订单+2.1pct</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53" name="矩形 377"/>
          <p:cNvSpPr/>
          <p:nvPr/>
        </p:nvSpPr>
        <p:spPr>
          <a:xfrm>
            <a:off x="7112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顺差1190.9亿美元</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54" name="矩形 378"/>
          <p:cNvSpPr/>
          <p:nvPr/>
        </p:nvSpPr>
        <p:spPr>
          <a:xfrm>
            <a:off x="4483100" y="5003800"/>
            <a:ext cx="3200400" cy="660400"/>
          </a:xfrm>
          <a:prstGeom prst="rect">
            <a:avLst/>
          </a:prstGeom>
          <a:noFill/>
          <a:ln>
            <a:noFill/>
          </a:ln>
        </p:spPr>
        <p:txBody>
          <a:bodyPr/>
          <a:p>
            <a:pPr/>
            <a:r>
              <a:rPr lang="zh-CN" sz="1000">
                <a:solidFill>
                  <a:srgbClr val="595959"/>
                </a:solidFill>
                <a:latin typeface="微软雅黑" panose="020B0503020204020204" charset="-122"/>
                <a:ea typeface="微软雅黑" panose="020B0503020204020204" charset="-122"/>
                <a:cs typeface="微软雅黑" panose="020B0503020204020204" charset="-122"/>
              </a:rPr>
              <a:t>30城转负｜汽车降幅扩大</a:t>
            </a:r>
            <a:endParaRPr lang="zh-CN" sz="100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555" name="参考模板浅蓝背景弧线"/>
          <p:cNvPicPr/>
          <p:nvPr/>
        </p:nvPicPr>
        <p:blipFill>
          <a:blip r:embed="rId2"/>
          <a:stretch>
            <a:fillRect/>
          </a:stretch>
        </p:blipFill>
        <p:spPr>
          <a:xfrm>
            <a:off x="4457700" y="0"/>
            <a:ext cx="3143250" cy="495300"/>
          </a:xfrm>
          <a:prstGeom prst="rect">
            <a:avLst/>
          </a:prstGeom>
          <a:noFill/>
          <a:ln>
            <a:noFill/>
          </a:ln>
        </p:spPr>
      </p:pic>
      <p:pic>
        <p:nvPicPr>
          <p:cNvPr id="556"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9.xml><?xml version="1.0" encoding="utf-8"?>
<p:sld xmlns:r="http://schemas.openxmlformats.org/officeDocument/2006/relationships" xmlns:p="http://schemas.openxmlformats.org/presentationml/2006/main" xmlns:a="http://schemas.openxmlformats.org/drawingml/2006/main">
  <p:cSld>
    <p:spTree>
      <p:nvGrpSpPr>
        <p:cNvPr id="555" name=""/>
        <p:cNvGrpSpPr/>
        <p:nvPr/>
      </p:nvGrpSpPr>
      <p:grpSpPr>
        <a:xfrm>
          <a:off x="0" y="0"/>
          <a:ext cx="0" cy="0"/>
          <a:chOff x="0" y="0"/>
          <a:chExt cx="0" cy="0"/>
        </a:xfrm>
      </p:grpSpPr>
      <p:sp>
        <p:nvSpPr>
          <p:cNvPr id="556"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57"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宏观小结</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58"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sz="1100" b="0">
                <a:solidFill>
                  <a:srgbClr val="595959"/>
                </a:solidFill>
                <a:latin typeface="微软雅黑" panose="020B0503020204020204" charset="-122"/>
                <a:ea typeface="微软雅黑" panose="020B0503020204020204" charset="-122"/>
                <a:cs typeface="微软雅黑" panose="020B0503020204020204" charset="-122"/>
              </a:rPr>
              <a:t>海外紧缩 + 地缘扰动，国内稳增长有后手、资产相对独立</a:t>
            </a:r>
            <a:endParaRPr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59"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60"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61" name="Rectangle 6"/>
          <p:cNvSpPr/>
          <p:nvPr/>
        </p:nvSpPr>
        <p:spPr>
          <a:xfrm>
            <a:off x="502920" y="1645920"/>
            <a:ext cx="3639312" cy="50292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62" name="Rectangle 7"/>
          <p:cNvSpPr/>
          <p:nvPr/>
        </p:nvSpPr>
        <p:spPr>
          <a:xfrm>
            <a:off x="502920" y="1645920"/>
            <a:ext cx="3639312" cy="50292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600" b="1">
                <a:solidFill>
                  <a:srgbClr val="FFFFFF"/>
                </a:solidFill>
                <a:latin typeface="微软雅黑" panose="020B0503020204020204" charset="-122"/>
                <a:ea typeface="微软雅黑" panose="020B0503020204020204" charset="-122"/>
                <a:cs typeface="微软雅黑" panose="020B0503020204020204" charset="-122"/>
              </a:rPr>
              <a:t>海外</a:t>
            </a:r>
            <a:endParaRPr sz="1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63" name="TextBox 8"/>
          <p:cNvSpPr txBox="1"/>
          <p:nvPr/>
        </p:nvSpPr>
        <p:spPr>
          <a:xfrm>
            <a:off x="640080" y="2286000"/>
            <a:ext cx="2691765" cy="1423035"/>
          </a:xfrm>
          <a:prstGeom prst="rect">
            <a:avLst/>
          </a:prstGeom>
          <a:noFill/>
        </p:spPr>
        <p:txBody>
          <a:bodyPr wrap="square" lIns="0" tIns="0" rIns="0" bIns="0" anchor="t">
            <a:spAutoFit/>
          </a:bodyPr>
          <a:lstStyle/>
          <a:p>
            <a:pPr algn="l">
              <a:lnSpc>
                <a:spcPct val="140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 加息预期升温 + 中东油价，全球风险偏好承压，滞胀担忧抬头
</a:t>
            </a:r>
            <a:endParaRPr sz="1250" b="0">
              <a:solidFill>
                <a:srgbClr val="1F2933"/>
              </a:solidFill>
              <a:latin typeface="微软雅黑" panose="020B0503020204020204" charset="-122"/>
              <a:ea typeface="微软雅黑" panose="020B0503020204020204" charset="-122"/>
              <a:cs typeface="微软雅黑" panose="020B0503020204020204" charset="-122"/>
            </a:endParaRPr>
          </a:p>
          <a:p>
            <a:pPr algn="l">
              <a:lnSpc>
                <a:spcPct val="140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 但美元偏弱、人民币与铜强势，体现中国资产相对优势</a:t>
            </a:r>
            <a:endParaRPr sz="12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64" name="Rectangle 9"/>
          <p:cNvSpPr/>
          <p:nvPr/>
        </p:nvSpPr>
        <p:spPr>
          <a:xfrm>
            <a:off x="4279392" y="1645920"/>
            <a:ext cx="3639312" cy="50292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65" name="Rectangle 10"/>
          <p:cNvSpPr/>
          <p:nvPr/>
        </p:nvSpPr>
        <p:spPr>
          <a:xfrm>
            <a:off x="4279392" y="1645920"/>
            <a:ext cx="3639312" cy="50292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600" b="1">
                <a:solidFill>
                  <a:srgbClr val="FFFFFF"/>
                </a:solidFill>
                <a:latin typeface="微软雅黑" panose="020B0503020204020204" charset="-122"/>
                <a:ea typeface="微软雅黑" panose="020B0503020204020204" charset="-122"/>
                <a:cs typeface="微软雅黑" panose="020B0503020204020204" charset="-122"/>
              </a:rPr>
              <a:t>国内</a:t>
            </a:r>
            <a:endParaRPr sz="1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66" name="TextBox 11"/>
          <p:cNvSpPr txBox="1"/>
          <p:nvPr/>
        </p:nvSpPr>
        <p:spPr>
          <a:xfrm>
            <a:off x="4416552" y="2286000"/>
            <a:ext cx="3364992" cy="1153795"/>
          </a:xfrm>
          <a:prstGeom prst="rect">
            <a:avLst/>
          </a:prstGeom>
          <a:noFill/>
        </p:spPr>
        <p:txBody>
          <a:bodyPr wrap="square" lIns="0" tIns="0" rIns="0" bIns="0" anchor="t">
            <a:spAutoFit/>
          </a:bodyPr>
          <a:lstStyle/>
          <a:p>
            <a:pPr algn="l">
              <a:lnSpc>
                <a:spcPct val="140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 物价温和回暖、外需强劲，政策“相机抉择”留有后手</a:t>
            </a:r>
            <a:endParaRPr sz="1250" b="0">
              <a:solidFill>
                <a:srgbClr val="1F2933"/>
              </a:solidFill>
              <a:latin typeface="微软雅黑" panose="020B0503020204020204" charset="-122"/>
              <a:ea typeface="微软雅黑" panose="020B0503020204020204" charset="-122"/>
              <a:cs typeface="微软雅黑" panose="020B0503020204020204" charset="-122"/>
            </a:endParaRPr>
          </a:p>
          <a:p>
            <a:pPr algn="l">
              <a:lnSpc>
                <a:spcPct val="140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
· 内需与地产仍弱，总量宽松延后但未缺席</a:t>
            </a:r>
            <a:endParaRPr sz="12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67" name="Rectangle 12"/>
          <p:cNvSpPr/>
          <p:nvPr/>
        </p:nvSpPr>
        <p:spPr>
          <a:xfrm>
            <a:off x="8055864" y="1645920"/>
            <a:ext cx="3639312" cy="50292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68" name="Rectangle 13"/>
          <p:cNvSpPr/>
          <p:nvPr/>
        </p:nvSpPr>
        <p:spPr>
          <a:xfrm>
            <a:off x="8055864" y="1645920"/>
            <a:ext cx="3639312" cy="50292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600" b="1">
                <a:solidFill>
                  <a:srgbClr val="FFFFFF"/>
                </a:solidFill>
                <a:latin typeface="微软雅黑" panose="020B0503020204020204" charset="-122"/>
                <a:ea typeface="微软雅黑" panose="020B0503020204020204" charset="-122"/>
                <a:cs typeface="微软雅黑" panose="020B0503020204020204" charset="-122"/>
              </a:rPr>
              <a:t>对资产的启示</a:t>
            </a:r>
            <a:endParaRPr sz="1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69" name="TextBox 14"/>
          <p:cNvSpPr txBox="1"/>
          <p:nvPr/>
        </p:nvSpPr>
        <p:spPr>
          <a:xfrm>
            <a:off x="8193024" y="2286000"/>
            <a:ext cx="3511296" cy="3462020"/>
          </a:xfrm>
          <a:prstGeom prst="rect">
            <a:avLst/>
          </a:prstGeom>
          <a:noFill/>
        </p:spPr>
        <p:txBody>
          <a:bodyPr wrap="square" lIns="0" tIns="0" rIns="0" bIns="0" anchor="t">
            <a:spAutoFit/>
          </a:bodyPr>
          <a:lstStyle/>
          <a:p>
            <a:pPr algn="l">
              <a:lnSpc>
                <a:spcPct val="140000"/>
              </a:lnSpc>
              <a:spcAft>
                <a:spcPts val="600"/>
              </a:spcAft>
            </a:pPr>
            <a:r>
              <a:rPr lang="zh-CN" sz="1250" b="0">
                <a:solidFill>
                  <a:srgbClr val="1F2933"/>
                </a:solidFill>
                <a:latin typeface="微软雅黑" panose="020B0503020204020204" charset="-122"/>
                <a:ea typeface="微软雅黑" panose="020B0503020204020204" charset="-122"/>
                <a:cs typeface="微软雅黑" panose="020B0503020204020204" charset="-122"/>
              </a:rPr>
              <a:t>· 权益：指数震荡筑底、结构轮动，指增承压、中性/对冲相对受益；三季度起资金从追逐弹性转向高胜率、低波策略
</a:t>
            </a:r>
            <a:endParaRPr lang="zh-CN" sz="1250" b="0">
              <a:solidFill>
                <a:srgbClr val="1F2933"/>
              </a:solidFill>
              <a:latin typeface="微软雅黑" panose="020B0503020204020204" charset="-122"/>
              <a:ea typeface="微软雅黑" panose="020B0503020204020204" charset="-122"/>
              <a:cs typeface="微软雅黑" panose="020B0503020204020204" charset="-122"/>
            </a:endParaRPr>
          </a:p>
          <a:p>
            <a:pPr algn="l">
              <a:lnSpc>
                <a:spcPct val="140000"/>
              </a:lnSpc>
              <a:spcAft>
                <a:spcPts val="600"/>
              </a:spcAft>
            </a:pPr>
            <a:r>
              <a:rPr lang="zh-CN" sz="1250" b="0">
                <a:solidFill>
                  <a:srgbClr val="1F2933"/>
                </a:solidFill>
                <a:latin typeface="微软雅黑" panose="020B0503020204020204" charset="-122"/>
                <a:ea typeface="微软雅黑" panose="020B0503020204020204" charset="-122"/>
                <a:cs typeface="微软雅黑" panose="020B0503020204020204" charset="-122"/>
              </a:rPr>
              <a:t>· 固收：国内债市低位震荡，票息与稳健策略仍具配置价值
</a:t>
            </a:r>
            <a:endParaRPr lang="zh-CN" sz="1250" b="0">
              <a:solidFill>
                <a:srgbClr val="1F2933"/>
              </a:solidFill>
              <a:latin typeface="微软雅黑" panose="020B0503020204020204" charset="-122"/>
              <a:ea typeface="微软雅黑" panose="020B0503020204020204" charset="-122"/>
              <a:cs typeface="微软雅黑" panose="020B0503020204020204" charset="-122"/>
            </a:endParaRPr>
          </a:p>
          <a:p>
            <a:pPr algn="l">
              <a:lnSpc>
                <a:spcPct val="140000"/>
              </a:lnSpc>
              <a:spcAft>
                <a:spcPts val="600"/>
              </a:spcAft>
            </a:pPr>
            <a:r>
              <a:rPr lang="zh-CN" sz="1250" b="0">
                <a:solidFill>
                  <a:srgbClr val="1F2933"/>
                </a:solidFill>
                <a:latin typeface="微软雅黑" panose="020B0503020204020204" charset="-122"/>
                <a:ea typeface="微软雅黑" panose="020B0503020204020204" charset="-122"/>
                <a:cs typeface="微软雅黑" panose="020B0503020204020204" charset="-122"/>
              </a:rPr>
              <a:t>· 商品/CTA：价格弹性修复 + 趋势行情，策略环境边际改善
</a:t>
            </a:r>
            <a:endParaRPr lang="zh-CN" sz="1250" b="0">
              <a:solidFill>
                <a:srgbClr val="1F2933"/>
              </a:solidFill>
              <a:latin typeface="微软雅黑" panose="020B0503020204020204" charset="-122"/>
              <a:ea typeface="微软雅黑" panose="020B0503020204020204" charset="-122"/>
              <a:cs typeface="微软雅黑" panose="020B0503020204020204" charset="-122"/>
            </a:endParaRPr>
          </a:p>
          <a:p>
            <a:pPr algn="l">
              <a:lnSpc>
                <a:spcPct val="140000"/>
              </a:lnSpc>
              <a:spcAft>
                <a:spcPts val="600"/>
              </a:spcAft>
            </a:pPr>
            <a:r>
              <a:rPr lang="zh-CN" sz="1250" b="0">
                <a:solidFill>
                  <a:srgbClr val="1F2933"/>
                </a:solidFill>
                <a:latin typeface="微软雅黑" panose="020B0503020204020204" charset="-122"/>
                <a:ea typeface="微软雅黑" panose="020B0503020204020204" charset="-122"/>
                <a:cs typeface="微软雅黑" panose="020B0503020204020204" charset="-122"/>
              </a:rPr>
              <a:t>· 黄金：中长期配置价值仍在，短期受加息预期扰动</a:t>
            </a:r>
            <a:endParaRPr lang="zh-CN" sz="12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570" name="TextBox 15"/>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71" name="TextBox 16"/>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9</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572" name="参考模板浅蓝背景弧线"/>
          <p:cNvPicPr/>
          <p:nvPr/>
        </p:nvPicPr>
        <p:blipFill>
          <a:blip r:embed="rId2"/>
          <a:stretch>
            <a:fillRect/>
          </a:stretch>
        </p:blipFill>
        <p:spPr>
          <a:xfrm>
            <a:off x="4457700" y="0"/>
            <a:ext cx="3143250" cy="495300"/>
          </a:xfrm>
          <a:prstGeom prst="rect">
            <a:avLst/>
          </a:prstGeom>
          <a:noFill/>
          <a:ln>
            <a:noFill/>
          </a:ln>
        </p:spPr>
      </p:pic>
      <p:pic>
        <p:nvPicPr>
          <p:cNvPr id="573"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10.xml><?xml version="1.0" encoding="utf-8"?>
<p:sld xmlns:r="http://schemas.openxmlformats.org/officeDocument/2006/relationships" xmlns:p="http://schemas.openxmlformats.org/presentationml/2006/main" xmlns:a="http://schemas.openxmlformats.org/drawingml/2006/main">
  <p:cSld>
    <p:spTree>
      <p:nvGrpSpPr>
        <p:cNvPr id="10" name=""/>
        <p:cNvGrpSpPr/>
        <p:nvPr/>
      </p:nvGrpSpPr>
      <p:grpSpPr>
        <a:xfrm>
          <a:off x="0" y="0"/>
          <a:ext cx="0" cy="0"/>
          <a:chOff x="0" y="0"/>
          <a:chExt cx="0" cy="0"/>
        </a:xfrm>
      </p:grpSpPr>
      <p:sp>
        <p:nvSpPr>
          <p:cNvPr id="11" name="Rectangle 1"/>
          <p:cNvSpPr/>
          <p:nvPr/>
        </p:nvSpPr>
        <p:spPr>
          <a:xfrm>
            <a:off x="0" y="0"/>
            <a:ext cx="12191695" cy="68580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2" name="Rectangle 2"/>
          <p:cNvSpPr/>
          <p:nvPr/>
        </p:nvSpPr>
        <p:spPr>
          <a:xfrm>
            <a:off x="822960" y="2148840"/>
            <a:ext cx="128016" cy="246888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3" name="TextBox 3"/>
          <p:cNvSpPr txBox="1"/>
          <p:nvPr/>
        </p:nvSpPr>
        <p:spPr>
          <a:xfrm>
            <a:off x="1280160" y="1920240"/>
            <a:ext cx="4572000" cy="1280160"/>
          </a:xfrm>
          <a:prstGeom prst="rect">
            <a:avLst/>
          </a:prstGeom>
          <a:noFill/>
        </p:spPr>
        <p:txBody>
          <a:bodyPr wrap="square" lIns="0" tIns="0" rIns="0" bIns="0" anchor="t">
            <a:spAutoFit/>
          </a:bodyPr>
          <a:lstStyle/>
          <a:p>
            <a:pPr algn="l">
              <a:lnSpc>
                <a:spcPct val="115000"/>
              </a:lnSpc>
              <a:spcAft>
                <a:spcPts val="600"/>
              </a:spcAft>
            </a:pPr>
            <a:r>
              <a:rPr sz="2200" b="1">
                <a:solidFill>
                  <a:srgbClr val="FFFFFF"/>
                </a:solidFill>
                <a:latin typeface="微软雅黑" panose="020B0503020204020204" charset="-122"/>
                <a:ea typeface="微软雅黑" panose="020B0503020204020204" charset="-122"/>
                <a:cs typeface="微软雅黑" panose="020B0503020204020204" charset="-122"/>
              </a:rPr>
              <a:t>PART 02</a:t>
            </a:r>
            <a:endParaRPr sz="22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 name="TextBox 4"/>
          <p:cNvSpPr txBox="1"/>
          <p:nvPr/>
        </p:nvSpPr>
        <p:spPr>
          <a:xfrm>
            <a:off x="1280160" y="3017520"/>
            <a:ext cx="6400800" cy="1280160"/>
          </a:xfrm>
          <a:prstGeom prst="rect">
            <a:avLst/>
          </a:prstGeom>
          <a:noFill/>
        </p:spPr>
        <p:txBody>
          <a:bodyPr wrap="square" lIns="0" tIns="0" rIns="0" bIns="0" anchor="t">
            <a:spAutoFit/>
          </a:bodyPr>
          <a:lstStyle/>
          <a:p>
            <a:pPr algn="l">
              <a:lnSpc>
                <a:spcPct val="115000"/>
              </a:lnSpc>
              <a:spcAft>
                <a:spcPts val="600"/>
              </a:spcAft>
            </a:pPr>
            <a:r>
              <a:rPr sz="5200" b="1">
                <a:solidFill>
                  <a:srgbClr val="FFFFFF"/>
                </a:solidFill>
                <a:latin typeface="微软雅黑" panose="020B0503020204020204" charset="-122"/>
                <a:ea typeface="微软雅黑" panose="020B0503020204020204" charset="-122"/>
                <a:cs typeface="微软雅黑" panose="020B0503020204020204" charset="-122"/>
              </a:rPr>
              <a:t>大类资产配置</a:t>
            </a:r>
            <a:endParaRPr sz="52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TextBox 5"/>
          <p:cNvSpPr txBox="1"/>
          <p:nvPr/>
        </p:nvSpPr>
        <p:spPr>
          <a:xfrm>
            <a:off x="1280160" y="4572000"/>
            <a:ext cx="7315200" cy="457200"/>
          </a:xfrm>
          <a:prstGeom prst="rect">
            <a:avLst/>
          </a:prstGeom>
          <a:noFill/>
        </p:spPr>
        <p:txBody>
          <a:bodyPr wrap="square" lIns="0" tIns="0" rIns="0" bIns="0" anchor="t">
            <a:spAutoFit/>
          </a:bodyPr>
          <a:lstStyle/>
          <a:p>
            <a:pPr algn="l">
              <a:lnSpc>
                <a:spcPct val="115000"/>
              </a:lnSpc>
              <a:spcAft>
                <a:spcPts val="600"/>
              </a:spcAft>
            </a:pPr>
            <a:r>
              <a:rPr sz="1300" b="0">
                <a:solidFill>
                  <a:srgbClr val="FFFFFF"/>
                </a:solidFill>
                <a:latin typeface="微软雅黑" panose="020B0503020204020204" charset="-122"/>
                <a:ea typeface="微软雅黑" panose="020B0503020204020204" charset="-122"/>
                <a:cs typeface="微软雅黑" panose="020B0503020204020204" charset="-122"/>
              </a:rPr>
              <a:t>Chapter 02  ·  Asset Allocation</a:t>
            </a:r>
            <a:endParaRPr sz="130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 name="TextBox 6"/>
          <p:cNvSpPr txBox="1"/>
          <p:nvPr/>
        </p:nvSpPr>
        <p:spPr>
          <a:xfrm>
            <a:off x="8229600" y="2377440"/>
            <a:ext cx="3200400" cy="2286000"/>
          </a:xfrm>
          <a:prstGeom prst="rect">
            <a:avLst/>
          </a:prstGeom>
          <a:noFill/>
        </p:spPr>
        <p:txBody>
          <a:bodyPr wrap="square" lIns="0" tIns="0" rIns="0" bIns="0" anchor="t">
            <a:spAutoFit/>
          </a:bodyPr>
          <a:lstStyle/>
          <a:p>
            <a:pPr algn="l">
              <a:lnSpc>
                <a:spcPct val="115000"/>
              </a:lnSpc>
              <a:spcAft>
                <a:spcPts val="600"/>
              </a:spcAft>
            </a:pPr>
            <a:r>
              <a:rPr sz="16000" b="1">
                <a:solidFill>
                  <a:srgbClr val="1C4274"/>
                </a:solidFill>
                <a:latin typeface="微软雅黑" panose="020B0503020204020204" charset="-122"/>
                <a:ea typeface="微软雅黑" panose="020B0503020204020204" charset="-122"/>
                <a:cs typeface="微软雅黑" panose="020B0503020204020204" charset="-122"/>
              </a:rPr>
              <a:t>02</a:t>
            </a:r>
            <a:endParaRPr sz="16000" b="1">
              <a:solidFill>
                <a:srgbClr val="1C427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r="http://schemas.openxmlformats.org/officeDocument/2006/relationships" xmlns:p="http://schemas.openxmlformats.org/presentationml/2006/main" xmlns:a="http://schemas.openxmlformats.org/drawingml/2006/main">
  <p:cSld>
    <p:spTree>
      <p:nvGrpSpPr>
        <p:cNvPr id="17" name=""/>
        <p:cNvGrpSpPr/>
        <p:nvPr/>
      </p:nvGrpSpPr>
      <p:grpSpPr>
        <a:xfrm>
          <a:off x="0" y="0"/>
          <a:ext cx="0" cy="0"/>
          <a:chOff x="0" y="0"/>
          <a:chExt cx="0" cy="0"/>
        </a:xfrm>
      </p:grpSpPr>
      <p:sp>
        <p:nvSpPr>
          <p:cNvPr id="18"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9"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大类资产现状及展望（一）固收 · 权益</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0"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lang="zh-CN" sz="1100" b="0">
                <a:solidFill>
                  <a:srgbClr val="595959"/>
                </a:solidFill>
                <a:latin typeface="微软雅黑" panose="020B0503020204020204" charset="-122"/>
                <a:ea typeface="微软雅黑" panose="020B0503020204020204" charset="-122"/>
                <a:cs typeface="微软雅黑" panose="020B0503020204020204" charset="-122"/>
              </a:rPr>
              <a:t>数据截至 2026 年 9 月 8 日  ·  以「逻辑—判断—操作」闭环梳理组合核心仓位</a:t>
            </a:r>
            <a:endParaRPr lang="zh-CN"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1"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2"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3" name="TextBox 7"/>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4" name="TextBox 8"/>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11</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5" name="Rectangle 25"/>
          <p:cNvSpPr/>
          <p:nvPr/>
        </p:nvSpPr>
        <p:spPr>
          <a:xfrm>
            <a:off x="508000" y="1549400"/>
            <a:ext cx="11176000" cy="457200"/>
          </a:xfrm>
          <a:prstGeom prst="rect">
            <a:avLst/>
          </a:prstGeom>
          <a:solidFill>
            <a:srgbClr val="F4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6" name="Rectangle 26"/>
          <p:cNvSpPr/>
          <p:nvPr/>
        </p:nvSpPr>
        <p:spPr>
          <a:xfrm>
            <a:off x="508000" y="1549400"/>
            <a:ext cx="63500" cy="4572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7" name="TextBox 27"/>
          <p:cNvSpPr txBox="1"/>
          <p:nvPr/>
        </p:nvSpPr>
        <p:spPr>
          <a:xfrm>
            <a:off x="711200" y="1549400"/>
            <a:ext cx="10769600" cy="457200"/>
          </a:xfrm>
          <a:prstGeom prst="rect">
            <a:avLst/>
          </a:prstGeom>
          <a:noFill/>
        </p:spPr>
        <p:txBody>
          <a:bodyPr wrap="square" anchor="ctr">
            <a:spAutoFit/>
          </a:bodyPr>
          <a:lstStyle/>
          <a:p>
            <a:pPr/>
            <a:r>
              <a:rPr sz="1400" b="1">
                <a:solidFill>
                  <a:srgbClr val="1F2933"/>
                </a:solidFill>
                <a:latin typeface="微软雅黑" panose="020B0503020204020204" charset="-122"/>
                <a:ea typeface="微软雅黑" panose="020B0503020204020204" charset="-122"/>
                <a:cs typeface="微软雅黑" panose="020B0503020204020204" charset="-122"/>
              </a:rPr>
              <a:t>固收类</a:t>
            </a:r>
            <a:r>
              <a:rPr sz="1250" b="1">
                <a:solidFill>
                  <a:srgbClr val="0070C0"/>
                </a:solidFill>
                <a:latin typeface="微软雅黑" panose="020B0503020204020204" charset="-122"/>
                <a:ea typeface="微软雅黑" panose="020B0503020204020204" charset="-122"/>
                <a:cs typeface="微软雅黑" panose="020B0503020204020204" charset="-122"/>
              </a:rPr>
              <a:t>　｜　维持高配 · 票息为主，不做久期博弈</a:t>
            </a:r>
            <a:endParaRPr sz="125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8" name="TextBox 28"/>
          <p:cNvSpPr txBox="1"/>
          <p:nvPr/>
        </p:nvSpPr>
        <p:spPr>
          <a:xfrm>
            <a:off x="711200" y="2133600"/>
            <a:ext cx="14408150" cy="1574800"/>
          </a:xfrm>
          <a:prstGeom prst="rect">
            <a:avLst/>
          </a:prstGeom>
          <a:noFill/>
        </p:spPr>
        <p:txBody>
          <a:bodyPr wrap="square" anchor="t">
            <a:spAutoFit/>
          </a:bodyPr>
          <a:lstStyle/>
          <a:p>
            <a:pPr>
              <a:lnSpc>
                <a:spcPct val="118000"/>
              </a:lnSpc>
              <a:spcAft>
                <a:spcPts val="1000"/>
              </a:spcAft>
            </a:pPr>
            <a:r>
              <a:rPr lang="zh-CN" sz="1150" b="0">
                <a:solidFill>
                  <a:srgbClr val="007DC2"/>
                </a:solidFill>
                <a:latin typeface="微软雅黑" panose="020B0503020204020204" charset="-122"/>
                <a:ea typeface="微软雅黑" panose="020B0503020204020204" charset="-122"/>
                <a:cs typeface="微软雅黑" panose="020B0503020204020204" charset="-122"/>
              </a:rPr>
              <a:t>【现状】 10Y 国债 1.68% 低位徘徊；信用债票息稳定、资产荒延续；摊余成本法债基二批申报扩围，预计约1300亿增量配债需求，利好中久期信用债；美债 10Y 4.79% 长端高位。
【驱动】 国内宽松预期仍在但利率已低，下行赔率不足；美债受加息与财政双压，更深一层：利息驱动已取代财政扩张成美债膨胀主导，联储+外资合计占比从69%降至45%，两大刚性买家退潮，长端利率中枢系统性上移。
【展望逻辑】 利率低位 → 久期无性价比；票息最确定 → 利率债中性、信用债稳健正收益、美债承压。
【操作】 固收维持 80%+ 高比例压舱；信用债为主、利率债中性，规避美债与长久期风险。</a:t>
            </a:r>
            <a:endParaRPr lang="zh-CN" sz="1150" b="0">
              <a:solidFill>
                <a:srgbClr val="007DC2"/>
              </a:solidFill>
              <a:latin typeface="微软雅黑" panose="020B0503020204020204" charset="-122"/>
              <a:ea typeface="微软雅黑" panose="020B0503020204020204" charset="-122"/>
              <a:cs typeface="微软雅黑" panose="020B0503020204020204" charset="-122"/>
            </a:endParaRPr>
          </a:p>
        </p:txBody>
      </p:sp>
      <p:sp>
        <p:nvSpPr>
          <p:cNvPr id="29" name="Rectangle 29"/>
          <p:cNvSpPr/>
          <p:nvPr/>
        </p:nvSpPr>
        <p:spPr>
          <a:xfrm>
            <a:off x="508000" y="3886200"/>
            <a:ext cx="11176000" cy="457200"/>
          </a:xfrm>
          <a:prstGeom prst="rect">
            <a:avLst/>
          </a:prstGeom>
          <a:solidFill>
            <a:srgbClr val="F4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0" name="Rectangle 30"/>
          <p:cNvSpPr/>
          <p:nvPr/>
        </p:nvSpPr>
        <p:spPr>
          <a:xfrm>
            <a:off x="508000" y="3886200"/>
            <a:ext cx="63500" cy="4572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1" name="TextBox 31"/>
          <p:cNvSpPr txBox="1"/>
          <p:nvPr/>
        </p:nvSpPr>
        <p:spPr>
          <a:xfrm>
            <a:off x="711200" y="3886200"/>
            <a:ext cx="10769600" cy="457200"/>
          </a:xfrm>
          <a:prstGeom prst="rect">
            <a:avLst/>
          </a:prstGeom>
          <a:noFill/>
        </p:spPr>
        <p:txBody>
          <a:bodyPr wrap="square" anchor="ctr">
            <a:spAutoFit/>
          </a:bodyPr>
          <a:lstStyle/>
          <a:p>
            <a:pPr/>
            <a:r>
              <a:rPr sz="1400" b="1">
                <a:solidFill>
                  <a:srgbClr val="1F2933"/>
                </a:solidFill>
                <a:latin typeface="微软雅黑" panose="020B0503020204020204" charset="-122"/>
                <a:ea typeface="微软雅黑" panose="020B0503020204020204" charset="-122"/>
                <a:cs typeface="微软雅黑" panose="020B0503020204020204" charset="-122"/>
              </a:rPr>
              <a:t>权益</a:t>
            </a:r>
            <a:r>
              <a:rPr sz="1250" b="1">
                <a:solidFill>
                  <a:srgbClr val="0070C0"/>
                </a:solidFill>
                <a:latin typeface="微软雅黑" panose="020B0503020204020204" charset="-122"/>
                <a:ea typeface="微软雅黑" panose="020B0503020204020204" charset="-122"/>
                <a:cs typeface="微软雅黑" panose="020B0503020204020204" charset="-122"/>
              </a:rPr>
              <a:t>　｜　标配 · 结构 &gt; 指数，中性偏积极</a:t>
            </a:r>
            <a:endParaRPr sz="125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2" name="TextBox 32"/>
          <p:cNvSpPr txBox="1"/>
          <p:nvPr/>
        </p:nvSpPr>
        <p:spPr>
          <a:xfrm>
            <a:off x="711200" y="4470400"/>
            <a:ext cx="10769600" cy="1574800"/>
          </a:xfrm>
          <a:prstGeom prst="rect">
            <a:avLst/>
          </a:prstGeom>
          <a:noFill/>
        </p:spPr>
        <p:txBody>
          <a:bodyPr wrap="square" anchor="t">
            <a:spAutoFit/>
          </a:bodyPr>
          <a:lstStyle/>
          <a:p>
            <a:pPr>
              <a:lnSpc>
                <a:spcPct val="118000"/>
              </a:lnSpc>
              <a:spcAft>
                <a:spcPts val="1000"/>
              </a:spcAft>
            </a:pPr>
            <a:r>
              <a:rPr sz="1150" b="1">
                <a:solidFill>
                  <a:srgbClr val="007DC2"/>
                </a:solidFill>
                <a:latin typeface="微软雅黑" panose="020B0503020204020204" charset="-122"/>
                <a:ea typeface="微软雅黑" panose="020B0503020204020204" charset="-122"/>
                <a:cs typeface="微软雅黑" panose="020B0503020204020204" charset="-122"/>
              </a:rPr>
              <a:t>【现状】</a:t>
            </a:r>
            <a:r>
              <a:rPr sz="1150" b="0">
                <a:solidFill>
                  <a:srgbClr val="1F2933"/>
                </a:solidFill>
                <a:latin typeface="微软雅黑" panose="020B0503020204020204" charset="-122"/>
                <a:ea typeface="微软雅黑" panose="020B0503020204020204" charset="-122"/>
                <a:cs typeface="微软雅黑" panose="020B0503020204020204" charset="-122"/>
              </a:rPr>
              <a:t> 上证 3940 震荡筑底、周期强科技弱；恒指 25300 区间震荡；成交 1.98 万亿、结构轮动活跃。</a:t>
            </a:r>
            <a:endParaRPr sz="1150" b="0">
              <a:solidFill>
                <a:srgbClr val="1F2933"/>
              </a:solidFill>
              <a:latin typeface="微软雅黑" panose="020B0503020204020204" charset="-122"/>
              <a:ea typeface="微软雅黑" panose="020B0503020204020204" charset="-122"/>
              <a:cs typeface="微软雅黑" panose="020B0503020204020204" charset="-122"/>
            </a:endParaRPr>
          </a:p>
          <a:p>
            <a:pPr>
              <a:lnSpc>
                <a:spcPct val="118000"/>
              </a:lnSpc>
              <a:spcAft>
                <a:spcPts val="1000"/>
              </a:spcAft>
            </a:pPr>
            <a:r>
              <a:rPr sz="1150" b="1">
                <a:solidFill>
                  <a:srgbClr val="007DC2"/>
                </a:solidFill>
                <a:latin typeface="微软雅黑" panose="020B0503020204020204" charset="-122"/>
                <a:ea typeface="微软雅黑" panose="020B0503020204020204" charset="-122"/>
                <a:cs typeface="微软雅黑" panose="020B0503020204020204" charset="-122"/>
              </a:rPr>
              <a:t>【驱动】</a:t>
            </a:r>
            <a:r>
              <a:rPr sz="1150" b="0">
                <a:solidFill>
                  <a:srgbClr val="1F2933"/>
                </a:solidFill>
                <a:latin typeface="微软雅黑" panose="020B0503020204020204" charset="-122"/>
                <a:ea typeface="微软雅黑" panose="020B0503020204020204" charset="-122"/>
                <a:cs typeface="微软雅黑" panose="020B0503020204020204" charset="-122"/>
              </a:rPr>
              <a:t> 人民币逆势走强 + 出口创新高 → 中国资产相对占优；但全球加息预期压制整体风险偏好。</a:t>
            </a:r>
            <a:endParaRPr sz="1150" b="0">
              <a:solidFill>
                <a:srgbClr val="1F2933"/>
              </a:solidFill>
              <a:latin typeface="微软雅黑" panose="020B0503020204020204" charset="-122"/>
              <a:ea typeface="微软雅黑" panose="020B0503020204020204" charset="-122"/>
              <a:cs typeface="微软雅黑" panose="020B0503020204020204" charset="-122"/>
            </a:endParaRPr>
          </a:p>
          <a:p>
            <a:pPr>
              <a:lnSpc>
                <a:spcPct val="118000"/>
              </a:lnSpc>
              <a:spcAft>
                <a:spcPts val="1000"/>
              </a:spcAft>
            </a:pPr>
            <a:r>
              <a:rPr sz="1150" b="1">
                <a:solidFill>
                  <a:srgbClr val="007DC2"/>
                </a:solidFill>
                <a:latin typeface="微软雅黑" panose="020B0503020204020204" charset="-122"/>
                <a:ea typeface="微软雅黑" panose="020B0503020204020204" charset="-122"/>
                <a:cs typeface="微软雅黑" panose="020B0503020204020204" charset="-122"/>
              </a:rPr>
              <a:t>【展望逻辑】</a:t>
            </a:r>
            <a:r>
              <a:rPr sz="1150" b="0">
                <a:solidFill>
                  <a:srgbClr val="1F2933"/>
                </a:solidFill>
                <a:latin typeface="微软雅黑" panose="020B0503020204020204" charset="-122"/>
                <a:ea typeface="微软雅黑" panose="020B0503020204020204" charset="-122"/>
                <a:cs typeface="微软雅黑" panose="020B0503020204020204" charset="-122"/>
              </a:rPr>
              <a:t> 指数缺增量资金 → 贝塔难有趋势；轮动活跃 → 阿尔法有空间 → 指数中性、结构有机会，中性/对冲策略相对受益。</a:t>
            </a:r>
            <a:endParaRPr sz="1150" b="0">
              <a:solidFill>
                <a:srgbClr val="1F2933"/>
              </a:solidFill>
              <a:latin typeface="微软雅黑" panose="020B0503020204020204" charset="-122"/>
              <a:ea typeface="微软雅黑" panose="020B0503020204020204" charset="-122"/>
              <a:cs typeface="微软雅黑" panose="020B0503020204020204" charset="-122"/>
            </a:endParaRPr>
          </a:p>
          <a:p>
            <a:pPr>
              <a:lnSpc>
                <a:spcPct val="118000"/>
              </a:lnSpc>
              <a:spcAft>
                <a:spcPts val="1000"/>
              </a:spcAft>
            </a:pPr>
            <a:r>
              <a:rPr sz="1150" b="1">
                <a:solidFill>
                  <a:srgbClr val="007DC2"/>
                </a:solidFill>
                <a:latin typeface="微软雅黑" panose="020B0503020204020204" charset="-122"/>
                <a:ea typeface="微软雅黑" panose="020B0503020204020204" charset="-122"/>
                <a:cs typeface="微软雅黑" panose="020B0503020204020204" charset="-122"/>
              </a:rPr>
              <a:t>【操作】</a:t>
            </a:r>
            <a:r>
              <a:rPr sz="1150" b="0">
                <a:solidFill>
                  <a:srgbClr val="1F2933"/>
                </a:solidFill>
                <a:latin typeface="微软雅黑" panose="020B0503020204020204" charset="-122"/>
                <a:ea typeface="微软雅黑" panose="020B0503020204020204" charset="-122"/>
                <a:cs typeface="微软雅黑" panose="020B0503020204020204" charset="-122"/>
              </a:rPr>
              <a:t> 权益仓位中性、不追指数；以中性/对冲策略赚结构阿尔法，控制回撤。</a:t>
            </a:r>
            <a:endParaRPr sz="1150" b="0">
              <a:solidFill>
                <a:srgbClr val="1F2933"/>
              </a:solidFill>
              <a:latin typeface="微软雅黑" panose="020B0503020204020204" charset="-122"/>
              <a:ea typeface="微软雅黑" panose="020B0503020204020204" charset="-122"/>
              <a:cs typeface="微软雅黑" panose="020B0503020204020204" charset="-122"/>
            </a:endParaRPr>
          </a:p>
        </p:txBody>
      </p:sp>
      <p:pic>
        <p:nvPicPr>
          <p:cNvPr id="33" name="参考模板浅蓝背景弧线"/>
          <p:cNvPicPr/>
          <p:nvPr/>
        </p:nvPicPr>
        <p:blipFill>
          <a:blip r:embed="rId2"/>
          <a:stretch>
            <a:fillRect/>
          </a:stretch>
        </p:blipFill>
        <p:spPr>
          <a:xfrm>
            <a:off x="4457700" y="0"/>
            <a:ext cx="3143250" cy="495300"/>
          </a:xfrm>
          <a:prstGeom prst="rect">
            <a:avLst/>
          </a:prstGeom>
          <a:noFill/>
          <a:ln>
            <a:noFill/>
          </a:ln>
        </p:spPr>
      </p:pic>
      <p:pic>
        <p:nvPicPr>
          <p:cNvPr id="34"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12.xml><?xml version="1.0" encoding="utf-8"?>
<p:sld xmlns:r="http://schemas.openxmlformats.org/officeDocument/2006/relationships" xmlns:p="http://schemas.openxmlformats.org/presentationml/2006/main" xmlns:a="http://schemas.openxmlformats.org/drawingml/2006/main">
  <p:cSld>
    <p:spTree>
      <p:nvGrpSpPr>
        <p:cNvPr id="33" name=""/>
        <p:cNvGrpSpPr/>
        <p:nvPr/>
      </p:nvGrpSpPr>
      <p:grpSpPr>
        <a:xfrm>
          <a:off x="0" y="0"/>
          <a:ext cx="0" cy="0"/>
          <a:chOff x="0" y="0"/>
          <a:chExt cx="0" cy="0"/>
        </a:xfrm>
      </p:grpSpPr>
      <p:sp>
        <p:nvSpPr>
          <p:cNvPr id="34"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5"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大类资产现状及展望（二）贵金属 · 商品</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6"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lang="zh-CN" sz="1100" b="0">
                <a:solidFill>
                  <a:srgbClr val="595959"/>
                </a:solidFill>
                <a:latin typeface="微软雅黑" panose="020B0503020204020204" charset="-122"/>
                <a:ea typeface="微软雅黑" panose="020B0503020204020204" charset="-122"/>
                <a:cs typeface="微软雅黑" panose="020B0503020204020204" charset="-122"/>
              </a:rPr>
              <a:t>数据截至 2026 年 9 月 8 日  ·  以「逻辑—判断—操作」闭环梳理组合卫星仓位</a:t>
            </a:r>
            <a:endParaRPr lang="zh-CN"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7"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8"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9" name="TextBox 7"/>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0" name="TextBox 8"/>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12</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41" name="Rectangle 34"/>
          <p:cNvSpPr/>
          <p:nvPr/>
        </p:nvSpPr>
        <p:spPr>
          <a:xfrm>
            <a:off x="508000" y="1549400"/>
            <a:ext cx="11176000" cy="457200"/>
          </a:xfrm>
          <a:prstGeom prst="rect">
            <a:avLst/>
          </a:prstGeom>
          <a:solidFill>
            <a:srgbClr val="F4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2" name="Rectangle 35"/>
          <p:cNvSpPr/>
          <p:nvPr/>
        </p:nvSpPr>
        <p:spPr>
          <a:xfrm>
            <a:off x="508000" y="1549400"/>
            <a:ext cx="63500" cy="4572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3" name="TextBox 36"/>
          <p:cNvSpPr txBox="1"/>
          <p:nvPr/>
        </p:nvSpPr>
        <p:spPr>
          <a:xfrm>
            <a:off x="711200" y="1549400"/>
            <a:ext cx="10769600" cy="457200"/>
          </a:xfrm>
          <a:prstGeom prst="rect">
            <a:avLst/>
          </a:prstGeom>
          <a:noFill/>
        </p:spPr>
        <p:txBody>
          <a:bodyPr wrap="square" anchor="ctr">
            <a:spAutoFit/>
          </a:bodyPr>
          <a:lstStyle/>
          <a:p>
            <a:pPr/>
            <a:r>
              <a:rPr sz="1400" b="1">
                <a:solidFill>
                  <a:srgbClr val="1F2933"/>
                </a:solidFill>
                <a:latin typeface="微软雅黑" panose="020B0503020204020204" charset="-122"/>
                <a:ea typeface="微软雅黑" panose="020B0503020204020204" charset="-122"/>
                <a:cs typeface="微软雅黑" panose="020B0503020204020204" charset="-122"/>
              </a:rPr>
              <a:t>贵金属</a:t>
            </a:r>
            <a:r>
              <a:rPr sz="1250" b="1">
                <a:solidFill>
                  <a:srgbClr val="0070C0"/>
                </a:solidFill>
                <a:latin typeface="微软雅黑" panose="020B0503020204020204" charset="-122"/>
                <a:ea typeface="微软雅黑" panose="020B0503020204020204" charset="-122"/>
                <a:cs typeface="微软雅黑" panose="020B0503020204020204" charset="-122"/>
              </a:rPr>
              <a:t>　｜　中长期多头 · 回调即配置窗口</a:t>
            </a:r>
            <a:endParaRPr sz="125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4" name="TextBox 37"/>
          <p:cNvSpPr txBox="1"/>
          <p:nvPr/>
        </p:nvSpPr>
        <p:spPr>
          <a:xfrm>
            <a:off x="711200" y="2133600"/>
            <a:ext cx="10769600" cy="1309370"/>
          </a:xfrm>
          <a:prstGeom prst="rect">
            <a:avLst/>
          </a:prstGeom>
          <a:noFill/>
        </p:spPr>
        <p:txBody>
          <a:bodyPr wrap="square" anchor="t">
            <a:spAutoFit/>
          </a:bodyPr>
          <a:lstStyle/>
          <a:p>
            <a:pPr>
              <a:lnSpc>
                <a:spcPct val="118000"/>
              </a:lnSpc>
              <a:spcAft>
                <a:spcPts val="1000"/>
              </a:spcAft>
            </a:pPr>
            <a:r>
              <a:rPr lang="zh-CN" sz="1150" b="0">
                <a:solidFill>
                  <a:srgbClr val="007DC2"/>
                </a:solidFill>
                <a:latin typeface="微软雅黑" panose="020B0503020204020204" charset="-122"/>
                <a:ea typeface="微软雅黑" panose="020B0503020204020204" charset="-122"/>
                <a:cs typeface="微软雅黑" panose="020B0503020204020204" charset="-122"/>
              </a:rPr>
              <a:t>【现状】 COMEX 黄金 4394 美元/盎司，高位震荡、周跌 1.2%。
【驱动】 地缘避险 + 去美元化与央行购金构成中长期支撑；美元在全球外储占比已从71%降至约57%，去美元化方向明确；短期受加息预期压制。
【展望逻辑】 加息是短期扰动，不改避险与美元信用对冲主线 → 短期高位震荡、中长期向上 → 回调是增配机会而非离场信号。
【操作】 抗通胀与避险卫星仓，控制单一仓位上限，贵金属虽长周期看多但还是需要遴选对其没有多头执念的管理人，因每次短期回调都很剧烈。</a:t>
            </a:r>
            <a:endParaRPr lang="zh-CN" sz="1150" b="0">
              <a:solidFill>
                <a:srgbClr val="007DC2"/>
              </a:solidFill>
              <a:latin typeface="微软雅黑" panose="020B0503020204020204" charset="-122"/>
              <a:ea typeface="微软雅黑" panose="020B0503020204020204" charset="-122"/>
              <a:cs typeface="微软雅黑" panose="020B0503020204020204" charset="-122"/>
            </a:endParaRPr>
          </a:p>
        </p:txBody>
      </p:sp>
      <p:sp>
        <p:nvSpPr>
          <p:cNvPr id="45" name="Rectangle 38"/>
          <p:cNvSpPr/>
          <p:nvPr/>
        </p:nvSpPr>
        <p:spPr>
          <a:xfrm>
            <a:off x="508000" y="3886200"/>
            <a:ext cx="11176000" cy="457200"/>
          </a:xfrm>
          <a:prstGeom prst="rect">
            <a:avLst/>
          </a:prstGeom>
          <a:solidFill>
            <a:srgbClr val="F4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6" name="Rectangle 39"/>
          <p:cNvSpPr/>
          <p:nvPr/>
        </p:nvSpPr>
        <p:spPr>
          <a:xfrm>
            <a:off x="508000" y="3886200"/>
            <a:ext cx="63500" cy="4572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47" name="TextBox 40"/>
          <p:cNvSpPr txBox="1"/>
          <p:nvPr/>
        </p:nvSpPr>
        <p:spPr>
          <a:xfrm>
            <a:off x="711200" y="3961448"/>
            <a:ext cx="10769600" cy="306705"/>
          </a:xfrm>
          <a:prstGeom prst="rect">
            <a:avLst/>
          </a:prstGeom>
          <a:noFill/>
        </p:spPr>
        <p:txBody>
          <a:bodyPr wrap="square" anchor="ctr">
            <a:spAutoFit/>
          </a:bodyPr>
          <a:lstStyle/>
          <a:p>
            <a:pPr/>
            <a:r>
              <a:rPr sz="1400" b="1">
                <a:solidFill>
                  <a:srgbClr val="1F2933"/>
                </a:solidFill>
                <a:latin typeface="微软雅黑" panose="020B0503020204020204" charset="-122"/>
                <a:ea typeface="微软雅黑" panose="020B0503020204020204" charset="-122"/>
                <a:cs typeface="微软雅黑" panose="020B0503020204020204" charset="-122"/>
              </a:rPr>
              <a:t>商品</a:t>
            </a:r>
            <a:r>
              <a:rPr sz="1250" b="1">
                <a:solidFill>
                  <a:srgbClr val="0070C0"/>
                </a:solidFill>
                <a:latin typeface="微软雅黑" panose="020B0503020204020204" charset="-122"/>
                <a:ea typeface="微软雅黑" panose="020B0503020204020204" charset="-122"/>
                <a:cs typeface="微软雅黑" panose="020B0503020204020204" charset="-122"/>
              </a:rPr>
              <a:t>　｜　趋势偏强 · 用 CTA </a:t>
            </a:r>
            <a:r>
              <a:rPr lang="zh-CN" sz="1250" b="1">
                <a:solidFill>
                  <a:srgbClr val="0070C0"/>
                </a:solidFill>
                <a:latin typeface="微软雅黑" panose="020B0503020204020204" charset="-122"/>
                <a:ea typeface="微软雅黑" panose="020B0503020204020204" charset="-122"/>
                <a:cs typeface="微软雅黑" panose="020B0503020204020204" charset="-122"/>
              </a:rPr>
              <a:t>复合</a:t>
            </a:r>
            <a:r>
              <a:rPr sz="1250" b="1">
                <a:solidFill>
                  <a:srgbClr val="0070C0"/>
                </a:solidFill>
                <a:latin typeface="微软雅黑" panose="020B0503020204020204" charset="-122"/>
                <a:ea typeface="微软雅黑" panose="020B0503020204020204" charset="-122"/>
                <a:cs typeface="微软雅黑" panose="020B0503020204020204" charset="-122"/>
              </a:rPr>
              <a:t>趋势</a:t>
            </a:r>
            <a:r>
              <a:rPr lang="en-US" sz="1250" b="1">
                <a:solidFill>
                  <a:srgbClr val="0070C0"/>
                </a:solidFill>
                <a:latin typeface="微软雅黑" panose="020B0503020204020204" charset="-122"/>
                <a:ea typeface="微软雅黑" panose="020B0503020204020204" charset="-122"/>
                <a:cs typeface="微软雅黑" panose="020B0503020204020204" charset="-122"/>
              </a:rPr>
              <a:t> + </a:t>
            </a:r>
            <a:r>
              <a:rPr lang="zh-CN" altLang="en-US" sz="1250" b="1">
                <a:solidFill>
                  <a:srgbClr val="0070C0"/>
                </a:solidFill>
                <a:latin typeface="微软雅黑" panose="020B0503020204020204" charset="-122"/>
                <a:ea typeface="微软雅黑" panose="020B0503020204020204" charset="-122"/>
                <a:cs typeface="微软雅黑" panose="020B0503020204020204" charset="-122"/>
              </a:rPr>
              <a:t>主观</a:t>
            </a:r>
            <a:r>
              <a:rPr sz="1250" b="1">
                <a:solidFill>
                  <a:srgbClr val="0070C0"/>
                </a:solidFill>
                <a:latin typeface="微软雅黑" panose="020B0503020204020204" charset="-122"/>
                <a:ea typeface="微软雅黑" panose="020B0503020204020204" charset="-122"/>
                <a:cs typeface="微软雅黑" panose="020B0503020204020204" charset="-122"/>
              </a:rPr>
              <a:t>策略参与</a:t>
            </a:r>
            <a:endParaRPr sz="125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48" name="TextBox 41"/>
          <p:cNvSpPr txBox="1"/>
          <p:nvPr/>
        </p:nvSpPr>
        <p:spPr>
          <a:xfrm>
            <a:off x="711200" y="4470400"/>
            <a:ext cx="10769600" cy="1645920"/>
          </a:xfrm>
          <a:prstGeom prst="rect">
            <a:avLst/>
          </a:prstGeom>
          <a:noFill/>
        </p:spPr>
        <p:txBody>
          <a:bodyPr wrap="square" anchor="t">
            <a:spAutoFit/>
          </a:bodyPr>
          <a:lstStyle/>
          <a:p>
            <a:pPr>
              <a:lnSpc>
                <a:spcPct val="118000"/>
              </a:lnSpc>
              <a:spcAft>
                <a:spcPts val="1000"/>
              </a:spcAft>
            </a:pPr>
            <a:r>
              <a:rPr sz="1150" b="1">
                <a:solidFill>
                  <a:srgbClr val="007DC2"/>
                </a:solidFill>
                <a:latin typeface="微软雅黑" panose="020B0503020204020204" charset="-122"/>
                <a:ea typeface="微软雅黑" panose="020B0503020204020204" charset="-122"/>
                <a:cs typeface="微软雅黑" panose="020B0503020204020204" charset="-122"/>
              </a:rPr>
              <a:t>【现状】</a:t>
            </a:r>
            <a:r>
              <a:rPr sz="1150" b="0">
                <a:solidFill>
                  <a:srgbClr val="1F2933"/>
                </a:solidFill>
                <a:latin typeface="微软雅黑" panose="020B0503020204020204" charset="-122"/>
                <a:ea typeface="微软雅黑" panose="020B0503020204020204" charset="-122"/>
                <a:cs typeface="微软雅黑" panose="020B0503020204020204" charset="-122"/>
              </a:rPr>
              <a:t> WTI 93 美元六连涨、布伦特逼近 100；LME 铜 14708 美元历史新高、年内 +17%。</a:t>
            </a:r>
            <a:endParaRPr sz="1150" b="0">
              <a:solidFill>
                <a:srgbClr val="1F2933"/>
              </a:solidFill>
              <a:latin typeface="微软雅黑" panose="020B0503020204020204" charset="-122"/>
              <a:ea typeface="微软雅黑" panose="020B0503020204020204" charset="-122"/>
              <a:cs typeface="微软雅黑" panose="020B0503020204020204" charset="-122"/>
            </a:endParaRPr>
          </a:p>
          <a:p>
            <a:pPr>
              <a:lnSpc>
                <a:spcPct val="118000"/>
              </a:lnSpc>
              <a:spcAft>
                <a:spcPts val="1000"/>
              </a:spcAft>
            </a:pPr>
            <a:r>
              <a:rPr sz="1150" b="1">
                <a:solidFill>
                  <a:srgbClr val="007DC2"/>
                </a:solidFill>
                <a:latin typeface="微软雅黑" panose="020B0503020204020204" charset="-122"/>
                <a:ea typeface="微软雅黑" panose="020B0503020204020204" charset="-122"/>
                <a:cs typeface="微软雅黑" panose="020B0503020204020204" charset="-122"/>
              </a:rPr>
              <a:t>【驱动】</a:t>
            </a:r>
            <a:r>
              <a:rPr sz="1150" b="0">
                <a:solidFill>
                  <a:srgbClr val="1F2933"/>
                </a:solidFill>
                <a:latin typeface="微软雅黑" panose="020B0503020204020204" charset="-122"/>
                <a:ea typeface="微软雅黑" panose="020B0503020204020204" charset="-122"/>
                <a:cs typeface="微软雅黑" panose="020B0503020204020204" charset="-122"/>
              </a:rPr>
              <a:t> 油价由中东地缘主导、高波动；铜受矿端紧张与 AI 需求双驱动。</a:t>
            </a:r>
            <a:endParaRPr sz="1150" b="0">
              <a:solidFill>
                <a:srgbClr val="1F2933"/>
              </a:solidFill>
              <a:latin typeface="微软雅黑" panose="020B0503020204020204" charset="-122"/>
              <a:ea typeface="微软雅黑" panose="020B0503020204020204" charset="-122"/>
              <a:cs typeface="微软雅黑" panose="020B0503020204020204" charset="-122"/>
            </a:endParaRPr>
          </a:p>
          <a:p>
            <a:pPr>
              <a:lnSpc>
                <a:spcPct val="118000"/>
              </a:lnSpc>
              <a:spcAft>
                <a:spcPts val="1000"/>
              </a:spcAft>
            </a:pPr>
            <a:r>
              <a:rPr sz="1150" b="1">
                <a:solidFill>
                  <a:srgbClr val="007DC2"/>
                </a:solidFill>
                <a:latin typeface="微软雅黑" panose="020B0503020204020204" charset="-122"/>
                <a:ea typeface="微软雅黑" panose="020B0503020204020204" charset="-122"/>
                <a:cs typeface="微软雅黑" panose="020B0503020204020204" charset="-122"/>
              </a:rPr>
              <a:t>【展望逻辑】</a:t>
            </a:r>
            <a:r>
              <a:rPr sz="1150" b="0">
                <a:solidFill>
                  <a:srgbClr val="1F2933"/>
                </a:solidFill>
                <a:latin typeface="微软雅黑" panose="020B0503020204020204" charset="-122"/>
                <a:ea typeface="微软雅黑" panose="020B0503020204020204" charset="-122"/>
                <a:cs typeface="微软雅黑" panose="020B0503020204020204" charset="-122"/>
              </a:rPr>
              <a:t> 油价地缘主导、难预判 → </a:t>
            </a:r>
            <a:r>
              <a:rPr lang="zh-CN" sz="1150" b="0">
                <a:solidFill>
                  <a:srgbClr val="1F2933"/>
                </a:solidFill>
                <a:latin typeface="微软雅黑" panose="020B0503020204020204" charset="-122"/>
                <a:ea typeface="微软雅黑" panose="020B0503020204020204" charset="-122"/>
                <a:cs typeface="微软雅黑" panose="020B0503020204020204" charset="-122"/>
              </a:rPr>
              <a:t>纯长周期趋势策略风险高；</a:t>
            </a:r>
            <a:endParaRPr lang="zh-CN" sz="1150" b="0">
              <a:solidFill>
                <a:srgbClr val="1F2933"/>
              </a:solidFill>
              <a:latin typeface="微软雅黑" panose="020B0503020204020204" charset="-122"/>
              <a:ea typeface="微软雅黑" panose="020B0503020204020204" charset="-122"/>
              <a:cs typeface="微软雅黑" panose="020B0503020204020204" charset="-122"/>
            </a:endParaRPr>
          </a:p>
          <a:p>
            <a:pPr>
              <a:lnSpc>
                <a:spcPct val="118000"/>
              </a:lnSpc>
              <a:spcAft>
                <a:spcPts val="1000"/>
              </a:spcAft>
            </a:pPr>
            <a:r>
              <a:rPr lang="zh-CN" sz="1150" b="0">
                <a:solidFill>
                  <a:srgbClr val="1F2933"/>
                </a:solidFill>
                <a:latin typeface="微软雅黑" panose="020B0503020204020204" charset="-122"/>
                <a:ea typeface="微软雅黑" panose="020B0503020204020204" charset="-122"/>
                <a:cs typeface="微软雅黑" panose="020B0503020204020204" charset="-122"/>
              </a:rPr>
              <a:t> </a:t>
            </a:r>
            <a:r>
              <a:rPr lang="en-US" altLang="zh-CN" sz="1150" b="0">
                <a:solidFill>
                  <a:srgbClr val="1F2933"/>
                </a:solidFill>
                <a:latin typeface="微软雅黑" panose="020B0503020204020204" charset="-122"/>
                <a:ea typeface="微软雅黑" panose="020B0503020204020204" charset="-122"/>
                <a:cs typeface="微软雅黑" panose="020B0503020204020204" charset="-122"/>
              </a:rPr>
              <a:t>            </a:t>
            </a:r>
            <a:r>
              <a:rPr lang="zh-CN" sz="1150" b="0">
                <a:solidFill>
                  <a:srgbClr val="1F2933"/>
                </a:solidFill>
                <a:latin typeface="微软雅黑" panose="020B0503020204020204" charset="-122"/>
                <a:ea typeface="微软雅黑" panose="020B0503020204020204" charset="-122"/>
                <a:cs typeface="微软雅黑" panose="020B0503020204020204" charset="-122"/>
              </a:rPr>
              <a:t>部分品种</a:t>
            </a:r>
            <a:r>
              <a:rPr sz="1150" b="0">
                <a:solidFill>
                  <a:srgbClr val="1F2933"/>
                </a:solidFill>
                <a:latin typeface="微软雅黑" panose="020B0503020204020204" charset="-122"/>
                <a:ea typeface="微软雅黑" panose="020B0503020204020204" charset="-122"/>
                <a:cs typeface="微软雅黑" panose="020B0503020204020204" charset="-122"/>
              </a:rPr>
              <a:t>供给约束 + 真实需求</a:t>
            </a:r>
            <a:r>
              <a:rPr lang="en-US" sz="1150" b="0">
                <a:solidFill>
                  <a:srgbClr val="1F2933"/>
                </a:solidFill>
                <a:latin typeface="微软雅黑" panose="020B0503020204020204" charset="-122"/>
                <a:ea typeface="微软雅黑" panose="020B0503020204020204" charset="-122"/>
                <a:cs typeface="微软雅黑" panose="020B0503020204020204" charset="-122"/>
              </a:rPr>
              <a:t> + </a:t>
            </a:r>
            <a:r>
              <a:rPr lang="zh-CN" altLang="en-US" sz="1150" b="0">
                <a:solidFill>
                  <a:srgbClr val="1F2933"/>
                </a:solidFill>
                <a:latin typeface="微软雅黑" panose="020B0503020204020204" charset="-122"/>
                <a:ea typeface="微软雅黑" panose="020B0503020204020204" charset="-122"/>
                <a:cs typeface="微软雅黑" panose="020B0503020204020204" charset="-122"/>
              </a:rPr>
              <a:t>逆全球化格局</a:t>
            </a:r>
            <a:r>
              <a:rPr sz="1150" b="0">
                <a:solidFill>
                  <a:srgbClr val="1F2933"/>
                </a:solidFill>
                <a:latin typeface="微软雅黑" panose="020B0503020204020204" charset="-122"/>
                <a:ea typeface="微软雅黑" panose="020B0503020204020204" charset="-122"/>
                <a:cs typeface="微软雅黑" panose="020B0503020204020204" charset="-122"/>
              </a:rPr>
              <a:t> → </a:t>
            </a:r>
            <a:r>
              <a:rPr lang="zh-CN" sz="1150" b="0">
                <a:solidFill>
                  <a:srgbClr val="1F2933"/>
                </a:solidFill>
                <a:latin typeface="微软雅黑" panose="020B0503020204020204" charset="-122"/>
                <a:ea typeface="微软雅黑" panose="020B0503020204020204" charset="-122"/>
                <a:cs typeface="微软雅黑" panose="020B0503020204020204" charset="-122"/>
              </a:rPr>
              <a:t>波动率抬升，商品价格高企</a:t>
            </a:r>
            <a:r>
              <a:rPr sz="1150" b="0">
                <a:solidFill>
                  <a:srgbClr val="1F2933"/>
                </a:solidFill>
                <a:latin typeface="微软雅黑" panose="020B0503020204020204" charset="-122"/>
                <a:ea typeface="微软雅黑" panose="020B0503020204020204" charset="-122"/>
                <a:cs typeface="微软雅黑" panose="020B0503020204020204" charset="-122"/>
              </a:rPr>
              <a:t> → 用</a:t>
            </a:r>
            <a:r>
              <a:rPr lang="zh-CN" sz="1150" b="0">
                <a:solidFill>
                  <a:srgbClr val="1F2933"/>
                </a:solidFill>
                <a:latin typeface="微软雅黑" panose="020B0503020204020204" charset="-122"/>
                <a:ea typeface="微软雅黑" panose="020B0503020204020204" charset="-122"/>
                <a:cs typeface="微软雅黑" panose="020B0503020204020204" charset="-122"/>
              </a:rPr>
              <a:t>短周期</a:t>
            </a:r>
            <a:r>
              <a:rPr sz="1150" b="0">
                <a:solidFill>
                  <a:srgbClr val="1F2933"/>
                </a:solidFill>
                <a:latin typeface="微软雅黑" panose="020B0503020204020204" charset="-122"/>
                <a:ea typeface="微软雅黑" panose="020B0503020204020204" charset="-122"/>
                <a:cs typeface="微软雅黑" panose="020B0503020204020204" charset="-122"/>
              </a:rPr>
              <a:t>趋势策略吃波动、</a:t>
            </a:r>
            <a:r>
              <a:rPr lang="zh-CN" sz="1150" b="0">
                <a:solidFill>
                  <a:srgbClr val="1F2933"/>
                </a:solidFill>
                <a:latin typeface="微软雅黑" panose="020B0503020204020204" charset="-122"/>
                <a:ea typeface="微软雅黑" panose="020B0503020204020204" charset="-122"/>
                <a:cs typeface="微软雅黑" panose="020B0503020204020204" charset="-122"/>
              </a:rPr>
              <a:t>部分长周期策略捕捉大行情</a:t>
            </a:r>
            <a:r>
              <a:rPr sz="1150" b="0">
                <a:solidFill>
                  <a:srgbClr val="1F2933"/>
                </a:solidFill>
                <a:latin typeface="微软雅黑" panose="020B0503020204020204" charset="-122"/>
                <a:ea typeface="微软雅黑" panose="020B0503020204020204" charset="-122"/>
                <a:cs typeface="微软雅黑" panose="020B0503020204020204" charset="-122"/>
              </a:rPr>
              <a:t>。</a:t>
            </a:r>
            <a:endParaRPr sz="1150" b="0">
              <a:solidFill>
                <a:srgbClr val="1F2933"/>
              </a:solidFill>
              <a:latin typeface="微软雅黑" panose="020B0503020204020204" charset="-122"/>
              <a:ea typeface="微软雅黑" panose="020B0503020204020204" charset="-122"/>
              <a:cs typeface="微软雅黑" panose="020B0503020204020204" charset="-122"/>
            </a:endParaRPr>
          </a:p>
          <a:p>
            <a:pPr>
              <a:lnSpc>
                <a:spcPct val="118000"/>
              </a:lnSpc>
              <a:spcAft>
                <a:spcPts val="1000"/>
              </a:spcAft>
            </a:pPr>
            <a:r>
              <a:rPr sz="1150" b="1">
                <a:solidFill>
                  <a:srgbClr val="007DC2"/>
                </a:solidFill>
                <a:latin typeface="微软雅黑" panose="020B0503020204020204" charset="-122"/>
                <a:ea typeface="微软雅黑" panose="020B0503020204020204" charset="-122"/>
                <a:cs typeface="微软雅黑" panose="020B0503020204020204" charset="-122"/>
              </a:rPr>
              <a:t>【操作】</a:t>
            </a:r>
            <a:r>
              <a:rPr sz="1150" b="0">
                <a:solidFill>
                  <a:srgbClr val="1F2933"/>
                </a:solidFill>
                <a:latin typeface="微软雅黑" panose="020B0503020204020204" charset="-122"/>
                <a:ea typeface="微软雅黑" panose="020B0503020204020204" charset="-122"/>
                <a:cs typeface="微软雅黑" panose="020B0503020204020204" charset="-122"/>
              </a:rPr>
              <a:t> 商品通过量化 CTA </a:t>
            </a:r>
            <a:r>
              <a:rPr lang="zh-CN" sz="1150" b="0">
                <a:solidFill>
                  <a:srgbClr val="1F2933"/>
                </a:solidFill>
                <a:latin typeface="微软雅黑" panose="020B0503020204020204" charset="-122"/>
                <a:ea typeface="微软雅黑" panose="020B0503020204020204" charset="-122"/>
                <a:cs typeface="微软雅黑" panose="020B0503020204020204" charset="-122"/>
              </a:rPr>
              <a:t>复合</a:t>
            </a:r>
            <a:r>
              <a:rPr sz="1150" b="0">
                <a:solidFill>
                  <a:srgbClr val="1F2933"/>
                </a:solidFill>
                <a:latin typeface="微软雅黑" panose="020B0503020204020204" charset="-122"/>
                <a:ea typeface="微软雅黑" panose="020B0503020204020204" charset="-122"/>
                <a:cs typeface="微软雅黑" panose="020B0503020204020204" charset="-122"/>
              </a:rPr>
              <a:t>趋势策略参与，捕捉价格弹性修复，规避地缘单边风险</a:t>
            </a:r>
            <a:r>
              <a:rPr lang="zh-CN" sz="1150" b="0">
                <a:solidFill>
                  <a:srgbClr val="1F2933"/>
                </a:solidFill>
                <a:latin typeface="微软雅黑" panose="020B0503020204020204" charset="-122"/>
                <a:ea typeface="微软雅黑" panose="020B0503020204020204" charset="-122"/>
                <a:cs typeface="微软雅黑" panose="020B0503020204020204" charset="-122"/>
              </a:rPr>
              <a:t>，同时精选宏观能力</a:t>
            </a:r>
            <a:r>
              <a:rPr lang="en-US" altLang="zh-CN" sz="1150" b="0">
                <a:solidFill>
                  <a:srgbClr val="1F2933"/>
                </a:solidFill>
                <a:latin typeface="微软雅黑" panose="020B0503020204020204" charset="-122"/>
                <a:ea typeface="微软雅黑" panose="020B0503020204020204" charset="-122"/>
                <a:cs typeface="微软雅黑" panose="020B0503020204020204" charset="-122"/>
              </a:rPr>
              <a:t>+</a:t>
            </a:r>
            <a:r>
              <a:rPr lang="zh-CN" altLang="en-US" sz="1150" b="0">
                <a:solidFill>
                  <a:srgbClr val="1F2933"/>
                </a:solidFill>
                <a:latin typeface="微软雅黑" panose="020B0503020204020204" charset="-122"/>
                <a:ea typeface="微软雅黑" panose="020B0503020204020204" charset="-122"/>
                <a:cs typeface="微软雅黑" panose="020B0503020204020204" charset="-122"/>
              </a:rPr>
              <a:t>基本面研究</a:t>
            </a:r>
            <a:r>
              <a:rPr lang="zh-CN" sz="1150" b="0">
                <a:solidFill>
                  <a:srgbClr val="1F2933"/>
                </a:solidFill>
                <a:latin typeface="微软雅黑" panose="020B0503020204020204" charset="-122"/>
                <a:ea typeface="微软雅黑" panose="020B0503020204020204" charset="-122"/>
                <a:cs typeface="微软雅黑" panose="020B0503020204020204" charset="-122"/>
              </a:rPr>
              <a:t>强的主观管理人捕捉基本面主导行情。</a:t>
            </a:r>
            <a:endParaRPr lang="zh-CN" sz="1150" b="0">
              <a:solidFill>
                <a:srgbClr val="1F2933"/>
              </a:solidFill>
              <a:latin typeface="微软雅黑" panose="020B0503020204020204" charset="-122"/>
              <a:ea typeface="微软雅黑" panose="020B0503020204020204" charset="-122"/>
              <a:cs typeface="微软雅黑" panose="020B0503020204020204" charset="-122"/>
            </a:endParaRPr>
          </a:p>
        </p:txBody>
      </p:sp>
      <p:pic>
        <p:nvPicPr>
          <p:cNvPr id="49" name="参考模板浅蓝背景弧线"/>
          <p:cNvPicPr/>
          <p:nvPr/>
        </p:nvPicPr>
        <p:blipFill>
          <a:blip r:embed="rId2"/>
          <a:stretch>
            <a:fillRect/>
          </a:stretch>
        </p:blipFill>
        <p:spPr>
          <a:xfrm>
            <a:off x="4457700" y="0"/>
            <a:ext cx="3143250" cy="495300"/>
          </a:xfrm>
          <a:prstGeom prst="rect">
            <a:avLst/>
          </a:prstGeom>
          <a:noFill/>
          <a:ln>
            <a:noFill/>
          </a:ln>
        </p:spPr>
      </p:pic>
      <p:pic>
        <p:nvPicPr>
          <p:cNvPr id="50"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13.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49" name=""/>
        <p:cNvGrpSpPr/>
        <p:nvPr/>
      </p:nvGrpSpPr>
      <p:grpSpPr>
        <a:xfrm>
          <a:off x="0" y="0"/>
          <a:ext cx="0" cy="0"/>
          <a:chOff x="0" y="0"/>
          <a:chExt cx="0" cy="0"/>
        </a:xfrm>
      </p:grpSpPr>
      <p:sp>
        <p:nvSpPr>
          <p:cNvPr id="50"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1" name="TextBox 2"/>
          <p:cNvSpPr txBox="1"/>
          <p:nvPr/>
        </p:nvSpPr>
        <p:spPr>
          <a:xfrm>
            <a:off x="713232" y="480949"/>
            <a:ext cx="9601200" cy="519430"/>
          </a:xfrm>
          <a:prstGeom prst="rect">
            <a:avLst/>
          </a:prstGeom>
          <a:noFill/>
        </p:spPr>
        <p:txBody>
          <a:bodyPr wrap="square" lIns="0" tIns="0" rIns="0" bIns="0" anchor="ctr">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2600" b="1" noProof="0" dirty="0">
                <a:ln>
                  <a:noFill/>
                </a:ln>
                <a:solidFill>
                  <a:prstClr val="black"/>
                </a:solidFill>
                <a:effectLst/>
                <a:uLnTx/>
                <a:uFillTx/>
                <a:latin typeface="微软雅黑" panose="020B0503020204020204" charset="-122"/>
                <a:ea typeface="微软雅黑" panose="020B0503020204020204" charset="-122"/>
                <a:sym typeface="Poppins"/>
              </a:rPr>
              <a:t>为什么明年要重视商品的配置</a:t>
            </a:r>
            <a:r>
              <a:rPr lang="en-US" altLang="zh-CN" sz="2600" b="1" noProof="0" dirty="0">
                <a:ln>
                  <a:noFill/>
                </a:ln>
                <a:solidFill>
                  <a:prstClr val="black"/>
                </a:solidFill>
                <a:effectLst/>
                <a:uLnTx/>
                <a:uFillTx/>
                <a:latin typeface="微软雅黑" panose="020B0503020204020204" charset="-122"/>
                <a:ea typeface="微软雅黑" panose="020B0503020204020204" charset="-122"/>
                <a:sym typeface="Poppins"/>
              </a:rPr>
              <a:t>-</a:t>
            </a:r>
            <a:r>
              <a:rPr lang="zh-CN" altLang="en-US" sz="2600" b="1" noProof="0" dirty="0" err="1">
                <a:ln>
                  <a:noFill/>
                </a:ln>
                <a:solidFill>
                  <a:prstClr val="black"/>
                </a:solidFill>
                <a:effectLst/>
                <a:uLnTx/>
                <a:uFillTx/>
                <a:latin typeface="微软雅黑" panose="020B0503020204020204" charset="-122"/>
                <a:ea typeface="微软雅黑" panose="020B0503020204020204" charset="-122"/>
                <a:sym typeface="Poppins"/>
              </a:rPr>
              <a:t>政治</a:t>
            </a:r>
            <a:r>
              <a:rPr lang="en-US" altLang="zh-CN" sz="2600" b="1" noProof="0" dirty="0" err="1">
                <a:ln>
                  <a:noFill/>
                </a:ln>
                <a:solidFill>
                  <a:prstClr val="black"/>
                </a:solidFill>
                <a:effectLst/>
                <a:uLnTx/>
                <a:uFillTx/>
                <a:latin typeface="微软雅黑" panose="020B0503020204020204" charset="-122"/>
                <a:ea typeface="微软雅黑" panose="020B0503020204020204" charset="-122"/>
                <a:sym typeface="Poppins"/>
              </a:rPr>
              <a:t>博弈</a:t>
            </a:r>
            <a:endParaRPr lang="en-US" altLang="zh-CN" sz="2600" b="1" noProof="0" dirty="0">
              <a:ln>
                <a:noFill/>
              </a:ln>
              <a:solidFill>
                <a:prstClr val="black"/>
              </a:solidFill>
              <a:effectLst/>
              <a:uLnTx/>
              <a:uFillTx/>
              <a:latin typeface="微软雅黑" panose="020B0503020204020204" charset="-122"/>
              <a:ea typeface="微软雅黑" panose="020B0503020204020204" charset="-122"/>
              <a:sym typeface="Poppins"/>
            </a:endParaRPr>
          </a:p>
        </p:txBody>
      </p:sp>
      <p:sp>
        <p:nvSpPr>
          <p:cNvPr id="52"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3"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54"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55" name="TextBox 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14</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56" name="Picture 4"/>
          <p:cNvPicPr>
            <a:picLocks noChangeAspect="1"/>
          </p:cNvPicPr>
          <p:nvPr/>
        </p:nvPicPr>
        <p:blipFill>
          <a:blip>
            <a:extLst>
              <a:ext uri="{96DAC541-7B7A-43D3-8B79-37D633B846F1}">
                <asvg:svgBlip r:embed="rId2"/>
              </a:ext>
            </a:extLst>
          </a:blip>
          <a:stretch>
            <a:fillRect/>
          </a:stretch>
        </p:blipFill>
        <p:spPr>
          <a:xfrm>
            <a:off x="762000" y="1676400"/>
            <a:ext cx="355600" cy="355600"/>
          </a:xfrm>
          <a:prstGeom prst="rect">
            <a:avLst/>
          </a:prstGeom>
        </p:spPr>
      </p:pic>
      <p:sp>
        <p:nvSpPr>
          <p:cNvPr id="57" name="AutoShape 5"/>
          <p:cNvSpPr/>
          <p:nvPr/>
        </p:nvSpPr>
        <p:spPr>
          <a:xfrm>
            <a:off x="1320800" y="1676400"/>
            <a:ext cx="482600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8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关键矿产争夺</a:t>
            </a:r>
            <a:endParaRPr kumimoji="0" 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58" name="AutoShape 6"/>
          <p:cNvSpPr/>
          <p:nvPr/>
        </p:nvSpPr>
        <p:spPr>
          <a:xfrm>
            <a:off x="1320800" y="2082800"/>
            <a:ext cx="4165600" cy="838200"/>
          </a:xfrm>
          <a:prstGeom prst="rect">
            <a:avLst/>
          </a:prstGeom>
          <a:noFill/>
          <a:ln w="12700" cap="flat" cmpd="sng">
            <a:noFill/>
            <a:prstDash val="solid"/>
            <a:round/>
          </a:ln>
        </p:spPr>
        <p:txBody>
          <a:bodyPr vert="horz" wrap="square" lIns="0" tIns="0" rIns="0" bIns="0" rtlCol="0" anchor="t"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400" b="0" i="0" u="none" strike="noStrike" kern="1200" cap="none" spc="0" normalizeH="0" baseline="0" noProof="0" dirty="0" err="1">
                <a:ln>
                  <a:noFill/>
                </a:ln>
                <a:solidFill>
                  <a:prstClr val="black"/>
                </a:solidFill>
                <a:effectLst/>
                <a:uLnTx/>
                <a:uFillTx/>
                <a:latin typeface="微软雅黑" panose="020B0503020204020204" charset="-122"/>
                <a:ea typeface="微软雅黑" panose="020B0503020204020204" charset="-122"/>
                <a:cs typeface="Poppins"/>
                <a:sym typeface="Poppins"/>
              </a:rPr>
              <a:t>中美两国都将稀土、锂、钴、铜等关键矿产</a:t>
            </a:r>
            <a:r>
              <a:rPr kumimoji="0" lang="zh-CN" altLang="en-US" sz="1400" b="0" i="0" u="none" strike="noStrike" kern="1200" cap="none" spc="0" normalizeH="0" baseline="0" noProof="0" dirty="0" err="1">
                <a:ln>
                  <a:noFill/>
                </a:ln>
                <a:solidFill>
                  <a:prstClr val="black"/>
                </a:solidFill>
                <a:effectLst/>
                <a:uLnTx/>
                <a:uFillTx/>
                <a:latin typeface="微软雅黑" panose="020B0503020204020204" charset="-122"/>
                <a:ea typeface="微软雅黑" panose="020B0503020204020204" charset="-122"/>
                <a:cs typeface="Poppins"/>
                <a:sym typeface="Poppins"/>
              </a:rPr>
              <a:t>上升安全议题</a:t>
            </a:r>
            <a:r>
              <a:rPr kumimoji="0" lang="en-US" sz="1400" b="0" i="0" u="none" strike="noStrike" kern="1200" cap="none" spc="0" normalizeH="0" baseline="0" noProof="0" dirty="0" err="1">
                <a:ln>
                  <a:noFill/>
                </a:ln>
                <a:solidFill>
                  <a:prstClr val="black"/>
                </a:solidFill>
                <a:effectLst/>
                <a:uLnTx/>
                <a:uFillTx/>
                <a:latin typeface="微软雅黑" panose="020B0503020204020204" charset="-122"/>
                <a:ea typeface="微软雅黑" panose="020B0503020204020204" charset="-122"/>
                <a:cs typeface="Poppins"/>
                <a:sym typeface="Poppins"/>
              </a:rPr>
              <a:t>，并在全球范围内展开了激烈的争夺</a:t>
            </a:r>
            <a:r>
              <a:rPr kumimoji="0" 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Poppins"/>
                <a:sym typeface="Poppins"/>
              </a:rPr>
              <a:t>。</a:t>
            </a:r>
            <a:endParaRPr kumimoji="0" 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pic>
        <p:nvPicPr>
          <p:cNvPr id="59" name="Picture 7"/>
          <p:cNvPicPr>
            <a:picLocks noChangeAspect="1"/>
          </p:cNvPicPr>
          <p:nvPr/>
        </p:nvPicPr>
        <p:blipFill>
          <a:blip>
            <a:extLst>
              <a:ext uri="{96DAC541-7B7A-43D3-8B79-37D633B846F1}">
                <asvg:svgBlip r:embed="rId3"/>
              </a:ext>
            </a:extLst>
          </a:blip>
          <a:stretch>
            <a:fillRect/>
          </a:stretch>
        </p:blipFill>
        <p:spPr>
          <a:xfrm>
            <a:off x="762000" y="3175000"/>
            <a:ext cx="355600" cy="355600"/>
          </a:xfrm>
          <a:prstGeom prst="rect">
            <a:avLst/>
          </a:prstGeom>
        </p:spPr>
      </p:pic>
      <p:sp>
        <p:nvSpPr>
          <p:cNvPr id="60" name="AutoShape 8"/>
          <p:cNvSpPr/>
          <p:nvPr/>
        </p:nvSpPr>
        <p:spPr>
          <a:xfrm>
            <a:off x="1320800" y="3200400"/>
            <a:ext cx="482600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8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供应链脱钩</a:t>
            </a:r>
            <a:endParaRPr kumimoji="0" 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1" name="AutoShape 9"/>
          <p:cNvSpPr/>
          <p:nvPr/>
        </p:nvSpPr>
        <p:spPr>
          <a:xfrm>
            <a:off x="1320800" y="3606800"/>
            <a:ext cx="4165600" cy="838200"/>
          </a:xfrm>
          <a:prstGeom prst="rect">
            <a:avLst/>
          </a:prstGeom>
          <a:noFill/>
          <a:ln w="12700" cap="flat" cmpd="sng">
            <a:noFill/>
            <a:prstDash val="solid"/>
            <a:round/>
          </a:ln>
        </p:spPr>
        <p:txBody>
          <a:bodyPr vert="horz" wrap="square" lIns="0" tIns="0" rIns="0" bIns="0" rtlCol="0" anchor="t"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400" b="0" i="0" u="none" strike="noStrike" kern="1200" cap="none" spc="0" normalizeH="0" baseline="0" noProof="0" dirty="0" err="1">
                <a:ln>
                  <a:noFill/>
                </a:ln>
                <a:solidFill>
                  <a:prstClr val="black"/>
                </a:solidFill>
                <a:effectLst/>
                <a:uLnTx/>
                <a:uFillTx/>
                <a:latin typeface="微软雅黑" panose="020B0503020204020204" charset="-122"/>
                <a:ea typeface="微软雅黑" panose="020B0503020204020204" charset="-122"/>
                <a:cs typeface="Poppins"/>
                <a:sym typeface="Poppins"/>
              </a:rPr>
              <a:t>为降低依赖，</a:t>
            </a:r>
            <a:r>
              <a:rPr kumimoji="0" lang="zh-CN" altLang="en-US" sz="1400" b="0" i="0" u="none" strike="noStrike" kern="1200" cap="none" spc="0" normalizeH="0" baseline="0" noProof="0" dirty="0" err="1">
                <a:ln>
                  <a:noFill/>
                </a:ln>
                <a:solidFill>
                  <a:prstClr val="black"/>
                </a:solidFill>
                <a:effectLst/>
                <a:uLnTx/>
                <a:uFillTx/>
                <a:latin typeface="微软雅黑" panose="020B0503020204020204" charset="-122"/>
                <a:ea typeface="微软雅黑" panose="020B0503020204020204" charset="-122"/>
                <a:cs typeface="Poppins"/>
                <a:sym typeface="Poppins"/>
              </a:rPr>
              <a:t>中美等大国</a:t>
            </a:r>
            <a:r>
              <a:rPr kumimoji="0" lang="en-US" sz="1400" b="0" i="0" u="none" strike="noStrike" kern="1200" cap="none" spc="0" normalizeH="0" baseline="0" noProof="0" dirty="0" err="1">
                <a:ln>
                  <a:noFill/>
                </a:ln>
                <a:solidFill>
                  <a:prstClr val="black"/>
                </a:solidFill>
                <a:effectLst/>
                <a:uLnTx/>
                <a:uFillTx/>
                <a:latin typeface="微软雅黑" panose="020B0503020204020204" charset="-122"/>
                <a:ea typeface="微软雅黑" panose="020B0503020204020204" charset="-122"/>
                <a:cs typeface="Poppins"/>
                <a:sym typeface="Poppins"/>
              </a:rPr>
              <a:t>推动供应链本土化或区域化，这增加了成本，并可能导致资源错配</a:t>
            </a:r>
            <a:r>
              <a:rPr kumimoji="0" lang="zh-CN" altLang="en-US" sz="1400" b="0" i="0" u="none" strike="noStrike" kern="1200" cap="none" spc="0" normalizeH="0" baseline="0" noProof="0" dirty="0" err="1">
                <a:ln>
                  <a:noFill/>
                </a:ln>
                <a:solidFill>
                  <a:prstClr val="black"/>
                </a:solidFill>
                <a:effectLst/>
                <a:uLnTx/>
                <a:uFillTx/>
                <a:latin typeface="微软雅黑" panose="020B0503020204020204" charset="-122"/>
                <a:ea typeface="微软雅黑" panose="020B0503020204020204" charset="-122"/>
                <a:cs typeface="Poppins"/>
                <a:sym typeface="Poppins"/>
              </a:rPr>
              <a:t>；</a:t>
            </a: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Poppins"/>
                <a:sym typeface="Poppins"/>
              </a:rPr>
              <a:t>供给侧的扰动已经成为常态变量，而不是尾部风险；</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Poppins"/>
              <a:sym typeface="Poppins"/>
            </a:endParaRPr>
          </a:p>
        </p:txBody>
      </p:sp>
      <p:pic>
        <p:nvPicPr>
          <p:cNvPr id="62" name="Picture 10"/>
          <p:cNvPicPr>
            <a:picLocks noChangeAspect="1"/>
          </p:cNvPicPr>
          <p:nvPr/>
        </p:nvPicPr>
        <p:blipFill>
          <a:blip>
            <a:extLst>
              <a:ext uri="{96DAC541-7B7A-43D3-8B79-37D633B846F1}">
                <asvg:svgBlip r:embed="rId4"/>
              </a:ext>
            </a:extLst>
          </a:blip>
          <a:stretch>
            <a:fillRect/>
          </a:stretch>
        </p:blipFill>
        <p:spPr>
          <a:xfrm>
            <a:off x="762000" y="4727575"/>
            <a:ext cx="355600" cy="355600"/>
          </a:xfrm>
          <a:prstGeom prst="rect">
            <a:avLst/>
          </a:prstGeom>
        </p:spPr>
      </p:pic>
      <p:sp>
        <p:nvSpPr>
          <p:cNvPr id="63" name="AutoShape 11"/>
          <p:cNvSpPr/>
          <p:nvPr/>
        </p:nvSpPr>
        <p:spPr>
          <a:xfrm>
            <a:off x="1320800" y="4724400"/>
            <a:ext cx="482600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8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地缘风险溢价</a:t>
            </a:r>
            <a:endParaRPr kumimoji="0" 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4" name="AutoShape 12"/>
          <p:cNvSpPr/>
          <p:nvPr/>
        </p:nvSpPr>
        <p:spPr>
          <a:xfrm>
            <a:off x="1320800" y="5130800"/>
            <a:ext cx="4165600" cy="838200"/>
          </a:xfrm>
          <a:prstGeom prst="rect">
            <a:avLst/>
          </a:prstGeom>
          <a:noFill/>
          <a:ln w="12700" cap="flat" cmpd="sng">
            <a:noFill/>
            <a:prstDash val="solid"/>
            <a:round/>
          </a:ln>
        </p:spPr>
        <p:txBody>
          <a:bodyPr vert="horz" wrap="square" lIns="0" tIns="0" rIns="0" bIns="0" rtlCol="0" anchor="t"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400" b="0" i="0" u="none" strike="noStrike" kern="1200" cap="none" spc="0" normalizeH="0" baseline="0" noProof="0" dirty="0" err="1">
                <a:ln>
                  <a:noFill/>
                </a:ln>
                <a:solidFill>
                  <a:prstClr val="black"/>
                </a:solidFill>
                <a:effectLst/>
                <a:uLnTx/>
                <a:uFillTx/>
                <a:latin typeface="微软雅黑" panose="020B0503020204020204" charset="-122"/>
                <a:ea typeface="微软雅黑" panose="020B0503020204020204" charset="-122"/>
                <a:cs typeface="Poppins"/>
                <a:sym typeface="Poppins"/>
              </a:rPr>
              <a:t>大国博弈加剧，地缘政治风险成为影响大宗商品价格的重要因素，带来持续的风险溢价</a:t>
            </a:r>
            <a:r>
              <a:rPr kumimoji="0" 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Poppins"/>
                <a:sym typeface="Poppins"/>
              </a:rPr>
              <a:t>。</a:t>
            </a: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Poppins"/>
                <a:sym typeface="Poppins"/>
              </a:rPr>
              <a:t>突发地缘扰动</a:t>
            </a: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Poppins"/>
                <a:sym typeface="Poppins"/>
              </a:rPr>
              <a:t>带动商品脉冲式行情冲击；</a:t>
            </a:r>
            <a:endParaRPr kumimoji="0" 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pic>
        <p:nvPicPr>
          <p:cNvPr id="65" name="图片 5"/>
          <p:cNvPicPr>
            <a:picLocks noChangeAspect="1"/>
          </p:cNvPicPr>
          <p:nvPr/>
        </p:nvPicPr>
        <p:blipFill>
          <a:blip r:embed="rId5"/>
          <a:stretch>
            <a:fillRect/>
          </a:stretch>
        </p:blipFill>
        <p:spPr>
          <a:xfrm>
            <a:off x="5993765" y="1887855"/>
            <a:ext cx="5466080" cy="4276090"/>
          </a:xfrm>
          <a:prstGeom prst="rect">
            <a:avLst/>
          </a:prstGeom>
        </p:spPr>
      </p:pic>
      <p:pic>
        <p:nvPicPr>
          <p:cNvPr id="66" name="参考模板浅蓝背景弧线"/>
          <p:cNvPicPr/>
          <p:nvPr/>
        </p:nvPicPr>
        <p:blipFill>
          <a:blip r:embed="rId6"/>
          <a:stretch>
            <a:fillRect/>
          </a:stretch>
        </p:blipFill>
        <p:spPr>
          <a:xfrm>
            <a:off x="4457700" y="0"/>
            <a:ext cx="3143250" cy="495300"/>
          </a:xfrm>
          <a:prstGeom prst="rect">
            <a:avLst/>
          </a:prstGeom>
          <a:noFill/>
          <a:ln>
            <a:noFill/>
          </a:ln>
        </p:spPr>
      </p:pic>
      <p:pic>
        <p:nvPicPr>
          <p:cNvPr id="67" name="参考模板右上角标识"/>
          <p:cNvPicPr/>
          <p:nvPr/>
        </p:nvPicPr>
        <p:blipFill>
          <a:blip r:embed="rId7"/>
          <a:stretch>
            <a:fillRect/>
          </a:stretch>
        </p:blipFill>
        <p:spPr>
          <a:xfrm>
            <a:off x="9696450" y="209550"/>
            <a:ext cx="1733550" cy="390525"/>
          </a:xfrm>
          <a:prstGeom prst="rect">
            <a:avLst/>
          </a:prstGeom>
          <a:noFill/>
          <a:ln>
            <a:noFill/>
          </a:ln>
        </p:spPr>
      </p:pic>
    </p:spTree>
  </p:cSld>
  <p:clrMapOvr>
    <a:masterClrMapping/>
  </p:clrMapOvr>
</p:sld>
</file>

<file path=ppt/slides/slide14.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66" name=""/>
        <p:cNvGrpSpPr/>
        <p:nvPr/>
      </p:nvGrpSpPr>
      <p:grpSpPr>
        <a:xfrm>
          <a:off x="0" y="0"/>
          <a:ext cx="0" cy="0"/>
          <a:chOff x="0" y="0"/>
          <a:chExt cx="0" cy="0"/>
        </a:xfrm>
      </p:grpSpPr>
      <p:sp>
        <p:nvSpPr>
          <p:cNvPr id="67"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68"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69"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70"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71" name="TextBox 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14</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72" name="文本框 1"/>
          <p:cNvSpPr txBox="1"/>
          <p:nvPr/>
        </p:nvSpPr>
        <p:spPr>
          <a:xfrm>
            <a:off x="618743" y="429768"/>
            <a:ext cx="8637900" cy="570865"/>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地缘冲突：能源与供应链的脆弱性不容忽视，供应风险常态化</a:t>
            </a:r>
            <a:endParaRPr kumimoji="0" lang="zh-CN" altLang="en-US" sz="2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pic>
        <p:nvPicPr>
          <p:cNvPr id="73" name="Picture 7"/>
          <p:cNvPicPr>
            <a:picLocks noChangeAspect="1"/>
          </p:cNvPicPr>
          <p:nvPr/>
        </p:nvPicPr>
        <p:blipFill>
          <a:blip/>
          <a:stretch>
            <a:fillRect/>
          </a:stretch>
        </p:blipFill>
        <p:spPr>
          <a:xfrm>
            <a:off x="549275" y="1376680"/>
            <a:ext cx="304800" cy="304800"/>
          </a:xfrm>
          <a:prstGeom prst="rect">
            <a:avLst/>
          </a:prstGeom>
        </p:spPr>
      </p:pic>
      <p:sp>
        <p:nvSpPr>
          <p:cNvPr id="74" name="AutoShape 8"/>
          <p:cNvSpPr/>
          <p:nvPr/>
        </p:nvSpPr>
        <p:spPr>
          <a:xfrm>
            <a:off x="930275" y="1233805"/>
            <a:ext cx="457200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地缘冲突频发，供应扰动影响深远且持久</a:t>
            </a:r>
            <a:endParaRPr kumimoji="0" lang="zh-CN" alt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endParaRPr>
          </a:p>
        </p:txBody>
      </p:sp>
      <p:sp>
        <p:nvSpPr>
          <p:cNvPr id="75" name="AutoShape 9"/>
          <p:cNvSpPr/>
          <p:nvPr/>
        </p:nvSpPr>
        <p:spPr>
          <a:xfrm>
            <a:off x="930275" y="1570990"/>
            <a:ext cx="5219700" cy="1353185"/>
          </a:xfrm>
          <a:prstGeom prst="rect">
            <a:avLst/>
          </a:prstGeom>
          <a:noFill/>
          <a:ln w="12700" cap="flat" cmpd="sng">
            <a:noFill/>
            <a:prstDash val="solid"/>
            <a:round/>
          </a:ln>
        </p:spPr>
        <p:txBody>
          <a:bodyPr vert="horz" wrap="square" lIns="0" tIns="0" rIns="0" bIns="0" rtlCol="0" anchor="t" anchorCtr="0"/>
          <a:lstStyle/>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r>
              <a:rPr 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俄乌冲突爆发后，高度依赖俄罗斯能源的欧盟陷入能源危机，不得不高价采购高成本的美国天然气；去俄化成本高昂揭示了供应来源多元化与自主能源转型的必要性，欧盟随即加码新能源基础设置投入与</a:t>
            </a:r>
            <a:r>
              <a:rPr lang="en-US" alt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REPowerEI</a:t>
            </a:r>
            <a:r>
              <a:rPr lang="zh-CN" altLang="en-US"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计划</a:t>
            </a:r>
            <a:r>
              <a:rPr 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r>
              <a:rPr kumimoji="0" 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美伊冲突升级，霍尔木兹海峡通行受阻，对日韩能源进口影响较大，日韩重启核电布局，能源自主从可选项变为必选项；</a:t>
            </a:r>
            <a:endParaRPr kumimoji="0" 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pic>
        <p:nvPicPr>
          <p:cNvPr id="76" name="Picture 10"/>
          <p:cNvPicPr>
            <a:picLocks noChangeAspect="1"/>
          </p:cNvPicPr>
          <p:nvPr/>
        </p:nvPicPr>
        <p:blipFill>
          <a:blip/>
          <a:stretch>
            <a:fillRect/>
          </a:stretch>
        </p:blipFill>
        <p:spPr>
          <a:xfrm>
            <a:off x="549275" y="3830955"/>
            <a:ext cx="304800" cy="304800"/>
          </a:xfrm>
          <a:prstGeom prst="rect">
            <a:avLst/>
          </a:prstGeom>
        </p:spPr>
      </p:pic>
      <p:sp>
        <p:nvSpPr>
          <p:cNvPr id="77" name="AutoShape 12"/>
          <p:cNvSpPr/>
          <p:nvPr/>
        </p:nvSpPr>
        <p:spPr>
          <a:xfrm>
            <a:off x="930275" y="3890010"/>
            <a:ext cx="4781550" cy="508000"/>
          </a:xfrm>
          <a:prstGeom prst="rect">
            <a:avLst/>
          </a:prstGeom>
          <a:noFill/>
          <a:ln w="12700" cap="flat" cmpd="sng">
            <a:noFill/>
            <a:prstDash val="solid"/>
            <a:round/>
          </a:ln>
        </p:spPr>
        <p:txBody>
          <a:bodyPr vert="horz" wrap="square" lIns="0" tIns="0" rIns="0" bIns="0" rtlCol="0" anchor="t" anchorCtr="0"/>
          <a:lstStyle/>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r>
              <a:rPr 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能源供应的</a:t>
            </a:r>
            <a:r>
              <a:rPr lang="en-US" alt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安全模式</a:t>
            </a:r>
            <a:r>
              <a:rPr lang="en-US" alt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已经改变，</a:t>
            </a:r>
            <a:r>
              <a:rPr 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霍尔木兹海峡战前承担约</a:t>
            </a:r>
            <a:r>
              <a:rPr lang="en-US" alt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1500</a:t>
            </a:r>
            <a:r>
              <a:rPr lang="zh-CN" altLang="en-US"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万桶的原油运输</a:t>
            </a:r>
            <a:r>
              <a:rPr 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，极端事件下通道的脆弱性、运输通道</a:t>
            </a:r>
            <a:r>
              <a:rPr lang="en-US" alt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武器化</a:t>
            </a:r>
            <a:r>
              <a:rPr lang="en-US" alt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的现实概率已经充分暴露；</a:t>
            </a:r>
            <a:endParaRPr 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r>
              <a:rPr lang="zh-CN" altLang="en-US"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 海湾产油国启用并扩容富查伊拉、东西输油等绕行管道，扩充原油储备与储运设施，规划新通道，安全冗余从应急措施转变为长期制度；冲突代价是永久性的：绕行运距拉长、战争险保费重定价、冗余库存与闲置产能的持有成本，都将结构性抬升成本中枢；</a:t>
            </a:r>
            <a:endParaRPr lang="zh-CN" altLang="en-US"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pic>
        <p:nvPicPr>
          <p:cNvPr id="78" name="Picture 7"/>
          <p:cNvPicPr>
            <a:picLocks noChangeAspect="1"/>
          </p:cNvPicPr>
          <p:nvPr/>
        </p:nvPicPr>
        <p:blipFill>
          <a:blip>
            <a:extLst>
              <a:ext uri="{96DAC541-7B7A-43D3-8B79-37D633B846F1}">
                <asvg:svgBlip r:embed="rId2"/>
              </a:ext>
            </a:extLst>
          </a:blip>
          <a:stretch>
            <a:fillRect/>
          </a:stretch>
        </p:blipFill>
        <p:spPr>
          <a:xfrm>
            <a:off x="549275" y="1233805"/>
            <a:ext cx="304800" cy="304800"/>
          </a:xfrm>
          <a:prstGeom prst="rect">
            <a:avLst/>
          </a:prstGeom>
        </p:spPr>
      </p:pic>
      <p:pic>
        <p:nvPicPr>
          <p:cNvPr id="79" name="Picture 18"/>
          <p:cNvPicPr>
            <a:picLocks noChangeAspect="1"/>
          </p:cNvPicPr>
          <p:nvPr/>
        </p:nvPicPr>
        <p:blipFill>
          <a:blip>
            <a:extLst>
              <a:ext uri="{96DAC541-7B7A-43D3-8B79-37D633B846F1}">
                <asvg:svgBlip r:embed="rId3"/>
              </a:ext>
            </a:extLst>
          </a:blip>
          <a:stretch>
            <a:fillRect/>
          </a:stretch>
        </p:blipFill>
        <p:spPr>
          <a:xfrm>
            <a:off x="549275" y="3585210"/>
            <a:ext cx="304800" cy="304800"/>
          </a:xfrm>
          <a:prstGeom prst="rect">
            <a:avLst/>
          </a:prstGeom>
        </p:spPr>
      </p:pic>
      <p:pic>
        <p:nvPicPr>
          <p:cNvPr id="80" name="图片 7"/>
          <p:cNvPicPr>
            <a:picLocks noChangeAspect="1"/>
          </p:cNvPicPr>
          <p:nvPr/>
        </p:nvPicPr>
        <p:blipFill>
          <a:blip r:embed="rId4"/>
          <a:stretch>
            <a:fillRect/>
          </a:stretch>
        </p:blipFill>
        <p:spPr>
          <a:xfrm>
            <a:off x="6612255" y="1174115"/>
            <a:ext cx="4657090" cy="2847340"/>
          </a:xfrm>
          <a:prstGeom prst="rect">
            <a:avLst/>
          </a:prstGeom>
        </p:spPr>
      </p:pic>
      <p:pic>
        <p:nvPicPr>
          <p:cNvPr id="81" name="图片 15"/>
          <p:cNvPicPr>
            <a:picLocks noChangeAspect="1"/>
          </p:cNvPicPr>
          <p:nvPr/>
        </p:nvPicPr>
        <p:blipFill>
          <a:blip r:embed="rId5"/>
          <a:stretch>
            <a:fillRect/>
          </a:stretch>
        </p:blipFill>
        <p:spPr>
          <a:xfrm>
            <a:off x="6612255" y="3996055"/>
            <a:ext cx="4600575" cy="2733675"/>
          </a:xfrm>
          <a:prstGeom prst="rect">
            <a:avLst/>
          </a:prstGeom>
        </p:spPr>
      </p:pic>
      <p:pic>
        <p:nvPicPr>
          <p:cNvPr id="82" name="参考模板浅蓝背景弧线"/>
          <p:cNvPicPr/>
          <p:nvPr/>
        </p:nvPicPr>
        <p:blipFill>
          <a:blip r:embed="rId6"/>
          <a:stretch>
            <a:fillRect/>
          </a:stretch>
        </p:blipFill>
        <p:spPr>
          <a:xfrm>
            <a:off x="4457700" y="0"/>
            <a:ext cx="3143250" cy="495300"/>
          </a:xfrm>
          <a:prstGeom prst="rect">
            <a:avLst/>
          </a:prstGeom>
          <a:noFill/>
          <a:ln>
            <a:noFill/>
          </a:ln>
        </p:spPr>
      </p:pic>
      <p:pic>
        <p:nvPicPr>
          <p:cNvPr id="83" name="参考模板右上角标识"/>
          <p:cNvPicPr/>
          <p:nvPr/>
        </p:nvPicPr>
        <p:blipFill>
          <a:blip r:embed="rId7"/>
          <a:stretch>
            <a:fillRect/>
          </a:stretch>
        </p:blipFill>
        <p:spPr>
          <a:xfrm>
            <a:off x="9696450" y="209550"/>
            <a:ext cx="1733550" cy="390525"/>
          </a:xfrm>
          <a:prstGeom prst="rect">
            <a:avLst/>
          </a:prstGeom>
          <a:noFill/>
          <a:ln>
            <a:noFill/>
          </a:ln>
        </p:spPr>
      </p:pic>
    </p:spTree>
  </p:cSld>
  <p:clrMapOvr>
    <a:masterClrMapping/>
  </p:clrMapOvr>
</p:sld>
</file>

<file path=ppt/slides/slide15.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82" name=""/>
        <p:cNvGrpSpPr/>
        <p:nvPr/>
      </p:nvGrpSpPr>
      <p:grpSpPr>
        <a:xfrm>
          <a:off x="0" y="0"/>
          <a:ext cx="0" cy="0"/>
          <a:chOff x="0" y="0"/>
          <a:chExt cx="0" cy="0"/>
        </a:xfrm>
      </p:grpSpPr>
      <p:sp>
        <p:nvSpPr>
          <p:cNvPr id="83"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84"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85"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86" name="文本框 1"/>
          <p:cNvSpPr txBox="1"/>
          <p:nvPr/>
        </p:nvSpPr>
        <p:spPr>
          <a:xfrm>
            <a:off x="585723" y="438023"/>
            <a:ext cx="8637900" cy="570865"/>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资源保护主义迅速抬头，正演化为全球性问题</a:t>
            </a:r>
            <a:endParaRPr kumimoji="0" lang="zh-CN" altLang="en-US" sz="2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pic>
        <p:nvPicPr>
          <p:cNvPr id="87" name="Picture 7"/>
          <p:cNvPicPr>
            <a:picLocks noChangeAspect="1"/>
          </p:cNvPicPr>
          <p:nvPr/>
        </p:nvPicPr>
        <p:blipFill>
          <a:blip>
            <a:extLst>
              <a:ext uri="{96DAC541-7B7A-43D3-8B79-37D633B846F1}">
                <asvg:svgBlip r:embed="rId2"/>
              </a:ext>
            </a:extLst>
          </a:blip>
          <a:stretch>
            <a:fillRect/>
          </a:stretch>
        </p:blipFill>
        <p:spPr>
          <a:xfrm>
            <a:off x="495300" y="1460500"/>
            <a:ext cx="304800" cy="304800"/>
          </a:xfrm>
          <a:prstGeom prst="rect">
            <a:avLst/>
          </a:prstGeom>
        </p:spPr>
      </p:pic>
      <p:sp>
        <p:nvSpPr>
          <p:cNvPr id="88" name="AutoShape 8"/>
          <p:cNvSpPr/>
          <p:nvPr/>
        </p:nvSpPr>
        <p:spPr>
          <a:xfrm>
            <a:off x="876300" y="1460500"/>
            <a:ext cx="457200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关键矿产的稀缺性、分布不均衡</a:t>
            </a:r>
            <a:endParaRPr kumimoji="0" lang="zh-CN" alt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endParaRPr>
          </a:p>
        </p:txBody>
      </p:sp>
      <p:sp>
        <p:nvSpPr>
          <p:cNvPr id="89" name="AutoShape 9"/>
          <p:cNvSpPr/>
          <p:nvPr/>
        </p:nvSpPr>
        <p:spPr>
          <a:xfrm>
            <a:off x="876300" y="1889125"/>
            <a:ext cx="4572000" cy="508000"/>
          </a:xfrm>
          <a:prstGeom prst="rect">
            <a:avLst/>
          </a:prstGeom>
          <a:noFill/>
          <a:ln w="12700" cap="flat" cmpd="sng">
            <a:noFill/>
            <a:prstDash val="solid"/>
            <a:round/>
          </a:ln>
        </p:spPr>
        <p:txBody>
          <a:bodyPr vert="horz" wrap="square" lIns="0" tIns="0" rIns="0" bIns="0" rtlCol="0" anchor="t" anchorCtr="0"/>
          <a:lstStyle/>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r>
              <a:rPr 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能源转型推动锂、钴、镍等关键矿产需求预期急速膨胀；</a:t>
            </a:r>
            <a:endParaRPr 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r>
              <a:rPr lang="zh-CN" altLang="en-US" sz="1400" dirty="0">
                <a:solidFill>
                  <a:prstClr val="black"/>
                </a:solidFill>
                <a:latin typeface="微软雅黑" panose="020B0503020204020204" charset="-122"/>
                <a:ea typeface="微软雅黑" panose="020B0503020204020204" charset="-122"/>
                <a:cs typeface="Noto Sans SC" panose="020B0200000000000000" charset="-122"/>
                <a:sym typeface="Noto Sans SC" panose="020B0200000000000000" charset="-122"/>
              </a:rPr>
              <a:t>资源分布天然失衡，少部分国家掌握大部分矿产供给：印尼镍矿产量占全球</a:t>
            </a:r>
            <a:r>
              <a:rPr lang="en-US" altLang="zh-CN" sz="1400" dirty="0">
                <a:solidFill>
                  <a:prstClr val="black"/>
                </a:solidFill>
                <a:latin typeface="微软雅黑" panose="020B0503020204020204" charset="-122"/>
                <a:ea typeface="微软雅黑" panose="020B0503020204020204" charset="-122"/>
                <a:cs typeface="Noto Sans SC" panose="020B0200000000000000" charset="-122"/>
                <a:sym typeface="Noto Sans SC" panose="020B0200000000000000" charset="-122"/>
              </a:rPr>
              <a:t>6-7</a:t>
            </a:r>
            <a:r>
              <a:rPr lang="zh-CN" altLang="en-US" sz="1400" dirty="0">
                <a:solidFill>
                  <a:prstClr val="black"/>
                </a:solidFill>
                <a:latin typeface="微软雅黑" panose="020B0503020204020204" charset="-122"/>
                <a:ea typeface="微软雅黑" panose="020B0503020204020204" charset="-122"/>
                <a:cs typeface="Noto Sans SC" panose="020B0200000000000000" charset="-122"/>
                <a:sym typeface="Noto Sans SC" panose="020B0200000000000000" charset="-122"/>
              </a:rPr>
              <a:t>成、刚果钴资源占全球约四分之三；</a:t>
            </a:r>
            <a:endParaRPr lang="zh-CN" altLang="en-US" sz="1400" dirty="0">
              <a:solidFill>
                <a:prstClr val="black"/>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供应集中意味着政策杠杆极高，单一资源国的政策调整足以重塑全球平衡表；</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pic>
        <p:nvPicPr>
          <p:cNvPr id="90" name="Picture 10"/>
          <p:cNvPicPr>
            <a:picLocks noChangeAspect="1"/>
          </p:cNvPicPr>
          <p:nvPr/>
        </p:nvPicPr>
        <p:blipFill>
          <a:blip>
            <a:extLst>
              <a:ext uri="{96DAC541-7B7A-43D3-8B79-37D633B846F1}">
                <asvg:svgBlip r:embed="rId3"/>
              </a:ext>
            </a:extLst>
          </a:blip>
          <a:stretch>
            <a:fillRect/>
          </a:stretch>
        </p:blipFill>
        <p:spPr>
          <a:xfrm>
            <a:off x="495300" y="3975100"/>
            <a:ext cx="304800" cy="304800"/>
          </a:xfrm>
          <a:prstGeom prst="rect">
            <a:avLst/>
          </a:prstGeom>
        </p:spPr>
      </p:pic>
      <p:sp>
        <p:nvSpPr>
          <p:cNvPr id="91" name="AutoShape 11"/>
          <p:cNvSpPr/>
          <p:nvPr/>
        </p:nvSpPr>
        <p:spPr>
          <a:xfrm>
            <a:off x="875665" y="3965575"/>
            <a:ext cx="479806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经济格局打破，从</a:t>
            </a:r>
            <a:r>
              <a:rPr kumimoji="0" lang="en-US" altLang="zh-CN"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a:t>
            </a:r>
            <a:r>
              <a:rPr kumimoji="0" lang="zh-CN" alt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贸易便利化</a:t>
            </a:r>
            <a:r>
              <a:rPr kumimoji="0" lang="en-US" altLang="zh-CN"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a:t>
            </a:r>
            <a:r>
              <a:rPr kumimoji="0" lang="zh-CN" alt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转向</a:t>
            </a:r>
            <a:r>
              <a:rPr kumimoji="0" lang="en-US" altLang="zh-CN"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a:t>
            </a:r>
            <a:r>
              <a:rPr kumimoji="0" lang="zh-CN" alt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资源政治化</a:t>
            </a:r>
            <a:r>
              <a:rPr kumimoji="0" lang="en-US" altLang="zh-CN"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a:t>
            </a:r>
            <a:endParaRPr kumimoji="0" lang="en-US" altLang="zh-CN"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endParaRPr>
          </a:p>
        </p:txBody>
      </p:sp>
      <p:sp>
        <p:nvSpPr>
          <p:cNvPr id="92" name="AutoShape 12"/>
          <p:cNvSpPr/>
          <p:nvPr/>
        </p:nvSpPr>
        <p:spPr>
          <a:xfrm>
            <a:off x="876300" y="4403725"/>
            <a:ext cx="4572000" cy="508000"/>
          </a:xfrm>
          <a:prstGeom prst="rect">
            <a:avLst/>
          </a:prstGeom>
          <a:noFill/>
          <a:ln w="12700" cap="flat" cmpd="sng">
            <a:noFill/>
            <a:prstDash val="solid"/>
            <a:round/>
          </a:ln>
        </p:spPr>
        <p:txBody>
          <a:bodyPr vert="horz" wrap="square" lIns="0" tIns="0" rIns="0" bIns="0" rtlCol="0" anchor="t" anchorCtr="0"/>
          <a:lstStyle/>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r>
              <a:rPr 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资源国通过出口管制、配额、税收与产业政策配套等多元化政策工具强化国家对矿产资源的控制力：印尼镍矿出口禁令、津巴布韦锂矿出口限制；</a:t>
            </a:r>
            <a:endParaRPr lang="zh-CN" sz="140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r>
              <a:rPr lang="zh-CN" altLang="en-US" sz="1400" dirty="0">
                <a:solidFill>
                  <a:prstClr val="black"/>
                </a:solidFill>
                <a:latin typeface="微软雅黑" panose="020B0503020204020204" charset="-122"/>
                <a:ea typeface="微软雅黑" panose="020B0503020204020204" charset="-122"/>
                <a:cs typeface="Noto Sans SC" panose="020B0200000000000000" charset="-122"/>
                <a:sym typeface="Noto Sans SC" panose="020B0200000000000000" charset="-122"/>
              </a:rPr>
              <a:t>资源国不满足于原矿形式出口资源换取有限收入，而是希望复制产业升级路径，以资源吸引加工产业落地；</a:t>
            </a:r>
            <a:endParaRPr lang="zh-CN" altLang="en-US" sz="1400" dirty="0">
              <a:solidFill>
                <a:prstClr val="black"/>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r>
              <a:rPr kumimoji="0" 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rPr>
              <a:t>全球贸易规则让位于资源政治，供给曲线的“政策成本”永久性上升，供给侧定价权向资源国转移；</a:t>
            </a:r>
            <a:endParaRPr kumimoji="0" 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endParaRPr>
          </a:p>
        </p:txBody>
      </p:sp>
      <p:pic>
        <p:nvPicPr>
          <p:cNvPr id="93" name="图片 11"/>
          <p:cNvPicPr>
            <a:picLocks noChangeAspect="1"/>
          </p:cNvPicPr>
          <p:nvPr/>
        </p:nvPicPr>
        <p:blipFill>
          <a:blip r:embed="rId4"/>
          <a:stretch>
            <a:fillRect/>
          </a:stretch>
        </p:blipFill>
        <p:spPr>
          <a:xfrm>
            <a:off x="5674995" y="1115695"/>
            <a:ext cx="5928995" cy="2143125"/>
          </a:xfrm>
          <a:prstGeom prst="rect">
            <a:avLst/>
          </a:prstGeom>
        </p:spPr>
      </p:pic>
      <p:pic>
        <p:nvPicPr>
          <p:cNvPr id="94" name="图片 12"/>
          <p:cNvPicPr>
            <a:picLocks noChangeAspect="1"/>
          </p:cNvPicPr>
          <p:nvPr/>
        </p:nvPicPr>
        <p:blipFill>
          <a:blip r:embed="rId5"/>
          <a:stretch>
            <a:fillRect/>
          </a:stretch>
        </p:blipFill>
        <p:spPr>
          <a:xfrm>
            <a:off x="5749290" y="3221355"/>
            <a:ext cx="5854700" cy="3514090"/>
          </a:xfrm>
          <a:prstGeom prst="rect">
            <a:avLst/>
          </a:prstGeom>
        </p:spPr>
      </p:pic>
      <p:pic>
        <p:nvPicPr>
          <p:cNvPr id="95" name="参考模板浅蓝背景弧线"/>
          <p:cNvPicPr/>
          <p:nvPr/>
        </p:nvPicPr>
        <p:blipFill>
          <a:blip r:embed="rId6"/>
          <a:stretch>
            <a:fillRect/>
          </a:stretch>
        </p:blipFill>
        <p:spPr>
          <a:xfrm>
            <a:off x="4457700" y="0"/>
            <a:ext cx="3143250" cy="495300"/>
          </a:xfrm>
          <a:prstGeom prst="rect">
            <a:avLst/>
          </a:prstGeom>
          <a:noFill/>
          <a:ln>
            <a:noFill/>
          </a:ln>
        </p:spPr>
      </p:pic>
      <p:pic>
        <p:nvPicPr>
          <p:cNvPr id="96" name="参考模板右上角标识"/>
          <p:cNvPicPr/>
          <p:nvPr/>
        </p:nvPicPr>
        <p:blipFill>
          <a:blip r:embed="rId7"/>
          <a:stretch>
            <a:fillRect/>
          </a:stretch>
        </p:blipFill>
        <p:spPr>
          <a:xfrm>
            <a:off x="9696450" y="209550"/>
            <a:ext cx="1733550" cy="390525"/>
          </a:xfrm>
          <a:prstGeom prst="rect">
            <a:avLst/>
          </a:prstGeom>
          <a:noFill/>
          <a:ln>
            <a:noFill/>
          </a:ln>
        </p:spPr>
      </p:pic>
    </p:spTree>
  </p:cSld>
  <p:clrMapOvr>
    <a:masterClrMapping/>
  </p:clrMapOvr>
</p:sld>
</file>

<file path=ppt/slides/slide16.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95" name=""/>
        <p:cNvGrpSpPr/>
        <p:nvPr/>
      </p:nvGrpSpPr>
      <p:grpSpPr>
        <a:xfrm>
          <a:off x="0" y="0"/>
          <a:ext cx="0" cy="0"/>
          <a:chOff x="0" y="0"/>
          <a:chExt cx="0" cy="0"/>
        </a:xfrm>
      </p:grpSpPr>
      <p:sp>
        <p:nvSpPr>
          <p:cNvPr id="96"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97" name="TextBox 2"/>
          <p:cNvSpPr txBox="1"/>
          <p:nvPr/>
        </p:nvSpPr>
        <p:spPr>
          <a:xfrm>
            <a:off x="713232" y="480949"/>
            <a:ext cx="9601200" cy="519430"/>
          </a:xfrm>
          <a:prstGeom prst="rect">
            <a:avLst/>
          </a:prstGeom>
          <a:noFill/>
        </p:spPr>
        <p:txBody>
          <a:bodyPr wrap="square" lIns="0" tIns="0" rIns="0" bIns="0" anchor="ctr">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lang="en-US" altLang="zh-CN" sz="2600" b="1" noProof="0" dirty="0" err="1">
                <a:ln>
                  <a:noFill/>
                </a:ln>
                <a:solidFill>
                  <a:prstClr val="black"/>
                </a:solidFill>
                <a:effectLst/>
                <a:uLnTx/>
                <a:uFillTx/>
                <a:latin typeface="微软雅黑" panose="020B0503020204020204" charset="-122"/>
                <a:ea typeface="微软雅黑" panose="020B0503020204020204" charset="-122"/>
                <a:sym typeface="Poppins"/>
              </a:rPr>
              <a:t>供需格局：供应约束叠加需求</a:t>
            </a:r>
            <a:r>
              <a:rPr lang="zh-CN" altLang="en-US" sz="2600" b="1" noProof="0" dirty="0">
                <a:ln>
                  <a:noFill/>
                </a:ln>
                <a:solidFill>
                  <a:prstClr val="black"/>
                </a:solidFill>
                <a:effectLst/>
                <a:uLnTx/>
                <a:uFillTx/>
                <a:latin typeface="微软雅黑" panose="020B0503020204020204" charset="-122"/>
                <a:ea typeface="微软雅黑" panose="020B0503020204020204" charset="-122"/>
                <a:sym typeface="Poppins"/>
              </a:rPr>
              <a:t>爆发</a:t>
            </a:r>
            <a:endParaRPr lang="zh-CN" altLang="en-US"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98"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99"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00"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101" name="TextBox 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14</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102" name="AutoShape 6"/>
          <p:cNvSpPr/>
          <p:nvPr/>
        </p:nvSpPr>
        <p:spPr>
          <a:xfrm>
            <a:off x="749300" y="1341755"/>
            <a:ext cx="5080000" cy="3556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20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供应端约束</a:t>
            </a:r>
            <a:endParaRPr kumimoji="0" 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pic>
        <p:nvPicPr>
          <p:cNvPr id="103" name="Picture 7"/>
          <p:cNvPicPr>
            <a:picLocks noChangeAspect="1"/>
          </p:cNvPicPr>
          <p:nvPr/>
        </p:nvPicPr>
        <p:blipFill>
          <a:blip>
            <a:extLst>
              <a:ext uri="{96DAC541-7B7A-43D3-8B79-37D633B846F1}">
                <asvg:svgBlip r:embed="rId2"/>
              </a:ext>
            </a:extLst>
          </a:blip>
          <a:stretch>
            <a:fillRect/>
          </a:stretch>
        </p:blipFill>
        <p:spPr>
          <a:xfrm>
            <a:off x="762000" y="1925320"/>
            <a:ext cx="304800" cy="304800"/>
          </a:xfrm>
          <a:prstGeom prst="rect">
            <a:avLst/>
          </a:prstGeom>
        </p:spPr>
      </p:pic>
      <p:sp>
        <p:nvSpPr>
          <p:cNvPr id="104" name="AutoShape 8"/>
          <p:cNvSpPr/>
          <p:nvPr/>
        </p:nvSpPr>
        <p:spPr>
          <a:xfrm>
            <a:off x="1162050" y="1930400"/>
            <a:ext cx="457200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投资不足，产能有限</a:t>
            </a:r>
            <a:endParaRPr kumimoji="0" 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05" name="AutoShape 9"/>
          <p:cNvSpPr/>
          <p:nvPr/>
        </p:nvSpPr>
        <p:spPr>
          <a:xfrm>
            <a:off x="1190625" y="2277745"/>
            <a:ext cx="4305412" cy="508000"/>
          </a:xfrm>
          <a:prstGeom prst="rect">
            <a:avLst/>
          </a:prstGeom>
          <a:noFill/>
          <a:ln w="12700" cap="flat" cmpd="sng">
            <a:noFill/>
            <a:prstDash val="solid"/>
            <a:round/>
          </a:ln>
        </p:spPr>
        <p:txBody>
          <a:bodyPr vert="horz" wrap="square" lIns="0" tIns="0" rIns="0" bIns="0" rtlCol="0" anchor="t" anchorCtr="0"/>
          <a:lstStyle/>
          <a:p>
            <a:pPr marL="0" marR="0" lvl="0" indent="0" algn="l" defTabSz="914400" rtl="0" eaLnBrk="1" fontAlgn="auto" latinLnBrk="0" hangingPunct="1">
              <a:lnSpc>
                <a:spcPct val="117000"/>
              </a:lnSpc>
              <a:spcBef>
                <a:spcPts val="0"/>
              </a:spcBef>
              <a:spcAft>
                <a:spcPts val="0"/>
              </a:spcAft>
              <a:buClrTx/>
              <a:buSzTx/>
              <a:buFontTx/>
              <a:buNone/>
              <a:defRPr/>
            </a:pPr>
            <a:r>
              <a:rPr kumimoji="0" lang="en-US" sz="1400" b="0" i="0" u="none" strike="noStrike" kern="1200" cap="none" spc="0" normalizeH="0" baseline="0" noProof="0" dirty="0" err="1">
                <a:ln>
                  <a:noFill/>
                </a:ln>
                <a:solidFill>
                  <a:prstClr val="black"/>
                </a:solidFill>
                <a:effectLst/>
                <a:uLnTx/>
                <a:uFillTx/>
                <a:latin typeface="微软雅黑" panose="020B0503020204020204" charset="-122"/>
                <a:ea typeface="微软雅黑" panose="020B0503020204020204" charset="-122"/>
                <a:cs typeface="Poppins"/>
                <a:sym typeface="Poppins"/>
              </a:rPr>
              <a:t>过去数年全球大宗商品投资严重不足，导致新增产能受限</a:t>
            </a:r>
            <a:r>
              <a:rPr kumimoji="0" lang="zh-CN" altLang="en-US" sz="1400" b="0" i="0" u="none" strike="noStrike" kern="1200" cap="none" spc="0" normalizeH="0" baseline="0" noProof="0" dirty="0" err="1">
                <a:ln>
                  <a:noFill/>
                </a:ln>
                <a:solidFill>
                  <a:prstClr val="black"/>
                </a:solidFill>
                <a:effectLst/>
                <a:uLnTx/>
                <a:uFillTx/>
                <a:latin typeface="微软雅黑" panose="020B0503020204020204" charset="-122"/>
                <a:ea typeface="微软雅黑" panose="020B0503020204020204" charset="-122"/>
                <a:cs typeface="Poppins"/>
                <a:sym typeface="Poppins"/>
              </a:rPr>
              <a:t>，尤其矿类品种投资到生产周期较长；</a:t>
            </a:r>
            <a:endParaRPr kumimoji="0" 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pic>
        <p:nvPicPr>
          <p:cNvPr id="106" name="Picture 10"/>
          <p:cNvPicPr>
            <a:picLocks noChangeAspect="1"/>
          </p:cNvPicPr>
          <p:nvPr/>
        </p:nvPicPr>
        <p:blipFill>
          <a:blip>
            <a:extLst>
              <a:ext uri="{96DAC541-7B7A-43D3-8B79-37D633B846F1}">
                <asvg:svgBlip r:embed="rId3"/>
              </a:ext>
            </a:extLst>
          </a:blip>
          <a:stretch>
            <a:fillRect/>
          </a:stretch>
        </p:blipFill>
        <p:spPr>
          <a:xfrm>
            <a:off x="762000" y="3000375"/>
            <a:ext cx="304800" cy="304800"/>
          </a:xfrm>
          <a:prstGeom prst="rect">
            <a:avLst/>
          </a:prstGeom>
        </p:spPr>
      </p:pic>
      <p:sp>
        <p:nvSpPr>
          <p:cNvPr id="107" name="AutoShape 11"/>
          <p:cNvSpPr/>
          <p:nvPr/>
        </p:nvSpPr>
        <p:spPr>
          <a:xfrm>
            <a:off x="1162050" y="2970530"/>
            <a:ext cx="457200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资源民族主义抬头</a:t>
            </a:r>
            <a:endParaRPr kumimoji="0" 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08" name="AutoShape 12"/>
          <p:cNvSpPr/>
          <p:nvPr/>
        </p:nvSpPr>
        <p:spPr>
          <a:xfrm>
            <a:off x="1190625" y="3366135"/>
            <a:ext cx="4572000" cy="508000"/>
          </a:xfrm>
          <a:prstGeom prst="rect">
            <a:avLst/>
          </a:prstGeom>
          <a:noFill/>
          <a:ln w="12700" cap="flat" cmpd="sng">
            <a:noFill/>
            <a:prstDash val="solid"/>
            <a:round/>
          </a:ln>
        </p:spPr>
        <p:txBody>
          <a:bodyPr vert="horz" wrap="square" lIns="0" tIns="0" rIns="0" bIns="0" rtlCol="0" anchor="t" anchorCtr="0"/>
          <a:lstStyle/>
          <a:p>
            <a:pPr marL="0" marR="0" lvl="0" indent="0" algn="l" defTabSz="914400" rtl="0" eaLnBrk="1" fontAlgn="auto" latinLnBrk="0" hangingPunct="1">
              <a:lnSpc>
                <a:spcPct val="117000"/>
              </a:lnSpc>
              <a:spcBef>
                <a:spcPts val="0"/>
              </a:spcBef>
              <a:spcAft>
                <a:spcPts val="0"/>
              </a:spcAft>
              <a:buClrTx/>
              <a:buSzTx/>
              <a:buFontTx/>
              <a:buNone/>
              <a:defRPr/>
            </a:pPr>
            <a:r>
              <a:rPr kumimoji="0" lang="en-US" sz="1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部分国家加强战略资源出口管制，</a:t>
            </a:r>
            <a:r>
              <a:rPr kumimoji="0" lang="zh-CN" altLang="en-US" sz="1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欠发达国家以资源换工业倒逼产业链本土化，短期</a:t>
            </a:r>
            <a:r>
              <a:rPr kumimoji="0" lang="en-US" sz="1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加剧供应紧张。</a:t>
            </a:r>
            <a:endParaRPr kumimoji="0" 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109" name="Connector 13"/>
          <p:cNvCxnSpPr/>
          <p:nvPr/>
        </p:nvCxnSpPr>
        <p:spPr>
          <a:xfrm rot="5382811">
            <a:off x="4572001" y="2787634"/>
            <a:ext cx="2540000" cy="12700"/>
          </a:xfrm>
          <a:prstGeom prst="straightConnector1">
            <a:avLst/>
          </a:prstGeom>
          <a:solidFill>
            <a:srgbClr val="DEE0E3">
              <a:alpha val="100000"/>
            </a:srgbClr>
          </a:solidFill>
          <a:ln w="12700" cap="flat" cmpd="sng">
            <a:solidFill>
              <a:schemeClr val="tx1">
                <a:alpha val="30000"/>
              </a:schemeClr>
            </a:solidFill>
            <a:prstDash val="dash"/>
            <a:round/>
            <a:headEnd type="none" w="med" len="med"/>
            <a:tailEnd type="none" w="med" len="med"/>
          </a:ln>
        </p:spPr>
      </p:cxnSp>
      <p:sp>
        <p:nvSpPr>
          <p:cNvPr id="110" name="AutoShape 14"/>
          <p:cNvSpPr/>
          <p:nvPr/>
        </p:nvSpPr>
        <p:spPr>
          <a:xfrm>
            <a:off x="6477000" y="1341755"/>
            <a:ext cx="5080000" cy="3556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20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需求端爆发</a:t>
            </a:r>
            <a:endParaRPr kumimoji="0" 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pic>
        <p:nvPicPr>
          <p:cNvPr id="111" name="Picture 15"/>
          <p:cNvPicPr>
            <a:picLocks noChangeAspect="1"/>
          </p:cNvPicPr>
          <p:nvPr/>
        </p:nvPicPr>
        <p:blipFill>
          <a:blip>
            <a:extLst>
              <a:ext uri="{96DAC541-7B7A-43D3-8B79-37D633B846F1}">
                <asvg:svgBlip r:embed="rId4"/>
              </a:ext>
            </a:extLst>
          </a:blip>
          <a:stretch>
            <a:fillRect/>
          </a:stretch>
        </p:blipFill>
        <p:spPr>
          <a:xfrm>
            <a:off x="6477000" y="1969135"/>
            <a:ext cx="304800" cy="304800"/>
          </a:xfrm>
          <a:prstGeom prst="rect">
            <a:avLst/>
          </a:prstGeom>
        </p:spPr>
      </p:pic>
      <p:sp>
        <p:nvSpPr>
          <p:cNvPr id="112" name="AutoShape 16"/>
          <p:cNvSpPr/>
          <p:nvPr/>
        </p:nvSpPr>
        <p:spPr>
          <a:xfrm>
            <a:off x="6934200" y="2001520"/>
            <a:ext cx="457200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AI算力中心建设</a:t>
            </a:r>
            <a:endParaRPr kumimoji="0" 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13" name="AutoShape 17"/>
          <p:cNvSpPr/>
          <p:nvPr/>
        </p:nvSpPr>
        <p:spPr>
          <a:xfrm>
            <a:off x="6934200" y="2310130"/>
            <a:ext cx="4572000" cy="508000"/>
          </a:xfrm>
          <a:prstGeom prst="rect">
            <a:avLst/>
          </a:prstGeom>
          <a:noFill/>
          <a:ln w="12700" cap="flat" cmpd="sng">
            <a:noFill/>
            <a:prstDash val="solid"/>
            <a:round/>
          </a:ln>
        </p:spPr>
        <p:txBody>
          <a:bodyPr vert="horz" wrap="square" lIns="0" tIns="0" rIns="0" bIns="0" rtlCol="0" anchor="t" anchorCtr="0"/>
          <a:lstStyle/>
          <a:p>
            <a:pPr marL="0" marR="0" lvl="0" indent="0" algn="l" defTabSz="914400" rtl="0" eaLnBrk="1" fontAlgn="auto" latinLnBrk="0" hangingPunct="1">
              <a:lnSpc>
                <a:spcPct val="117000"/>
              </a:lnSpc>
              <a:spcBef>
                <a:spcPts val="0"/>
              </a:spcBef>
              <a:spcAft>
                <a:spcPts val="0"/>
              </a:spcAft>
              <a:buClrTx/>
              <a:buSzTx/>
              <a:buFontTx/>
              <a:buNone/>
              <a:defRPr/>
            </a:pPr>
            <a:r>
              <a:rPr kumimoji="0" lang="en-US" sz="1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拉动铜、</a:t>
            </a:r>
            <a:r>
              <a:rPr kumimoji="0" lang="zh-CN" altLang="en-US" sz="1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锡</a:t>
            </a:r>
            <a:r>
              <a:rPr kumimoji="0" lang="en-US" sz="1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、白银等金属的大量需求。</a:t>
            </a:r>
            <a:endParaRPr kumimoji="0" 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pic>
        <p:nvPicPr>
          <p:cNvPr id="114" name="Picture 18"/>
          <p:cNvPicPr>
            <a:picLocks noChangeAspect="1"/>
          </p:cNvPicPr>
          <p:nvPr/>
        </p:nvPicPr>
        <p:blipFill>
          <a:blip>
            <a:extLst>
              <a:ext uri="{96DAC541-7B7A-43D3-8B79-37D633B846F1}">
                <asvg:svgBlip r:embed="rId5"/>
              </a:ext>
            </a:extLst>
          </a:blip>
          <a:stretch>
            <a:fillRect/>
          </a:stretch>
        </p:blipFill>
        <p:spPr>
          <a:xfrm>
            <a:off x="6477000" y="3000375"/>
            <a:ext cx="304800" cy="304800"/>
          </a:xfrm>
          <a:prstGeom prst="rect">
            <a:avLst/>
          </a:prstGeom>
        </p:spPr>
      </p:pic>
      <p:sp>
        <p:nvSpPr>
          <p:cNvPr id="115" name="AutoShape 19"/>
          <p:cNvSpPr/>
          <p:nvPr/>
        </p:nvSpPr>
        <p:spPr>
          <a:xfrm>
            <a:off x="6934200" y="3000375"/>
            <a:ext cx="457200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新能源与储能发展</a:t>
            </a:r>
            <a:endParaRPr kumimoji="0" 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16" name="AutoShape 20"/>
          <p:cNvSpPr/>
          <p:nvPr/>
        </p:nvSpPr>
        <p:spPr>
          <a:xfrm>
            <a:off x="6934200" y="3326765"/>
            <a:ext cx="4572000" cy="508000"/>
          </a:xfrm>
          <a:prstGeom prst="rect">
            <a:avLst/>
          </a:prstGeom>
          <a:noFill/>
          <a:ln w="12700" cap="flat" cmpd="sng">
            <a:noFill/>
            <a:prstDash val="solid"/>
            <a:round/>
          </a:ln>
        </p:spPr>
        <p:txBody>
          <a:bodyPr vert="horz" wrap="square" lIns="0" tIns="0" rIns="0" bIns="0" rtlCol="0" anchor="t" anchorCtr="0"/>
          <a:lstStyle/>
          <a:p>
            <a:pPr marL="0" marR="0" lvl="0" indent="0" algn="l" defTabSz="914400" rtl="0" eaLnBrk="1" fontAlgn="auto" latinLnBrk="0" hangingPunct="1">
              <a:lnSpc>
                <a:spcPct val="117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Poppins"/>
                <a:sym typeface="Poppins"/>
              </a:rPr>
              <a:t>显著</a:t>
            </a:r>
            <a:r>
              <a:rPr kumimoji="0" lang="en-US" sz="1400" b="0" i="0" u="none" strike="noStrike" kern="1200" cap="none" spc="0" normalizeH="0" baseline="0" noProof="0" dirty="0" err="1">
                <a:ln>
                  <a:noFill/>
                </a:ln>
                <a:solidFill>
                  <a:prstClr val="black"/>
                </a:solidFill>
                <a:effectLst/>
                <a:uLnTx/>
                <a:uFillTx/>
                <a:latin typeface="微软雅黑" panose="020B0503020204020204" charset="-122"/>
                <a:ea typeface="微软雅黑" panose="020B0503020204020204" charset="-122"/>
                <a:cs typeface="Poppins"/>
                <a:sym typeface="Poppins"/>
              </a:rPr>
              <a:t>推动锂、钴、镍等关键矿产需求</a:t>
            </a:r>
            <a:r>
              <a:rPr kumimoji="0" 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Poppins"/>
                <a:sym typeface="Poppins"/>
              </a:rPr>
              <a:t>。</a:t>
            </a:r>
            <a:endParaRPr kumimoji="0" 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117" name="Connector 21"/>
          <p:cNvCxnSpPr/>
          <p:nvPr/>
        </p:nvCxnSpPr>
        <p:spPr>
          <a:xfrm rot="-4092">
            <a:off x="749304" y="4017010"/>
            <a:ext cx="10668000" cy="12700"/>
          </a:xfrm>
          <a:prstGeom prst="straightConnector1">
            <a:avLst/>
          </a:prstGeom>
          <a:solidFill>
            <a:srgbClr val="DEE0E3">
              <a:alpha val="100000"/>
            </a:srgbClr>
          </a:solidFill>
          <a:ln w="12700" cap="flat" cmpd="sng">
            <a:solidFill>
              <a:schemeClr val="tx1">
                <a:alpha val="30000"/>
              </a:schemeClr>
            </a:solidFill>
            <a:prstDash val="solid"/>
            <a:round/>
            <a:headEnd type="none" w="med" len="med"/>
            <a:tailEnd type="none" w="med" len="med"/>
          </a:ln>
        </p:spPr>
      </p:cxnSp>
      <p:pic>
        <p:nvPicPr>
          <p:cNvPr id="118" name="图片 11"/>
          <p:cNvPicPr/>
          <p:nvPr/>
        </p:nvPicPr>
        <p:blipFill>
          <a:blip r:embed="rId6"/>
          <a:stretch>
            <a:fillRect/>
          </a:stretch>
        </p:blipFill>
        <p:spPr>
          <a:xfrm>
            <a:off x="6079490" y="4429125"/>
            <a:ext cx="5201285" cy="2397125"/>
          </a:xfrm>
          <a:prstGeom prst="rect">
            <a:avLst/>
          </a:prstGeom>
        </p:spPr>
      </p:pic>
      <p:pic>
        <p:nvPicPr>
          <p:cNvPr id="119" name="图片 12"/>
          <p:cNvPicPr>
            <a:picLocks noChangeAspect="1"/>
          </p:cNvPicPr>
          <p:nvPr/>
        </p:nvPicPr>
        <p:blipFill>
          <a:blip r:embed="rId7"/>
          <a:stretch>
            <a:fillRect/>
          </a:stretch>
        </p:blipFill>
        <p:spPr>
          <a:xfrm>
            <a:off x="1390650" y="4173220"/>
            <a:ext cx="4229735" cy="2609215"/>
          </a:xfrm>
          <a:prstGeom prst="rect">
            <a:avLst/>
          </a:prstGeom>
        </p:spPr>
      </p:pic>
      <p:pic>
        <p:nvPicPr>
          <p:cNvPr id="120" name="参考模板浅蓝背景弧线"/>
          <p:cNvPicPr/>
          <p:nvPr/>
        </p:nvPicPr>
        <p:blipFill>
          <a:blip r:embed="rId8"/>
          <a:stretch>
            <a:fillRect/>
          </a:stretch>
        </p:blipFill>
        <p:spPr>
          <a:xfrm>
            <a:off x="4457700" y="0"/>
            <a:ext cx="3143250" cy="495300"/>
          </a:xfrm>
          <a:prstGeom prst="rect">
            <a:avLst/>
          </a:prstGeom>
          <a:noFill/>
          <a:ln>
            <a:noFill/>
          </a:ln>
        </p:spPr>
      </p:pic>
      <p:pic>
        <p:nvPicPr>
          <p:cNvPr id="121" name="参考模板右上角标识"/>
          <p:cNvPicPr/>
          <p:nvPr/>
        </p:nvPicPr>
        <p:blipFill>
          <a:blip r:embed="rId9"/>
          <a:stretch>
            <a:fillRect/>
          </a:stretch>
        </p:blipFill>
        <p:spPr>
          <a:xfrm>
            <a:off x="9696450" y="209550"/>
            <a:ext cx="1733550" cy="390525"/>
          </a:xfrm>
          <a:prstGeom prst="rect">
            <a:avLst/>
          </a:prstGeom>
          <a:noFill/>
          <a:ln>
            <a:noFill/>
          </a:ln>
        </p:spPr>
      </p:pic>
    </p:spTree>
  </p:cSld>
  <p:clrMapOvr>
    <a:masterClrMapping/>
  </p:clrMapOvr>
</p:sld>
</file>

<file path=ppt/slides/slide17.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20" name=""/>
        <p:cNvGrpSpPr/>
        <p:nvPr/>
      </p:nvGrpSpPr>
      <p:grpSpPr>
        <a:xfrm>
          <a:off x="0" y="0"/>
          <a:ext cx="0" cy="0"/>
          <a:chOff x="0" y="0"/>
          <a:chExt cx="0" cy="0"/>
        </a:xfrm>
      </p:grpSpPr>
      <p:sp>
        <p:nvSpPr>
          <p:cNvPr id="121"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22" name="TextBox 2"/>
          <p:cNvSpPr txBox="1"/>
          <p:nvPr/>
        </p:nvSpPr>
        <p:spPr>
          <a:xfrm>
            <a:off x="713232" y="480949"/>
            <a:ext cx="9601200" cy="519430"/>
          </a:xfrm>
          <a:prstGeom prst="rect">
            <a:avLst/>
          </a:prstGeom>
          <a:noFill/>
        </p:spPr>
        <p:txBody>
          <a:bodyPr wrap="square" lIns="0" tIns="0" rIns="0" bIns="0" anchor="ctr">
            <a:spAutoFit/>
          </a:bodyPr>
          <a:lstStyle/>
          <a:p>
            <a:pPr eaLnBrk="1" fontAlgn="auto" hangingPunct="1">
              <a:lnSpc>
                <a:spcPct val="130000"/>
              </a:lnSpc>
              <a:spcBef>
                <a:spcPts val="0"/>
              </a:spcBef>
              <a:spcAft>
                <a:spcPts val="0"/>
              </a:spcAft>
              <a:defRPr/>
            </a:pPr>
            <a:r>
              <a:rPr lang="zh-CN" altLang="en-US" sz="2600" b="1" noProof="0" dirty="0" err="1">
                <a:ln>
                  <a:noFill/>
                </a:ln>
                <a:solidFill>
                  <a:prstClr val="black"/>
                </a:solidFill>
                <a:effectLst/>
                <a:uLnTx/>
                <a:uFillTx/>
                <a:latin typeface="微软雅黑" panose="020B0503020204020204" charset="-122"/>
                <a:ea typeface="微软雅黑" panose="020B0503020204020204" charset="-122"/>
                <a:sym typeface="Poppins"/>
              </a:rPr>
              <a:t>极端天气</a:t>
            </a:r>
            <a:r>
              <a:rPr lang="en-US" altLang="zh-CN" sz="2600" b="1" noProof="0" dirty="0" err="1">
                <a:ln>
                  <a:noFill/>
                </a:ln>
                <a:solidFill>
                  <a:prstClr val="black"/>
                </a:solidFill>
                <a:effectLst/>
                <a:uLnTx/>
                <a:uFillTx/>
                <a:latin typeface="微软雅黑" panose="020B0503020204020204" charset="-122"/>
                <a:ea typeface="微软雅黑" panose="020B0503020204020204" charset="-122"/>
                <a:sym typeface="Poppins"/>
              </a:rPr>
              <a:t>：</a:t>
            </a:r>
            <a:r>
              <a:rPr lang="zh-CN" sz="2600" b="1" noProof="0" dirty="0" err="1">
                <a:ln>
                  <a:noFill/>
                </a:ln>
                <a:solidFill>
                  <a:prstClr val="black"/>
                </a:solidFill>
                <a:effectLst/>
                <a:uLnTx/>
                <a:uFillTx/>
                <a:latin typeface="微软雅黑" panose="020B0503020204020204" charset="-122"/>
                <a:ea typeface="微软雅黑" panose="020B0503020204020204" charset="-122"/>
                <a:sym typeface="Poppins"/>
              </a:rPr>
              <a:t>超强厄尔尼诺</a:t>
            </a:r>
            <a:endParaRPr lang="zh-CN" altLang="en-US"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23"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24"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cxnSp>
        <p:nvCxnSpPr>
          <p:cNvPr id="125" name="Connector 3"/>
          <p:cNvCxnSpPr/>
          <p:nvPr/>
        </p:nvCxnSpPr>
        <p:spPr>
          <a:xfrm rot="-4092">
            <a:off x="698504" y="1050786"/>
            <a:ext cx="10668000" cy="12700"/>
          </a:xfrm>
          <a:prstGeom prst="straightConnector1">
            <a:avLst/>
          </a:prstGeom>
          <a:solidFill>
            <a:srgbClr val="DEE0E3">
              <a:alpha val="100000"/>
            </a:srgbClr>
          </a:solidFill>
          <a:ln w="12700" cap="flat" cmpd="sng">
            <a:solidFill>
              <a:srgbClr val="00BFFF">
                <a:alpha val="30000"/>
              </a:srgbClr>
            </a:solidFill>
            <a:prstDash val="solid"/>
            <a:round/>
            <a:headEnd type="none" w="med" len="med"/>
            <a:tailEnd type="none" w="med" len="med"/>
          </a:ln>
        </p:spPr>
      </p:cxnSp>
      <p:pic>
        <p:nvPicPr>
          <p:cNvPr id="126" name="图片 3"/>
          <p:cNvPicPr>
            <a:picLocks noChangeAspect="1"/>
          </p:cNvPicPr>
          <p:nvPr/>
        </p:nvPicPr>
        <p:blipFill>
          <a:blip r:embed="rId2"/>
          <a:stretch>
            <a:fillRect/>
          </a:stretch>
        </p:blipFill>
        <p:spPr>
          <a:xfrm>
            <a:off x="6654165" y="1069975"/>
            <a:ext cx="5090795" cy="2952115"/>
          </a:xfrm>
          <a:prstGeom prst="rect">
            <a:avLst/>
          </a:prstGeom>
        </p:spPr>
      </p:pic>
      <p:pic>
        <p:nvPicPr>
          <p:cNvPr id="127" name="Picture 7"/>
          <p:cNvPicPr>
            <a:picLocks noChangeAspect="1"/>
          </p:cNvPicPr>
          <p:nvPr/>
        </p:nvPicPr>
        <p:blipFill>
          <a:blip>
            <a:extLst>
              <a:ext uri="{96DAC541-7B7A-43D3-8B79-37D633B846F1}">
                <asvg:svgBlip r:embed="rId3"/>
              </a:ext>
            </a:extLst>
          </a:blip>
          <a:stretch>
            <a:fillRect/>
          </a:stretch>
        </p:blipFill>
        <p:spPr>
          <a:xfrm>
            <a:off x="600075" y="1772920"/>
            <a:ext cx="304800" cy="304800"/>
          </a:xfrm>
          <a:prstGeom prst="rect">
            <a:avLst/>
          </a:prstGeom>
        </p:spPr>
      </p:pic>
      <p:sp>
        <p:nvSpPr>
          <p:cNvPr id="128" name="AutoShape 8"/>
          <p:cNvSpPr/>
          <p:nvPr/>
        </p:nvSpPr>
        <p:spPr>
          <a:xfrm>
            <a:off x="975995" y="2263775"/>
            <a:ext cx="5106670" cy="1222375"/>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超强厄尔尼诺预期，农产供应存在较大变数</a:t>
            </a:r>
            <a:endParaRPr kumimoji="0" lang="zh-CN" alt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endParaRPr>
          </a:p>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r>
              <a:rPr kumimoji="0" lang="zh-CN" sz="14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Poppins"/>
              </a:rPr>
              <a:t>本轮厄尔尼诺有望达成超强级，有一定概率成为有观测记录依赖最强的厄尔尼诺气候事件；</a:t>
            </a:r>
            <a:endParaRPr kumimoji="0" lang="zh-CN" sz="14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Poppins"/>
            </a:endParaRPr>
          </a:p>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r>
              <a:rPr kumimoji="0" lang="zh-CN" sz="14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Poppins"/>
              </a:rPr>
              <a:t>对部分农作物重要产区东南亚、南美、澳大利亚等地区有概率造成较大天气影响；</a:t>
            </a:r>
            <a:endParaRPr kumimoji="0" lang="zh-CN" sz="14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Poppins"/>
            </a:endParaRPr>
          </a:p>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r>
              <a:rPr kumimoji="0" lang="zh-CN" sz="14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Poppins"/>
              </a:rPr>
              <a:t>国内天气异常，台风异常活跃，暴雨过程落区重叠、致灾性强；</a:t>
            </a:r>
            <a:endParaRPr kumimoji="0" lang="zh-CN" sz="14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Poppins"/>
            </a:endParaRPr>
          </a:p>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endParaRPr kumimoji="0" lang="en-US" altLang="zh-CN" sz="14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Poppins"/>
            </a:endParaRPr>
          </a:p>
        </p:txBody>
      </p:sp>
      <p:pic>
        <p:nvPicPr>
          <p:cNvPr id="129" name="Picture 10"/>
          <p:cNvPicPr>
            <a:picLocks noChangeAspect="1"/>
          </p:cNvPicPr>
          <p:nvPr/>
        </p:nvPicPr>
        <p:blipFill>
          <a:blip>
            <a:extLst>
              <a:ext uri="{96DAC541-7B7A-43D3-8B79-37D633B846F1}">
                <asvg:svgBlip r:embed="rId4"/>
              </a:ext>
            </a:extLst>
          </a:blip>
          <a:stretch>
            <a:fillRect/>
          </a:stretch>
        </p:blipFill>
        <p:spPr>
          <a:xfrm>
            <a:off x="600075" y="4181475"/>
            <a:ext cx="304800" cy="304800"/>
          </a:xfrm>
          <a:prstGeom prst="rect">
            <a:avLst/>
          </a:prstGeom>
        </p:spPr>
      </p:pic>
      <p:sp>
        <p:nvSpPr>
          <p:cNvPr id="130" name="AutoShape 11"/>
          <p:cNvSpPr/>
          <p:nvPr/>
        </p:nvSpPr>
        <p:spPr>
          <a:xfrm>
            <a:off x="975995" y="4429125"/>
            <a:ext cx="5106670" cy="139319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rPr>
              <a:t>地缘冲突推高能源与化肥成本，供给二次冲击</a:t>
            </a:r>
            <a:endParaRPr kumimoji="0" lang="zh-CN" alt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endParaRPr>
          </a:p>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r>
              <a:rPr kumimoji="0" lang="zh-CN" sz="14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Poppins"/>
              </a:rPr>
              <a:t>中东地缘冲突持续，海峡通航受阻推高农机燃油、化肥生产、国际海运成本，能源驱动的成本推升成为新的农产品价格驱动；</a:t>
            </a:r>
            <a:endParaRPr kumimoji="0" lang="zh-CN" sz="14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Poppins"/>
            </a:endParaRPr>
          </a:p>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r>
              <a:rPr kumimoji="0" lang="zh-CN" sz="14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Poppins"/>
              </a:rPr>
              <a:t>俄乌近期针对粮食出口港进行互袭，黑海粮食走廊的不确定性有明显提高；</a:t>
            </a:r>
            <a:endParaRPr kumimoji="0" lang="zh-CN" sz="14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Noto Sans SC" panose="020B0200000000000000" charset="-122"/>
              <a:sym typeface="Poppins"/>
            </a:endParaRPr>
          </a:p>
          <a:p>
            <a:pPr marL="285750"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l"/>
              <a:defRPr/>
            </a:pPr>
            <a:endParaRPr kumimoji="0" lang="zh-CN" altLang="en-US" sz="1600" b="1"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Poppins"/>
              <a:sym typeface="Poppins"/>
            </a:endParaRPr>
          </a:p>
        </p:txBody>
      </p:sp>
      <p:pic>
        <p:nvPicPr>
          <p:cNvPr id="131" name="图片 20"/>
          <p:cNvPicPr>
            <a:picLocks noChangeAspect="1"/>
          </p:cNvPicPr>
          <p:nvPr/>
        </p:nvPicPr>
        <p:blipFill>
          <a:blip r:embed="rId5"/>
          <a:stretch>
            <a:fillRect/>
          </a:stretch>
        </p:blipFill>
        <p:spPr>
          <a:xfrm>
            <a:off x="6654165" y="4022090"/>
            <a:ext cx="5090795" cy="2721610"/>
          </a:xfrm>
          <a:prstGeom prst="rect">
            <a:avLst/>
          </a:prstGeom>
        </p:spPr>
      </p:pic>
      <p:pic>
        <p:nvPicPr>
          <p:cNvPr id="132" name="参考模板浅蓝背景弧线"/>
          <p:cNvPicPr/>
          <p:nvPr/>
        </p:nvPicPr>
        <p:blipFill>
          <a:blip r:embed="rId6"/>
          <a:stretch>
            <a:fillRect/>
          </a:stretch>
        </p:blipFill>
        <p:spPr>
          <a:xfrm>
            <a:off x="4457700" y="0"/>
            <a:ext cx="3143250" cy="495300"/>
          </a:xfrm>
          <a:prstGeom prst="rect">
            <a:avLst/>
          </a:prstGeom>
          <a:noFill/>
          <a:ln>
            <a:noFill/>
          </a:ln>
        </p:spPr>
      </p:pic>
      <p:pic>
        <p:nvPicPr>
          <p:cNvPr id="133" name="参考模板右上角标识"/>
          <p:cNvPicPr/>
          <p:nvPr/>
        </p:nvPicPr>
        <p:blipFill>
          <a:blip r:embed="rId7"/>
          <a:stretch>
            <a:fillRect/>
          </a:stretch>
        </p:blipFill>
        <p:spPr>
          <a:xfrm>
            <a:off x="9696450" y="209550"/>
            <a:ext cx="1733550" cy="390525"/>
          </a:xfrm>
          <a:prstGeom prst="rect">
            <a:avLst/>
          </a:prstGeom>
          <a:noFill/>
          <a:ln>
            <a:noFill/>
          </a:ln>
        </p:spPr>
      </p:pic>
    </p:spTree>
  </p:cSld>
  <p:clrMapOvr>
    <a:masterClrMapping/>
  </p:clrMapOvr>
</p:sld>
</file>

<file path=ppt/slides/slide18.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32" name=""/>
        <p:cNvGrpSpPr/>
        <p:nvPr/>
      </p:nvGrpSpPr>
      <p:grpSpPr>
        <a:xfrm>
          <a:off x="0" y="0"/>
          <a:ext cx="0" cy="0"/>
          <a:chOff x="0" y="0"/>
          <a:chExt cx="0" cy="0"/>
        </a:xfrm>
      </p:grpSpPr>
      <p:sp>
        <p:nvSpPr>
          <p:cNvPr id="133"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34" name="TextBox 2"/>
          <p:cNvSpPr txBox="1"/>
          <p:nvPr/>
        </p:nvSpPr>
        <p:spPr>
          <a:xfrm>
            <a:off x="713232" y="480949"/>
            <a:ext cx="9601200" cy="519430"/>
          </a:xfrm>
          <a:prstGeom prst="rect">
            <a:avLst/>
          </a:prstGeom>
          <a:noFill/>
        </p:spPr>
        <p:txBody>
          <a:bodyPr wrap="square" lIns="0" tIns="0" rIns="0" bIns="0" anchor="ctr">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2600" b="1" noProof="0" dirty="0">
                <a:ln>
                  <a:noFill/>
                </a:ln>
                <a:solidFill>
                  <a:prstClr val="black"/>
                </a:solidFill>
                <a:effectLst/>
                <a:uLnTx/>
                <a:uFillTx/>
                <a:latin typeface="微软雅黑" panose="020B0503020204020204" charset="-122"/>
                <a:ea typeface="微软雅黑" panose="020B0503020204020204" charset="-122"/>
                <a:sym typeface="Poppins"/>
              </a:rPr>
              <a:t>与股票相比，当前大宗商品依然处于低位</a:t>
            </a:r>
            <a:endParaRPr lang="zh-CN" altLang="en-US"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35"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36"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37"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138" name="TextBox 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14</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grpSp>
        <p:nvGrpSpPr>
          <p:cNvPr id="139" name="组合 7"/>
          <p:cNvGrpSpPr/>
          <p:nvPr/>
        </p:nvGrpSpPr>
        <p:grpSpPr>
          <a:xfrm>
            <a:off x="542290" y="1341755"/>
            <a:ext cx="4900930" cy="4351655"/>
            <a:chOff x="734" y="1832"/>
            <a:chExt cx="9315" cy="8778"/>
          </a:xfrm>
        </p:grpSpPr>
        <p:pic>
          <p:nvPicPr>
            <p:cNvPr id="140" name="图片 2"/>
            <p:cNvPicPr/>
            <p:nvPr/>
          </p:nvPicPr>
          <p:blipFill>
            <a:blip r:embed="rId2"/>
            <a:stretch>
              <a:fillRect/>
            </a:stretch>
          </p:blipFill>
          <p:spPr>
            <a:xfrm>
              <a:off x="734" y="1832"/>
              <a:ext cx="9315" cy="8778"/>
            </a:xfrm>
            <a:prstGeom prst="rect">
              <a:avLst/>
            </a:prstGeom>
          </p:spPr>
        </p:pic>
        <p:sp>
          <p:nvSpPr>
            <p:cNvPr id="141" name="矩形 3"/>
            <p:cNvSpPr/>
            <p:nvPr/>
          </p:nvSpPr>
          <p:spPr>
            <a:xfrm>
              <a:off x="7882" y="7987"/>
              <a:ext cx="1740" cy="960"/>
            </a:xfrm>
            <a:prstGeom prst="rect">
              <a:avLst/>
            </a:prstGeom>
            <a:noFill/>
            <a:ln w="28575">
              <a:gradFill>
                <a:gsLst>
                  <a:gs pos="100000">
                    <a:srgbClr val="FF1744"/>
                  </a:gs>
                  <a:gs pos="0">
                    <a:srgbClr val="FF8A80"/>
                  </a:gs>
                </a:gsLst>
                <a:path path="circle">
                  <a:fillToRect l="100000" t="100000"/>
                </a:path>
                <a:tileRect r="-100000" b="-100000"/>
              </a:gradFill>
            </a:ln>
            <a:extLst>
              <a:ext uri="{909E8E84-426E-40DD-AFC4-6F175D3DCCD1}"/>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pic>
        <p:nvPicPr>
          <p:cNvPr id="142" name="Picture 7"/>
          <p:cNvPicPr>
            <a:picLocks noChangeAspect="1"/>
          </p:cNvPicPr>
          <p:nvPr/>
        </p:nvPicPr>
        <p:blipFill>
          <a:blip>
            <a:extLst>
              <a:ext uri="{96DAC541-7B7A-43D3-8B79-37D633B846F1}">
                <asvg:svgBlip r:embed="rId3"/>
              </a:ext>
            </a:extLst>
          </a:blip>
          <a:stretch>
            <a:fillRect/>
          </a:stretch>
        </p:blipFill>
        <p:spPr>
          <a:xfrm>
            <a:off x="5933258" y="2448190"/>
            <a:ext cx="304800" cy="304800"/>
          </a:xfrm>
          <a:prstGeom prst="rect">
            <a:avLst/>
          </a:prstGeom>
        </p:spPr>
      </p:pic>
      <p:sp>
        <p:nvSpPr>
          <p:cNvPr id="143" name="AutoShape 8"/>
          <p:cNvSpPr/>
          <p:nvPr/>
        </p:nvSpPr>
        <p:spPr>
          <a:xfrm>
            <a:off x="6275613" y="2535159"/>
            <a:ext cx="4953000" cy="364787"/>
          </a:xfrm>
          <a:prstGeom prst="rect">
            <a:avLst/>
          </a:prstGeom>
          <a:noFill/>
          <a:ln w="12700" cap="flat" cmpd="sng">
            <a:noFill/>
            <a:prstDash val="solid"/>
            <a:round/>
          </a:ln>
        </p:spPr>
        <p:txBody>
          <a:bodyPr vert="horz" wrap="square" lIns="0" tIns="0" rIns="0" bIns="0" rtlCol="0" anchor="ctr" anchorCtr="0"/>
          <a:lstStyle/>
          <a:p>
            <a:pPr lvl="0" eaLnBrk="1" fontAlgn="auto" hangingPunct="1">
              <a:lnSpc>
                <a:spcPct val="125000"/>
              </a:lnSpc>
              <a:spcBef>
                <a:spcPts val="0"/>
              </a:spcBef>
              <a:spcAft>
                <a:spcPts val="0"/>
              </a:spcAft>
              <a:defRPr/>
            </a:pPr>
            <a:r>
              <a:rPr lang="zh-CN" altLang="en-US" sz="1600" dirty="0">
                <a:solidFill>
                  <a:prstClr val="black"/>
                </a:solidFill>
                <a:latin typeface="微软雅黑" panose="020B0503020204020204" charset="-122"/>
                <a:ea typeface="微软雅黑" panose="020B0503020204020204" charset="-122"/>
                <a:cs typeface="Noto Sans SC" panose="020B0200000000000000" charset="-122"/>
                <a:sym typeface="Noto Sans SC" panose="020B0200000000000000" charset="-122"/>
              </a:rPr>
              <a:t>股票</a:t>
            </a:r>
            <a:r>
              <a:rPr lang="en-US" altLang="zh-CN" sz="1600" dirty="0">
                <a:solidFill>
                  <a:prstClr val="black"/>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600" dirty="0">
                <a:solidFill>
                  <a:prstClr val="black"/>
                </a:solidFill>
                <a:latin typeface="微软雅黑" panose="020B0503020204020204" charset="-122"/>
                <a:ea typeface="微软雅黑" panose="020B0503020204020204" charset="-122"/>
                <a:cs typeface="Noto Sans SC" panose="020B0200000000000000" charset="-122"/>
                <a:sym typeface="Noto Sans SC" panose="020B0200000000000000" charset="-122"/>
              </a:rPr>
              <a:t>商品价格比处于历史底部，但已经出现止跌盘整迹象存在向上修复的预期；</a:t>
            </a:r>
            <a:endParaRPr lang="en-US" altLang="zh-CN" sz="1200" dirty="0">
              <a:solidFill>
                <a:prstClr val="black"/>
              </a:solidFill>
              <a:latin typeface="微软雅黑" panose="020B0503020204020204" charset="-122"/>
              <a:ea typeface="微软雅黑" panose="020B0503020204020204" charset="-122"/>
            </a:endParaRPr>
          </a:p>
        </p:txBody>
      </p:sp>
      <p:pic>
        <p:nvPicPr>
          <p:cNvPr id="144" name="Picture 15"/>
          <p:cNvPicPr>
            <a:picLocks noChangeAspect="1"/>
          </p:cNvPicPr>
          <p:nvPr/>
        </p:nvPicPr>
        <p:blipFill>
          <a:blip>
            <a:extLst>
              <a:ext uri="{96DAC541-7B7A-43D3-8B79-37D633B846F1}">
                <asvg:svgBlip r:embed="rId4"/>
              </a:ext>
            </a:extLst>
          </a:blip>
          <a:stretch>
            <a:fillRect/>
          </a:stretch>
        </p:blipFill>
        <p:spPr>
          <a:xfrm>
            <a:off x="5934347" y="3940489"/>
            <a:ext cx="304800" cy="304800"/>
          </a:xfrm>
          <a:prstGeom prst="rect">
            <a:avLst/>
          </a:prstGeom>
        </p:spPr>
      </p:pic>
      <p:sp>
        <p:nvSpPr>
          <p:cNvPr id="145" name="矩形 16"/>
          <p:cNvSpPr/>
          <p:nvPr/>
        </p:nvSpPr>
        <p:spPr>
          <a:xfrm>
            <a:off x="6238058" y="3905420"/>
            <a:ext cx="4876800" cy="679738"/>
          </a:xfrm>
          <a:prstGeom prst="rect">
            <a:avLst/>
          </a:prstGeom>
        </p:spPr>
        <p:txBody>
          <a:bodyPr wrap="square">
            <a:spAutoFit/>
          </a:bodyPr>
          <a:lstStyle/>
          <a:p>
            <a:pPr lvl="0" eaLnBrk="1" fontAlgn="auto" hangingPunct="1">
              <a:lnSpc>
                <a:spcPct val="125000"/>
              </a:lnSpc>
              <a:spcBef>
                <a:spcPts val="0"/>
              </a:spcBef>
              <a:spcAft>
                <a:spcPts val="0"/>
              </a:spcAft>
              <a:defRPr/>
            </a:pPr>
            <a:r>
              <a:rPr lang="zh-CN" altLang="en-US" sz="1600" dirty="0">
                <a:solidFill>
                  <a:prstClr val="black"/>
                </a:solidFill>
                <a:latin typeface="微软雅黑" panose="020B0503020204020204" charset="-122"/>
                <a:ea typeface="微软雅黑" panose="020B0503020204020204" charset="-122"/>
                <a:cs typeface="Noto Sans SC" panose="020B0200000000000000" charset="-122"/>
                <a:sym typeface="Noto Sans SC" panose="020B0200000000000000" charset="-122"/>
              </a:rPr>
              <a:t>周期启动后，均为跨度较长的超长周期，而非持续周期较短的脉冲式行情；</a:t>
            </a:r>
            <a:endParaRPr lang="en-US" altLang="zh-CN" sz="1200" dirty="0">
              <a:solidFill>
                <a:prstClr val="black"/>
              </a:solidFill>
              <a:latin typeface="微软雅黑" panose="020B0503020204020204" charset="-122"/>
              <a:ea typeface="微软雅黑" panose="020B0503020204020204" charset="-122"/>
            </a:endParaRPr>
          </a:p>
        </p:txBody>
      </p:sp>
      <p:pic>
        <p:nvPicPr>
          <p:cNvPr id="146" name="参考模板浅蓝背景弧线"/>
          <p:cNvPicPr/>
          <p:nvPr/>
        </p:nvPicPr>
        <p:blipFill>
          <a:blip r:embed="rId5"/>
          <a:stretch>
            <a:fillRect/>
          </a:stretch>
        </p:blipFill>
        <p:spPr>
          <a:xfrm>
            <a:off x="4457700" y="0"/>
            <a:ext cx="3143250" cy="495300"/>
          </a:xfrm>
          <a:prstGeom prst="rect">
            <a:avLst/>
          </a:prstGeom>
          <a:noFill/>
          <a:ln>
            <a:noFill/>
          </a:ln>
        </p:spPr>
      </p:pic>
      <p:pic>
        <p:nvPicPr>
          <p:cNvPr id="147" name="参考模板右上角标识"/>
          <p:cNvPicPr/>
          <p:nvPr/>
        </p:nvPicPr>
        <p:blipFill>
          <a:blip r:embed="rId6"/>
          <a:stretch>
            <a:fillRect/>
          </a:stretch>
        </p:blipFill>
        <p:spPr>
          <a:xfrm>
            <a:off x="9696450" y="209550"/>
            <a:ext cx="1733550" cy="390525"/>
          </a:xfrm>
          <a:prstGeom prst="rect">
            <a:avLst/>
          </a:prstGeom>
          <a:noFill/>
          <a:ln>
            <a:noFill/>
          </a:ln>
        </p:spPr>
      </p:pic>
    </p:spTree>
  </p:cSld>
  <p:clrMapOvr>
    <a:masterClrMapping/>
  </p:clrMapOvr>
</p:sld>
</file>

<file path=ppt/slides/slide19.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46" name=""/>
        <p:cNvGrpSpPr/>
        <p:nvPr/>
      </p:nvGrpSpPr>
      <p:grpSpPr>
        <a:xfrm>
          <a:off x="0" y="0"/>
          <a:ext cx="0" cy="0"/>
          <a:chOff x="0" y="0"/>
          <a:chExt cx="0" cy="0"/>
        </a:xfrm>
      </p:grpSpPr>
      <p:sp>
        <p:nvSpPr>
          <p:cNvPr id="147"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48" name="TextBox 2"/>
          <p:cNvSpPr txBox="1"/>
          <p:nvPr/>
        </p:nvSpPr>
        <p:spPr>
          <a:xfrm>
            <a:off x="713232" y="480949"/>
            <a:ext cx="9601200" cy="519430"/>
          </a:xfrm>
          <a:prstGeom prst="rect">
            <a:avLst/>
          </a:prstGeom>
          <a:noFill/>
        </p:spPr>
        <p:txBody>
          <a:bodyPr wrap="square" lIns="0" tIns="0" rIns="0" bIns="0" anchor="ctr">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2600" b="1" dirty="0">
                <a:solidFill>
                  <a:prstClr val="black"/>
                </a:solidFill>
                <a:latin typeface="微软雅黑" panose="020B0503020204020204" charset="-122"/>
                <a:ea typeface="微软雅黑" panose="020B0503020204020204" charset="-122"/>
                <a:sym typeface="+mn-ea"/>
              </a:rPr>
              <a:t>明星品种带动下，市场活跃度持续位于高位</a:t>
            </a:r>
            <a:endParaRPr lang="zh-CN" altLang="en-US"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49"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50"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51"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152" name="TextBox 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14</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153" name="矩形 15"/>
          <p:cNvSpPr/>
          <p:nvPr/>
        </p:nvSpPr>
        <p:spPr>
          <a:xfrm>
            <a:off x="7727382" y="2388322"/>
            <a:ext cx="3810931" cy="744050"/>
          </a:xfrm>
          <a:prstGeom prst="rect">
            <a:avLst/>
          </a:prstGeom>
        </p:spPr>
        <p:txBody>
          <a:bodyPr wrap="square">
            <a:spAutoFit/>
          </a:bodyPr>
          <a:lstStyle/>
          <a:p>
            <a:pPr lvl="0" eaLnBrk="1" fontAlgn="auto" hangingPunct="1">
              <a:lnSpc>
                <a:spcPct val="150000"/>
              </a:lnSpc>
              <a:spcBef>
                <a:spcPts val="0"/>
              </a:spcBef>
              <a:spcAft>
                <a:spcPts val="0"/>
              </a:spcAft>
              <a:defRPr/>
            </a:pPr>
            <a:r>
              <a:rPr lang="zh-CN" altLang="en-US" sz="1500" dirty="0">
                <a:solidFill>
                  <a:prstClr val="black"/>
                </a:solidFill>
                <a:latin typeface="微软雅黑" panose="020B0503020204020204" charset="-122"/>
                <a:ea typeface="微软雅黑" panose="020B0503020204020204" charset="-122"/>
                <a:sym typeface="Noto Sans SC" panose="020B0200000000000000" charset="-122"/>
              </a:rPr>
              <a:t>期货市场成交金额自</a:t>
            </a:r>
            <a:r>
              <a:rPr lang="en-US" altLang="zh-CN" sz="1500" dirty="0">
                <a:solidFill>
                  <a:prstClr val="black"/>
                </a:solidFill>
                <a:latin typeface="微软雅黑" panose="020B0503020204020204" charset="-122"/>
                <a:ea typeface="微软雅黑" panose="020B0503020204020204" charset="-122"/>
                <a:sym typeface="Noto Sans SC" panose="020B0200000000000000" charset="-122"/>
              </a:rPr>
              <a:t>22</a:t>
            </a:r>
            <a:r>
              <a:rPr lang="zh-CN" altLang="en-US" sz="1500" dirty="0">
                <a:solidFill>
                  <a:prstClr val="black"/>
                </a:solidFill>
                <a:latin typeface="微软雅黑" panose="020B0503020204020204" charset="-122"/>
                <a:ea typeface="微软雅黑" panose="020B0503020204020204" charset="-122"/>
                <a:sym typeface="Noto Sans SC" panose="020B0200000000000000" charset="-122"/>
              </a:rPr>
              <a:t>年后逐年抬升，市场活跃度稳步上涨；</a:t>
            </a:r>
            <a:endParaRPr lang="en-US" altLang="zh-CN" sz="1500" dirty="0">
              <a:solidFill>
                <a:prstClr val="black"/>
              </a:solidFill>
              <a:latin typeface="微软雅黑" panose="020B0503020204020204" charset="-122"/>
              <a:ea typeface="微软雅黑" panose="020B0503020204020204" charset="-122"/>
              <a:sym typeface="Noto Sans SC" panose="020B0200000000000000" charset="-122"/>
            </a:endParaRPr>
          </a:p>
        </p:txBody>
      </p:sp>
      <p:pic>
        <p:nvPicPr>
          <p:cNvPr id="154" name="Picture 7"/>
          <p:cNvPicPr>
            <a:picLocks noChangeAspect="1"/>
          </p:cNvPicPr>
          <p:nvPr/>
        </p:nvPicPr>
        <p:blipFill>
          <a:blip>
            <a:extLst>
              <a:ext uri="{96DAC541-7B7A-43D3-8B79-37D633B846F1}">
                <asvg:svgBlip r:embed="rId2"/>
              </a:ext>
            </a:extLst>
          </a:blip>
          <a:stretch>
            <a:fillRect/>
          </a:stretch>
        </p:blipFill>
        <p:spPr>
          <a:xfrm>
            <a:off x="7371782" y="2480038"/>
            <a:ext cx="355600" cy="355600"/>
          </a:xfrm>
          <a:prstGeom prst="rect">
            <a:avLst/>
          </a:prstGeom>
        </p:spPr>
      </p:pic>
      <p:sp>
        <p:nvSpPr>
          <p:cNvPr id="155" name="矩形 5"/>
          <p:cNvSpPr/>
          <p:nvPr/>
        </p:nvSpPr>
        <p:spPr>
          <a:xfrm>
            <a:off x="7727381" y="3653527"/>
            <a:ext cx="3810931" cy="1090298"/>
          </a:xfrm>
          <a:prstGeom prst="rect">
            <a:avLst/>
          </a:prstGeom>
        </p:spPr>
        <p:txBody>
          <a:bodyPr wrap="square">
            <a:spAutoFit/>
          </a:bodyPr>
          <a:lstStyle/>
          <a:p>
            <a:pPr lvl="0" eaLnBrk="1" fontAlgn="auto" hangingPunct="1">
              <a:lnSpc>
                <a:spcPct val="150000"/>
              </a:lnSpc>
              <a:spcBef>
                <a:spcPts val="0"/>
              </a:spcBef>
              <a:spcAft>
                <a:spcPts val="0"/>
              </a:spcAft>
              <a:defRPr/>
            </a:pPr>
            <a:r>
              <a:rPr lang="en-US" altLang="zh-CN" sz="1500" dirty="0">
                <a:solidFill>
                  <a:prstClr val="black"/>
                </a:solidFill>
                <a:latin typeface="微软雅黑" panose="020B0503020204020204" charset="-122"/>
                <a:ea typeface="微软雅黑" panose="020B0503020204020204" charset="-122"/>
                <a:sym typeface="Noto Sans SC" panose="020B0200000000000000" charset="-122"/>
              </a:rPr>
              <a:t>25</a:t>
            </a:r>
            <a:r>
              <a:rPr lang="zh-CN" altLang="en-US" sz="1500" dirty="0">
                <a:solidFill>
                  <a:prstClr val="black"/>
                </a:solidFill>
                <a:latin typeface="微软雅黑" panose="020B0503020204020204" charset="-122"/>
                <a:ea typeface="微软雅黑" panose="020B0503020204020204" charset="-122"/>
                <a:sym typeface="Noto Sans SC" panose="020B0200000000000000" charset="-122"/>
              </a:rPr>
              <a:t>年在黄金、白银等明星贵金属品种带动下，期货市场关注度显著提高，新增资金介入推动行情幅度提升；</a:t>
            </a:r>
            <a:endParaRPr lang="en-US" altLang="zh-CN" sz="1500" dirty="0">
              <a:solidFill>
                <a:prstClr val="black"/>
              </a:solidFill>
              <a:latin typeface="微软雅黑" panose="020B0503020204020204" charset="-122"/>
              <a:ea typeface="微软雅黑" panose="020B0503020204020204" charset="-122"/>
              <a:sym typeface="Noto Sans SC" panose="020B0200000000000000" charset="-122"/>
            </a:endParaRPr>
          </a:p>
        </p:txBody>
      </p:sp>
      <p:pic>
        <p:nvPicPr>
          <p:cNvPr id="156" name="Picture 10"/>
          <p:cNvPicPr>
            <a:picLocks noChangeAspect="1"/>
          </p:cNvPicPr>
          <p:nvPr/>
        </p:nvPicPr>
        <p:blipFill>
          <a:blip>
            <a:extLst>
              <a:ext uri="{96DAC541-7B7A-43D3-8B79-37D633B846F1}">
                <asvg:svgBlip r:embed="rId3"/>
              </a:ext>
            </a:extLst>
          </a:blip>
          <a:stretch>
            <a:fillRect/>
          </a:stretch>
        </p:blipFill>
        <p:spPr>
          <a:xfrm>
            <a:off x="7371782" y="3715304"/>
            <a:ext cx="355600" cy="355600"/>
          </a:xfrm>
          <a:prstGeom prst="rect">
            <a:avLst/>
          </a:prstGeom>
        </p:spPr>
      </p:pic>
      <p:grpSp>
        <p:nvGrpSpPr>
          <p:cNvPr id="157" name="组合 9"/>
          <p:cNvGrpSpPr/>
          <p:nvPr/>
        </p:nvGrpSpPr>
        <p:grpSpPr>
          <a:xfrm>
            <a:off x="425450" y="1163320"/>
            <a:ext cx="6918325" cy="5469890"/>
            <a:chOff x="734" y="1653"/>
            <a:chExt cx="11468" cy="9146"/>
          </a:xfrm>
        </p:grpSpPr>
        <p:pic>
          <p:nvPicPr>
            <p:cNvPr id="158" name="图片 10"/>
            <p:cNvPicPr/>
            <p:nvPr/>
          </p:nvPicPr>
          <p:blipFill>
            <a:blip r:embed="rId4"/>
            <a:stretch>
              <a:fillRect/>
            </a:stretch>
          </p:blipFill>
          <p:spPr>
            <a:xfrm>
              <a:off x="734" y="1653"/>
              <a:ext cx="11468" cy="9147"/>
            </a:xfrm>
            <a:prstGeom prst="rect">
              <a:avLst/>
            </a:prstGeom>
          </p:spPr>
        </p:pic>
        <p:cxnSp>
          <p:nvCxnSpPr>
            <p:cNvPr id="159" name="直接箭头连接符 11"/>
            <p:cNvCxnSpPr/>
            <p:nvPr/>
          </p:nvCxnSpPr>
          <p:spPr>
            <a:xfrm flipV="1">
              <a:off x="6682" y="4102"/>
              <a:ext cx="3825" cy="2400"/>
            </a:xfrm>
            <a:prstGeom prst="straightConnector1">
              <a:avLst/>
            </a:prstGeom>
            <a:ln w="57150">
              <a:gradFill>
                <a:gsLst>
                  <a:gs pos="0">
                    <a:srgbClr val="FFDA32"/>
                  </a:gs>
                  <a:gs pos="100000">
                    <a:srgbClr val="EA2768"/>
                  </a:gs>
                </a:gsLst>
                <a:path path="circle">
                  <a:fillToRect r="100000" b="100000"/>
                </a:path>
                <a:tileRect l="-100000" t="-100000"/>
              </a:gradFill>
              <a:tailEnd type="arrow" w="med" len="med"/>
            </a:ln>
          </p:spPr>
          <p:style>
            <a:lnRef idx="3">
              <a:schemeClr val="accent1"/>
            </a:lnRef>
            <a:fillRef idx="0">
              <a:srgbClr val="FFFFFF"/>
            </a:fillRef>
            <a:effectRef idx="0">
              <a:srgbClr val="FFFFFF"/>
            </a:effectRef>
            <a:fontRef idx="minor">
              <a:schemeClr val="tx1"/>
            </a:fontRef>
          </p:style>
        </p:cxnSp>
      </p:grpSp>
      <p:pic>
        <p:nvPicPr>
          <p:cNvPr id="160" name="参考模板浅蓝背景弧线"/>
          <p:cNvPicPr/>
          <p:nvPr/>
        </p:nvPicPr>
        <p:blipFill>
          <a:blip r:embed="rId5"/>
          <a:stretch>
            <a:fillRect/>
          </a:stretch>
        </p:blipFill>
        <p:spPr>
          <a:xfrm>
            <a:off x="4457700" y="0"/>
            <a:ext cx="3143250" cy="495300"/>
          </a:xfrm>
          <a:prstGeom prst="rect">
            <a:avLst/>
          </a:prstGeom>
          <a:noFill/>
          <a:ln>
            <a:noFill/>
          </a:ln>
        </p:spPr>
      </p:pic>
      <p:pic>
        <p:nvPicPr>
          <p:cNvPr id="161" name="参考模板右上角标识"/>
          <p:cNvPicPr/>
          <p:nvPr/>
        </p:nvPicPr>
        <p:blipFill>
          <a:blip r:embed="rId6"/>
          <a:stretch>
            <a:fillRect/>
          </a:stretch>
        </p:blipFill>
        <p:spPr>
          <a:xfrm>
            <a:off x="9696450" y="209550"/>
            <a:ext cx="1733550" cy="390525"/>
          </a:xfrm>
          <a:prstGeom prst="rect">
            <a:avLst/>
          </a:prstGeom>
          <a:noFill/>
          <a:ln>
            <a:noFill/>
          </a:ln>
        </p:spPr>
      </p:pic>
    </p:spTree>
  </p:cSld>
  <p:clrMapOvr>
    <a:masterClrMapping/>
  </p:clrMapOvr>
</p:sld>
</file>

<file path=ppt/slides/slide20.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81" name=""/>
        <p:cNvGrpSpPr/>
        <p:nvPr/>
      </p:nvGrpSpPr>
      <p:grpSpPr>
        <a:xfrm>
          <a:off x="0" y="0"/>
          <a:ext cx="0" cy="0"/>
          <a:chOff x="0" y="0"/>
          <a:chExt cx="0" cy="0"/>
        </a:xfrm>
      </p:grpSpPr>
      <p:sp>
        <p:nvSpPr>
          <p:cNvPr id="182"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83" name="TextBox 2"/>
          <p:cNvSpPr txBox="1"/>
          <p:nvPr/>
        </p:nvSpPr>
        <p:spPr>
          <a:xfrm>
            <a:off x="713232" y="480949"/>
            <a:ext cx="9601200" cy="519430"/>
          </a:xfrm>
          <a:prstGeom prst="rect">
            <a:avLst/>
          </a:prstGeom>
          <a:noFill/>
        </p:spPr>
        <p:txBody>
          <a:bodyPr wrap="square" lIns="0" tIns="0" rIns="0" bIns="0" anchor="ctr">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2600" b="1" dirty="0">
                <a:solidFill>
                  <a:prstClr val="black"/>
                </a:solidFill>
                <a:latin typeface="微软雅黑" panose="020B0503020204020204" charset="-122"/>
                <a:ea typeface="微软雅黑" panose="020B0503020204020204" charset="-122"/>
                <a:sym typeface="+mn-ea"/>
              </a:rPr>
              <a:t>市场波动率脱离底部，</a:t>
            </a:r>
            <a:r>
              <a:rPr lang="en-US" altLang="zh-CN" sz="2600" b="1" dirty="0">
                <a:solidFill>
                  <a:prstClr val="black"/>
                </a:solidFill>
                <a:latin typeface="微软雅黑" panose="020B0503020204020204" charset="-122"/>
                <a:ea typeface="微软雅黑" panose="020B0503020204020204" charset="-122"/>
                <a:sym typeface="+mn-ea"/>
              </a:rPr>
              <a:t>CTA</a:t>
            </a:r>
            <a:r>
              <a:rPr lang="zh-CN" altLang="en-US" sz="2600" b="1" dirty="0">
                <a:solidFill>
                  <a:prstClr val="black"/>
                </a:solidFill>
                <a:latin typeface="微软雅黑" panose="020B0503020204020204" charset="-122"/>
                <a:ea typeface="微软雅黑" panose="020B0503020204020204" charset="-122"/>
                <a:sym typeface="+mn-ea"/>
              </a:rPr>
              <a:t>策略运行环境改善</a:t>
            </a:r>
            <a:endParaRPr lang="zh-CN" altLang="en-US"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84"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85"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86"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187" name="TextBox 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14</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188" name="图片 5"/>
          <p:cNvPicPr/>
          <p:nvPr/>
        </p:nvPicPr>
        <p:blipFill>
          <a:blip r:embed="rId2"/>
          <a:stretch>
            <a:fillRect/>
          </a:stretch>
        </p:blipFill>
        <p:spPr>
          <a:xfrm>
            <a:off x="532130" y="1098550"/>
            <a:ext cx="7285990" cy="5495925"/>
          </a:xfrm>
          <a:prstGeom prst="rect">
            <a:avLst/>
          </a:prstGeom>
        </p:spPr>
      </p:pic>
      <p:sp>
        <p:nvSpPr>
          <p:cNvPr id="189" name="矩形 15"/>
          <p:cNvSpPr/>
          <p:nvPr/>
        </p:nvSpPr>
        <p:spPr>
          <a:xfrm>
            <a:off x="8180772" y="2913467"/>
            <a:ext cx="3810931" cy="744050"/>
          </a:xfrm>
          <a:prstGeom prst="rect">
            <a:avLst/>
          </a:prstGeom>
        </p:spPr>
        <p:txBody>
          <a:bodyPr wrap="square">
            <a:spAutoFit/>
          </a:bodyPr>
          <a:lstStyle/>
          <a:p>
            <a:pPr lvl="0" eaLnBrk="1" fontAlgn="auto" hangingPunct="1">
              <a:lnSpc>
                <a:spcPct val="150000"/>
              </a:lnSpc>
              <a:spcBef>
                <a:spcPts val="0"/>
              </a:spcBef>
              <a:spcAft>
                <a:spcPts val="0"/>
              </a:spcAft>
              <a:defRPr/>
            </a:pPr>
            <a:r>
              <a:rPr lang="zh-CN" altLang="en-US" sz="1500" dirty="0">
                <a:solidFill>
                  <a:prstClr val="black"/>
                </a:solidFill>
                <a:latin typeface="微软雅黑" panose="020B0503020204020204" charset="-122"/>
                <a:ea typeface="微软雅黑" panose="020B0503020204020204" charset="-122"/>
                <a:sym typeface="Noto Sans SC" panose="020B0200000000000000" charset="-122"/>
              </a:rPr>
              <a:t>期货市场成交金额自</a:t>
            </a:r>
            <a:r>
              <a:rPr lang="en-US" altLang="zh-CN" sz="1500" dirty="0">
                <a:solidFill>
                  <a:prstClr val="black"/>
                </a:solidFill>
                <a:latin typeface="微软雅黑" panose="020B0503020204020204" charset="-122"/>
                <a:ea typeface="微软雅黑" panose="020B0503020204020204" charset="-122"/>
                <a:sym typeface="Noto Sans SC" panose="020B0200000000000000" charset="-122"/>
              </a:rPr>
              <a:t>22</a:t>
            </a:r>
            <a:r>
              <a:rPr lang="zh-CN" altLang="en-US" sz="1500" dirty="0">
                <a:solidFill>
                  <a:prstClr val="black"/>
                </a:solidFill>
                <a:latin typeface="微软雅黑" panose="020B0503020204020204" charset="-122"/>
                <a:ea typeface="微软雅黑" panose="020B0503020204020204" charset="-122"/>
                <a:sym typeface="Noto Sans SC" panose="020B0200000000000000" charset="-122"/>
              </a:rPr>
              <a:t>年后逐年抬升，市场活跃度稳步上涨；</a:t>
            </a:r>
            <a:endParaRPr lang="en-US" altLang="zh-CN" sz="1500" dirty="0">
              <a:solidFill>
                <a:prstClr val="black"/>
              </a:solidFill>
              <a:latin typeface="微软雅黑" panose="020B0503020204020204" charset="-122"/>
              <a:ea typeface="微软雅黑" panose="020B0503020204020204" charset="-122"/>
              <a:sym typeface="Noto Sans SC" panose="020B0200000000000000" charset="-122"/>
            </a:endParaRPr>
          </a:p>
        </p:txBody>
      </p:sp>
      <p:pic>
        <p:nvPicPr>
          <p:cNvPr id="190" name="Picture 7"/>
          <p:cNvPicPr>
            <a:picLocks noChangeAspect="1"/>
          </p:cNvPicPr>
          <p:nvPr/>
        </p:nvPicPr>
        <p:blipFill>
          <a:blip>
            <a:extLst>
              <a:ext uri="{96DAC541-7B7A-43D3-8B79-37D633B846F1}">
                <asvg:svgBlip r:embed="rId3"/>
              </a:ext>
            </a:extLst>
          </a:blip>
          <a:stretch>
            <a:fillRect/>
          </a:stretch>
        </p:blipFill>
        <p:spPr>
          <a:xfrm>
            <a:off x="7825172" y="3005183"/>
            <a:ext cx="355600" cy="355600"/>
          </a:xfrm>
          <a:prstGeom prst="rect">
            <a:avLst/>
          </a:prstGeom>
        </p:spPr>
      </p:pic>
      <p:sp>
        <p:nvSpPr>
          <p:cNvPr id="191" name="矩形 8"/>
          <p:cNvSpPr/>
          <p:nvPr/>
        </p:nvSpPr>
        <p:spPr>
          <a:xfrm>
            <a:off x="8180771" y="4178672"/>
            <a:ext cx="3810931" cy="783590"/>
          </a:xfrm>
          <a:prstGeom prst="rect">
            <a:avLst/>
          </a:prstGeom>
        </p:spPr>
        <p:txBody>
          <a:bodyPr wrap="square">
            <a:spAutoFit/>
          </a:bodyPr>
          <a:lstStyle/>
          <a:p>
            <a:pPr lvl="0" eaLnBrk="1" fontAlgn="auto" hangingPunct="1">
              <a:lnSpc>
                <a:spcPct val="150000"/>
              </a:lnSpc>
              <a:spcBef>
                <a:spcPts val="0"/>
              </a:spcBef>
              <a:spcAft>
                <a:spcPts val="0"/>
              </a:spcAft>
              <a:defRPr/>
            </a:pPr>
            <a:r>
              <a:rPr lang="zh-CN" altLang="en-US" sz="1500" dirty="0">
                <a:solidFill>
                  <a:prstClr val="black"/>
                </a:solidFill>
                <a:latin typeface="微软雅黑" panose="020B0503020204020204" charset="-122"/>
                <a:ea typeface="微软雅黑" panose="020B0503020204020204" charset="-122"/>
                <a:sym typeface="Noto Sans SC" panose="020B0200000000000000" charset="-122"/>
              </a:rPr>
              <a:t>市场波动率自</a:t>
            </a:r>
            <a:r>
              <a:rPr lang="en-US" altLang="zh-CN" sz="1500" dirty="0">
                <a:solidFill>
                  <a:prstClr val="black"/>
                </a:solidFill>
                <a:latin typeface="微软雅黑" panose="020B0503020204020204" charset="-122"/>
                <a:ea typeface="微软雅黑" panose="020B0503020204020204" charset="-122"/>
                <a:sym typeface="Noto Sans SC" panose="020B0200000000000000" charset="-122"/>
              </a:rPr>
              <a:t>2024</a:t>
            </a:r>
            <a:r>
              <a:rPr lang="zh-CN" altLang="en-US" sz="1500" dirty="0">
                <a:solidFill>
                  <a:prstClr val="black"/>
                </a:solidFill>
                <a:latin typeface="微软雅黑" panose="020B0503020204020204" charset="-122"/>
                <a:ea typeface="微软雅黑" panose="020B0503020204020204" charset="-122"/>
                <a:sym typeface="Noto Sans SC" panose="020B0200000000000000" charset="-122"/>
              </a:rPr>
              <a:t>年后逐步恢复，</a:t>
            </a:r>
            <a:r>
              <a:rPr lang="en-US" altLang="zh-CN" sz="1500" dirty="0">
                <a:solidFill>
                  <a:prstClr val="black"/>
                </a:solidFill>
                <a:latin typeface="微软雅黑" panose="020B0503020204020204" charset="-122"/>
                <a:ea typeface="微软雅黑" panose="020B0503020204020204" charset="-122"/>
                <a:sym typeface="Noto Sans SC" panose="020B0200000000000000" charset="-122"/>
              </a:rPr>
              <a:t>25</a:t>
            </a:r>
            <a:r>
              <a:rPr lang="zh-CN" altLang="en-US" sz="1500" dirty="0">
                <a:solidFill>
                  <a:prstClr val="black"/>
                </a:solidFill>
                <a:latin typeface="微软雅黑" panose="020B0503020204020204" charset="-122"/>
                <a:ea typeface="微软雅黑" panose="020B0503020204020204" charset="-122"/>
                <a:sym typeface="Noto Sans SC" panose="020B0200000000000000" charset="-122"/>
              </a:rPr>
              <a:t>、</a:t>
            </a:r>
            <a:r>
              <a:rPr lang="en-US" altLang="zh-CN" sz="1500" dirty="0">
                <a:solidFill>
                  <a:prstClr val="black"/>
                </a:solidFill>
                <a:latin typeface="微软雅黑" panose="020B0503020204020204" charset="-122"/>
                <a:ea typeface="微软雅黑" panose="020B0503020204020204" charset="-122"/>
                <a:sym typeface="Noto Sans SC" panose="020B0200000000000000" charset="-122"/>
              </a:rPr>
              <a:t>26</a:t>
            </a:r>
            <a:r>
              <a:rPr lang="zh-CN" altLang="en-US" sz="1500" dirty="0">
                <a:solidFill>
                  <a:prstClr val="black"/>
                </a:solidFill>
                <a:latin typeface="微软雅黑" panose="020B0503020204020204" charset="-122"/>
                <a:ea typeface="微软雅黑" panose="020B0503020204020204" charset="-122"/>
                <a:sym typeface="Noto Sans SC" panose="020B0200000000000000" charset="-122"/>
              </a:rPr>
              <a:t>年波动率显著提升；</a:t>
            </a:r>
            <a:endParaRPr lang="zh-CN" altLang="en-US" sz="1500" dirty="0">
              <a:solidFill>
                <a:prstClr val="black"/>
              </a:solidFill>
              <a:latin typeface="微软雅黑" panose="020B0503020204020204" charset="-122"/>
              <a:ea typeface="微软雅黑" panose="020B0503020204020204" charset="-122"/>
              <a:sym typeface="Noto Sans SC" panose="020B0200000000000000" charset="-122"/>
            </a:endParaRPr>
          </a:p>
        </p:txBody>
      </p:sp>
      <p:pic>
        <p:nvPicPr>
          <p:cNvPr id="192" name="Picture 10"/>
          <p:cNvPicPr>
            <a:picLocks noChangeAspect="1"/>
          </p:cNvPicPr>
          <p:nvPr/>
        </p:nvPicPr>
        <p:blipFill>
          <a:blip>
            <a:extLst>
              <a:ext uri="{96DAC541-7B7A-43D3-8B79-37D633B846F1}">
                <asvg:svgBlip r:embed="rId4"/>
              </a:ext>
            </a:extLst>
          </a:blip>
          <a:stretch>
            <a:fillRect/>
          </a:stretch>
        </p:blipFill>
        <p:spPr>
          <a:xfrm>
            <a:off x="7825172" y="4240449"/>
            <a:ext cx="355600" cy="355600"/>
          </a:xfrm>
          <a:prstGeom prst="rect">
            <a:avLst/>
          </a:prstGeom>
        </p:spPr>
      </p:pic>
      <p:pic>
        <p:nvPicPr>
          <p:cNvPr id="193" name="参考模板浅蓝背景弧线"/>
          <p:cNvPicPr/>
          <p:nvPr/>
        </p:nvPicPr>
        <p:blipFill>
          <a:blip r:embed="rId5"/>
          <a:stretch>
            <a:fillRect/>
          </a:stretch>
        </p:blipFill>
        <p:spPr>
          <a:xfrm>
            <a:off x="4457700" y="0"/>
            <a:ext cx="3143250" cy="495300"/>
          </a:xfrm>
          <a:prstGeom prst="rect">
            <a:avLst/>
          </a:prstGeom>
          <a:noFill/>
          <a:ln>
            <a:noFill/>
          </a:ln>
        </p:spPr>
      </p:pic>
      <p:pic>
        <p:nvPicPr>
          <p:cNvPr id="194" name="参考模板右上角标识"/>
          <p:cNvPicPr/>
          <p:nvPr/>
        </p:nvPicPr>
        <p:blipFill>
          <a:blip r:embed="rId6"/>
          <a:stretch>
            <a:fillRect/>
          </a:stretch>
        </p:blipFill>
        <p:spPr>
          <a:xfrm>
            <a:off x="9696450" y="209550"/>
            <a:ext cx="1733550" cy="390525"/>
          </a:xfrm>
          <a:prstGeom prst="rect">
            <a:avLst/>
          </a:prstGeom>
          <a:noFill/>
          <a:ln>
            <a:noFill/>
          </a:ln>
        </p:spPr>
      </p:pic>
    </p:spTree>
  </p:cSld>
  <p:clrMapOvr>
    <a:masterClrMapping/>
  </p:clrMapOvr>
</p:sld>
</file>

<file path=ppt/slides/slide21.xml><?xml version="1.0" encoding="utf-8"?>
<p:sld xmlns:p="http://schemas.openxmlformats.org/presentationml/2006/main" xmlns:r="http://schemas.openxmlformats.org/officeDocument/2006/relationships" xmlns:a="http://schemas.openxmlformats.org/drawingml/2006/main">
  <p:cSld>
    <p:spTree>
      <p:nvGrpSpPr>
        <p:cNvPr id="193" name=""/>
        <p:cNvGrpSpPr/>
        <p:nvPr/>
      </p:nvGrpSpPr>
      <p:grpSpPr>
        <a:xfrm>
          <a:off x="0" y="0"/>
          <a:ext cx="0" cy="0"/>
          <a:chOff x="0" y="0"/>
          <a:chExt cx="0" cy="0"/>
        </a:xfrm>
      </p:grpSpPr>
      <p:sp>
        <p:nvSpPr>
          <p:cNvPr id="194"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95" name="TextBox 2"/>
          <p:cNvSpPr txBox="1"/>
          <p:nvPr/>
        </p:nvSpPr>
        <p:spPr>
          <a:xfrm>
            <a:off x="713232" y="510794"/>
            <a:ext cx="9601200" cy="45974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大类资产配置比例 · </a:t>
            </a:r>
            <a:r>
              <a:rPr lang="zh-CN" sz="2600" b="1">
                <a:solidFill>
                  <a:srgbClr val="0070C0"/>
                </a:solidFill>
                <a:latin typeface="微软雅黑" panose="020B0503020204020204" charset="-122"/>
                <a:ea typeface="微软雅黑" panose="020B0503020204020204" charset="-122"/>
                <a:cs typeface="微软雅黑" panose="020B0503020204020204" charset="-122"/>
              </a:rPr>
              <a:t>磐岳</a:t>
            </a:r>
            <a:r>
              <a:rPr sz="2600" b="1">
                <a:solidFill>
                  <a:srgbClr val="0070C0"/>
                </a:solidFill>
                <a:latin typeface="微软雅黑" panose="020B0503020204020204" charset="-122"/>
                <a:ea typeface="微软雅黑" panose="020B0503020204020204" charset="-122"/>
                <a:cs typeface="微软雅黑" panose="020B0503020204020204" charset="-122"/>
              </a:rPr>
              <a:t>业绩展示</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196" name="TextBox 3"/>
          <p:cNvSpPr txBox="1"/>
          <p:nvPr/>
        </p:nvSpPr>
        <p:spPr>
          <a:xfrm>
            <a:off x="713232" y="1042415"/>
            <a:ext cx="10515600" cy="193675"/>
          </a:xfrm>
          <a:prstGeom prst="rect">
            <a:avLst/>
          </a:prstGeom>
          <a:noFill/>
        </p:spPr>
        <p:txBody>
          <a:bodyPr wrap="square" lIns="0" tIns="0" rIns="0" bIns="0" anchor="t">
            <a:spAutoFit/>
          </a:bodyPr>
          <a:lstStyle/>
          <a:p>
            <a:pPr algn="l">
              <a:lnSpc>
                <a:spcPct val="115000"/>
              </a:lnSpc>
              <a:spcAft>
                <a:spcPts val="600"/>
              </a:spcAft>
            </a:pPr>
            <a:r>
              <a:rPr sz="1100" b="0">
                <a:solidFill>
                  <a:srgbClr val="595959"/>
                </a:solidFill>
                <a:latin typeface="微软雅黑" panose="020B0503020204020204" charset="-122"/>
                <a:ea typeface="微软雅黑" panose="020B0503020204020204" charset="-122"/>
                <a:cs typeface="微软雅黑" panose="020B0503020204020204" charset="-122"/>
              </a:rPr>
              <a:t>曲线展示区间 资金规模 5000 万  ·  【待更新至 9/8】</a:t>
            </a:r>
            <a:endParaRPr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197"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98"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199" name="TextBox 6"/>
          <p:cNvSpPr txBox="1"/>
          <p:nvPr/>
        </p:nvSpPr>
        <p:spPr>
          <a:xfrm>
            <a:off x="502920" y="1645920"/>
            <a:ext cx="5394960" cy="457200"/>
          </a:xfrm>
          <a:prstGeom prst="rect">
            <a:avLst/>
          </a:prstGeom>
          <a:noFill/>
        </p:spPr>
        <p:txBody>
          <a:bodyPr wrap="square" lIns="0" tIns="0" rIns="0" bIns="0" anchor="t">
            <a:spAutoFit/>
          </a:bodyPr>
          <a:lstStyle/>
          <a:p>
            <a:pPr algn="l">
              <a:lnSpc>
                <a:spcPct val="115000"/>
              </a:lnSpc>
              <a:spcAft>
                <a:spcPts val="600"/>
              </a:spcAft>
            </a:pPr>
            <a:r>
              <a:rPr sz="1500" b="1">
                <a:solidFill>
                  <a:srgbClr val="0070C0"/>
                </a:solidFill>
                <a:latin typeface="微软雅黑" panose="020B0503020204020204" charset="-122"/>
                <a:ea typeface="微软雅黑" panose="020B0503020204020204" charset="-122"/>
                <a:cs typeface="微软雅黑" panose="020B0503020204020204" charset="-122"/>
              </a:rPr>
              <a:t>组合配置比例</a:t>
            </a:r>
            <a:endParaRPr sz="15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00" name="Rectangle 7"/>
          <p:cNvSpPr/>
          <p:nvPr/>
        </p:nvSpPr>
        <p:spPr>
          <a:xfrm>
            <a:off x="502920" y="2148840"/>
            <a:ext cx="3887470" cy="4572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01" name="Rectangle 8"/>
          <p:cNvSpPr/>
          <p:nvPr/>
        </p:nvSpPr>
        <p:spPr>
          <a:xfrm>
            <a:off x="4396105" y="2148205"/>
            <a:ext cx="560070" cy="45720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02" name="Rectangle 9"/>
          <p:cNvSpPr/>
          <p:nvPr/>
        </p:nvSpPr>
        <p:spPr>
          <a:xfrm>
            <a:off x="4962525" y="2148840"/>
            <a:ext cx="612140" cy="457200"/>
          </a:xfrm>
          <a:prstGeom prst="rect">
            <a:avLst/>
          </a:prstGeom>
          <a:solidFill>
            <a:srgbClr val="38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03" name="Rectangle 10"/>
          <p:cNvSpPr/>
          <p:nvPr/>
        </p:nvSpPr>
        <p:spPr>
          <a:xfrm>
            <a:off x="5574181" y="2148840"/>
            <a:ext cx="323697" cy="457200"/>
          </a:xfrm>
          <a:prstGeom prst="rect">
            <a:avLst/>
          </a:prstGeom>
          <a:solidFill>
            <a:srgbClr val="383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04" name="TextBox 11"/>
          <p:cNvSpPr txBox="1"/>
          <p:nvPr/>
        </p:nvSpPr>
        <p:spPr>
          <a:xfrm>
            <a:off x="502920" y="2697480"/>
            <a:ext cx="3236976" cy="193675"/>
          </a:xfrm>
          <a:prstGeom prst="rect">
            <a:avLst/>
          </a:prstGeom>
          <a:noFill/>
        </p:spPr>
        <p:txBody>
          <a:bodyPr wrap="square" lIns="0" tIns="0" rIns="0" bIns="0" anchor="t">
            <a:spAutoFit/>
          </a:bodyPr>
          <a:lstStyle/>
          <a:p>
            <a:pPr algn="ctr">
              <a:lnSpc>
                <a:spcPct val="115000"/>
              </a:lnSpc>
              <a:spcAft>
                <a:spcPts val="600"/>
              </a:spcAft>
            </a:pPr>
            <a:r>
              <a:rPr sz="1100" b="0">
                <a:solidFill>
                  <a:srgbClr val="383535"/>
                </a:solidFill>
                <a:latin typeface="微软雅黑" panose="020B0503020204020204" charset="-122"/>
                <a:ea typeface="微软雅黑" panose="020B0503020204020204" charset="-122"/>
                <a:cs typeface="微软雅黑" panose="020B0503020204020204" charset="-122"/>
              </a:rPr>
              <a:t>固收策略 </a:t>
            </a:r>
            <a:r>
              <a:rPr lang="en-US" sz="1100" b="0">
                <a:solidFill>
                  <a:srgbClr val="383535"/>
                </a:solidFill>
                <a:latin typeface="微软雅黑" panose="020B0503020204020204" charset="-122"/>
                <a:ea typeface="微软雅黑" panose="020B0503020204020204" charset="-122"/>
                <a:cs typeface="微软雅黑" panose="020B0503020204020204" charset="-122"/>
              </a:rPr>
              <a:t>82</a:t>
            </a:r>
            <a:r>
              <a:rPr sz="1100" b="0">
                <a:solidFill>
                  <a:srgbClr val="383535"/>
                </a:solidFill>
                <a:latin typeface="微软雅黑" panose="020B0503020204020204" charset="-122"/>
                <a:ea typeface="微软雅黑" panose="020B0503020204020204" charset="-122"/>
                <a:cs typeface="微软雅黑" panose="020B0503020204020204" charset="-122"/>
              </a:rPr>
              <a:t>%</a:t>
            </a:r>
            <a:endParaRPr sz="1100" b="0">
              <a:solidFill>
                <a:srgbClr val="383535"/>
              </a:solidFill>
              <a:latin typeface="微软雅黑" panose="020B0503020204020204" charset="-122"/>
              <a:ea typeface="微软雅黑" panose="020B0503020204020204" charset="-122"/>
              <a:cs typeface="微软雅黑" panose="020B0503020204020204" charset="-122"/>
            </a:endParaRPr>
          </a:p>
        </p:txBody>
      </p:sp>
      <p:sp>
        <p:nvSpPr>
          <p:cNvPr id="205" name="TextBox 12"/>
          <p:cNvSpPr txBox="1"/>
          <p:nvPr/>
        </p:nvSpPr>
        <p:spPr>
          <a:xfrm>
            <a:off x="3819906" y="2696845"/>
            <a:ext cx="1402689" cy="193675"/>
          </a:xfrm>
          <a:prstGeom prst="rect">
            <a:avLst/>
          </a:prstGeom>
          <a:noFill/>
        </p:spPr>
        <p:txBody>
          <a:bodyPr wrap="square" lIns="0" tIns="0" rIns="0" bIns="0" anchor="t">
            <a:spAutoFit/>
          </a:bodyPr>
          <a:lstStyle/>
          <a:p>
            <a:pPr algn="ctr">
              <a:lnSpc>
                <a:spcPct val="115000"/>
              </a:lnSpc>
              <a:spcAft>
                <a:spcPts val="600"/>
              </a:spcAft>
            </a:pPr>
            <a:r>
              <a:rPr sz="1100" b="0">
                <a:solidFill>
                  <a:srgbClr val="383535"/>
                </a:solidFill>
                <a:latin typeface="微软雅黑" panose="020B0503020204020204" charset="-122"/>
                <a:ea typeface="微软雅黑" panose="020B0503020204020204" charset="-122"/>
                <a:cs typeface="微软雅黑" panose="020B0503020204020204" charset="-122"/>
              </a:rPr>
              <a:t>CTA 策略 6%</a:t>
            </a:r>
            <a:endParaRPr sz="1100" b="0">
              <a:solidFill>
                <a:srgbClr val="383535"/>
              </a:solidFill>
              <a:latin typeface="微软雅黑" panose="020B0503020204020204" charset="-122"/>
              <a:ea typeface="微软雅黑" panose="020B0503020204020204" charset="-122"/>
              <a:cs typeface="微软雅黑" panose="020B0503020204020204" charset="-122"/>
            </a:endParaRPr>
          </a:p>
        </p:txBody>
      </p:sp>
      <p:sp>
        <p:nvSpPr>
          <p:cNvPr id="206" name="TextBox 14"/>
          <p:cNvSpPr txBox="1"/>
          <p:nvPr/>
        </p:nvSpPr>
        <p:spPr>
          <a:xfrm>
            <a:off x="5056505" y="2693670"/>
            <a:ext cx="915035" cy="193675"/>
          </a:xfrm>
          <a:prstGeom prst="rect">
            <a:avLst/>
          </a:prstGeom>
          <a:noFill/>
        </p:spPr>
        <p:txBody>
          <a:bodyPr wrap="square" lIns="0" tIns="0" rIns="0" bIns="0" anchor="t">
            <a:spAutoFit/>
          </a:bodyPr>
          <a:lstStyle/>
          <a:p>
            <a:pPr algn="ctr">
              <a:lnSpc>
                <a:spcPct val="115000"/>
              </a:lnSpc>
              <a:spcAft>
                <a:spcPts val="600"/>
              </a:spcAft>
            </a:pPr>
            <a:r>
              <a:rPr sz="1100" b="0">
                <a:solidFill>
                  <a:srgbClr val="383535"/>
                </a:solidFill>
                <a:latin typeface="微软雅黑" panose="020B0503020204020204" charset="-122"/>
                <a:ea typeface="微软雅黑" panose="020B0503020204020204" charset="-122"/>
                <a:cs typeface="微软雅黑" panose="020B0503020204020204" charset="-122"/>
              </a:rPr>
              <a:t>宏观策略 </a:t>
            </a:r>
            <a:r>
              <a:rPr lang="en-US" sz="1100" b="0">
                <a:solidFill>
                  <a:srgbClr val="383535"/>
                </a:solidFill>
                <a:latin typeface="微软雅黑" panose="020B0503020204020204" charset="-122"/>
                <a:ea typeface="微软雅黑" panose="020B0503020204020204" charset="-122"/>
                <a:cs typeface="微软雅黑" panose="020B0503020204020204" charset="-122"/>
              </a:rPr>
              <a:t>12</a:t>
            </a:r>
            <a:r>
              <a:rPr sz="1100" b="0">
                <a:solidFill>
                  <a:srgbClr val="383535"/>
                </a:solidFill>
                <a:latin typeface="微软雅黑" panose="020B0503020204020204" charset="-122"/>
                <a:ea typeface="微软雅黑" panose="020B0503020204020204" charset="-122"/>
                <a:cs typeface="微软雅黑" panose="020B0503020204020204" charset="-122"/>
              </a:rPr>
              <a:t>%</a:t>
            </a:r>
            <a:endParaRPr sz="1100" b="0">
              <a:solidFill>
                <a:srgbClr val="383535"/>
              </a:solidFill>
              <a:latin typeface="微软雅黑" panose="020B0503020204020204" charset="-122"/>
              <a:ea typeface="微软雅黑" panose="020B0503020204020204" charset="-122"/>
              <a:cs typeface="微软雅黑" panose="020B0503020204020204" charset="-122"/>
            </a:endParaRPr>
          </a:p>
        </p:txBody>
      </p:sp>
      <p:sp>
        <p:nvSpPr>
          <p:cNvPr id="207" name="TextBox 16"/>
          <p:cNvSpPr txBox="1"/>
          <p:nvPr/>
        </p:nvSpPr>
        <p:spPr>
          <a:xfrm>
            <a:off x="6309360" y="1645920"/>
            <a:ext cx="5394960" cy="457200"/>
          </a:xfrm>
          <a:prstGeom prst="rect">
            <a:avLst/>
          </a:prstGeom>
          <a:noFill/>
        </p:spPr>
        <p:txBody>
          <a:bodyPr wrap="square" lIns="0" tIns="0" rIns="0" bIns="0" anchor="t">
            <a:spAutoFit/>
          </a:bodyPr>
          <a:lstStyle/>
          <a:p>
            <a:pPr algn="l">
              <a:lnSpc>
                <a:spcPct val="115000"/>
              </a:lnSpc>
              <a:spcAft>
                <a:spcPts val="600"/>
              </a:spcAft>
            </a:pPr>
            <a:r>
              <a:rPr sz="1500" b="1">
                <a:solidFill>
                  <a:srgbClr val="0070C0"/>
                </a:solidFill>
                <a:latin typeface="微软雅黑" panose="020B0503020204020204" charset="-122"/>
                <a:ea typeface="微软雅黑" panose="020B0503020204020204" charset="-122"/>
                <a:cs typeface="微软雅黑" panose="020B0503020204020204" charset="-122"/>
              </a:rPr>
              <a:t>业绩展示（待更新）</a:t>
            </a:r>
            <a:endParaRPr sz="15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08" name="Rectangle 17"/>
          <p:cNvSpPr/>
          <p:nvPr/>
        </p:nvSpPr>
        <p:spPr>
          <a:xfrm>
            <a:off x="6309360" y="2148840"/>
            <a:ext cx="5394960" cy="914400"/>
          </a:xfrm>
          <a:prstGeom prst="rect">
            <a:avLst/>
          </a:prstGeom>
          <a:solidFill>
            <a:srgbClr val="FFFFFF"/>
          </a:solidFill>
          <a:ln w="9525">
            <a:solidFill>
              <a:srgbClr val="AED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09" name="TextBox 18"/>
          <p:cNvSpPr txBox="1"/>
          <p:nvPr/>
        </p:nvSpPr>
        <p:spPr>
          <a:xfrm>
            <a:off x="6515735" y="2470023"/>
            <a:ext cx="1645920" cy="548640"/>
          </a:xfrm>
          <a:prstGeom prst="rect">
            <a:avLst/>
          </a:prstGeom>
          <a:noFill/>
        </p:spPr>
        <p:txBody>
          <a:bodyPr wrap="square" lIns="0" tIns="0" rIns="0" bIns="0" anchor="t">
            <a:spAutoFit/>
          </a:bodyPr>
          <a:lstStyle/>
          <a:p>
            <a:pPr algn="l">
              <a:lnSpc>
                <a:spcPct val="115000"/>
              </a:lnSpc>
              <a:spcAft>
                <a:spcPts val="600"/>
              </a:spcAft>
            </a:pPr>
            <a:r>
              <a:rPr sz="1300" b="0">
                <a:solidFill>
                  <a:srgbClr val="383535"/>
                </a:solidFill>
                <a:latin typeface="微软雅黑" panose="020B0503020204020204" charset="-122"/>
                <a:ea typeface="微软雅黑" panose="020B0503020204020204" charset="-122"/>
                <a:cs typeface="微软雅黑" panose="020B0503020204020204" charset="-122"/>
              </a:rPr>
              <a:t>年化收益</a:t>
            </a:r>
            <a:endParaRPr sz="1300" b="0">
              <a:solidFill>
                <a:srgbClr val="383535"/>
              </a:solidFill>
              <a:latin typeface="微软雅黑" panose="020B0503020204020204" charset="-122"/>
              <a:ea typeface="微软雅黑" panose="020B0503020204020204" charset="-122"/>
              <a:cs typeface="微软雅黑" panose="020B0503020204020204" charset="-122"/>
            </a:endParaRPr>
          </a:p>
        </p:txBody>
      </p:sp>
      <p:sp>
        <p:nvSpPr>
          <p:cNvPr id="210" name="TextBox 19"/>
          <p:cNvSpPr txBox="1"/>
          <p:nvPr/>
        </p:nvSpPr>
        <p:spPr>
          <a:xfrm>
            <a:off x="8229600" y="2221992"/>
            <a:ext cx="3108960" cy="388620"/>
          </a:xfrm>
          <a:prstGeom prst="rect">
            <a:avLst/>
          </a:prstGeom>
          <a:noFill/>
        </p:spPr>
        <p:txBody>
          <a:bodyPr wrap="square" lIns="0" tIns="0" rIns="0" bIns="0" anchor="t">
            <a:spAutoFit/>
          </a:bodyPr>
          <a:lstStyle/>
          <a:p>
            <a:pPr algn="l">
              <a:lnSpc>
                <a:spcPct val="115000"/>
              </a:lnSpc>
              <a:spcAft>
                <a:spcPts val="600"/>
              </a:spcAft>
            </a:pPr>
            <a:r>
              <a:rPr lang="en-US" sz="2200" b="1">
                <a:solidFill>
                  <a:srgbClr val="0070C0"/>
                </a:solidFill>
                <a:latin typeface="微软雅黑" panose="020B0503020204020204" charset="-122"/>
                <a:ea typeface="微软雅黑" panose="020B0503020204020204" charset="-122"/>
                <a:cs typeface="微软雅黑" panose="020B0503020204020204" charset="-122"/>
              </a:rPr>
              <a:t>3</a:t>
            </a:r>
            <a:r>
              <a:rPr sz="2200" b="1">
                <a:solidFill>
                  <a:srgbClr val="0070C0"/>
                </a:solidFill>
                <a:latin typeface="微软雅黑" panose="020B0503020204020204" charset="-122"/>
                <a:ea typeface="微软雅黑" panose="020B0503020204020204" charset="-122"/>
                <a:cs typeface="微软雅黑" panose="020B0503020204020204" charset="-122"/>
              </a:rPr>
              <a:t>.</a:t>
            </a:r>
            <a:r>
              <a:rPr lang="en-US" sz="2200" b="1">
                <a:solidFill>
                  <a:srgbClr val="0070C0"/>
                </a:solidFill>
                <a:latin typeface="微软雅黑" panose="020B0503020204020204" charset="-122"/>
                <a:ea typeface="微软雅黑" panose="020B0503020204020204" charset="-122"/>
                <a:cs typeface="微软雅黑" panose="020B0503020204020204" charset="-122"/>
              </a:rPr>
              <a:t>11</a:t>
            </a:r>
            <a:r>
              <a:rPr sz="2200" b="1">
                <a:solidFill>
                  <a:srgbClr val="0070C0"/>
                </a:solidFill>
                <a:latin typeface="微软雅黑" panose="020B0503020204020204" charset="-122"/>
                <a:ea typeface="微软雅黑" panose="020B0503020204020204" charset="-122"/>
                <a:cs typeface="微软雅黑" panose="020B0503020204020204" charset="-122"/>
              </a:rPr>
              <a:t>%</a:t>
            </a:r>
            <a:endParaRPr sz="2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11" name="TextBox 20"/>
          <p:cNvSpPr txBox="1"/>
          <p:nvPr/>
        </p:nvSpPr>
        <p:spPr>
          <a:xfrm>
            <a:off x="8229600" y="2752344"/>
            <a:ext cx="3108960" cy="274320"/>
          </a:xfrm>
          <a:prstGeom prst="rect">
            <a:avLst/>
          </a:prstGeom>
          <a:noFill/>
        </p:spPr>
        <p:txBody>
          <a:bodyPr wrap="square" lIns="0" tIns="0" rIns="0" bIns="0" anchor="t">
            <a:spAutoFit/>
          </a:bodyPr>
          <a:lstStyle/>
          <a:p>
            <a:pPr algn="l">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业绩报酬后</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12" name="Rectangle 21"/>
          <p:cNvSpPr/>
          <p:nvPr/>
        </p:nvSpPr>
        <p:spPr>
          <a:xfrm>
            <a:off x="6309360" y="3200400"/>
            <a:ext cx="5394960" cy="914400"/>
          </a:xfrm>
          <a:prstGeom prst="rect">
            <a:avLst/>
          </a:prstGeom>
          <a:solidFill>
            <a:srgbClr val="FFFFFF"/>
          </a:solidFill>
          <a:ln w="9525">
            <a:solidFill>
              <a:srgbClr val="AED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13" name="TextBox 22"/>
          <p:cNvSpPr txBox="1"/>
          <p:nvPr/>
        </p:nvSpPr>
        <p:spPr>
          <a:xfrm>
            <a:off x="6537960" y="3471418"/>
            <a:ext cx="1645920" cy="548640"/>
          </a:xfrm>
          <a:prstGeom prst="rect">
            <a:avLst/>
          </a:prstGeom>
          <a:noFill/>
        </p:spPr>
        <p:txBody>
          <a:bodyPr wrap="square" lIns="0" tIns="0" rIns="0" bIns="0" anchor="t">
            <a:spAutoFit/>
          </a:bodyPr>
          <a:lstStyle/>
          <a:p>
            <a:pPr algn="l">
              <a:lnSpc>
                <a:spcPct val="115000"/>
              </a:lnSpc>
              <a:spcAft>
                <a:spcPts val="600"/>
              </a:spcAft>
            </a:pPr>
            <a:r>
              <a:rPr sz="1300" b="0">
                <a:solidFill>
                  <a:srgbClr val="383535"/>
                </a:solidFill>
                <a:latin typeface="微软雅黑" panose="020B0503020204020204" charset="-122"/>
                <a:ea typeface="微软雅黑" panose="020B0503020204020204" charset="-122"/>
                <a:cs typeface="微软雅黑" panose="020B0503020204020204" charset="-122"/>
              </a:rPr>
              <a:t>最大回撤</a:t>
            </a:r>
            <a:endParaRPr sz="1300" b="0">
              <a:solidFill>
                <a:srgbClr val="383535"/>
              </a:solidFill>
              <a:latin typeface="微软雅黑" panose="020B0503020204020204" charset="-122"/>
              <a:ea typeface="微软雅黑" panose="020B0503020204020204" charset="-122"/>
              <a:cs typeface="微软雅黑" panose="020B0503020204020204" charset="-122"/>
            </a:endParaRPr>
          </a:p>
        </p:txBody>
      </p:sp>
      <p:sp>
        <p:nvSpPr>
          <p:cNvPr id="214" name="TextBox 23"/>
          <p:cNvSpPr txBox="1"/>
          <p:nvPr/>
        </p:nvSpPr>
        <p:spPr>
          <a:xfrm>
            <a:off x="8229600" y="3273552"/>
            <a:ext cx="3108960" cy="388620"/>
          </a:xfrm>
          <a:prstGeom prst="rect">
            <a:avLst/>
          </a:prstGeom>
          <a:noFill/>
        </p:spPr>
        <p:txBody>
          <a:bodyPr wrap="square" lIns="0" tIns="0" rIns="0" bIns="0" anchor="t">
            <a:spAutoFit/>
          </a:bodyPr>
          <a:lstStyle/>
          <a:p>
            <a:pPr algn="l">
              <a:lnSpc>
                <a:spcPct val="115000"/>
              </a:lnSpc>
              <a:spcAft>
                <a:spcPts val="600"/>
              </a:spcAft>
            </a:pPr>
            <a:r>
              <a:rPr lang="en-US" sz="2200" b="1">
                <a:solidFill>
                  <a:srgbClr val="0070C0"/>
                </a:solidFill>
                <a:latin typeface="微软雅黑" panose="020B0503020204020204" charset="-122"/>
                <a:ea typeface="微软雅黑" panose="020B0503020204020204" charset="-122"/>
                <a:cs typeface="微软雅黑" panose="020B0503020204020204" charset="-122"/>
              </a:rPr>
              <a:t>-0.23</a:t>
            </a:r>
            <a:r>
              <a:rPr sz="2200" b="1">
                <a:solidFill>
                  <a:srgbClr val="0070C0"/>
                </a:solidFill>
                <a:latin typeface="微软雅黑" panose="020B0503020204020204" charset="-122"/>
                <a:ea typeface="微软雅黑" panose="020B0503020204020204" charset="-122"/>
                <a:cs typeface="微软雅黑" panose="020B0503020204020204" charset="-122"/>
              </a:rPr>
              <a:t>%</a:t>
            </a:r>
            <a:endParaRPr sz="2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15" name="TextBox 24"/>
          <p:cNvSpPr txBox="1"/>
          <p:nvPr/>
        </p:nvSpPr>
        <p:spPr>
          <a:xfrm>
            <a:off x="8229600" y="3803904"/>
            <a:ext cx="3108960" cy="274320"/>
          </a:xfrm>
          <a:prstGeom prst="rect">
            <a:avLst/>
          </a:prstGeom>
          <a:noFill/>
        </p:spPr>
        <p:txBody>
          <a:bodyPr wrap="square" lIns="0" tIns="0" rIns="0" bIns="0" anchor="t">
            <a:spAutoFit/>
          </a:bodyPr>
          <a:lstStyle/>
          <a:p>
            <a:pPr algn="l">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模拟组合</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16" name="Rectangle 25"/>
          <p:cNvSpPr/>
          <p:nvPr/>
        </p:nvSpPr>
        <p:spPr>
          <a:xfrm>
            <a:off x="6309360" y="4251960"/>
            <a:ext cx="5394960" cy="914400"/>
          </a:xfrm>
          <a:prstGeom prst="rect">
            <a:avLst/>
          </a:prstGeom>
          <a:solidFill>
            <a:srgbClr val="FFFFFF"/>
          </a:solidFill>
          <a:ln w="9525">
            <a:solidFill>
              <a:srgbClr val="AED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17" name="TextBox 26"/>
          <p:cNvSpPr txBox="1"/>
          <p:nvPr/>
        </p:nvSpPr>
        <p:spPr>
          <a:xfrm>
            <a:off x="6537960" y="4533138"/>
            <a:ext cx="1645920" cy="229235"/>
          </a:xfrm>
          <a:prstGeom prst="rect">
            <a:avLst/>
          </a:prstGeom>
          <a:noFill/>
        </p:spPr>
        <p:txBody>
          <a:bodyPr wrap="square" lIns="0" tIns="0" rIns="0" bIns="0" anchor="t">
            <a:spAutoFit/>
          </a:bodyPr>
          <a:lstStyle/>
          <a:p>
            <a:pPr algn="l">
              <a:lnSpc>
                <a:spcPct val="115000"/>
              </a:lnSpc>
              <a:spcAft>
                <a:spcPts val="600"/>
              </a:spcAft>
            </a:pPr>
            <a:r>
              <a:rPr lang="zh-CN" sz="1300" b="0">
                <a:solidFill>
                  <a:srgbClr val="383535"/>
                </a:solidFill>
                <a:latin typeface="微软雅黑" panose="020B0503020204020204" charset="-122"/>
                <a:ea typeface="微软雅黑" panose="020B0503020204020204" charset="-122"/>
                <a:cs typeface="微软雅黑" panose="020B0503020204020204" charset="-122"/>
              </a:rPr>
              <a:t>卡玛率</a:t>
            </a:r>
            <a:endParaRPr lang="zh-CN" sz="1300" b="0">
              <a:solidFill>
                <a:srgbClr val="383535"/>
              </a:solidFill>
              <a:latin typeface="微软雅黑" panose="020B0503020204020204" charset="-122"/>
              <a:ea typeface="微软雅黑" panose="020B0503020204020204" charset="-122"/>
              <a:cs typeface="微软雅黑" panose="020B0503020204020204" charset="-122"/>
            </a:endParaRPr>
          </a:p>
        </p:txBody>
      </p:sp>
      <p:sp>
        <p:nvSpPr>
          <p:cNvPr id="218" name="TextBox 27"/>
          <p:cNvSpPr txBox="1"/>
          <p:nvPr/>
        </p:nvSpPr>
        <p:spPr>
          <a:xfrm>
            <a:off x="8183880" y="4507992"/>
            <a:ext cx="3108960" cy="388620"/>
          </a:xfrm>
          <a:prstGeom prst="rect">
            <a:avLst/>
          </a:prstGeom>
          <a:noFill/>
        </p:spPr>
        <p:txBody>
          <a:bodyPr wrap="square" lIns="0" tIns="0" rIns="0" bIns="0" anchor="t">
            <a:spAutoFit/>
          </a:bodyPr>
          <a:lstStyle/>
          <a:p>
            <a:pPr algn="l">
              <a:lnSpc>
                <a:spcPct val="115000"/>
              </a:lnSpc>
              <a:spcAft>
                <a:spcPts val="600"/>
              </a:spcAft>
            </a:pPr>
            <a:r>
              <a:rPr lang="en-US" sz="2200" b="1">
                <a:solidFill>
                  <a:srgbClr val="0070C0"/>
                </a:solidFill>
                <a:latin typeface="微软雅黑" panose="020B0503020204020204" charset="-122"/>
                <a:ea typeface="微软雅黑" panose="020B0503020204020204" charset="-122"/>
                <a:cs typeface="微软雅黑" panose="020B0503020204020204" charset="-122"/>
              </a:rPr>
              <a:t>13.5</a:t>
            </a:r>
            <a:endParaRPr lang="en-US" sz="22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19" name="TextBox 30"/>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20" name="TextBox 31"/>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13</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21" name="TextBox 6"/>
          <p:cNvSpPr txBox="1"/>
          <p:nvPr/>
        </p:nvSpPr>
        <p:spPr>
          <a:xfrm>
            <a:off x="502920" y="3063240"/>
            <a:ext cx="5394960" cy="265430"/>
          </a:xfrm>
          <a:prstGeom prst="rect">
            <a:avLst/>
          </a:prstGeom>
          <a:noFill/>
        </p:spPr>
        <p:txBody>
          <a:bodyPr wrap="square" lIns="0" tIns="0" rIns="0" bIns="0" anchor="t">
            <a:spAutoFit/>
          </a:bodyPr>
          <a:lstStyle/>
          <a:p>
            <a:pPr algn="l">
              <a:lnSpc>
                <a:spcPct val="115000"/>
              </a:lnSpc>
              <a:spcAft>
                <a:spcPts val="600"/>
              </a:spcAft>
            </a:pPr>
            <a:r>
              <a:rPr lang="zh-CN" sz="1500" b="1">
                <a:solidFill>
                  <a:srgbClr val="0070C0"/>
                </a:solidFill>
                <a:latin typeface="微软雅黑" panose="020B0503020204020204" charset="-122"/>
                <a:ea typeface="微软雅黑" panose="020B0503020204020204" charset="-122"/>
                <a:cs typeface="微软雅黑" panose="020B0503020204020204" charset="-122"/>
              </a:rPr>
              <a:t>净值图</a:t>
            </a:r>
            <a:endParaRPr lang="en-US" altLang="zh-CN" sz="15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22" name="Rectangle 25"/>
          <p:cNvSpPr/>
          <p:nvPr/>
        </p:nvSpPr>
        <p:spPr>
          <a:xfrm>
            <a:off x="6309360" y="5340350"/>
            <a:ext cx="5394960" cy="914400"/>
          </a:xfrm>
          <a:prstGeom prst="rect">
            <a:avLst/>
          </a:prstGeom>
          <a:solidFill>
            <a:srgbClr val="FFFFFF"/>
          </a:solidFill>
          <a:ln w="9525">
            <a:solidFill>
              <a:srgbClr val="AED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23" name="TextBox 26"/>
          <p:cNvSpPr txBox="1"/>
          <p:nvPr/>
        </p:nvSpPr>
        <p:spPr>
          <a:xfrm>
            <a:off x="6537960" y="5627878"/>
            <a:ext cx="1645920" cy="548640"/>
          </a:xfrm>
          <a:prstGeom prst="rect">
            <a:avLst/>
          </a:prstGeom>
          <a:noFill/>
        </p:spPr>
        <p:txBody>
          <a:bodyPr wrap="square" lIns="0" tIns="0" rIns="0" bIns="0" anchor="t">
            <a:spAutoFit/>
          </a:bodyPr>
          <a:lstStyle/>
          <a:p>
            <a:pPr algn="l">
              <a:lnSpc>
                <a:spcPct val="115000"/>
              </a:lnSpc>
              <a:spcAft>
                <a:spcPts val="600"/>
              </a:spcAft>
            </a:pPr>
            <a:r>
              <a:rPr sz="1300" b="0">
                <a:solidFill>
                  <a:srgbClr val="383535"/>
                </a:solidFill>
                <a:latin typeface="微软雅黑" panose="020B0503020204020204" charset="-122"/>
                <a:ea typeface="微软雅黑" panose="020B0503020204020204" charset="-122"/>
                <a:cs typeface="微软雅黑" panose="020B0503020204020204" charset="-122"/>
              </a:rPr>
              <a:t>开始日期</a:t>
            </a:r>
            <a:endParaRPr sz="1300" b="0">
              <a:solidFill>
                <a:srgbClr val="383535"/>
              </a:solidFill>
              <a:latin typeface="微软雅黑" panose="020B0503020204020204" charset="-122"/>
              <a:ea typeface="微软雅黑" panose="020B0503020204020204" charset="-122"/>
              <a:cs typeface="微软雅黑" panose="020B0503020204020204" charset="-122"/>
            </a:endParaRPr>
          </a:p>
        </p:txBody>
      </p:sp>
      <p:sp>
        <p:nvSpPr>
          <p:cNvPr id="224" name="TextBox 27"/>
          <p:cNvSpPr txBox="1"/>
          <p:nvPr/>
        </p:nvSpPr>
        <p:spPr>
          <a:xfrm>
            <a:off x="8151495" y="5559552"/>
            <a:ext cx="3108960" cy="388620"/>
          </a:xfrm>
          <a:prstGeom prst="rect">
            <a:avLst/>
          </a:prstGeom>
          <a:noFill/>
        </p:spPr>
        <p:txBody>
          <a:bodyPr wrap="square" lIns="0" tIns="0" rIns="0" bIns="0" anchor="t">
            <a:spAutoFit/>
          </a:bodyPr>
          <a:lstStyle/>
          <a:p>
            <a:pPr algn="l">
              <a:lnSpc>
                <a:spcPct val="115000"/>
              </a:lnSpc>
              <a:spcAft>
                <a:spcPts val="600"/>
              </a:spcAft>
            </a:pPr>
            <a:r>
              <a:rPr sz="2200" b="1">
                <a:solidFill>
                  <a:srgbClr val="0070C0"/>
                </a:solidFill>
                <a:latin typeface="微软雅黑" panose="020B0503020204020204" charset="-122"/>
                <a:ea typeface="微软雅黑" panose="020B0503020204020204" charset="-122"/>
                <a:cs typeface="微软雅黑" panose="020B0503020204020204" charset="-122"/>
              </a:rPr>
              <a:t>202</a:t>
            </a:r>
            <a:r>
              <a:rPr lang="en-US" sz="2200" b="1">
                <a:solidFill>
                  <a:srgbClr val="0070C0"/>
                </a:solidFill>
                <a:latin typeface="微软雅黑" panose="020B0503020204020204" charset="-122"/>
                <a:ea typeface="微软雅黑" panose="020B0503020204020204" charset="-122"/>
                <a:cs typeface="微软雅黑" panose="020B0503020204020204" charset="-122"/>
              </a:rPr>
              <a:t>6</a:t>
            </a:r>
            <a:r>
              <a:rPr sz="2200" b="1">
                <a:solidFill>
                  <a:srgbClr val="0070C0"/>
                </a:solidFill>
                <a:latin typeface="微软雅黑" panose="020B0503020204020204" charset="-122"/>
                <a:ea typeface="微软雅黑" panose="020B0503020204020204" charset="-122"/>
                <a:cs typeface="微软雅黑" panose="020B0503020204020204" charset="-122"/>
              </a:rPr>
              <a:t>.</a:t>
            </a:r>
            <a:r>
              <a:rPr lang="en-US" sz="2200" b="1">
                <a:solidFill>
                  <a:srgbClr val="0070C0"/>
                </a:solidFill>
                <a:latin typeface="微软雅黑" panose="020B0503020204020204" charset="-122"/>
                <a:ea typeface="微软雅黑" panose="020B0503020204020204" charset="-122"/>
                <a:cs typeface="微软雅黑" panose="020B0503020204020204" charset="-122"/>
              </a:rPr>
              <a:t>6</a:t>
            </a:r>
            <a:r>
              <a:rPr sz="2200" b="1">
                <a:solidFill>
                  <a:srgbClr val="0070C0"/>
                </a:solidFill>
                <a:latin typeface="微软雅黑" panose="020B0503020204020204" charset="-122"/>
                <a:ea typeface="微软雅黑" panose="020B0503020204020204" charset="-122"/>
                <a:cs typeface="微软雅黑" panose="020B0503020204020204" charset="-122"/>
              </a:rPr>
              <a:t>.</a:t>
            </a:r>
            <a:r>
              <a:rPr lang="en-US" sz="2200" b="1">
                <a:solidFill>
                  <a:srgbClr val="0070C0"/>
                </a:solidFill>
                <a:latin typeface="微软雅黑" panose="020B0503020204020204" charset="-122"/>
                <a:ea typeface="微软雅黑" panose="020B0503020204020204" charset="-122"/>
                <a:cs typeface="微软雅黑" panose="020B0503020204020204" charset="-122"/>
              </a:rPr>
              <a:t>3</a:t>
            </a:r>
            <a:endParaRPr lang="en-US" sz="2200" b="1">
              <a:solidFill>
                <a:srgbClr val="0070C0"/>
              </a:solidFill>
              <a:latin typeface="微软雅黑" panose="020B0503020204020204" charset="-122"/>
              <a:ea typeface="微软雅黑" panose="020B0503020204020204" charset="-122"/>
              <a:cs typeface="微软雅黑" panose="020B0503020204020204" charset="-122"/>
            </a:endParaRPr>
          </a:p>
        </p:txBody>
      </p:sp>
      <p:pic>
        <p:nvPicPr>
          <p:cNvPr id="225" name="图片 0" descr="企业微信截图_17893755063448"/>
          <p:cNvPicPr>
            <a:picLocks noChangeAspect="1"/>
          </p:cNvPicPr>
          <p:nvPr/>
        </p:nvPicPr>
        <p:blipFill>
          <a:blip r:embed="rId2"/>
          <a:stretch>
            <a:fillRect/>
          </a:stretch>
        </p:blipFill>
        <p:spPr>
          <a:xfrm>
            <a:off x="431800" y="3466465"/>
            <a:ext cx="5587365" cy="2569845"/>
          </a:xfrm>
          <a:prstGeom prst="rect">
            <a:avLst/>
          </a:prstGeom>
        </p:spPr>
      </p:pic>
      <p:pic>
        <p:nvPicPr>
          <p:cNvPr id="226" name="参考模板浅蓝背景弧线"/>
          <p:cNvPicPr/>
          <p:nvPr/>
        </p:nvPicPr>
        <p:blipFill>
          <a:blip r:embed="rId3"/>
          <a:stretch>
            <a:fillRect/>
          </a:stretch>
        </p:blipFill>
        <p:spPr>
          <a:xfrm>
            <a:off x="4457700" y="0"/>
            <a:ext cx="3143250" cy="495300"/>
          </a:xfrm>
          <a:prstGeom prst="rect">
            <a:avLst/>
          </a:prstGeom>
          <a:noFill/>
          <a:ln>
            <a:noFill/>
          </a:ln>
        </p:spPr>
      </p:pic>
      <p:pic>
        <p:nvPicPr>
          <p:cNvPr id="227" name="参考模板右上角标识"/>
          <p:cNvPicPr/>
          <p:nvPr/>
        </p:nvPicPr>
        <p:blipFill>
          <a:blip r:embed="rId4"/>
          <a:stretch>
            <a:fillRect/>
          </a:stretch>
        </p:blipFill>
        <p:spPr>
          <a:xfrm>
            <a:off x="9696450" y="209550"/>
            <a:ext cx="1733550" cy="390525"/>
          </a:xfrm>
          <a:prstGeom prst="rect">
            <a:avLst/>
          </a:prstGeom>
          <a:noFill/>
          <a:ln>
            <a:noFill/>
          </a:ln>
        </p:spPr>
      </p:pic>
    </p:spTree>
  </p:cSld>
  <p:clrMapOvr>
    <a:masterClrMapping/>
  </p:clrMapOvr>
</p:sld>
</file>

<file path=ppt/slides/slide22.xml><?xml version="1.0" encoding="utf-8"?>
<p:sld xmlns:r="http://schemas.openxmlformats.org/officeDocument/2006/relationships" xmlns:p="http://schemas.openxmlformats.org/presentationml/2006/main" xmlns:a="http://schemas.openxmlformats.org/drawingml/2006/main" xmlns:a16="http://schemas.microsoft.com/office/drawing/2014/main" xmlns:mc="http://schemas.openxmlformats.org/markup-compatibility/2006" mc:Ignorable="a16">
  <p:cSld>
    <p:spTree>
      <p:nvGrpSpPr>
        <p:cNvPr id="226" name=""/>
        <p:cNvGrpSpPr/>
        <p:nvPr/>
      </p:nvGrpSpPr>
      <p:grpSpPr>
        <a:xfrm>
          <a:off x="0" y="0"/>
          <a:ext cx="0" cy="0"/>
          <a:chOff x="0" y="0"/>
          <a:chExt cx="0" cy="0"/>
        </a:xfrm>
      </p:grpSpPr>
      <p:sp>
        <p:nvSpPr>
          <p:cNvPr id="227"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28" name="TextBox 2"/>
          <p:cNvSpPr txBox="1"/>
          <p:nvPr/>
        </p:nvSpPr>
        <p:spPr>
          <a:xfrm>
            <a:off x="713232" y="510794"/>
            <a:ext cx="9601200" cy="459740"/>
          </a:xfrm>
          <a:prstGeom prst="rect">
            <a:avLst/>
          </a:prstGeom>
          <a:noFill/>
        </p:spPr>
        <p:txBody>
          <a:bodyPr wrap="square" lIns="0" tIns="0" rIns="0" bIns="0" anchor="ctr">
            <a:spAutoFit/>
          </a:bodyPr>
          <a:lstStyle/>
          <a:p>
            <a:pPr algn="l">
              <a:lnSpc>
                <a:spcPct val="115000"/>
              </a:lnSpc>
              <a:spcAft>
                <a:spcPts val="600"/>
              </a:spcAft>
            </a:pPr>
            <a:r>
              <a:rPr lang="en-US" sz="2600" b="1">
                <a:solidFill>
                  <a:srgbClr val="0070C0"/>
                </a:solidFill>
                <a:latin typeface="微软雅黑" panose="020B0503020204020204" charset="-122"/>
                <a:ea typeface="微软雅黑" panose="020B0503020204020204" charset="-122"/>
                <a:cs typeface="微软雅黑" panose="020B0503020204020204" charset="-122"/>
              </a:rPr>
              <a:t>FOF </a:t>
            </a:r>
            <a:r>
              <a:rPr lang="zh-CN" altLang="en-US" sz="2600" b="1">
                <a:solidFill>
                  <a:srgbClr val="0070C0"/>
                </a:solidFill>
                <a:latin typeface="微软雅黑" panose="020B0503020204020204" charset="-122"/>
                <a:ea typeface="微软雅黑" panose="020B0503020204020204" charset="-122"/>
                <a:cs typeface="微软雅黑" panose="020B0503020204020204" charset="-122"/>
              </a:rPr>
              <a:t>子</a:t>
            </a:r>
            <a:r>
              <a:rPr sz="2600" b="1">
                <a:solidFill>
                  <a:srgbClr val="0070C0"/>
                </a:solidFill>
                <a:latin typeface="微软雅黑" panose="020B0503020204020204" charset="-122"/>
                <a:ea typeface="微软雅黑" panose="020B0503020204020204" charset="-122"/>
                <a:cs typeface="微软雅黑" panose="020B0503020204020204" charset="-122"/>
              </a:rPr>
              <a:t>产品</a:t>
            </a:r>
            <a:r>
              <a:rPr lang="zh-CN" sz="2600" b="1">
                <a:solidFill>
                  <a:srgbClr val="0070C0"/>
                </a:solidFill>
                <a:latin typeface="微软雅黑" panose="020B0503020204020204" charset="-122"/>
                <a:ea typeface="微软雅黑" panose="020B0503020204020204" charset="-122"/>
                <a:cs typeface="微软雅黑" panose="020B0503020204020204" charset="-122"/>
              </a:rPr>
              <a:t>业绩展示</a:t>
            </a:r>
            <a:endParaRPr lang="zh-CN"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29"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30"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graphicFrame>
        <p:nvGraphicFramePr>
          <p:cNvPr id="231" name="Table 6"/>
          <p:cNvGraphicFramePr>
            <a:graphicFrameLocks noGrp="1"/>
          </p:cNvGraphicFramePr>
          <p:nvPr/>
        </p:nvGraphicFramePr>
        <p:xfrm>
          <a:off x="521335" y="1746885"/>
          <a:ext cx="11183112" cy="4480560"/>
        </p:xfrm>
        <a:graphic>
          <a:graphicData uri="http://schemas.openxmlformats.org/drawingml/2006/table">
            <a:tbl>
              <a:tblPr firstRow="1" bandRow="1">
                <a:tableStyleId>{5C22544A-7EE6-4342-B048-85BDC9FD1C3A}</a:tableStyleId>
              </a:tblPr>
              <a:tblGrid>
                <a:gridCol w="640080">
                  <a:extLst>
                    <a:ext uri="{9D8B030D-6E8A-4147-A177-3AD203B41FA5}">
                      <a16:colId val="1"/>
                    </a:ext>
                  </a:extLst>
                </a:gridCol>
                <a:gridCol w="3566160">
                  <a:extLst>
                    <a:ext uri="{9D8B030D-6E8A-4147-A177-3AD203B41FA5}">
                      <a16:colId val="2"/>
                    </a:ext>
                  </a:extLst>
                </a:gridCol>
                <a:gridCol w="1828800">
                  <a:extLst>
                    <a:ext uri="{9D8B030D-6E8A-4147-A177-3AD203B41FA5}">
                      <a16:colId val="3"/>
                    </a:ext>
                  </a:extLst>
                </a:gridCol>
                <a:gridCol w="1463040">
                  <a:extLst>
                    <a:ext uri="{9D8B030D-6E8A-4147-A177-3AD203B41FA5}">
                      <a16:colId val="4"/>
                    </a:ext>
                  </a:extLst>
                </a:gridCol>
                <a:gridCol w="1463040">
                  <a:extLst>
                    <a:ext uri="{9D8B030D-6E8A-4147-A177-3AD203B41FA5}">
                      <a16:colId val="5"/>
                    </a:ext>
                  </a:extLst>
                </a:gridCol>
                <a:gridCol w="2221992">
                  <a:extLst>
                    <a:ext uri="{9D8B030D-6E8A-4147-A177-3AD203B41FA5}">
                      <a16:colId val="6"/>
                    </a:ext>
                  </a:extLst>
                </a:gridCol>
              </a:tblGrid>
              <a:tr h="320040">
                <a:tc>
                  <a:txBody>
                    <a:bodyPr wrap="square"/>
                    <a:lstStyle/>
                    <a:p>
                      <a:pPr algn="r"/>
                      <a:r>
                        <a:rPr sz="1050" b="1">
                          <a:solidFill>
                            <a:srgbClr val="FFFFFF"/>
                          </a:solidFill>
                          <a:latin typeface="微软雅黑" panose="020B0503020204020204" charset="-122"/>
                          <a:ea typeface="微软雅黑" panose="020B0503020204020204" charset="-122"/>
                          <a:cs typeface="微软雅黑" panose="020B0503020204020204" charset="-122"/>
                        </a:rPr>
                        <a:t>序号</a:t>
                      </a:r>
                      <a:endParaRPr sz="1050" b="1">
                        <a:solidFill>
                          <a:srgbClr val="FFFFFF"/>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0070C0"/>
                    </a:solidFill>
                  </a:tcPr>
                </a:tc>
                <a:tc>
                  <a:txBody>
                    <a:bodyPr wrap="square"/>
                    <a:lstStyle/>
                    <a:p>
                      <a:pPr algn="l"/>
                      <a:r>
                        <a:rPr sz="1050" b="1">
                          <a:solidFill>
                            <a:srgbClr val="FFFFFF"/>
                          </a:solidFill>
                          <a:latin typeface="微软雅黑" panose="020B0503020204020204" charset="-122"/>
                          <a:ea typeface="微软雅黑" panose="020B0503020204020204" charset="-122"/>
                          <a:cs typeface="微软雅黑" panose="020B0503020204020204" charset="-122"/>
                        </a:rPr>
                        <a:t>基金名称</a:t>
                      </a:r>
                      <a:endParaRPr sz="1050" b="1">
                        <a:solidFill>
                          <a:srgbClr val="FFFFFF"/>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0070C0"/>
                    </a:solidFill>
                  </a:tcPr>
                </a:tc>
                <a:tc>
                  <a:txBody>
                    <a:bodyPr wrap="square"/>
                    <a:lstStyle/>
                    <a:p>
                      <a:pPr algn="r"/>
                      <a:r>
                        <a:rPr sz="1050" b="1">
                          <a:solidFill>
                            <a:srgbClr val="FFFFFF"/>
                          </a:solidFill>
                          <a:latin typeface="微软雅黑" panose="020B0503020204020204" charset="-122"/>
                          <a:ea typeface="微软雅黑" panose="020B0503020204020204" charset="-122"/>
                          <a:cs typeface="微软雅黑" panose="020B0503020204020204" charset="-122"/>
                        </a:rPr>
                        <a:t>区间收益(元)</a:t>
                      </a:r>
                      <a:endParaRPr sz="1050" b="1">
                        <a:solidFill>
                          <a:srgbClr val="FFFFFF"/>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0070C0"/>
                    </a:solidFill>
                  </a:tcPr>
                </a:tc>
                <a:tc>
                  <a:txBody>
                    <a:bodyPr wrap="square"/>
                    <a:lstStyle/>
                    <a:p>
                      <a:pPr algn="r"/>
                      <a:r>
                        <a:rPr sz="1050" b="1">
                          <a:solidFill>
                            <a:srgbClr val="FFFFFF"/>
                          </a:solidFill>
                          <a:latin typeface="微软雅黑" panose="020B0503020204020204" charset="-122"/>
                          <a:ea typeface="微软雅黑" panose="020B0503020204020204" charset="-122"/>
                          <a:cs typeface="微软雅黑" panose="020B0503020204020204" charset="-122"/>
                        </a:rPr>
                        <a:t>区间收益率</a:t>
                      </a:r>
                      <a:endParaRPr sz="1050" b="1">
                        <a:solidFill>
                          <a:srgbClr val="FFFFFF"/>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0070C0"/>
                    </a:solidFill>
                  </a:tcPr>
                </a:tc>
                <a:tc>
                  <a:txBody>
                    <a:bodyPr wrap="square"/>
                    <a:lstStyle/>
                    <a:p>
                      <a:pPr algn="r"/>
                      <a:r>
                        <a:rPr sz="1050" b="1">
                          <a:solidFill>
                            <a:srgbClr val="FFFFFF"/>
                          </a:solidFill>
                          <a:latin typeface="微软雅黑" panose="020B0503020204020204" charset="-122"/>
                          <a:ea typeface="微软雅黑" panose="020B0503020204020204" charset="-122"/>
                          <a:cs typeface="微软雅黑" panose="020B0503020204020204" charset="-122"/>
                        </a:rPr>
                        <a:t>区间年化</a:t>
                      </a:r>
                      <a:endParaRPr sz="1050" b="1">
                        <a:solidFill>
                          <a:srgbClr val="FFFFFF"/>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0070C0"/>
                    </a:solidFill>
                  </a:tcPr>
                </a:tc>
                <a:tc>
                  <a:txBody>
                    <a:bodyPr wrap="square"/>
                    <a:lstStyle/>
                    <a:p>
                      <a:pPr algn="r"/>
                      <a:r>
                        <a:rPr sz="1050" b="1">
                          <a:solidFill>
                            <a:srgbClr val="FFFFFF"/>
                          </a:solidFill>
                          <a:latin typeface="微软雅黑" panose="020B0503020204020204" charset="-122"/>
                          <a:ea typeface="微软雅黑" panose="020B0503020204020204" charset="-122"/>
                          <a:cs typeface="微软雅黑" panose="020B0503020204020204" charset="-122"/>
                        </a:rPr>
                        <a:t>持有成本(元)</a:t>
                      </a:r>
                      <a:endParaRPr sz="1050" b="1">
                        <a:solidFill>
                          <a:srgbClr val="FFFFFF"/>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0070C0"/>
                    </a:solidFill>
                  </a:tcPr>
                </a:tc>
                <a:extLst>
                  <a:ext uri="{0D108BD9-81ED-4DB2-BD59-A6C34878D82A}">
                    <a16:rowId val="1"/>
                  </a:ext>
                </a:extLst>
              </a:tr>
              <a:tr h="320040">
                <a:tc>
                  <a:txBody>
                    <a:bodyPr wrap="square"/>
                    <a:lstStyle/>
                    <a:p>
                      <a:pPr algn="r"/>
                      <a:r>
                        <a:rPr sz="1050" b="0">
                          <a:solidFill>
                            <a:srgbClr val="1F2933"/>
                          </a:solidFill>
                          <a:latin typeface="微软雅黑" panose="020B0503020204020204" charset="-122"/>
                          <a:ea typeface="微软雅黑" panose="020B0503020204020204" charset="-122"/>
                          <a:cs typeface="微软雅黑" panose="020B0503020204020204" charset="-122"/>
                        </a:rPr>
                        <a:t>1</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l"/>
                      <a:r>
                        <a:rPr lang="zh-CN" sz="1050" b="1">
                          <a:solidFill>
                            <a:srgbClr val="1F2933"/>
                          </a:solidFill>
                          <a:latin typeface="微软雅黑" panose="020B0503020204020204" charset="-122"/>
                          <a:ea typeface="微软雅黑" panose="020B0503020204020204" charset="-122"/>
                          <a:cs typeface="微软雅黑" panose="020B0503020204020204" charset="-122"/>
                        </a:rPr>
                        <a:t>中柏秋分</a:t>
                      </a:r>
                      <a:endParaRPr lang="zh-CN" sz="1050" b="1">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194,798.69</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5.57%</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23.90%</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3,500,000</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extLst>
                  <a:ext uri="{0D108BD9-81ED-4DB2-BD59-A6C34878D82A}">
                    <a16:rowId val="2"/>
                  </a:ext>
                </a:extLst>
              </a:tr>
              <a:tr h="320040">
                <a:tc>
                  <a:txBody>
                    <a:bodyPr wrap="square"/>
                    <a:lstStyle/>
                    <a:p>
                      <a:pPr algn="r"/>
                      <a:r>
                        <a:rPr sz="1050" b="0">
                          <a:solidFill>
                            <a:srgbClr val="1F2933"/>
                          </a:solidFill>
                          <a:latin typeface="微软雅黑" panose="020B0503020204020204" charset="-122"/>
                          <a:ea typeface="微软雅黑" panose="020B0503020204020204" charset="-122"/>
                          <a:cs typeface="微软雅黑" panose="020B0503020204020204" charset="-122"/>
                        </a:rPr>
                        <a:t>2</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l"/>
                      <a:r>
                        <a:rPr lang="zh-CN" altLang="en-US" sz="1050" b="1">
                          <a:solidFill>
                            <a:srgbClr val="1F2933"/>
                          </a:solidFill>
                          <a:latin typeface="微软雅黑" panose="020B0503020204020204" charset="-122"/>
                          <a:ea typeface="微软雅黑" panose="020B0503020204020204" charset="-122"/>
                          <a:cs typeface="微软雅黑" panose="020B0503020204020204" charset="-122"/>
                        </a:rPr>
                        <a:t>傲创盈丰</a:t>
                      </a:r>
                      <a:endParaRPr lang="zh-CN" altLang="en-US" sz="1050" b="1">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69,546.12</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0.70%</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2.37%</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10,000,000</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extLst>
                  <a:ext uri="{0D108BD9-81ED-4DB2-BD59-A6C34878D82A}">
                    <a16:rowId val="3"/>
                  </a:ext>
                </a:extLst>
              </a:tr>
              <a:tr h="320040">
                <a:tc>
                  <a:txBody>
                    <a:bodyPr wrap="square"/>
                    <a:lstStyle/>
                    <a:p>
                      <a:pPr algn="r"/>
                      <a:r>
                        <a:rPr sz="1050" b="0">
                          <a:solidFill>
                            <a:srgbClr val="1F2933"/>
                          </a:solidFill>
                          <a:latin typeface="微软雅黑" panose="020B0503020204020204" charset="-122"/>
                          <a:ea typeface="微软雅黑" panose="020B0503020204020204" charset="-122"/>
                          <a:cs typeface="微软雅黑" panose="020B0503020204020204" charset="-122"/>
                        </a:rPr>
                        <a:t>3</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l"/>
                      <a:r>
                        <a:rPr lang="zh-CN" sz="1050" b="1">
                          <a:solidFill>
                            <a:srgbClr val="1F2933"/>
                          </a:solidFill>
                          <a:latin typeface="微软雅黑" panose="020B0503020204020204" charset="-122"/>
                          <a:ea typeface="微软雅黑" panose="020B0503020204020204" charset="-122"/>
                          <a:cs typeface="微软雅黑" panose="020B0503020204020204" charset="-122"/>
                        </a:rPr>
                        <a:t>锐联多元化旗舰六号</a:t>
                      </a:r>
                      <a:r>
                        <a:rPr lang="en-US" altLang="zh-CN" sz="1050" b="1">
                          <a:solidFill>
                            <a:srgbClr val="1F2933"/>
                          </a:solidFill>
                          <a:latin typeface="微软雅黑" panose="020B0503020204020204" charset="-122"/>
                          <a:ea typeface="微软雅黑" panose="020B0503020204020204" charset="-122"/>
                          <a:cs typeface="微软雅黑" panose="020B0503020204020204" charset="-122"/>
                        </a:rPr>
                        <a:t>B</a:t>
                      </a:r>
                      <a:r>
                        <a:rPr lang="zh-CN" altLang="en-US" sz="1050" b="1">
                          <a:solidFill>
                            <a:srgbClr val="1F2933"/>
                          </a:solidFill>
                          <a:latin typeface="微软雅黑" panose="020B0503020204020204" charset="-122"/>
                          <a:ea typeface="微软雅黑" panose="020B0503020204020204" charset="-122"/>
                          <a:cs typeface="微软雅黑" panose="020B0503020204020204" charset="-122"/>
                        </a:rPr>
                        <a:t>类</a:t>
                      </a:r>
                      <a:endParaRPr lang="zh-CN" altLang="en-US" sz="1050" b="1">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16,251.97</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0.46%</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1.77%</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a:solidFill>
                            <a:srgbClr val="1F2933"/>
                          </a:solidFill>
                          <a:latin typeface="微软雅黑" panose="020B0503020204020204" charset="-122"/>
                          <a:ea typeface="微软雅黑" panose="020B0503020204020204" charset="-122"/>
                          <a:cs typeface="微软雅黑" panose="020B0503020204020204" charset="-122"/>
                          <a:sym typeface="微软雅黑" panose="020B0503020204020204" charset="-122"/>
                        </a:rPr>
                        <a:t>3,500,000</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extLst>
                  <a:ext uri="{0D108BD9-81ED-4DB2-BD59-A6C34878D82A}">
                    <a16:rowId val="4"/>
                  </a:ext>
                </a:extLst>
              </a:tr>
              <a:tr h="320040">
                <a:tc>
                  <a:txBody>
                    <a:bodyPr wrap="square"/>
                    <a:lstStyle/>
                    <a:p>
                      <a:pPr algn="r"/>
                      <a:r>
                        <a:rPr sz="1050" b="0">
                          <a:solidFill>
                            <a:srgbClr val="1F2933"/>
                          </a:solidFill>
                          <a:latin typeface="微软雅黑" panose="020B0503020204020204" charset="-122"/>
                          <a:ea typeface="微软雅黑" panose="020B0503020204020204" charset="-122"/>
                          <a:cs typeface="微软雅黑" panose="020B0503020204020204" charset="-122"/>
                        </a:rPr>
                        <a:t>4</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l"/>
                      <a:r>
                        <a:rPr lang="zh-CN" sz="1050" b="1">
                          <a:solidFill>
                            <a:srgbClr val="1F2933"/>
                          </a:solidFill>
                          <a:latin typeface="微软雅黑" panose="020B0503020204020204" charset="-122"/>
                          <a:ea typeface="微软雅黑" panose="020B0503020204020204" charset="-122"/>
                          <a:cs typeface="微软雅黑" panose="020B0503020204020204" charset="-122"/>
                        </a:rPr>
                        <a:t>交睿宏安</a:t>
                      </a:r>
                      <a:r>
                        <a:rPr lang="en-US" altLang="zh-CN" sz="1050" b="1">
                          <a:solidFill>
                            <a:srgbClr val="1F2933"/>
                          </a:solidFill>
                          <a:latin typeface="微软雅黑" panose="020B0503020204020204" charset="-122"/>
                          <a:ea typeface="微软雅黑" panose="020B0503020204020204" charset="-122"/>
                          <a:cs typeface="微软雅黑" panose="020B0503020204020204" charset="-122"/>
                        </a:rPr>
                        <a:t>1</a:t>
                      </a:r>
                      <a:r>
                        <a:rPr lang="zh-CN" altLang="en-US" sz="1050" b="1">
                          <a:solidFill>
                            <a:srgbClr val="1F2933"/>
                          </a:solidFill>
                          <a:latin typeface="微软雅黑" panose="020B0503020204020204" charset="-122"/>
                          <a:ea typeface="微软雅黑" panose="020B0503020204020204" charset="-122"/>
                          <a:cs typeface="微软雅黑" panose="020B0503020204020204" charset="-122"/>
                        </a:rPr>
                        <a:t>号</a:t>
                      </a:r>
                      <a:r>
                        <a:rPr lang="en-US" altLang="zh-CN" sz="1050" b="1">
                          <a:solidFill>
                            <a:srgbClr val="1F2933"/>
                          </a:solidFill>
                          <a:latin typeface="微软雅黑" panose="020B0503020204020204" charset="-122"/>
                          <a:ea typeface="微软雅黑" panose="020B0503020204020204" charset="-122"/>
                          <a:cs typeface="微软雅黑" panose="020B0503020204020204" charset="-122"/>
                        </a:rPr>
                        <a:t>B</a:t>
                      </a:r>
                      <a:r>
                        <a:rPr lang="zh-CN" altLang="en-US" sz="1050" b="1">
                          <a:solidFill>
                            <a:srgbClr val="1F2933"/>
                          </a:solidFill>
                          <a:latin typeface="微软雅黑" panose="020B0503020204020204" charset="-122"/>
                          <a:ea typeface="微软雅黑" panose="020B0503020204020204" charset="-122"/>
                          <a:cs typeface="微软雅黑" panose="020B0503020204020204" charset="-122"/>
                        </a:rPr>
                        <a:t>类</a:t>
                      </a:r>
                      <a:endParaRPr lang="zh-CN" altLang="en-US" sz="1050" b="1">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48,708.42</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1.39%</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5.29%</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a:solidFill>
                            <a:srgbClr val="1F2933"/>
                          </a:solidFill>
                          <a:latin typeface="微软雅黑" panose="020B0503020204020204" charset="-122"/>
                          <a:ea typeface="微软雅黑" panose="020B0503020204020204" charset="-122"/>
                          <a:cs typeface="微软雅黑" panose="020B0503020204020204" charset="-122"/>
                          <a:sym typeface="微软雅黑" panose="020B0503020204020204" charset="-122"/>
                        </a:rPr>
                        <a:t>3,500,000</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extLst>
                  <a:ext uri="{0D108BD9-81ED-4DB2-BD59-A6C34878D82A}">
                    <a16:rowId val="5"/>
                  </a:ext>
                </a:extLst>
              </a:tr>
              <a:tr h="320040">
                <a:tc>
                  <a:txBody>
                    <a:bodyPr wrap="square"/>
                    <a:lstStyle/>
                    <a:p>
                      <a:pPr algn="r"/>
                      <a:r>
                        <a:rPr sz="1050" b="0">
                          <a:solidFill>
                            <a:srgbClr val="1F2933"/>
                          </a:solidFill>
                          <a:latin typeface="微软雅黑" panose="020B0503020204020204" charset="-122"/>
                          <a:ea typeface="微软雅黑" panose="020B0503020204020204" charset="-122"/>
                          <a:cs typeface="微软雅黑" panose="020B0503020204020204" charset="-122"/>
                        </a:rPr>
                        <a:t>5</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l"/>
                      <a:r>
                        <a:rPr lang="zh-CN" sz="1050" b="1">
                          <a:solidFill>
                            <a:srgbClr val="1F2933"/>
                          </a:solidFill>
                          <a:latin typeface="微软雅黑" panose="020B0503020204020204" charset="-122"/>
                          <a:ea typeface="微软雅黑" panose="020B0503020204020204" charset="-122"/>
                          <a:cs typeface="微软雅黑" panose="020B0503020204020204" charset="-122"/>
                        </a:rPr>
                        <a:t>傲创金宸锐进</a:t>
                      </a:r>
                      <a:r>
                        <a:rPr lang="en-US" altLang="zh-CN" sz="1050" b="1">
                          <a:solidFill>
                            <a:srgbClr val="1F2933"/>
                          </a:solidFill>
                          <a:latin typeface="微软雅黑" panose="020B0503020204020204" charset="-122"/>
                          <a:ea typeface="微软雅黑" panose="020B0503020204020204" charset="-122"/>
                          <a:cs typeface="微软雅黑" panose="020B0503020204020204" charset="-122"/>
                        </a:rPr>
                        <a:t>2</a:t>
                      </a:r>
                      <a:r>
                        <a:rPr lang="zh-CN" altLang="en-US" sz="1050" b="1">
                          <a:solidFill>
                            <a:srgbClr val="1F2933"/>
                          </a:solidFill>
                          <a:latin typeface="微软雅黑" panose="020B0503020204020204" charset="-122"/>
                          <a:ea typeface="微软雅黑" panose="020B0503020204020204" charset="-122"/>
                          <a:cs typeface="微软雅黑" panose="020B0503020204020204" charset="-122"/>
                        </a:rPr>
                        <a:t>号</a:t>
                      </a:r>
                      <a:endParaRPr lang="zh-CN" altLang="en-US" sz="1050" b="1">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134,200.05</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1.34%</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5.00%</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tc>
                  <a:txBody>
                    <a:bodyPr wrap="square"/>
                    <a:lstStyle/>
                    <a:p>
                      <a:pPr algn="r"/>
                      <a:r>
                        <a:rPr lang="en-US" sz="1050">
                          <a:solidFill>
                            <a:srgbClr val="1F2933"/>
                          </a:solidFill>
                          <a:latin typeface="微软雅黑" panose="020B0503020204020204" charset="-122"/>
                          <a:ea typeface="微软雅黑" panose="020B0503020204020204" charset="-122"/>
                          <a:cs typeface="微软雅黑" panose="020B0503020204020204" charset="-122"/>
                          <a:sym typeface="微软雅黑" panose="020B0503020204020204" charset="-122"/>
                        </a:rPr>
                        <a:t>10,000,000</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FFFFF"/>
                    </a:solidFill>
                  </a:tcPr>
                </a:tc>
                <a:extLst>
                  <a:ext uri="{0D108BD9-81ED-4DB2-BD59-A6C34878D82A}">
                    <a16:rowId val="6"/>
                  </a:ext>
                </a:extLst>
              </a:tr>
              <a:tr h="320040">
                <a:tc>
                  <a:txBody>
                    <a:bodyPr wrap="square"/>
                    <a:lstStyle/>
                    <a:p>
                      <a:pPr algn="r"/>
                      <a:r>
                        <a:rPr sz="1050" b="0">
                          <a:solidFill>
                            <a:srgbClr val="1F2933"/>
                          </a:solidFill>
                          <a:latin typeface="微软雅黑" panose="020B0503020204020204" charset="-122"/>
                          <a:ea typeface="微软雅黑" panose="020B0503020204020204" charset="-122"/>
                          <a:cs typeface="微软雅黑" panose="020B0503020204020204" charset="-122"/>
                        </a:rPr>
                        <a:t>6</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l"/>
                      <a:r>
                        <a:rPr lang="zh-CN" sz="1050" b="1">
                          <a:solidFill>
                            <a:srgbClr val="1F2933"/>
                          </a:solidFill>
                          <a:latin typeface="微软雅黑" panose="020B0503020204020204" charset="-122"/>
                          <a:ea typeface="微软雅黑" panose="020B0503020204020204" charset="-122"/>
                          <a:cs typeface="微软雅黑" panose="020B0503020204020204" charset="-122"/>
                        </a:rPr>
                        <a:t>傲创金宸安盈</a:t>
                      </a:r>
                      <a:r>
                        <a:rPr lang="en-US" altLang="zh-CN" sz="1050" b="1">
                          <a:solidFill>
                            <a:srgbClr val="1F2933"/>
                          </a:solidFill>
                          <a:latin typeface="微软雅黑" panose="020B0503020204020204" charset="-122"/>
                          <a:ea typeface="微软雅黑" panose="020B0503020204020204" charset="-122"/>
                          <a:cs typeface="微软雅黑" panose="020B0503020204020204" charset="-122"/>
                        </a:rPr>
                        <a:t>1</a:t>
                      </a:r>
                      <a:r>
                        <a:rPr lang="zh-CN" altLang="en-US" sz="1050" b="1">
                          <a:solidFill>
                            <a:srgbClr val="1F2933"/>
                          </a:solidFill>
                          <a:latin typeface="微软雅黑" panose="020B0503020204020204" charset="-122"/>
                          <a:ea typeface="微软雅黑" panose="020B0503020204020204" charset="-122"/>
                          <a:cs typeface="微软雅黑" panose="020B0503020204020204" charset="-122"/>
                        </a:rPr>
                        <a:t>号</a:t>
                      </a:r>
                      <a:endParaRPr lang="zh-CN" altLang="en-US" sz="1050" b="1">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103,867.59</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1.04%</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b="0">
                          <a:solidFill>
                            <a:srgbClr val="1F2933"/>
                          </a:solidFill>
                          <a:latin typeface="微软雅黑" panose="020B0503020204020204" charset="-122"/>
                          <a:ea typeface="微软雅黑" panose="020B0503020204020204" charset="-122"/>
                          <a:cs typeface="微软雅黑" panose="020B0503020204020204" charset="-122"/>
                        </a:rPr>
                        <a:t>3.87%</a:t>
                      </a:r>
                      <a:endParaRPr lang="en-US"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tc>
                  <a:txBody>
                    <a:bodyPr wrap="square"/>
                    <a:lstStyle/>
                    <a:p>
                      <a:pPr algn="r"/>
                      <a:r>
                        <a:rPr lang="en-US" sz="1050">
                          <a:solidFill>
                            <a:srgbClr val="1F2933"/>
                          </a:solidFill>
                          <a:latin typeface="微软雅黑" panose="020B0503020204020204" charset="-122"/>
                          <a:ea typeface="微软雅黑" panose="020B0503020204020204" charset="-122"/>
                          <a:cs typeface="微软雅黑" panose="020B0503020204020204" charset="-122"/>
                          <a:sym typeface="微软雅黑" panose="020B0503020204020204" charset="-122"/>
                        </a:rPr>
                        <a:t>10,000,000</a:t>
                      </a:r>
                      <a:endParaRPr sz="1050" b="0">
                        <a:solidFill>
                          <a:srgbClr val="1F2933"/>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F4FAFE"/>
                    </a:solidFill>
                  </a:tcPr>
                </a:tc>
                <a:extLst>
                  <a:ext uri="{0D108BD9-81ED-4DB2-BD59-A6C34878D82A}">
                    <a16:rowId val="7"/>
                  </a:ext>
                </a:extLst>
              </a:tr>
              <a:tr h="320040">
                <a:tc>
                  <a:txBody>
                    <a:bodyPr wrap="square"/>
                    <a:lstStyle/>
                    <a:p>
                      <a:pPr algn="r"/>
                      <a:endParaRPr>
                        <a:ea typeface="微软雅黑" panose="020B0503020204020204" charset="-122"/>
                        <a:cs typeface="微软雅黑" panose="020B0503020204020204" charset="-122"/>
                      </a:endParaRPr>
                    </a:p>
                  </a:txBody>
                  <a:tcPr marL="50800" marR="50800" marT="12700" marB="12700" anchor="ctr">
                    <a:solidFill>
                      <a:srgbClr val="EAF6FC"/>
                    </a:solidFill>
                  </a:tcPr>
                </a:tc>
                <a:tc>
                  <a:txBody>
                    <a:bodyPr wrap="square"/>
                    <a:lstStyle/>
                    <a:p>
                      <a:pPr algn="l"/>
                      <a:r>
                        <a:rPr sz="1050" b="1">
                          <a:solidFill>
                            <a:srgbClr val="0070C0"/>
                          </a:solidFill>
                          <a:latin typeface="微软雅黑" panose="020B0503020204020204" charset="-122"/>
                          <a:ea typeface="微软雅黑" panose="020B0503020204020204" charset="-122"/>
                          <a:cs typeface="微软雅黑" panose="020B0503020204020204" charset="-122"/>
                        </a:rPr>
                        <a:t>合计</a:t>
                      </a:r>
                      <a:endParaRPr sz="1050" b="1">
                        <a:solidFill>
                          <a:srgbClr val="0070C0"/>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EAF6FC"/>
                    </a:solidFill>
                  </a:tcPr>
                </a:tc>
                <a:tc>
                  <a:txBody>
                    <a:bodyPr wrap="square"/>
                    <a:lstStyle/>
                    <a:p>
                      <a:pPr algn="r"/>
                      <a:r>
                        <a:rPr lang="en-US" sz="1050" b="1">
                          <a:solidFill>
                            <a:srgbClr val="0070C0"/>
                          </a:solidFill>
                          <a:latin typeface="微软雅黑" panose="020B0503020204020204" charset="-122"/>
                          <a:ea typeface="微软雅黑" panose="020B0503020204020204" charset="-122"/>
                          <a:cs typeface="微软雅黑" panose="020B0503020204020204" charset="-122"/>
                        </a:rPr>
                        <a:t>567,372.83</a:t>
                      </a:r>
                      <a:endParaRPr lang="en-US" sz="1050" b="1">
                        <a:solidFill>
                          <a:srgbClr val="0070C0"/>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EAF6FC"/>
                    </a:solidFill>
                  </a:tcPr>
                </a:tc>
                <a:tc>
                  <a:txBody>
                    <a:bodyPr wrap="square"/>
                    <a:lstStyle/>
                    <a:p>
                      <a:pPr algn="r"/>
                      <a:r>
                        <a:rPr lang="en-US" sz="1050" b="1">
                          <a:solidFill>
                            <a:srgbClr val="0070C0"/>
                          </a:solidFill>
                          <a:latin typeface="微软雅黑" panose="020B0503020204020204" charset="-122"/>
                          <a:ea typeface="微软雅黑" panose="020B0503020204020204" charset="-122"/>
                          <a:cs typeface="微软雅黑" panose="020B0503020204020204" charset="-122"/>
                        </a:rPr>
                        <a:t>1.44%</a:t>
                      </a:r>
                      <a:endParaRPr lang="en-US" sz="1050" b="1">
                        <a:solidFill>
                          <a:srgbClr val="0070C0"/>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EAF6FC"/>
                    </a:solidFill>
                  </a:tcPr>
                </a:tc>
                <a:tc>
                  <a:txBody>
                    <a:bodyPr wrap="square"/>
                    <a:lstStyle/>
                    <a:p>
                      <a:pPr algn="r"/>
                      <a:r>
                        <a:rPr lang="en-US" sz="1050" b="1">
                          <a:solidFill>
                            <a:srgbClr val="0070C0"/>
                          </a:solidFill>
                          <a:latin typeface="微软雅黑" panose="020B0503020204020204" charset="-122"/>
                          <a:ea typeface="微软雅黑" panose="020B0503020204020204" charset="-122"/>
                          <a:cs typeface="微软雅黑" panose="020B0503020204020204" charset="-122"/>
                        </a:rPr>
                        <a:t>5.37%</a:t>
                      </a:r>
                      <a:endParaRPr lang="en-US" sz="1050" b="1">
                        <a:solidFill>
                          <a:srgbClr val="0070C0"/>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EAF6FC"/>
                    </a:solidFill>
                  </a:tcPr>
                </a:tc>
                <a:tc>
                  <a:txBody>
                    <a:bodyPr wrap="square"/>
                    <a:lstStyle/>
                    <a:p>
                      <a:pPr algn="r"/>
                      <a:r>
                        <a:rPr lang="en-US" sz="1050" b="1">
                          <a:solidFill>
                            <a:srgbClr val="0070C0"/>
                          </a:solidFill>
                          <a:latin typeface="微软雅黑" panose="020B0503020204020204" charset="-122"/>
                          <a:ea typeface="微软雅黑" panose="020B0503020204020204" charset="-122"/>
                          <a:cs typeface="微软雅黑" panose="020B0503020204020204" charset="-122"/>
                        </a:rPr>
                        <a:t>4</a:t>
                      </a:r>
                      <a:r>
                        <a:rPr sz="1050" b="1">
                          <a:solidFill>
                            <a:srgbClr val="0070C0"/>
                          </a:solidFill>
                          <a:latin typeface="微软雅黑" panose="020B0503020204020204" charset="-122"/>
                          <a:ea typeface="微软雅黑" panose="020B0503020204020204" charset="-122"/>
                          <a:cs typeface="微软雅黑" panose="020B0503020204020204" charset="-122"/>
                        </a:rPr>
                        <a:t>0,</a:t>
                      </a:r>
                      <a:r>
                        <a:rPr lang="en-US" sz="1050" b="1">
                          <a:solidFill>
                            <a:srgbClr val="0070C0"/>
                          </a:solidFill>
                          <a:latin typeface="微软雅黑" panose="020B0503020204020204" charset="-122"/>
                          <a:ea typeface="微软雅黑" panose="020B0503020204020204" charset="-122"/>
                          <a:cs typeface="微软雅黑" panose="020B0503020204020204" charset="-122"/>
                        </a:rPr>
                        <a:t>500</a:t>
                      </a:r>
                      <a:r>
                        <a:rPr sz="1050" b="1">
                          <a:solidFill>
                            <a:srgbClr val="0070C0"/>
                          </a:solidFill>
                          <a:latin typeface="微软雅黑" panose="020B0503020204020204" charset="-122"/>
                          <a:ea typeface="微软雅黑" panose="020B0503020204020204" charset="-122"/>
                          <a:cs typeface="微软雅黑" panose="020B0503020204020204" charset="-122"/>
                        </a:rPr>
                        <a:t>,</a:t>
                      </a:r>
                      <a:r>
                        <a:rPr lang="en-US" sz="1050" b="1">
                          <a:solidFill>
                            <a:srgbClr val="0070C0"/>
                          </a:solidFill>
                          <a:latin typeface="微软雅黑" panose="020B0503020204020204" charset="-122"/>
                          <a:ea typeface="微软雅黑" panose="020B0503020204020204" charset="-122"/>
                          <a:cs typeface="微软雅黑" panose="020B0503020204020204" charset="-122"/>
                        </a:rPr>
                        <a:t>000</a:t>
                      </a:r>
                      <a:endParaRPr lang="en-US" sz="1050" b="1">
                        <a:solidFill>
                          <a:srgbClr val="0070C0"/>
                        </a:solidFill>
                        <a:latin typeface="微软雅黑" panose="020B0503020204020204" charset="-122"/>
                        <a:ea typeface="微软雅黑" panose="020B0503020204020204" charset="-122"/>
                        <a:cs typeface="微软雅黑" panose="020B0503020204020204" charset="-122"/>
                      </a:endParaRPr>
                    </a:p>
                  </a:txBody>
                  <a:tcPr marL="50800" marR="50800" marT="12700" marB="12700" anchor="ctr">
                    <a:solidFill>
                      <a:srgbClr val="EAF6FC"/>
                    </a:solidFill>
                  </a:tcPr>
                </a:tc>
                <a:extLst>
                  <a:ext uri="{0D108BD9-81ED-4DB2-BD59-A6C34878D82A}">
                    <a16:rowId val="8"/>
                  </a:ext>
                </a:extLst>
              </a:tr>
            </a:tbl>
          </a:graphicData>
        </a:graphic>
      </p:graphicFrame>
      <p:sp>
        <p:nvSpPr>
          <p:cNvPr id="232" name="TextBox 7"/>
          <p:cNvSpPr txBox="1"/>
          <p:nvPr/>
        </p:nvSpPr>
        <p:spPr>
          <a:xfrm>
            <a:off x="502920" y="6035040"/>
            <a:ext cx="11183112" cy="365760"/>
          </a:xfrm>
          <a:prstGeom prst="rect">
            <a:avLst/>
          </a:prstGeom>
          <a:noFill/>
        </p:spPr>
        <p:txBody>
          <a:bodyPr wrap="square" lIns="0" tIns="0" rIns="0" bIns="0" anchor="t">
            <a:spAutoFit/>
          </a:bodyPr>
          <a:lstStyle/>
          <a:p>
            <a:pPr algn="l">
              <a:lnSpc>
                <a:spcPct val="115000"/>
              </a:lnSpc>
              <a:spcAft>
                <a:spcPts val="600"/>
              </a:spcAft>
            </a:pPr>
            <a:r>
              <a:rPr sz="1100" b="1">
                <a:solidFill>
                  <a:srgbClr val="54B0E0"/>
                </a:solidFill>
                <a:latin typeface="微软雅黑" panose="020B0503020204020204" charset="-122"/>
                <a:ea typeface="微软雅黑" panose="020B0503020204020204" charset="-122"/>
                <a:cs typeface="微软雅黑" panose="020B0503020204020204" charset="-122"/>
              </a:rPr>
              <a:t>【占位】上表为 2026.08 版数据，最新区间收益/净值更新后替换。</a:t>
            </a:r>
            <a:endParaRPr sz="1100" b="1">
              <a:solidFill>
                <a:srgbClr val="54B0E0"/>
              </a:solidFill>
              <a:latin typeface="微软雅黑" panose="020B0503020204020204" charset="-122"/>
              <a:ea typeface="微软雅黑" panose="020B0503020204020204" charset="-122"/>
              <a:cs typeface="微软雅黑" panose="020B0503020204020204" charset="-122"/>
            </a:endParaRPr>
          </a:p>
        </p:txBody>
      </p:sp>
      <p:sp>
        <p:nvSpPr>
          <p:cNvPr id="233"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34" name="TextBox 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14</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235" name="参考模板浅蓝背景弧线"/>
          <p:cNvPicPr/>
          <p:nvPr/>
        </p:nvPicPr>
        <p:blipFill>
          <a:blip r:embed="rId2"/>
          <a:stretch>
            <a:fillRect/>
          </a:stretch>
        </p:blipFill>
        <p:spPr>
          <a:xfrm>
            <a:off x="4457700" y="0"/>
            <a:ext cx="3143250" cy="495300"/>
          </a:xfrm>
          <a:prstGeom prst="rect">
            <a:avLst/>
          </a:prstGeom>
          <a:noFill/>
          <a:ln>
            <a:noFill/>
          </a:ln>
        </p:spPr>
      </p:pic>
      <p:pic>
        <p:nvPicPr>
          <p:cNvPr id="236"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23.xml><?xml version="1.0" encoding="utf-8"?>
<p:sld xmlns:r="http://schemas.openxmlformats.org/officeDocument/2006/relationships" xmlns:p="http://schemas.openxmlformats.org/presentationml/2006/main" xmlns:a="http://schemas.openxmlformats.org/drawingml/2006/main">
  <p:cSld>
    <p:spTree>
      <p:nvGrpSpPr>
        <p:cNvPr id="235" name=""/>
        <p:cNvGrpSpPr/>
        <p:nvPr/>
      </p:nvGrpSpPr>
      <p:grpSpPr>
        <a:xfrm>
          <a:off x="0" y="0"/>
          <a:ext cx="0" cy="0"/>
          <a:chOff x="0" y="0"/>
          <a:chExt cx="0" cy="0"/>
        </a:xfrm>
      </p:grpSpPr>
      <p:sp>
        <p:nvSpPr>
          <p:cNvPr id="236"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37" name="TextBox 2"/>
          <p:cNvSpPr txBox="1"/>
          <p:nvPr/>
        </p:nvSpPr>
        <p:spPr>
          <a:xfrm>
            <a:off x="713232" y="510794"/>
            <a:ext cx="9601200" cy="459740"/>
          </a:xfrm>
          <a:prstGeom prst="rect">
            <a:avLst/>
          </a:prstGeom>
          <a:noFill/>
        </p:spPr>
        <p:txBody>
          <a:bodyPr wrap="square" lIns="0" tIns="0" rIns="0" bIns="0" anchor="ctr">
            <a:spAutoFit/>
          </a:bodyPr>
          <a:lstStyle/>
          <a:p>
            <a:pPr algn="l">
              <a:lnSpc>
                <a:spcPct val="115000"/>
              </a:lnSpc>
              <a:spcAft>
                <a:spcPts val="600"/>
              </a:spcAft>
            </a:pPr>
            <a:r>
              <a:rPr lang="zh-CN" altLang="en-US" sz="2600" b="1">
                <a:solidFill>
                  <a:srgbClr val="0070C0"/>
                </a:solidFill>
                <a:latin typeface="微软雅黑" panose="020B0503020204020204" charset="-122"/>
                <a:ea typeface="微软雅黑" panose="020B0503020204020204" charset="-122"/>
                <a:cs typeface="微软雅黑" panose="020B0503020204020204" charset="-122"/>
              </a:rPr>
              <a:t>子</a:t>
            </a:r>
            <a:r>
              <a:rPr sz="2600" b="1">
                <a:solidFill>
                  <a:srgbClr val="0070C0"/>
                </a:solidFill>
                <a:latin typeface="微软雅黑" panose="020B0503020204020204" charset="-122"/>
                <a:ea typeface="微软雅黑" panose="020B0503020204020204" charset="-122"/>
                <a:cs typeface="微软雅黑" panose="020B0503020204020204" charset="-122"/>
              </a:rPr>
              <a:t>产品</a:t>
            </a:r>
            <a:r>
              <a:rPr lang="en-US" sz="2600" b="1">
                <a:solidFill>
                  <a:srgbClr val="0070C0"/>
                </a:solidFill>
                <a:latin typeface="微软雅黑" panose="020B0503020204020204" charset="-122"/>
                <a:ea typeface="微软雅黑" panose="020B0503020204020204" charset="-122"/>
                <a:cs typeface="微软雅黑" panose="020B0503020204020204" charset="-122"/>
              </a:rPr>
              <a:t> - </a:t>
            </a:r>
            <a:r>
              <a:rPr lang="zh-CN" altLang="en-US" sz="2600" b="1">
                <a:solidFill>
                  <a:srgbClr val="0070C0"/>
                </a:solidFill>
                <a:latin typeface="微软雅黑" panose="020B0503020204020204" charset="-122"/>
                <a:ea typeface="微软雅黑" panose="020B0503020204020204" charset="-122"/>
                <a:cs typeface="微软雅黑" panose="020B0503020204020204" charset="-122"/>
              </a:rPr>
              <a:t>宏观策略区别</a:t>
            </a:r>
            <a:endParaRPr lang="zh-CN" altLang="en-US"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38"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39"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40" name="TextBox 7"/>
          <p:cNvSpPr txBox="1"/>
          <p:nvPr/>
        </p:nvSpPr>
        <p:spPr>
          <a:xfrm>
            <a:off x="502920" y="6035040"/>
            <a:ext cx="11183112" cy="365760"/>
          </a:xfrm>
          <a:prstGeom prst="rect">
            <a:avLst/>
          </a:prstGeom>
          <a:noFill/>
        </p:spPr>
        <p:txBody>
          <a:bodyPr wrap="square" lIns="0" tIns="0" rIns="0" bIns="0" anchor="t">
            <a:spAutoFit/>
          </a:bodyPr>
          <a:lstStyle/>
          <a:p>
            <a:pPr algn="l">
              <a:lnSpc>
                <a:spcPct val="115000"/>
              </a:lnSpc>
              <a:spcAft>
                <a:spcPts val="600"/>
              </a:spcAft>
            </a:pPr>
            <a:r>
              <a:rPr sz="1100" b="1">
                <a:solidFill>
                  <a:srgbClr val="54B0E0"/>
                </a:solidFill>
                <a:latin typeface="微软雅黑" panose="020B0503020204020204" charset="-122"/>
                <a:ea typeface="微软雅黑" panose="020B0503020204020204" charset="-122"/>
                <a:cs typeface="微软雅黑" panose="020B0503020204020204" charset="-122"/>
              </a:rPr>
              <a:t>【占位】上表为 2026.08 版数据，最新区间收益/净值更新后替换。</a:t>
            </a:r>
            <a:endParaRPr sz="1100" b="1">
              <a:solidFill>
                <a:srgbClr val="54B0E0"/>
              </a:solidFill>
              <a:latin typeface="微软雅黑" panose="020B0503020204020204" charset="-122"/>
              <a:ea typeface="微软雅黑" panose="020B0503020204020204" charset="-122"/>
              <a:cs typeface="微软雅黑" panose="020B0503020204020204" charset="-122"/>
            </a:endParaRPr>
          </a:p>
        </p:txBody>
      </p:sp>
      <p:sp>
        <p:nvSpPr>
          <p:cNvPr id="241" name="TextBox 8"/>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42" name="TextBox 9"/>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14</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43" name="矩形 3"/>
          <p:cNvSpPr/>
          <p:nvPr/>
        </p:nvSpPr>
        <p:spPr>
          <a:xfrm>
            <a:off x="508000" y="1651000"/>
            <a:ext cx="3556000" cy="508000"/>
          </a:xfrm>
          <a:prstGeom prst="rect">
            <a:avLst/>
          </a:prstGeom>
          <a:solidFill>
            <a:srgbClr val="54B0E0"/>
          </a:solidFill>
          <a:ln>
            <a:noFill/>
          </a:ln>
        </p:spPr>
        <p:txBody>
          <a:bodyPr/>
          <a:p>
            <a:pPr/>
            <a:endParaRPr/>
          </a:p>
        </p:txBody>
      </p:sp>
      <p:sp>
        <p:nvSpPr>
          <p:cNvPr id="244" name="矩形 4"/>
          <p:cNvSpPr/>
          <p:nvPr/>
        </p:nvSpPr>
        <p:spPr>
          <a:xfrm>
            <a:off x="4318000" y="1651000"/>
            <a:ext cx="3556000" cy="508000"/>
          </a:xfrm>
          <a:prstGeom prst="rect">
            <a:avLst/>
          </a:prstGeom>
          <a:solidFill>
            <a:srgbClr val="0070C0"/>
          </a:solidFill>
          <a:ln>
            <a:noFill/>
          </a:ln>
        </p:spPr>
        <p:txBody>
          <a:bodyPr/>
          <a:p>
            <a:pPr/>
            <a:endParaRPr/>
          </a:p>
        </p:txBody>
      </p:sp>
      <p:sp>
        <p:nvSpPr>
          <p:cNvPr id="245" name="矩形 5"/>
          <p:cNvSpPr/>
          <p:nvPr/>
        </p:nvSpPr>
        <p:spPr>
          <a:xfrm>
            <a:off x="8128000" y="1651000"/>
            <a:ext cx="3556000" cy="508000"/>
          </a:xfrm>
          <a:prstGeom prst="rect">
            <a:avLst/>
          </a:prstGeom>
          <a:solidFill>
            <a:srgbClr val="0070C0"/>
          </a:solidFill>
          <a:ln>
            <a:noFill/>
          </a:ln>
        </p:spPr>
        <p:txBody>
          <a:bodyPr/>
          <a:p>
            <a:pPr/>
            <a:endParaRPr/>
          </a:p>
        </p:txBody>
      </p:sp>
      <p:sp>
        <p:nvSpPr>
          <p:cNvPr id="246" name="矩形 9"/>
          <p:cNvSpPr/>
          <p:nvPr/>
        </p:nvSpPr>
        <p:spPr>
          <a:xfrm>
            <a:off x="660400" y="1714500"/>
            <a:ext cx="3251200" cy="406400"/>
          </a:xfrm>
          <a:prstGeom prst="rect">
            <a:avLst/>
          </a:prstGeom>
          <a:noFill/>
          <a:ln>
            <a:noFill/>
          </a:ln>
        </p:spPr>
        <p:txBody>
          <a:bodyPr/>
          <a:p>
            <a:pPr/>
            <a:r>
              <a:rPr lang="zh-CN" sz="1500">
                <a:solidFill>
                  <a:srgbClr val="FFFFFF"/>
                </a:solidFill>
                <a:latin typeface="微软雅黑" panose="020B0503020204020204" charset="-122"/>
                <a:ea typeface="微软雅黑" panose="020B0503020204020204" charset="-122"/>
              </a:rPr>
              <a:t>桥水 Beta 型 · 全天候</a:t>
            </a:r>
            <a:endParaRPr lang="zh-CN" sz="1500">
              <a:solidFill>
                <a:srgbClr val="FFFFFF"/>
              </a:solidFill>
              <a:latin typeface="微软雅黑" panose="020B0503020204020204" charset="-122"/>
              <a:ea typeface="微软雅黑" panose="020B0503020204020204" charset="-122"/>
            </a:endParaRPr>
          </a:p>
        </p:txBody>
      </p:sp>
      <p:sp>
        <p:nvSpPr>
          <p:cNvPr id="247" name="矩形 10"/>
          <p:cNvSpPr/>
          <p:nvPr/>
        </p:nvSpPr>
        <p:spPr>
          <a:xfrm>
            <a:off x="4470400" y="1714500"/>
            <a:ext cx="3251200" cy="406400"/>
          </a:xfrm>
          <a:prstGeom prst="rect">
            <a:avLst/>
          </a:prstGeom>
          <a:noFill/>
          <a:ln>
            <a:noFill/>
          </a:ln>
        </p:spPr>
        <p:txBody>
          <a:bodyPr/>
          <a:p>
            <a:pPr/>
            <a:r>
              <a:rPr lang="zh-CN" sz="1500">
                <a:solidFill>
                  <a:srgbClr val="FFFFFF"/>
                </a:solidFill>
                <a:latin typeface="微软雅黑" panose="020B0503020204020204" charset="-122"/>
                <a:ea typeface="微软雅黑" panose="020B0503020204020204" charset="-122"/>
              </a:rPr>
              <a:t>桥水 Pure Alpha</a:t>
            </a:r>
            <a:endParaRPr lang="zh-CN" sz="1500">
              <a:solidFill>
                <a:srgbClr val="FFFFFF"/>
              </a:solidFill>
              <a:latin typeface="微软雅黑" panose="020B0503020204020204" charset="-122"/>
              <a:ea typeface="微软雅黑" panose="020B0503020204020204" charset="-122"/>
            </a:endParaRPr>
          </a:p>
        </p:txBody>
      </p:sp>
      <p:sp>
        <p:nvSpPr>
          <p:cNvPr id="248" name="矩形 11"/>
          <p:cNvSpPr/>
          <p:nvPr/>
        </p:nvSpPr>
        <p:spPr>
          <a:xfrm>
            <a:off x="8280400" y="1714500"/>
            <a:ext cx="3251200" cy="406400"/>
          </a:xfrm>
          <a:prstGeom prst="rect">
            <a:avLst/>
          </a:prstGeom>
          <a:noFill/>
          <a:ln>
            <a:noFill/>
          </a:ln>
        </p:spPr>
        <p:txBody>
          <a:bodyPr/>
          <a:p>
            <a:pPr/>
            <a:r>
              <a:rPr lang="zh-CN" sz="1500">
                <a:solidFill>
                  <a:srgbClr val="FFFFFF"/>
                </a:solidFill>
                <a:latin typeface="微软雅黑" panose="020B0503020204020204" charset="-122"/>
                <a:ea typeface="微软雅黑" panose="020B0503020204020204" charset="-122"/>
              </a:rPr>
              <a:t>国内 Alpha 型</a:t>
            </a:r>
            <a:endParaRPr lang="zh-CN" sz="1500">
              <a:solidFill>
                <a:srgbClr val="FFFFFF"/>
              </a:solidFill>
              <a:latin typeface="微软雅黑" panose="020B0503020204020204" charset="-122"/>
              <a:ea typeface="微软雅黑" panose="020B0503020204020204" charset="-122"/>
            </a:endParaRPr>
          </a:p>
        </p:txBody>
      </p:sp>
      <p:sp>
        <p:nvSpPr>
          <p:cNvPr id="249" name="矩形 12"/>
          <p:cNvSpPr/>
          <p:nvPr/>
        </p:nvSpPr>
        <p:spPr>
          <a:xfrm>
            <a:off x="660400" y="2413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定位</a:t>
            </a:r>
            <a:endParaRPr lang="zh-CN" sz="1100">
              <a:solidFill>
                <a:srgbClr val="0070C0"/>
              </a:solidFill>
              <a:latin typeface="微软雅黑" panose="020B0503020204020204" charset="-122"/>
              <a:ea typeface="微软雅黑" panose="020B0503020204020204" charset="-122"/>
            </a:endParaRPr>
          </a:p>
        </p:txBody>
      </p:sp>
      <p:sp>
        <p:nvSpPr>
          <p:cNvPr id="250" name="矩形 13"/>
          <p:cNvSpPr/>
          <p:nvPr/>
        </p:nvSpPr>
        <p:spPr>
          <a:xfrm>
            <a:off x="1879600" y="2413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风险平价 · 纯 beta</a:t>
            </a:r>
            <a:endParaRPr lang="zh-CN" sz="1000">
              <a:solidFill>
                <a:srgbClr val="1F2933"/>
              </a:solidFill>
              <a:latin typeface="微软雅黑" panose="020B0503020204020204" charset="-122"/>
              <a:ea typeface="微软雅黑" panose="020B0503020204020204" charset="-122"/>
            </a:endParaRPr>
          </a:p>
        </p:txBody>
      </p:sp>
      <p:sp>
        <p:nvSpPr>
          <p:cNvPr id="251" name="矩形 14"/>
          <p:cNvSpPr/>
          <p:nvPr/>
        </p:nvSpPr>
        <p:spPr>
          <a:xfrm>
            <a:off x="660400" y="2921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工具</a:t>
            </a:r>
            <a:endParaRPr lang="zh-CN" sz="1100">
              <a:solidFill>
                <a:srgbClr val="0070C0"/>
              </a:solidFill>
              <a:latin typeface="微软雅黑" panose="020B0503020204020204" charset="-122"/>
              <a:ea typeface="微软雅黑" panose="020B0503020204020204" charset="-122"/>
            </a:endParaRPr>
          </a:p>
        </p:txBody>
      </p:sp>
      <p:sp>
        <p:nvSpPr>
          <p:cNvPr id="252" name="矩形 15"/>
          <p:cNvSpPr/>
          <p:nvPr/>
        </p:nvSpPr>
        <p:spPr>
          <a:xfrm>
            <a:off x="1879600" y="2921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股/债/商品/通胀债</a:t>
            </a:r>
            <a:endParaRPr lang="zh-CN" sz="1000">
              <a:solidFill>
                <a:srgbClr val="1F2933"/>
              </a:solidFill>
              <a:latin typeface="微软雅黑" panose="020B0503020204020204" charset="-122"/>
              <a:ea typeface="微软雅黑" panose="020B0503020204020204" charset="-122"/>
            </a:endParaRPr>
          </a:p>
        </p:txBody>
      </p:sp>
      <p:sp>
        <p:nvSpPr>
          <p:cNvPr id="253" name="矩形 16"/>
          <p:cNvSpPr/>
          <p:nvPr/>
        </p:nvSpPr>
        <p:spPr>
          <a:xfrm>
            <a:off x="660400" y="3429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敞口</a:t>
            </a:r>
            <a:endParaRPr lang="zh-CN" sz="1100">
              <a:solidFill>
                <a:srgbClr val="0070C0"/>
              </a:solidFill>
              <a:latin typeface="微软雅黑" panose="020B0503020204020204" charset="-122"/>
              <a:ea typeface="微软雅黑" panose="020B0503020204020204" charset="-122"/>
            </a:endParaRPr>
          </a:p>
        </p:txBody>
      </p:sp>
      <p:sp>
        <p:nvSpPr>
          <p:cNvPr id="254" name="矩形 17"/>
          <p:cNvSpPr/>
          <p:nvPr/>
        </p:nvSpPr>
        <p:spPr>
          <a:xfrm>
            <a:off x="1879600" y="3429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纯多头指数，不选品</a:t>
            </a:r>
            <a:endParaRPr lang="zh-CN" sz="1000">
              <a:solidFill>
                <a:srgbClr val="1F2933"/>
              </a:solidFill>
              <a:latin typeface="微软雅黑" panose="020B0503020204020204" charset="-122"/>
              <a:ea typeface="微软雅黑" panose="020B0503020204020204" charset="-122"/>
            </a:endParaRPr>
          </a:p>
        </p:txBody>
      </p:sp>
      <p:sp>
        <p:nvSpPr>
          <p:cNvPr id="255" name="矩形 18"/>
          <p:cNvSpPr/>
          <p:nvPr/>
        </p:nvSpPr>
        <p:spPr>
          <a:xfrm>
            <a:off x="660400" y="3937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收益</a:t>
            </a:r>
            <a:endParaRPr lang="zh-CN" sz="1100">
              <a:solidFill>
                <a:srgbClr val="0070C0"/>
              </a:solidFill>
              <a:latin typeface="微软雅黑" panose="020B0503020204020204" charset="-122"/>
              <a:ea typeface="微软雅黑" panose="020B0503020204020204" charset="-122"/>
            </a:endParaRPr>
          </a:p>
        </p:txBody>
      </p:sp>
      <p:sp>
        <p:nvSpPr>
          <p:cNvPr id="256" name="矩形 19"/>
          <p:cNvSpPr/>
          <p:nvPr/>
        </p:nvSpPr>
        <p:spPr>
          <a:xfrm>
            <a:off x="1879600" y="3937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100% 配置 beta</a:t>
            </a:r>
            <a:endParaRPr lang="zh-CN" sz="1000">
              <a:solidFill>
                <a:srgbClr val="1F2933"/>
              </a:solidFill>
              <a:latin typeface="微软雅黑" panose="020B0503020204020204" charset="-122"/>
              <a:ea typeface="微软雅黑" panose="020B0503020204020204" charset="-122"/>
            </a:endParaRPr>
          </a:p>
        </p:txBody>
      </p:sp>
      <p:sp>
        <p:nvSpPr>
          <p:cNvPr id="257" name="矩形 20"/>
          <p:cNvSpPr/>
          <p:nvPr/>
        </p:nvSpPr>
        <p:spPr>
          <a:xfrm>
            <a:off x="660400" y="4445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特征</a:t>
            </a:r>
            <a:endParaRPr lang="zh-CN" sz="1100">
              <a:solidFill>
                <a:srgbClr val="0070C0"/>
              </a:solidFill>
              <a:latin typeface="微软雅黑" panose="020B0503020204020204" charset="-122"/>
              <a:ea typeface="微软雅黑" panose="020B0503020204020204" charset="-122"/>
            </a:endParaRPr>
          </a:p>
        </p:txBody>
      </p:sp>
      <p:sp>
        <p:nvSpPr>
          <p:cNvPr id="258" name="矩形 21"/>
          <p:cNvSpPr/>
          <p:nvPr/>
        </p:nvSpPr>
        <p:spPr>
          <a:xfrm>
            <a:off x="1879600" y="4445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低波可复制穿越周期</a:t>
            </a:r>
            <a:endParaRPr lang="zh-CN" sz="1000">
              <a:solidFill>
                <a:srgbClr val="1F2933"/>
              </a:solidFill>
              <a:latin typeface="微软雅黑" panose="020B0503020204020204" charset="-122"/>
              <a:ea typeface="微软雅黑" panose="020B0503020204020204" charset="-122"/>
            </a:endParaRPr>
          </a:p>
        </p:txBody>
      </p:sp>
      <p:sp>
        <p:nvSpPr>
          <p:cNvPr id="259" name="矩形 22"/>
          <p:cNvSpPr/>
          <p:nvPr/>
        </p:nvSpPr>
        <p:spPr>
          <a:xfrm>
            <a:off x="660400" y="4953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业绩</a:t>
            </a:r>
            <a:endParaRPr lang="zh-CN" sz="1100">
              <a:solidFill>
                <a:srgbClr val="0070C0"/>
              </a:solidFill>
              <a:latin typeface="微软雅黑" panose="020B0503020204020204" charset="-122"/>
              <a:ea typeface="微软雅黑" panose="020B0503020204020204" charset="-122"/>
            </a:endParaRPr>
          </a:p>
        </p:txBody>
      </p:sp>
      <p:sp>
        <p:nvSpPr>
          <p:cNvPr id="260" name="矩形 23"/>
          <p:cNvSpPr/>
          <p:nvPr/>
        </p:nvSpPr>
        <p:spPr>
          <a:xfrm>
            <a:off x="1879600" y="4953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年化约 7.9%</a:t>
            </a:r>
            <a:endParaRPr lang="zh-CN" sz="1000">
              <a:solidFill>
                <a:srgbClr val="1F2933"/>
              </a:solidFill>
              <a:latin typeface="微软雅黑" panose="020B0503020204020204" charset="-122"/>
              <a:ea typeface="微软雅黑" panose="020B0503020204020204" charset="-122"/>
            </a:endParaRPr>
          </a:p>
        </p:txBody>
      </p:sp>
      <p:sp>
        <p:nvSpPr>
          <p:cNvPr id="261" name="矩形 24"/>
          <p:cNvSpPr/>
          <p:nvPr/>
        </p:nvSpPr>
        <p:spPr>
          <a:xfrm>
            <a:off x="4470400" y="2413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定位</a:t>
            </a:r>
            <a:endParaRPr lang="zh-CN" sz="1100">
              <a:solidFill>
                <a:srgbClr val="0070C0"/>
              </a:solidFill>
              <a:latin typeface="微软雅黑" panose="020B0503020204020204" charset="-122"/>
              <a:ea typeface="微软雅黑" panose="020B0503020204020204" charset="-122"/>
            </a:endParaRPr>
          </a:p>
        </p:txBody>
      </p:sp>
      <p:sp>
        <p:nvSpPr>
          <p:cNvPr id="262" name="矩形 25"/>
          <p:cNvSpPr/>
          <p:nvPr/>
        </p:nvSpPr>
        <p:spPr>
          <a:xfrm>
            <a:off x="5689600" y="2413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市场中性宏观对冲</a:t>
            </a:r>
            <a:endParaRPr lang="zh-CN" sz="1000">
              <a:solidFill>
                <a:srgbClr val="1F2933"/>
              </a:solidFill>
              <a:latin typeface="微软雅黑" panose="020B0503020204020204" charset="-122"/>
              <a:ea typeface="微软雅黑" panose="020B0503020204020204" charset="-122"/>
            </a:endParaRPr>
          </a:p>
        </p:txBody>
      </p:sp>
      <p:sp>
        <p:nvSpPr>
          <p:cNvPr id="263" name="矩形 26"/>
          <p:cNvSpPr/>
          <p:nvPr/>
        </p:nvSpPr>
        <p:spPr>
          <a:xfrm>
            <a:off x="4470400" y="2921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工具</a:t>
            </a:r>
            <a:endParaRPr lang="zh-CN" sz="1100">
              <a:solidFill>
                <a:srgbClr val="0070C0"/>
              </a:solidFill>
              <a:latin typeface="微软雅黑" panose="020B0503020204020204" charset="-122"/>
              <a:ea typeface="微软雅黑" panose="020B0503020204020204" charset="-122"/>
            </a:endParaRPr>
          </a:p>
        </p:txBody>
      </p:sp>
      <p:sp>
        <p:nvSpPr>
          <p:cNvPr id="264" name="矩形 27"/>
          <p:cNvSpPr/>
          <p:nvPr/>
        </p:nvSpPr>
        <p:spPr>
          <a:xfrm>
            <a:off x="5689600" y="2921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170+ 市场多空</a:t>
            </a:r>
            <a:endParaRPr lang="zh-CN" sz="1000">
              <a:solidFill>
                <a:srgbClr val="1F2933"/>
              </a:solidFill>
              <a:latin typeface="微软雅黑" panose="020B0503020204020204" charset="-122"/>
              <a:ea typeface="微软雅黑" panose="020B0503020204020204" charset="-122"/>
            </a:endParaRPr>
          </a:p>
        </p:txBody>
      </p:sp>
      <p:sp>
        <p:nvSpPr>
          <p:cNvPr id="265" name="矩形 28"/>
          <p:cNvSpPr/>
          <p:nvPr/>
        </p:nvSpPr>
        <p:spPr>
          <a:xfrm>
            <a:off x="4470400" y="3429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敞口</a:t>
            </a:r>
            <a:endParaRPr lang="zh-CN" sz="1100">
              <a:solidFill>
                <a:srgbClr val="0070C0"/>
              </a:solidFill>
              <a:latin typeface="微软雅黑" panose="020B0503020204020204" charset="-122"/>
              <a:ea typeface="微软雅黑" panose="020B0503020204020204" charset="-122"/>
            </a:endParaRPr>
          </a:p>
        </p:txBody>
      </p:sp>
      <p:sp>
        <p:nvSpPr>
          <p:cNvPr id="266" name="矩形 29"/>
          <p:cNvSpPr/>
          <p:nvPr/>
        </p:nvSpPr>
        <p:spPr>
          <a:xfrm>
            <a:off x="5689600" y="3429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久期/商品 beta≈0</a:t>
            </a:r>
            <a:endParaRPr lang="zh-CN" sz="1000">
              <a:solidFill>
                <a:srgbClr val="1F2933"/>
              </a:solidFill>
              <a:latin typeface="微软雅黑" panose="020B0503020204020204" charset="-122"/>
              <a:ea typeface="微软雅黑" panose="020B0503020204020204" charset="-122"/>
            </a:endParaRPr>
          </a:p>
        </p:txBody>
      </p:sp>
      <p:sp>
        <p:nvSpPr>
          <p:cNvPr id="267" name="矩形 30"/>
          <p:cNvSpPr/>
          <p:nvPr/>
        </p:nvSpPr>
        <p:spPr>
          <a:xfrm>
            <a:off x="4470400" y="3937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收益</a:t>
            </a:r>
            <a:endParaRPr lang="zh-CN" sz="1100">
              <a:solidFill>
                <a:srgbClr val="0070C0"/>
              </a:solidFill>
              <a:latin typeface="微软雅黑" panose="020B0503020204020204" charset="-122"/>
              <a:ea typeface="微软雅黑" panose="020B0503020204020204" charset="-122"/>
            </a:endParaRPr>
          </a:p>
        </p:txBody>
      </p:sp>
      <p:sp>
        <p:nvSpPr>
          <p:cNvPr id="268" name="矩形 31"/>
          <p:cNvSpPr/>
          <p:nvPr/>
        </p:nvSpPr>
        <p:spPr>
          <a:xfrm>
            <a:off x="5689600" y="3937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宏观方向择时 alpha</a:t>
            </a:r>
            <a:endParaRPr lang="zh-CN" sz="1000">
              <a:solidFill>
                <a:srgbClr val="1F2933"/>
              </a:solidFill>
              <a:latin typeface="微软雅黑" panose="020B0503020204020204" charset="-122"/>
              <a:ea typeface="微软雅黑" panose="020B0503020204020204" charset="-122"/>
            </a:endParaRPr>
          </a:p>
        </p:txBody>
      </p:sp>
      <p:sp>
        <p:nvSpPr>
          <p:cNvPr id="269" name="矩形 32"/>
          <p:cNvSpPr/>
          <p:nvPr/>
        </p:nvSpPr>
        <p:spPr>
          <a:xfrm>
            <a:off x="4470400" y="4445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特征</a:t>
            </a:r>
            <a:endParaRPr lang="zh-CN" sz="1100">
              <a:solidFill>
                <a:srgbClr val="0070C0"/>
              </a:solidFill>
              <a:latin typeface="微软雅黑" panose="020B0503020204020204" charset="-122"/>
              <a:ea typeface="微软雅黑" panose="020B0503020204020204" charset="-122"/>
            </a:endParaRPr>
          </a:p>
        </p:txBody>
      </p:sp>
      <p:sp>
        <p:nvSpPr>
          <p:cNvPr id="270" name="矩形 33"/>
          <p:cNvSpPr/>
          <p:nvPr/>
        </p:nvSpPr>
        <p:spPr>
          <a:xfrm>
            <a:off x="5689600" y="4445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危机阿尔法(08/22)</a:t>
            </a:r>
            <a:endParaRPr lang="zh-CN" sz="1000">
              <a:solidFill>
                <a:srgbClr val="1F2933"/>
              </a:solidFill>
              <a:latin typeface="微软雅黑" panose="020B0503020204020204" charset="-122"/>
              <a:ea typeface="微软雅黑" panose="020B0503020204020204" charset="-122"/>
            </a:endParaRPr>
          </a:p>
        </p:txBody>
      </p:sp>
      <p:sp>
        <p:nvSpPr>
          <p:cNvPr id="271" name="矩形 34"/>
          <p:cNvSpPr/>
          <p:nvPr/>
        </p:nvSpPr>
        <p:spPr>
          <a:xfrm>
            <a:off x="4470400" y="4953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业绩</a:t>
            </a:r>
            <a:endParaRPr lang="zh-CN" sz="1100">
              <a:solidFill>
                <a:srgbClr val="0070C0"/>
              </a:solidFill>
              <a:latin typeface="微软雅黑" panose="020B0503020204020204" charset="-122"/>
              <a:ea typeface="微软雅黑" panose="020B0503020204020204" charset="-122"/>
            </a:endParaRPr>
          </a:p>
        </p:txBody>
      </p:sp>
      <p:sp>
        <p:nvSpPr>
          <p:cNvPr id="272" name="矩形 35"/>
          <p:cNvSpPr/>
          <p:nvPr/>
        </p:nvSpPr>
        <p:spPr>
          <a:xfrm>
            <a:off x="5689600" y="4953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年化约 11.4%</a:t>
            </a:r>
            <a:endParaRPr lang="zh-CN" sz="1000">
              <a:solidFill>
                <a:srgbClr val="1F2933"/>
              </a:solidFill>
              <a:latin typeface="微软雅黑" panose="020B0503020204020204" charset="-122"/>
              <a:ea typeface="微软雅黑" panose="020B0503020204020204" charset="-122"/>
            </a:endParaRPr>
          </a:p>
        </p:txBody>
      </p:sp>
      <p:sp>
        <p:nvSpPr>
          <p:cNvPr id="273" name="矩形 36"/>
          <p:cNvSpPr/>
          <p:nvPr/>
        </p:nvSpPr>
        <p:spPr>
          <a:xfrm>
            <a:off x="8280400" y="2413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定位</a:t>
            </a:r>
            <a:endParaRPr lang="zh-CN" sz="1100">
              <a:solidFill>
                <a:srgbClr val="0070C0"/>
              </a:solidFill>
              <a:latin typeface="微软雅黑" panose="020B0503020204020204" charset="-122"/>
              <a:ea typeface="微软雅黑" panose="020B0503020204020204" charset="-122"/>
            </a:endParaRPr>
          </a:p>
        </p:txBody>
      </p:sp>
      <p:sp>
        <p:nvSpPr>
          <p:cNvPr id="274" name="矩形 37"/>
          <p:cNvSpPr/>
          <p:nvPr/>
        </p:nvSpPr>
        <p:spPr>
          <a:xfrm>
            <a:off x="9499600" y="2413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配置beta+工具alpha</a:t>
            </a:r>
            <a:endParaRPr lang="zh-CN" sz="1000">
              <a:solidFill>
                <a:srgbClr val="1F2933"/>
              </a:solidFill>
              <a:latin typeface="微软雅黑" panose="020B0503020204020204" charset="-122"/>
              <a:ea typeface="微软雅黑" panose="020B0503020204020204" charset="-122"/>
            </a:endParaRPr>
          </a:p>
        </p:txBody>
      </p:sp>
      <p:sp>
        <p:nvSpPr>
          <p:cNvPr id="275" name="矩形 38"/>
          <p:cNvSpPr/>
          <p:nvPr/>
        </p:nvSpPr>
        <p:spPr>
          <a:xfrm>
            <a:off x="8280400" y="2921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工具</a:t>
            </a:r>
            <a:endParaRPr lang="zh-CN" sz="1100">
              <a:solidFill>
                <a:srgbClr val="0070C0"/>
              </a:solidFill>
              <a:latin typeface="微软雅黑" panose="020B0503020204020204" charset="-122"/>
              <a:ea typeface="微软雅黑" panose="020B0503020204020204" charset="-122"/>
            </a:endParaRPr>
          </a:p>
        </p:txBody>
      </p:sp>
      <p:sp>
        <p:nvSpPr>
          <p:cNvPr id="276" name="矩形 39"/>
          <p:cNvSpPr/>
          <p:nvPr/>
        </p:nvSpPr>
        <p:spPr>
          <a:xfrm>
            <a:off x="9499600" y="2921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量化选股/量化CTA</a:t>
            </a:r>
            <a:endParaRPr lang="zh-CN" sz="1000">
              <a:solidFill>
                <a:srgbClr val="1F2933"/>
              </a:solidFill>
              <a:latin typeface="微软雅黑" panose="020B0503020204020204" charset="-122"/>
              <a:ea typeface="微软雅黑" panose="020B0503020204020204" charset="-122"/>
            </a:endParaRPr>
          </a:p>
        </p:txBody>
      </p:sp>
      <p:sp>
        <p:nvSpPr>
          <p:cNvPr id="277" name="矩形 40"/>
          <p:cNvSpPr/>
          <p:nvPr/>
        </p:nvSpPr>
        <p:spPr>
          <a:xfrm>
            <a:off x="8280400" y="3429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敞口</a:t>
            </a:r>
            <a:endParaRPr lang="zh-CN" sz="1100">
              <a:solidFill>
                <a:srgbClr val="0070C0"/>
              </a:solidFill>
              <a:latin typeface="微软雅黑" panose="020B0503020204020204" charset="-122"/>
              <a:ea typeface="微软雅黑" panose="020B0503020204020204" charset="-122"/>
            </a:endParaRPr>
          </a:p>
        </p:txBody>
      </p:sp>
      <p:sp>
        <p:nvSpPr>
          <p:cNvPr id="278" name="矩形 41"/>
          <p:cNvSpPr/>
          <p:nvPr/>
        </p:nvSpPr>
        <p:spPr>
          <a:xfrm>
            <a:off x="9499600" y="3429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保留beta叠加增强</a:t>
            </a:r>
            <a:endParaRPr lang="zh-CN" sz="1000">
              <a:solidFill>
                <a:srgbClr val="1F2933"/>
              </a:solidFill>
              <a:latin typeface="微软雅黑" panose="020B0503020204020204" charset="-122"/>
              <a:ea typeface="微软雅黑" panose="020B0503020204020204" charset="-122"/>
            </a:endParaRPr>
          </a:p>
        </p:txBody>
      </p:sp>
      <p:sp>
        <p:nvSpPr>
          <p:cNvPr id="279" name="矩形 42"/>
          <p:cNvSpPr/>
          <p:nvPr/>
        </p:nvSpPr>
        <p:spPr>
          <a:xfrm>
            <a:off x="8280400" y="3937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收益</a:t>
            </a:r>
            <a:endParaRPr lang="zh-CN" sz="1100">
              <a:solidFill>
                <a:srgbClr val="0070C0"/>
              </a:solidFill>
              <a:latin typeface="微软雅黑" panose="020B0503020204020204" charset="-122"/>
              <a:ea typeface="微软雅黑" panose="020B0503020204020204" charset="-122"/>
            </a:endParaRPr>
          </a:p>
        </p:txBody>
      </p:sp>
      <p:sp>
        <p:nvSpPr>
          <p:cNvPr id="280" name="矩形 43"/>
          <p:cNvSpPr/>
          <p:nvPr/>
        </p:nvSpPr>
        <p:spPr>
          <a:xfrm>
            <a:off x="9499600" y="3937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beta+工具超额</a:t>
            </a:r>
            <a:endParaRPr lang="zh-CN" sz="1000">
              <a:solidFill>
                <a:srgbClr val="1F2933"/>
              </a:solidFill>
              <a:latin typeface="微软雅黑" panose="020B0503020204020204" charset="-122"/>
              <a:ea typeface="微软雅黑" panose="020B0503020204020204" charset="-122"/>
            </a:endParaRPr>
          </a:p>
        </p:txBody>
      </p:sp>
      <p:sp>
        <p:nvSpPr>
          <p:cNvPr id="281" name="矩形 44"/>
          <p:cNvSpPr/>
          <p:nvPr/>
        </p:nvSpPr>
        <p:spPr>
          <a:xfrm>
            <a:off x="8280400" y="4445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特征</a:t>
            </a:r>
            <a:endParaRPr lang="zh-CN" sz="1100">
              <a:solidFill>
                <a:srgbClr val="0070C0"/>
              </a:solidFill>
              <a:latin typeface="微软雅黑" panose="020B0503020204020204" charset="-122"/>
              <a:ea typeface="微软雅黑" panose="020B0503020204020204" charset="-122"/>
            </a:endParaRPr>
          </a:p>
        </p:txBody>
      </p:sp>
      <p:sp>
        <p:nvSpPr>
          <p:cNvPr id="282" name="矩形 45"/>
          <p:cNvSpPr/>
          <p:nvPr/>
        </p:nvSpPr>
        <p:spPr>
          <a:xfrm>
            <a:off x="9499600" y="4445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夏普高、alpha会衰减</a:t>
            </a:r>
            <a:endParaRPr lang="zh-CN" sz="1000">
              <a:solidFill>
                <a:srgbClr val="1F2933"/>
              </a:solidFill>
              <a:latin typeface="微软雅黑" panose="020B0503020204020204" charset="-122"/>
              <a:ea typeface="微软雅黑" panose="020B0503020204020204" charset="-122"/>
            </a:endParaRPr>
          </a:p>
        </p:txBody>
      </p:sp>
      <p:sp>
        <p:nvSpPr>
          <p:cNvPr id="283" name="矩形 46"/>
          <p:cNvSpPr/>
          <p:nvPr/>
        </p:nvSpPr>
        <p:spPr>
          <a:xfrm>
            <a:off x="8280400" y="4953000"/>
            <a:ext cx="1143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rPr>
              <a:t>关键</a:t>
            </a:r>
            <a:endParaRPr lang="zh-CN" sz="1100">
              <a:solidFill>
                <a:srgbClr val="0070C0"/>
              </a:solidFill>
              <a:latin typeface="微软雅黑" panose="020B0503020204020204" charset="-122"/>
              <a:ea typeface="微软雅黑" panose="020B0503020204020204" charset="-122"/>
            </a:endParaRPr>
          </a:p>
        </p:txBody>
      </p:sp>
      <p:sp>
        <p:nvSpPr>
          <p:cNvPr id="284" name="矩形 47"/>
          <p:cNvSpPr/>
          <p:nvPr/>
        </p:nvSpPr>
        <p:spPr>
          <a:xfrm>
            <a:off x="9499600" y="4953000"/>
            <a:ext cx="20955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rPr>
              <a:t>归因验证alpha真假</a:t>
            </a:r>
            <a:endParaRPr lang="zh-CN" sz="1000">
              <a:solidFill>
                <a:srgbClr val="1F2933"/>
              </a:solidFill>
              <a:latin typeface="微软雅黑" panose="020B0503020204020204" charset="-122"/>
              <a:ea typeface="微软雅黑" panose="020B0503020204020204" charset="-122"/>
            </a:endParaRPr>
          </a:p>
        </p:txBody>
      </p:sp>
      <p:pic>
        <p:nvPicPr>
          <p:cNvPr id="285" name="参考模板浅蓝背景弧线"/>
          <p:cNvPicPr/>
          <p:nvPr/>
        </p:nvPicPr>
        <p:blipFill>
          <a:blip r:embed="rId2"/>
          <a:stretch>
            <a:fillRect/>
          </a:stretch>
        </p:blipFill>
        <p:spPr>
          <a:xfrm>
            <a:off x="4457700" y="0"/>
            <a:ext cx="3143250" cy="495300"/>
          </a:xfrm>
          <a:prstGeom prst="rect">
            <a:avLst/>
          </a:prstGeom>
          <a:noFill/>
          <a:ln>
            <a:noFill/>
          </a:ln>
        </p:spPr>
      </p:pic>
      <p:pic>
        <p:nvPicPr>
          <p:cNvPr id="286"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24.xml><?xml version="1.0" encoding="utf-8"?>
<p:sld xmlns:r="http://schemas.openxmlformats.org/officeDocument/2006/relationships" xmlns:p="http://schemas.openxmlformats.org/presentationml/2006/main" xmlns:a="http://schemas.openxmlformats.org/drawingml/2006/main">
  <p:cSld>
    <p:spTree>
      <p:nvGrpSpPr>
        <p:cNvPr id="285" name=""/>
        <p:cNvGrpSpPr/>
        <p:nvPr/>
      </p:nvGrpSpPr>
      <p:grpSpPr>
        <a:xfrm>
          <a:off x="0" y="0"/>
          <a:ext cx="0" cy="0"/>
          <a:chOff x="0" y="0"/>
          <a:chExt cx="0" cy="0"/>
        </a:xfrm>
      </p:grpSpPr>
      <p:sp>
        <p:nvSpPr>
          <p:cNvPr id="286"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87"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未来展望与调仓计划</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88"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sz="1100" b="0">
                <a:solidFill>
                  <a:srgbClr val="595959"/>
                </a:solidFill>
                <a:latin typeface="微软雅黑" panose="020B0503020204020204" charset="-122"/>
                <a:ea typeface="微软雅黑" panose="020B0503020204020204" charset="-122"/>
                <a:cs typeface="微软雅黑" panose="020B0503020204020204" charset="-122"/>
              </a:rPr>
              <a:t>9 月三大变量：美国 8 月 CPI · 美联储议息 · 中东局势</a:t>
            </a:r>
            <a:endParaRPr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289"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90"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91" name="Rectangle 6"/>
          <p:cNvSpPr/>
          <p:nvPr/>
        </p:nvSpPr>
        <p:spPr>
          <a:xfrm>
            <a:off x="502920" y="1645920"/>
            <a:ext cx="3639312" cy="1737360"/>
          </a:xfrm>
          <a:prstGeom prst="rect">
            <a:avLst/>
          </a:prstGeom>
          <a:solidFill>
            <a:srgbClr val="F4FAFE"/>
          </a:solidFill>
          <a:ln w="9525">
            <a:solidFill>
              <a:srgbClr val="AED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92" name="Rectangle 7"/>
          <p:cNvSpPr/>
          <p:nvPr/>
        </p:nvSpPr>
        <p:spPr>
          <a:xfrm>
            <a:off x="502920" y="1645920"/>
            <a:ext cx="3639312" cy="45720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93" name="Rectangle 8"/>
          <p:cNvSpPr/>
          <p:nvPr/>
        </p:nvSpPr>
        <p:spPr>
          <a:xfrm>
            <a:off x="502920" y="1645920"/>
            <a:ext cx="3639312" cy="45720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250" b="1">
                <a:solidFill>
                  <a:srgbClr val="FFFFFF"/>
                </a:solidFill>
                <a:latin typeface="微软雅黑" panose="020B0503020204020204" charset="-122"/>
                <a:ea typeface="微软雅黑" panose="020B0503020204020204" charset="-122"/>
                <a:cs typeface="微软雅黑" panose="020B0503020204020204" charset="-122"/>
              </a:rPr>
              <a:t>9/11 美国 8 月 CPI</a:t>
            </a:r>
            <a:endParaRPr sz="12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94" name="TextBox 9"/>
          <p:cNvSpPr txBox="1"/>
          <p:nvPr/>
        </p:nvSpPr>
        <p:spPr>
          <a:xfrm>
            <a:off x="640080" y="2212848"/>
            <a:ext cx="3446780" cy="822960"/>
          </a:xfrm>
          <a:prstGeom prst="rect">
            <a:avLst/>
          </a:prstGeom>
          <a:noFill/>
        </p:spPr>
        <p:txBody>
          <a:bodyPr wrap="square" lIns="0" tIns="0" rIns="0" bIns="0" anchor="t">
            <a:spAutoFit/>
          </a:bodyPr>
          <a:lstStyle/>
          <a:p>
            <a:pPr algn="l">
              <a:lnSpc>
                <a:spcPct val="120000"/>
              </a:lnSpc>
              <a:spcAft>
                <a:spcPts val="600"/>
              </a:spcAft>
            </a:pPr>
            <a:r>
              <a:rPr lang="zh-CN" sz="1150" b="0">
                <a:solidFill>
                  <a:srgbClr val="1F2933"/>
                </a:solidFill>
                <a:latin typeface="微软雅黑" panose="020B0503020204020204" charset="-122"/>
                <a:ea typeface="微软雅黑" panose="020B0503020204020204" charset="-122"/>
                <a:cs typeface="微软雅黑" panose="020B0503020204020204" charset="-122"/>
              </a:rPr>
              <a:t>已公布：同比3.4%、核心2.4%，核心环比0.3%超预期</a:t>
            </a:r>
            <a:endParaRPr lang="zh-CN" sz="11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295" name="TextBox 10"/>
          <p:cNvSpPr txBox="1"/>
          <p:nvPr/>
        </p:nvSpPr>
        <p:spPr>
          <a:xfrm>
            <a:off x="640080" y="3035808"/>
            <a:ext cx="3364992" cy="365760"/>
          </a:xfrm>
          <a:prstGeom prst="rect">
            <a:avLst/>
          </a:prstGeom>
          <a:noFill/>
        </p:spPr>
        <p:txBody>
          <a:bodyPr wrap="square" lIns="0" tIns="0" rIns="0" bIns="0" anchor="t">
            <a:spAutoFit/>
          </a:bodyPr>
          <a:lstStyle/>
          <a:p>
            <a:pPr algn="l">
              <a:lnSpc>
                <a:spcPct val="110000"/>
              </a:lnSpc>
              <a:spcAft>
                <a:spcPts val="600"/>
              </a:spcAft>
            </a:pPr>
            <a:r>
              <a:rPr lang="zh-CN" sz="1050" b="0">
                <a:solidFill>
                  <a:srgbClr val="0070C0"/>
                </a:solidFill>
                <a:latin typeface="微软雅黑" panose="020B0503020204020204" charset="-122"/>
                <a:ea typeface="微软雅黑" panose="020B0503020204020204" charset="-122"/>
                <a:cs typeface="微软雅黑" panose="020B0503020204020204" charset="-122"/>
              </a:rPr>
              <a:t>核心超预期 → 加息近确定，压制风险资产</a:t>
            </a:r>
            <a:endParaRPr lang="zh-CN" sz="1050" b="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296" name="Rectangle 11"/>
          <p:cNvSpPr/>
          <p:nvPr/>
        </p:nvSpPr>
        <p:spPr>
          <a:xfrm>
            <a:off x="4279392" y="1645920"/>
            <a:ext cx="3639312" cy="1737360"/>
          </a:xfrm>
          <a:prstGeom prst="rect">
            <a:avLst/>
          </a:prstGeom>
          <a:solidFill>
            <a:srgbClr val="F4FAFE"/>
          </a:solidFill>
          <a:ln w="9525">
            <a:solidFill>
              <a:srgbClr val="AED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97" name="Rectangle 12"/>
          <p:cNvSpPr/>
          <p:nvPr/>
        </p:nvSpPr>
        <p:spPr>
          <a:xfrm>
            <a:off x="4279392" y="1645920"/>
            <a:ext cx="3639312" cy="45720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298" name="Rectangle 13"/>
          <p:cNvSpPr/>
          <p:nvPr/>
        </p:nvSpPr>
        <p:spPr>
          <a:xfrm>
            <a:off x="4279392" y="1645920"/>
            <a:ext cx="3639312" cy="45720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250" b="1">
                <a:solidFill>
                  <a:srgbClr val="FFFFFF"/>
                </a:solidFill>
                <a:latin typeface="微软雅黑" panose="020B0503020204020204" charset="-122"/>
                <a:ea typeface="微软雅黑" panose="020B0503020204020204" charset="-122"/>
                <a:cs typeface="微软雅黑" panose="020B0503020204020204" charset="-122"/>
              </a:rPr>
              <a:t>9/16 美联储议息</a:t>
            </a:r>
            <a:endParaRPr sz="12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99" name="TextBox 14"/>
          <p:cNvSpPr txBox="1"/>
          <p:nvPr/>
        </p:nvSpPr>
        <p:spPr>
          <a:xfrm>
            <a:off x="4416552" y="2212848"/>
            <a:ext cx="3364992" cy="822960"/>
          </a:xfrm>
          <a:prstGeom prst="rect">
            <a:avLst/>
          </a:prstGeom>
          <a:noFill/>
        </p:spPr>
        <p:txBody>
          <a:bodyPr wrap="square" lIns="0" tIns="0" rIns="0" bIns="0" anchor="t">
            <a:spAutoFit/>
          </a:bodyPr>
          <a:lstStyle/>
          <a:p>
            <a:pPr algn="l">
              <a:lnSpc>
                <a:spcPct val="120000"/>
              </a:lnSpc>
              <a:spcAft>
                <a:spcPts val="600"/>
              </a:spcAft>
            </a:pPr>
            <a:r>
              <a:rPr lang="zh-CN" sz="1150" b="0">
                <a:solidFill>
                  <a:srgbClr val="1F2933"/>
                </a:solidFill>
                <a:latin typeface="微软雅黑" panose="020B0503020204020204" charset="-122"/>
                <a:ea typeface="微软雅黑" panose="020B0503020204020204" charset="-122"/>
                <a:cs typeface="微软雅黑" panose="020B0503020204020204" charset="-122"/>
              </a:rPr>
              <a:t>加息25bp概率95%，今晚出结果（沃什首场FOMC）</a:t>
            </a:r>
            <a:endParaRPr lang="zh-CN" sz="11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00" name="TextBox 15"/>
          <p:cNvSpPr txBox="1"/>
          <p:nvPr/>
        </p:nvSpPr>
        <p:spPr>
          <a:xfrm>
            <a:off x="4416552" y="3035808"/>
            <a:ext cx="3364992" cy="365760"/>
          </a:xfrm>
          <a:prstGeom prst="rect">
            <a:avLst/>
          </a:prstGeom>
          <a:noFill/>
        </p:spPr>
        <p:txBody>
          <a:bodyPr wrap="square" lIns="0" tIns="0" rIns="0" bIns="0" anchor="t">
            <a:spAutoFit/>
          </a:bodyPr>
          <a:lstStyle/>
          <a:p>
            <a:pPr algn="l">
              <a:lnSpc>
                <a:spcPct val="110000"/>
              </a:lnSpc>
              <a:spcAft>
                <a:spcPts val="600"/>
              </a:spcAft>
            </a:pPr>
            <a:r>
              <a:rPr sz="1050" b="0">
                <a:solidFill>
                  <a:srgbClr val="0070C0"/>
                </a:solidFill>
                <a:latin typeface="微软雅黑" panose="020B0503020204020204" charset="-122"/>
                <a:ea typeface="微软雅黑" panose="020B0503020204020204" charset="-122"/>
                <a:cs typeface="微软雅黑" panose="020B0503020204020204" charset="-122"/>
              </a:rPr>
              <a:t>若加息落地 → 全球利率中枢上移，人民币资产相对占优</a:t>
            </a:r>
            <a:endParaRPr sz="1050" b="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01" name="Rectangle 16"/>
          <p:cNvSpPr/>
          <p:nvPr/>
        </p:nvSpPr>
        <p:spPr>
          <a:xfrm>
            <a:off x="8055864" y="1645920"/>
            <a:ext cx="3639312" cy="1737360"/>
          </a:xfrm>
          <a:prstGeom prst="rect">
            <a:avLst/>
          </a:prstGeom>
          <a:solidFill>
            <a:srgbClr val="F4FAFE"/>
          </a:solidFill>
          <a:ln w="9525">
            <a:solidFill>
              <a:srgbClr val="AED5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02" name="Rectangle 17"/>
          <p:cNvSpPr/>
          <p:nvPr/>
        </p:nvSpPr>
        <p:spPr>
          <a:xfrm>
            <a:off x="8055864" y="1645920"/>
            <a:ext cx="3639312" cy="45720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03" name="Rectangle 18"/>
          <p:cNvSpPr/>
          <p:nvPr/>
        </p:nvSpPr>
        <p:spPr>
          <a:xfrm>
            <a:off x="8055864" y="1645920"/>
            <a:ext cx="3639312" cy="45720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ctr">
              <a:lnSpc>
                <a:spcPct val="110000"/>
              </a:lnSpc>
              <a:spcAft>
                <a:spcPts val="400"/>
              </a:spcAft>
            </a:pPr>
            <a:r>
              <a:rPr sz="1250" b="1">
                <a:solidFill>
                  <a:srgbClr val="FFFFFF"/>
                </a:solidFill>
                <a:latin typeface="微软雅黑" panose="020B0503020204020204" charset="-122"/>
                <a:ea typeface="微软雅黑" panose="020B0503020204020204" charset="-122"/>
                <a:cs typeface="微软雅黑" panose="020B0503020204020204" charset="-122"/>
              </a:rPr>
              <a:t>中东局势</a:t>
            </a:r>
            <a:endParaRPr sz="12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04" name="TextBox 19"/>
          <p:cNvSpPr txBox="1"/>
          <p:nvPr/>
        </p:nvSpPr>
        <p:spPr>
          <a:xfrm>
            <a:off x="8193024" y="2212848"/>
            <a:ext cx="3364992" cy="822960"/>
          </a:xfrm>
          <a:prstGeom prst="rect">
            <a:avLst/>
          </a:prstGeom>
          <a:noFill/>
        </p:spPr>
        <p:txBody>
          <a:bodyPr wrap="square" lIns="0" tIns="0" rIns="0" bIns="0" anchor="t">
            <a:spAutoFit/>
          </a:bodyPr>
          <a:lstStyle/>
          <a:p>
            <a:pPr algn="l">
              <a:lnSpc>
                <a:spcPct val="120000"/>
              </a:lnSpc>
              <a:spcAft>
                <a:spcPts val="600"/>
              </a:spcAft>
            </a:pPr>
            <a:r>
              <a:rPr sz="1150" b="0">
                <a:solidFill>
                  <a:srgbClr val="1F2933"/>
                </a:solidFill>
                <a:latin typeface="微软雅黑" panose="020B0503020204020204" charset="-122"/>
                <a:ea typeface="微软雅黑" panose="020B0503020204020204" charset="-122"/>
                <a:cs typeface="微软雅黑" panose="020B0503020204020204" charset="-122"/>
              </a:rPr>
              <a:t>美伊冲突持续，油价与航运成本高企</a:t>
            </a:r>
            <a:endParaRPr sz="11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05" name="TextBox 20"/>
          <p:cNvSpPr txBox="1"/>
          <p:nvPr/>
        </p:nvSpPr>
        <p:spPr>
          <a:xfrm>
            <a:off x="8193024" y="3035808"/>
            <a:ext cx="3364992" cy="365760"/>
          </a:xfrm>
          <a:prstGeom prst="rect">
            <a:avLst/>
          </a:prstGeom>
          <a:noFill/>
        </p:spPr>
        <p:txBody>
          <a:bodyPr wrap="square" lIns="0" tIns="0" rIns="0" bIns="0" anchor="t">
            <a:spAutoFit/>
          </a:bodyPr>
          <a:lstStyle/>
          <a:p>
            <a:pPr algn="l">
              <a:lnSpc>
                <a:spcPct val="110000"/>
              </a:lnSpc>
              <a:spcAft>
                <a:spcPts val="600"/>
              </a:spcAft>
            </a:pPr>
            <a:r>
              <a:rPr sz="1050" b="0">
                <a:solidFill>
                  <a:srgbClr val="0070C0"/>
                </a:solidFill>
                <a:latin typeface="微软雅黑" panose="020B0503020204020204" charset="-122"/>
                <a:ea typeface="微软雅黑" panose="020B0503020204020204" charset="-122"/>
                <a:cs typeface="微软雅黑" panose="020B0503020204020204" charset="-122"/>
              </a:rPr>
              <a:t>能源/商品多头逻辑强化，输入型通胀延续</a:t>
            </a:r>
            <a:endParaRPr sz="1050" b="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06" name="TextBox 21"/>
          <p:cNvSpPr txBox="1"/>
          <p:nvPr/>
        </p:nvSpPr>
        <p:spPr>
          <a:xfrm>
            <a:off x="502920" y="3611880"/>
            <a:ext cx="5486400" cy="457200"/>
          </a:xfrm>
          <a:prstGeom prst="rect">
            <a:avLst/>
          </a:prstGeom>
          <a:noFill/>
        </p:spPr>
        <p:txBody>
          <a:bodyPr wrap="square" lIns="0" tIns="0" rIns="0" bIns="0" anchor="t">
            <a:spAutoFit/>
          </a:bodyPr>
          <a:lstStyle/>
          <a:p>
            <a:pPr algn="l">
              <a:lnSpc>
                <a:spcPct val="115000"/>
              </a:lnSpc>
              <a:spcAft>
                <a:spcPts val="600"/>
              </a:spcAft>
            </a:pPr>
            <a:r>
              <a:rPr sz="1500" b="1">
                <a:solidFill>
                  <a:srgbClr val="0070C0"/>
                </a:solidFill>
                <a:latin typeface="微软雅黑" panose="020B0503020204020204" charset="-122"/>
                <a:ea typeface="微软雅黑" panose="020B0503020204020204" charset="-122"/>
                <a:cs typeface="微软雅黑" panose="020B0503020204020204" charset="-122"/>
              </a:rPr>
              <a:t>调仓方向（建议）</a:t>
            </a:r>
            <a:endParaRPr sz="15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07" name="TextBox 22"/>
          <p:cNvSpPr txBox="1"/>
          <p:nvPr/>
        </p:nvSpPr>
        <p:spPr>
          <a:xfrm>
            <a:off x="502920" y="4069080"/>
            <a:ext cx="11183112" cy="1828800"/>
          </a:xfrm>
          <a:prstGeom prst="rect">
            <a:avLst/>
          </a:prstGeom>
          <a:noFill/>
        </p:spPr>
        <p:txBody>
          <a:bodyPr wrap="square" lIns="0" tIns="0" rIns="0" bIns="0" anchor="t">
            <a:spAutoFit/>
          </a:bodyPr>
          <a:lstStyle/>
          <a:p>
            <a:pPr algn="l">
              <a:lnSpc>
                <a:spcPct val="150000"/>
              </a:lnSpc>
              <a:spcAft>
                <a:spcPts val="600"/>
              </a:spcAft>
            </a:pPr>
            <a:r>
              <a:rPr sz="1300" b="0">
                <a:solidFill>
                  <a:srgbClr val="1F2933"/>
                </a:solidFill>
                <a:latin typeface="微软雅黑" panose="020B0503020204020204" charset="-122"/>
                <a:ea typeface="微软雅黑" panose="020B0503020204020204" charset="-122"/>
                <a:cs typeface="微软雅黑" panose="020B0503020204020204" charset="-122"/>
              </a:rPr>
              <a:t>· 固收：维持高比例压舱，票息与稳健策略为主，回撤控制核心
· 商品/CTA：价格弹性修复 + 趋势行情，可适度增配趋势型 CTA
· 权益：结构 &gt; 指数，减配小盘指增、增配中性/对冲与低波策略
· 黄金：保留底仓，等待加息预期落地后的配置窗口</a:t>
            </a:r>
            <a:endParaRPr sz="130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08" name="TextBox 23"/>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09" name="TextBox 24"/>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15</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310" name="参考模板浅蓝背景弧线"/>
          <p:cNvPicPr/>
          <p:nvPr/>
        </p:nvPicPr>
        <p:blipFill>
          <a:blip r:embed="rId2"/>
          <a:stretch>
            <a:fillRect/>
          </a:stretch>
        </p:blipFill>
        <p:spPr>
          <a:xfrm>
            <a:off x="4457700" y="0"/>
            <a:ext cx="3143250" cy="495300"/>
          </a:xfrm>
          <a:prstGeom prst="rect">
            <a:avLst/>
          </a:prstGeom>
          <a:noFill/>
          <a:ln>
            <a:noFill/>
          </a:ln>
        </p:spPr>
      </p:pic>
      <p:pic>
        <p:nvPicPr>
          <p:cNvPr id="311"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25.xml><?xml version="1.0" encoding="utf-8"?>
<p:sld xmlns:r="http://schemas.openxmlformats.org/officeDocument/2006/relationships" xmlns:p="http://schemas.openxmlformats.org/presentationml/2006/main" xmlns:a="http://schemas.openxmlformats.org/drawingml/2006/main">
  <p:cSld>
    <p:spTree>
      <p:nvGrpSpPr>
        <p:cNvPr id="310" name=""/>
        <p:cNvGrpSpPr/>
        <p:nvPr/>
      </p:nvGrpSpPr>
      <p:grpSpPr>
        <a:xfrm>
          <a:off x="0" y="0"/>
          <a:ext cx="0" cy="0"/>
          <a:chOff x="0" y="0"/>
          <a:chExt cx="0" cy="0"/>
        </a:xfrm>
      </p:grpSpPr>
      <p:sp>
        <p:nvSpPr>
          <p:cNvPr id="311" name="矩形 93"/>
          <p:cNvSpPr/>
          <p:nvPr/>
        </p:nvSpPr>
        <p:spPr>
          <a:xfrm>
            <a:off x="508000" y="457200"/>
            <a:ext cx="88900" cy="571500"/>
          </a:xfrm>
          <a:prstGeom prst="rect">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312" name="矩形 94"/>
          <p:cNvSpPr/>
          <p:nvPr/>
        </p:nvSpPr>
        <p:spPr>
          <a:xfrm>
            <a:off x="508000" y="1016000"/>
            <a:ext cx="2006600" cy="31750"/>
          </a:xfrm>
          <a:prstGeom prst="rect">
            <a:avLst/>
          </a:prstGeom>
          <a:solidFill>
            <a:srgbClr val="54B0E0"/>
          </a:solidFill>
          <a:ln>
            <a:noFill/>
          </a:ln>
        </p:spPr>
        <p:txBody>
          <a:bodyPr/>
          <a:p>
            <a:pPr/>
            <a:endParaRPr>
              <a:ea typeface="微软雅黑" panose="020B0503020204020204" charset="-122"/>
              <a:cs typeface="微软雅黑" panose="020B0503020204020204" charset="-122"/>
            </a:endParaRPr>
          </a:p>
        </p:txBody>
      </p:sp>
      <p:sp>
        <p:nvSpPr>
          <p:cNvPr id="313" name="矩形 95"/>
          <p:cNvSpPr/>
          <p:nvPr/>
        </p:nvSpPr>
        <p:spPr>
          <a:xfrm>
            <a:off x="508000" y="2246157"/>
            <a:ext cx="5461000" cy="2095500"/>
          </a:xfrm>
          <a:prstGeom prst="rect">
            <a:avLst/>
          </a:prstGeom>
          <a:solidFill>
            <a:srgbClr val="FFFFFF"/>
          </a:solidFill>
          <a:ln w="12700">
            <a:solidFill>
              <a:srgbClr val="AED5EB"/>
            </a:solidFill>
            <a:prstDash val="solid"/>
          </a:ln>
        </p:spPr>
        <p:txBody>
          <a:bodyPr/>
          <a:p>
            <a:pPr/>
            <a:endParaRPr>
              <a:ea typeface="微软雅黑" panose="020B0503020204020204" charset="-122"/>
              <a:cs typeface="微软雅黑" panose="020B0503020204020204" charset="-122"/>
            </a:endParaRPr>
          </a:p>
        </p:txBody>
      </p:sp>
      <p:sp>
        <p:nvSpPr>
          <p:cNvPr id="314" name="矩形 96"/>
          <p:cNvSpPr/>
          <p:nvPr/>
        </p:nvSpPr>
        <p:spPr>
          <a:xfrm>
            <a:off x="508000" y="2246157"/>
            <a:ext cx="5461000" cy="571500"/>
          </a:xfrm>
          <a:prstGeom prst="rect">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315" name="矩形 97"/>
          <p:cNvSpPr/>
          <p:nvPr/>
        </p:nvSpPr>
        <p:spPr>
          <a:xfrm>
            <a:off x="6197600" y="2246157"/>
            <a:ext cx="5461000" cy="2095500"/>
          </a:xfrm>
          <a:prstGeom prst="rect">
            <a:avLst/>
          </a:prstGeom>
          <a:solidFill>
            <a:srgbClr val="FFFFFF"/>
          </a:solidFill>
          <a:ln w="12700">
            <a:solidFill>
              <a:srgbClr val="AED5EB"/>
            </a:solidFill>
            <a:prstDash val="solid"/>
          </a:ln>
        </p:spPr>
        <p:txBody>
          <a:bodyPr/>
          <a:p>
            <a:pPr/>
            <a:endParaRPr>
              <a:ea typeface="微软雅黑" panose="020B0503020204020204" charset="-122"/>
              <a:cs typeface="微软雅黑" panose="020B0503020204020204" charset="-122"/>
            </a:endParaRPr>
          </a:p>
        </p:txBody>
      </p:sp>
      <p:sp>
        <p:nvSpPr>
          <p:cNvPr id="316" name="矩形 98"/>
          <p:cNvSpPr/>
          <p:nvPr/>
        </p:nvSpPr>
        <p:spPr>
          <a:xfrm>
            <a:off x="6197600" y="2246157"/>
            <a:ext cx="5461000" cy="571500"/>
          </a:xfrm>
          <a:prstGeom prst="rect">
            <a:avLst/>
          </a:prstGeom>
          <a:solidFill>
            <a:srgbClr val="54B0E0"/>
          </a:solidFill>
          <a:ln>
            <a:noFill/>
          </a:ln>
        </p:spPr>
        <p:txBody>
          <a:bodyPr/>
          <a:p>
            <a:pPr/>
            <a:endParaRPr>
              <a:ea typeface="微软雅黑" panose="020B0503020204020204" charset="-122"/>
              <a:cs typeface="微软雅黑" panose="020B0503020204020204" charset="-122"/>
            </a:endParaRPr>
          </a:p>
        </p:txBody>
      </p:sp>
      <p:sp>
        <p:nvSpPr>
          <p:cNvPr id="317" name="矩形 99"/>
          <p:cNvSpPr/>
          <p:nvPr/>
        </p:nvSpPr>
        <p:spPr>
          <a:xfrm>
            <a:off x="508000" y="6032500"/>
            <a:ext cx="11176000" cy="571500"/>
          </a:xfrm>
          <a:prstGeom prst="rect">
            <a:avLst/>
          </a:prstGeom>
          <a:solidFill>
            <a:srgbClr val="EAF6FC"/>
          </a:solidFill>
          <a:ln>
            <a:noFill/>
          </a:ln>
        </p:spPr>
        <p:txBody>
          <a:bodyPr/>
          <a:p>
            <a:pPr/>
            <a:endParaRPr>
              <a:ea typeface="微软雅黑" panose="020B0503020204020204" charset="-122"/>
              <a:cs typeface="微软雅黑" panose="020B0503020204020204" charset="-122"/>
            </a:endParaRPr>
          </a:p>
        </p:txBody>
      </p:sp>
      <p:sp>
        <p:nvSpPr>
          <p:cNvPr id="318" name="矩形 100"/>
          <p:cNvSpPr/>
          <p:nvPr/>
        </p:nvSpPr>
        <p:spPr>
          <a:xfrm>
            <a:off x="711200" y="419100"/>
            <a:ext cx="8890000" cy="635000"/>
          </a:xfrm>
          <a:prstGeom prst="rect">
            <a:avLst/>
          </a:prstGeom>
          <a:noFill/>
          <a:ln>
            <a:noFill/>
          </a:ln>
        </p:spPr>
        <p:txBody>
          <a:bodyPr/>
          <a:p>
            <a:pPr/>
            <a:r>
              <a:rPr lang="zh-CN" sz="2600">
                <a:solidFill>
                  <a:srgbClr val="0070C0"/>
                </a:solidFill>
                <a:latin typeface="微软雅黑" panose="020B0503020204020204" charset="-122"/>
                <a:ea typeface="微软雅黑" panose="020B0503020204020204" charset="-122"/>
                <a:cs typeface="微软雅黑" panose="020B0503020204020204" charset="-122"/>
              </a:rPr>
              <a:t>2027 年配置计划 · 两种方案</a:t>
            </a:r>
            <a:endParaRPr lang="zh-CN" sz="26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19" name="矩形 101"/>
          <p:cNvSpPr/>
          <p:nvPr/>
        </p:nvSpPr>
        <p:spPr>
          <a:xfrm>
            <a:off x="711200" y="1066800"/>
            <a:ext cx="10160000" cy="330200"/>
          </a:xfrm>
          <a:prstGeom prst="rect">
            <a:avLst/>
          </a:prstGeom>
          <a:noFill/>
          <a:ln>
            <a:noFill/>
          </a:ln>
        </p:spPr>
        <p:txBody>
          <a:bodyPr/>
          <a:p>
            <a:pPr/>
            <a:r>
              <a:rPr lang="zh-CN" sz="1100">
                <a:solidFill>
                  <a:srgbClr val="595959"/>
                </a:solidFill>
                <a:latin typeface="微软雅黑" panose="020B0503020204020204" charset="-122"/>
                <a:ea typeface="微软雅黑" panose="020B0503020204020204" charset="-122"/>
                <a:cs typeface="微软雅黑" panose="020B0503020204020204" charset="-122"/>
              </a:rPr>
              <a:t>以固收为压舱石，弹性策略增厚收益</a:t>
            </a:r>
            <a:endParaRPr lang="zh-CN" sz="11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20" name="矩形 102"/>
          <p:cNvSpPr/>
          <p:nvPr/>
        </p:nvSpPr>
        <p:spPr>
          <a:xfrm>
            <a:off x="508000" y="2309657"/>
            <a:ext cx="5461000" cy="482600"/>
          </a:xfrm>
          <a:prstGeom prst="rect">
            <a:avLst/>
          </a:prstGeom>
          <a:noFill/>
          <a:ln>
            <a:noFill/>
          </a:ln>
        </p:spPr>
        <p:txBody>
          <a:bodyPr/>
          <a:p>
            <a:pPr/>
            <a:r>
              <a:rPr lang="zh-CN" sz="1600">
                <a:solidFill>
                  <a:srgbClr val="FFFFFF"/>
                </a:solidFill>
                <a:latin typeface="微软雅黑" panose="020B0503020204020204" charset="-122"/>
                <a:ea typeface="微软雅黑" panose="020B0503020204020204" charset="-122"/>
                <a:cs typeface="微软雅黑" panose="020B0503020204020204" charset="-122"/>
              </a:rPr>
              <a:t>方案一 · 稳健型</a:t>
            </a:r>
            <a:endParaRPr lang="zh-CN" sz="16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21" name="矩形 103"/>
          <p:cNvSpPr/>
          <p:nvPr/>
        </p:nvSpPr>
        <p:spPr>
          <a:xfrm>
            <a:off x="787400" y="3008157"/>
            <a:ext cx="4953000" cy="508000"/>
          </a:xfrm>
          <a:prstGeom prst="rect">
            <a:avLst/>
          </a:prstGeom>
          <a:noFill/>
          <a:ln>
            <a:noFill/>
          </a:ln>
        </p:spPr>
        <p:txBody>
          <a:bodyPr/>
          <a:p>
            <a:pPr/>
            <a:r>
              <a:rPr lang="zh-CN" sz="1600">
                <a:solidFill>
                  <a:srgbClr val="1F2933"/>
                </a:solidFill>
                <a:latin typeface="微软雅黑" panose="020B0503020204020204" charset="-122"/>
                <a:ea typeface="微软雅黑" panose="020B0503020204020204" charset="-122"/>
                <a:cs typeface="微软雅黑" panose="020B0503020204020204" charset="-122"/>
              </a:rPr>
              <a:t>90% 固收 + 10% 弹性策略</a:t>
            </a:r>
            <a:endParaRPr lang="zh-CN" sz="16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22" name="矩形 104"/>
          <p:cNvSpPr/>
          <p:nvPr/>
        </p:nvSpPr>
        <p:spPr>
          <a:xfrm>
            <a:off x="787400" y="3643157"/>
            <a:ext cx="4953000" cy="406400"/>
          </a:xfrm>
          <a:prstGeom prst="rect">
            <a:avLst/>
          </a:prstGeom>
          <a:noFill/>
          <a:ln>
            <a:noFill/>
          </a:ln>
        </p:spPr>
        <p:txBody>
          <a:bodyPr/>
          <a:p>
            <a:pPr/>
            <a:r>
              <a:rPr lang="zh-CN" sz="1300">
                <a:solidFill>
                  <a:srgbClr val="1F2933"/>
                </a:solidFill>
                <a:latin typeface="微软雅黑" panose="020B0503020204020204" charset="-122"/>
                <a:ea typeface="微软雅黑" panose="020B0503020204020204" charset="-122"/>
                <a:cs typeface="微软雅黑" panose="020B0503020204020204" charset="-122"/>
              </a:rPr>
              <a:t>极致稳健，回撤控制优先</a:t>
            </a:r>
            <a:endParaRPr lang="zh-CN" sz="13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23" name="矩形 105"/>
          <p:cNvSpPr/>
          <p:nvPr/>
        </p:nvSpPr>
        <p:spPr>
          <a:xfrm>
            <a:off x="6197600" y="2309657"/>
            <a:ext cx="5461000" cy="482600"/>
          </a:xfrm>
          <a:prstGeom prst="rect">
            <a:avLst/>
          </a:prstGeom>
          <a:noFill/>
          <a:ln>
            <a:noFill/>
          </a:ln>
        </p:spPr>
        <p:txBody>
          <a:bodyPr/>
          <a:p>
            <a:pPr/>
            <a:r>
              <a:rPr lang="zh-CN" sz="1600">
                <a:solidFill>
                  <a:srgbClr val="FFFFFF"/>
                </a:solidFill>
                <a:latin typeface="微软雅黑" panose="020B0503020204020204" charset="-122"/>
                <a:ea typeface="微软雅黑" panose="020B0503020204020204" charset="-122"/>
                <a:cs typeface="微软雅黑" panose="020B0503020204020204" charset="-122"/>
              </a:rPr>
              <a:t>方案二 · 均衡型</a:t>
            </a:r>
            <a:endParaRPr lang="zh-CN" sz="16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24" name="矩形 106"/>
          <p:cNvSpPr/>
          <p:nvPr/>
        </p:nvSpPr>
        <p:spPr>
          <a:xfrm>
            <a:off x="6477000" y="3008157"/>
            <a:ext cx="4953000" cy="508000"/>
          </a:xfrm>
          <a:prstGeom prst="rect">
            <a:avLst/>
          </a:prstGeom>
          <a:noFill/>
          <a:ln>
            <a:noFill/>
          </a:ln>
        </p:spPr>
        <p:txBody>
          <a:bodyPr/>
          <a:p>
            <a:pPr/>
            <a:r>
              <a:rPr lang="zh-CN" sz="1600">
                <a:solidFill>
                  <a:srgbClr val="1F2933"/>
                </a:solidFill>
                <a:latin typeface="微软雅黑" panose="020B0503020204020204" charset="-122"/>
                <a:ea typeface="微软雅黑" panose="020B0503020204020204" charset="-122"/>
                <a:cs typeface="微软雅黑" panose="020B0503020204020204" charset="-122"/>
              </a:rPr>
              <a:t>80% 固收 + 20% 弹性策略</a:t>
            </a:r>
            <a:endParaRPr lang="zh-CN" sz="16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25" name="矩形 107"/>
          <p:cNvSpPr/>
          <p:nvPr/>
        </p:nvSpPr>
        <p:spPr>
          <a:xfrm>
            <a:off x="6477000" y="3643157"/>
            <a:ext cx="4953000" cy="406400"/>
          </a:xfrm>
          <a:prstGeom prst="rect">
            <a:avLst/>
          </a:prstGeom>
          <a:noFill/>
          <a:ln>
            <a:noFill/>
          </a:ln>
        </p:spPr>
        <p:txBody>
          <a:bodyPr/>
          <a:p>
            <a:pPr/>
            <a:r>
              <a:rPr lang="zh-CN" sz="1300">
                <a:solidFill>
                  <a:srgbClr val="1F2933"/>
                </a:solidFill>
                <a:latin typeface="微软雅黑" panose="020B0503020204020204" charset="-122"/>
                <a:ea typeface="微软雅黑" panose="020B0503020204020204" charset="-122"/>
                <a:cs typeface="微软雅黑" panose="020B0503020204020204" charset="-122"/>
              </a:rPr>
              <a:t>稳中求进，可控回撤内争取更高弹性</a:t>
            </a:r>
            <a:endParaRPr lang="zh-CN" sz="13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26" name="矩形 108"/>
          <p:cNvSpPr/>
          <p:nvPr/>
        </p:nvSpPr>
        <p:spPr>
          <a:xfrm>
            <a:off x="660400" y="6121400"/>
            <a:ext cx="10922000" cy="431800"/>
          </a:xfrm>
          <a:prstGeom prst="rect">
            <a:avLst/>
          </a:prstGeom>
          <a:noFill/>
          <a:ln>
            <a:noFill/>
          </a:ln>
        </p:spPr>
        <p:txBody>
          <a:bodyPr/>
          <a:p>
            <a:pPr/>
            <a:r>
              <a:rPr lang="zh-CN" sz="1100">
                <a:solidFill>
                  <a:srgbClr val="1F2933"/>
                </a:solidFill>
                <a:latin typeface="微软雅黑" panose="020B0503020204020204" charset="-122"/>
                <a:ea typeface="微软雅黑" panose="020B0503020204020204" charset="-122"/>
                <a:cs typeface="微软雅黑" panose="020B0503020204020204" charset="-122"/>
              </a:rPr>
              <a:t>注：收益与回撤为基于策略历史表现的参考测算，不构成收益承诺；两种方案可结合客户风险偏好切换。</a:t>
            </a:r>
            <a:endParaRPr lang="zh-CN" sz="1100">
              <a:solidFill>
                <a:srgbClr val="1F2933"/>
              </a:solidFill>
              <a:latin typeface="微软雅黑" panose="020B0503020204020204" charset="-122"/>
              <a:ea typeface="微软雅黑" panose="020B0503020204020204" charset="-122"/>
              <a:cs typeface="微软雅黑" panose="020B0503020204020204" charset="-122"/>
            </a:endParaRPr>
          </a:p>
        </p:txBody>
      </p:sp>
      <p:pic>
        <p:nvPicPr>
          <p:cNvPr id="327" name="参考模板浅蓝背景弧线"/>
          <p:cNvPicPr/>
          <p:nvPr/>
        </p:nvPicPr>
        <p:blipFill>
          <a:blip r:embed="rId2"/>
          <a:stretch>
            <a:fillRect/>
          </a:stretch>
        </p:blipFill>
        <p:spPr>
          <a:xfrm>
            <a:off x="4457700" y="0"/>
            <a:ext cx="3143250" cy="495300"/>
          </a:xfrm>
          <a:prstGeom prst="rect">
            <a:avLst/>
          </a:prstGeom>
          <a:noFill/>
          <a:ln>
            <a:noFill/>
          </a:ln>
        </p:spPr>
      </p:pic>
      <p:pic>
        <p:nvPicPr>
          <p:cNvPr id="328"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26.xml><?xml version="1.0" encoding="utf-8"?>
<p:sld xmlns:r="http://schemas.openxmlformats.org/officeDocument/2006/relationships" xmlns:p="http://schemas.openxmlformats.org/presentationml/2006/main" xmlns:a="http://schemas.openxmlformats.org/drawingml/2006/main">
  <p:cSld>
    <p:spTree>
      <p:nvGrpSpPr>
        <p:cNvPr id="327" name=""/>
        <p:cNvGrpSpPr/>
        <p:nvPr/>
      </p:nvGrpSpPr>
      <p:grpSpPr>
        <a:xfrm>
          <a:off x="0" y="0"/>
          <a:ext cx="0" cy="0"/>
          <a:chOff x="0" y="0"/>
          <a:chExt cx="0" cy="0"/>
        </a:xfrm>
      </p:grpSpPr>
      <p:sp>
        <p:nvSpPr>
          <p:cNvPr id="328" name="矩形 110"/>
          <p:cNvSpPr/>
          <p:nvPr/>
        </p:nvSpPr>
        <p:spPr>
          <a:xfrm>
            <a:off x="508000" y="457200"/>
            <a:ext cx="88900" cy="571500"/>
          </a:xfrm>
          <a:prstGeom prst="rect">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329" name="矩形 111"/>
          <p:cNvSpPr/>
          <p:nvPr/>
        </p:nvSpPr>
        <p:spPr>
          <a:xfrm>
            <a:off x="508000" y="1016000"/>
            <a:ext cx="2006600" cy="31750"/>
          </a:xfrm>
          <a:prstGeom prst="rect">
            <a:avLst/>
          </a:prstGeom>
          <a:solidFill>
            <a:srgbClr val="54B0E0"/>
          </a:solidFill>
          <a:ln>
            <a:noFill/>
          </a:ln>
        </p:spPr>
        <p:txBody>
          <a:bodyPr/>
          <a:p>
            <a:pPr/>
            <a:endParaRPr>
              <a:ea typeface="微软雅黑" panose="020B0503020204020204" charset="-122"/>
              <a:cs typeface="微软雅黑" panose="020B0503020204020204" charset="-122"/>
            </a:endParaRPr>
          </a:p>
        </p:txBody>
      </p:sp>
      <p:sp>
        <p:nvSpPr>
          <p:cNvPr id="330" name="矩形 112"/>
          <p:cNvSpPr/>
          <p:nvPr/>
        </p:nvSpPr>
        <p:spPr>
          <a:xfrm>
            <a:off x="508000" y="1651000"/>
            <a:ext cx="5461000" cy="508000"/>
          </a:xfrm>
          <a:prstGeom prst="rect">
            <a:avLst/>
          </a:prstGeom>
          <a:solidFill>
            <a:srgbClr val="0070C0"/>
          </a:solidFill>
          <a:ln>
            <a:noFill/>
          </a:ln>
        </p:spPr>
        <p:txBody>
          <a:bodyPr/>
          <a:p>
            <a:pPr/>
            <a:endParaRPr>
              <a:ea typeface="微软雅黑" panose="020B0503020204020204" charset="-122"/>
              <a:cs typeface="微软雅黑" panose="020B0503020204020204" charset="-122"/>
            </a:endParaRPr>
          </a:p>
        </p:txBody>
      </p:sp>
      <p:sp>
        <p:nvSpPr>
          <p:cNvPr id="331" name="矩形 113"/>
          <p:cNvSpPr/>
          <p:nvPr/>
        </p:nvSpPr>
        <p:spPr>
          <a:xfrm>
            <a:off x="6197600" y="1651000"/>
            <a:ext cx="5461000" cy="508000"/>
          </a:xfrm>
          <a:prstGeom prst="rect">
            <a:avLst/>
          </a:prstGeom>
          <a:solidFill>
            <a:srgbClr val="54B0E0"/>
          </a:solidFill>
          <a:ln>
            <a:noFill/>
          </a:ln>
        </p:spPr>
        <p:txBody>
          <a:bodyPr/>
          <a:p>
            <a:pPr/>
            <a:endParaRPr>
              <a:ea typeface="微软雅黑" panose="020B0503020204020204" charset="-122"/>
              <a:cs typeface="微软雅黑" panose="020B0503020204020204" charset="-122"/>
            </a:endParaRPr>
          </a:p>
        </p:txBody>
      </p:sp>
      <p:sp>
        <p:nvSpPr>
          <p:cNvPr id="332" name="矩形 114"/>
          <p:cNvSpPr/>
          <p:nvPr/>
        </p:nvSpPr>
        <p:spPr>
          <a:xfrm>
            <a:off x="508000" y="6032500"/>
            <a:ext cx="11176000" cy="571500"/>
          </a:xfrm>
          <a:prstGeom prst="rect">
            <a:avLst/>
          </a:prstGeom>
          <a:solidFill>
            <a:srgbClr val="EAF6FC"/>
          </a:solidFill>
          <a:ln>
            <a:noFill/>
          </a:ln>
        </p:spPr>
        <p:txBody>
          <a:bodyPr/>
          <a:p>
            <a:pPr/>
            <a:endParaRPr>
              <a:ea typeface="微软雅黑" panose="020B0503020204020204" charset="-122"/>
              <a:cs typeface="微软雅黑" panose="020B0503020204020204" charset="-122"/>
            </a:endParaRPr>
          </a:p>
        </p:txBody>
      </p:sp>
      <p:sp>
        <p:nvSpPr>
          <p:cNvPr id="333" name="矩形 115"/>
          <p:cNvSpPr/>
          <p:nvPr/>
        </p:nvSpPr>
        <p:spPr>
          <a:xfrm>
            <a:off x="711200" y="419100"/>
            <a:ext cx="6350000" cy="635000"/>
          </a:xfrm>
          <a:prstGeom prst="rect">
            <a:avLst/>
          </a:prstGeom>
          <a:noFill/>
          <a:ln>
            <a:noFill/>
          </a:ln>
        </p:spPr>
        <p:txBody>
          <a:bodyPr/>
          <a:p>
            <a:pPr/>
            <a:r>
              <a:rPr lang="zh-CN" sz="2600">
                <a:solidFill>
                  <a:srgbClr val="0070C0"/>
                </a:solidFill>
                <a:latin typeface="微软雅黑" panose="020B0503020204020204" charset="-122"/>
                <a:ea typeface="微软雅黑" panose="020B0503020204020204" charset="-122"/>
                <a:cs typeface="微软雅黑" panose="020B0503020204020204" charset="-122"/>
              </a:rPr>
              <a:t>弹性策略详解</a:t>
            </a:r>
            <a:endParaRPr lang="zh-CN" sz="26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34" name="矩形 116"/>
          <p:cNvSpPr/>
          <p:nvPr/>
        </p:nvSpPr>
        <p:spPr>
          <a:xfrm>
            <a:off x="711200" y="1066800"/>
            <a:ext cx="10795000" cy="330200"/>
          </a:xfrm>
          <a:prstGeom prst="rect">
            <a:avLst/>
          </a:prstGeom>
          <a:noFill/>
          <a:ln>
            <a:noFill/>
          </a:ln>
        </p:spPr>
        <p:txBody>
          <a:bodyPr/>
          <a:p>
            <a:pPr/>
            <a:r>
              <a:rPr lang="zh-CN" sz="1100">
                <a:solidFill>
                  <a:srgbClr val="595959"/>
                </a:solidFill>
                <a:latin typeface="微软雅黑" panose="020B0503020204020204" charset="-122"/>
                <a:ea typeface="微软雅黑" panose="020B0503020204020204" charset="-122"/>
                <a:cs typeface="微软雅黑" panose="020B0503020204020204" charset="-122"/>
              </a:rPr>
              <a:t>套利 + 量化CTA + 主观CTA · 以低风险、低相关策略增厚组合收益</a:t>
            </a:r>
            <a:endParaRPr lang="zh-CN" sz="110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35" name="矩形 117"/>
          <p:cNvSpPr/>
          <p:nvPr/>
        </p:nvSpPr>
        <p:spPr>
          <a:xfrm>
            <a:off x="508000" y="1714500"/>
            <a:ext cx="5461000" cy="406400"/>
          </a:xfrm>
          <a:prstGeom prst="rect">
            <a:avLst/>
          </a:prstGeom>
          <a:noFill/>
          <a:ln>
            <a:noFill/>
          </a:ln>
        </p:spPr>
        <p:txBody>
          <a:bodyPr/>
          <a:p>
            <a:pPr/>
            <a:r>
              <a:rPr lang="zh-CN" sz="1500">
                <a:solidFill>
                  <a:srgbClr val="FFFFFF"/>
                </a:solidFill>
                <a:latin typeface="微软雅黑" panose="020B0503020204020204" charset="-122"/>
                <a:ea typeface="微软雅黑" panose="020B0503020204020204" charset="-122"/>
                <a:cs typeface="微软雅黑" panose="020B0503020204020204" charset="-122"/>
              </a:rPr>
              <a:t>套利类策略（套利的种类）</a:t>
            </a:r>
            <a:endParaRPr lang="zh-CN" sz="15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36" name="矩形 118"/>
          <p:cNvSpPr/>
          <p:nvPr/>
        </p:nvSpPr>
        <p:spPr>
          <a:xfrm>
            <a:off x="6197600" y="1714500"/>
            <a:ext cx="5461000" cy="406400"/>
          </a:xfrm>
          <a:prstGeom prst="rect">
            <a:avLst/>
          </a:prstGeom>
          <a:noFill/>
          <a:ln>
            <a:noFill/>
          </a:ln>
        </p:spPr>
        <p:txBody>
          <a:bodyPr/>
          <a:p>
            <a:pPr/>
            <a:r>
              <a:rPr lang="zh-CN" sz="1500">
                <a:solidFill>
                  <a:srgbClr val="FFFFFF"/>
                </a:solidFill>
                <a:latin typeface="微软雅黑" panose="020B0503020204020204" charset="-122"/>
                <a:ea typeface="微软雅黑" panose="020B0503020204020204" charset="-122"/>
                <a:cs typeface="微软雅黑" panose="020B0503020204020204" charset="-122"/>
              </a:rPr>
              <a:t>量化CTA（短周期为主）</a:t>
            </a:r>
            <a:endParaRPr lang="zh-CN" sz="15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37" name="矩形 119"/>
          <p:cNvSpPr/>
          <p:nvPr/>
        </p:nvSpPr>
        <p:spPr>
          <a:xfrm>
            <a:off x="660400" y="2286000"/>
            <a:ext cx="1651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商品期货套利</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38" name="矩形 120"/>
          <p:cNvSpPr/>
          <p:nvPr/>
        </p:nvSpPr>
        <p:spPr>
          <a:xfrm>
            <a:off x="2413000" y="2286000"/>
            <a:ext cx="35560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跨期 · 跨品种（产业链）· 跨市场 · 期现</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39" name="矩形 121"/>
          <p:cNvSpPr/>
          <p:nvPr/>
        </p:nvSpPr>
        <p:spPr>
          <a:xfrm>
            <a:off x="660400" y="2743200"/>
            <a:ext cx="1651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股指期货套利</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40" name="矩形 122"/>
          <p:cNvSpPr/>
          <p:nvPr/>
        </p:nvSpPr>
        <p:spPr>
          <a:xfrm>
            <a:off x="2413000" y="2743200"/>
            <a:ext cx="35560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期现 · 跨期 · 跨品种 · 日内套利（股指期货T+0，无需底仓）</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41" name="矩形 123"/>
          <p:cNvSpPr/>
          <p:nvPr/>
        </p:nvSpPr>
        <p:spPr>
          <a:xfrm>
            <a:off x="660400" y="3200400"/>
            <a:ext cx="1651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期权套利</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42" name="矩形 124"/>
          <p:cNvSpPr/>
          <p:nvPr/>
        </p:nvSpPr>
        <p:spPr>
          <a:xfrm>
            <a:off x="2413000" y="3200400"/>
            <a:ext cx="35560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波动率 · 盒式 · 蝶式/鹰式 · 平价 · 曲面</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43" name="矩形 125"/>
          <p:cNvSpPr/>
          <p:nvPr/>
        </p:nvSpPr>
        <p:spPr>
          <a:xfrm>
            <a:off x="660400" y="3657600"/>
            <a:ext cx="1651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ETF 套利</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44" name="矩形 126"/>
          <p:cNvSpPr/>
          <p:nvPr/>
        </p:nvSpPr>
        <p:spPr>
          <a:xfrm>
            <a:off x="2413000" y="3657600"/>
            <a:ext cx="35560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瞬时 · 延时 · 事件 · 期现基差（四类套利）</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45" name="矩形 129"/>
          <p:cNvSpPr/>
          <p:nvPr/>
        </p:nvSpPr>
        <p:spPr>
          <a:xfrm>
            <a:off x="660400" y="4114800"/>
            <a:ext cx="1651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可转债套利</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46" name="矩形 130"/>
          <p:cNvSpPr/>
          <p:nvPr/>
        </p:nvSpPr>
        <p:spPr>
          <a:xfrm>
            <a:off x="2413000" y="4114800"/>
            <a:ext cx="35560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定价偏差 · 转股 · 条款博弈</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47" name="矩形 143"/>
          <p:cNvSpPr/>
          <p:nvPr/>
        </p:nvSpPr>
        <p:spPr>
          <a:xfrm>
            <a:off x="660400" y="6121400"/>
            <a:ext cx="10922000" cy="431800"/>
          </a:xfrm>
          <a:prstGeom prst="rect">
            <a:avLst/>
          </a:prstGeom>
          <a:noFill/>
          <a:ln>
            <a:noFill/>
          </a:ln>
        </p:spPr>
        <p:txBody>
          <a:bodyPr/>
          <a:p>
            <a:pPr/>
            <a:r>
              <a:rPr lang="zh-CN" sz="1100">
                <a:solidFill>
                  <a:srgbClr val="1F2933"/>
                </a:solidFill>
                <a:latin typeface="微软雅黑" panose="020B0503020204020204" charset="-122"/>
                <a:ea typeface="微软雅黑" panose="020B0503020204020204" charset="-122"/>
                <a:cs typeface="微软雅黑" panose="020B0503020204020204" charset="-122"/>
              </a:rPr>
              <a:t>定位：套利 + 量化CTA + 主观CTA 三块共同构成弹性策略，与固收低相关，是 10%~20% 弹性仓位的核心构成。</a:t>
            </a:r>
            <a:endParaRPr lang="zh-CN" sz="11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48" name="矩形 151"/>
          <p:cNvSpPr/>
          <p:nvPr/>
        </p:nvSpPr>
        <p:spPr>
          <a:xfrm>
            <a:off x="6197600" y="3403600"/>
            <a:ext cx="5461000" cy="508000"/>
          </a:xfrm>
          <a:prstGeom prst="rect">
            <a:avLst/>
          </a:prstGeom>
          <a:solidFill>
            <a:srgbClr val="54B0E0"/>
          </a:solidFill>
          <a:ln>
            <a:noFill/>
          </a:ln>
        </p:spPr>
        <p:txBody>
          <a:bodyPr/>
          <a:p>
            <a:pPr/>
            <a:endParaRPr>
              <a:ea typeface="微软雅黑" panose="020B0503020204020204" charset="-122"/>
              <a:cs typeface="微软雅黑" panose="020B0503020204020204" charset="-122"/>
            </a:endParaRPr>
          </a:p>
        </p:txBody>
      </p:sp>
      <p:sp>
        <p:nvSpPr>
          <p:cNvPr id="349" name="矩形 152"/>
          <p:cNvSpPr/>
          <p:nvPr/>
        </p:nvSpPr>
        <p:spPr>
          <a:xfrm>
            <a:off x="6197600" y="3467100"/>
            <a:ext cx="5461000" cy="406400"/>
          </a:xfrm>
          <a:prstGeom prst="rect">
            <a:avLst/>
          </a:prstGeom>
          <a:noFill/>
          <a:ln>
            <a:noFill/>
          </a:ln>
        </p:spPr>
        <p:txBody>
          <a:bodyPr/>
          <a:p>
            <a:pPr/>
            <a:r>
              <a:rPr lang="zh-CN" sz="1500">
                <a:solidFill>
                  <a:srgbClr val="FFFFFF"/>
                </a:solidFill>
                <a:latin typeface="微软雅黑" panose="020B0503020204020204" charset="-122"/>
                <a:ea typeface="微软雅黑" panose="020B0503020204020204" charset="-122"/>
                <a:cs typeface="微软雅黑" panose="020B0503020204020204" charset="-122"/>
              </a:rPr>
              <a:t>主观CTA</a:t>
            </a:r>
            <a:endParaRPr lang="zh-CN" sz="15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50" name="矩形 153"/>
          <p:cNvSpPr/>
          <p:nvPr/>
        </p:nvSpPr>
        <p:spPr>
          <a:xfrm>
            <a:off x="6350000" y="2286000"/>
            <a:ext cx="1524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短周期为主</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51" name="矩形 154"/>
          <p:cNvSpPr/>
          <p:nvPr/>
        </p:nvSpPr>
        <p:spPr>
          <a:xfrm>
            <a:off x="8026400" y="2286000"/>
            <a:ext cx="35306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日内/短周期趋势，波动小、回撤可控</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52" name="矩形 155"/>
          <p:cNvSpPr/>
          <p:nvPr/>
        </p:nvSpPr>
        <p:spPr>
          <a:xfrm>
            <a:off x="6350000" y="2819400"/>
            <a:ext cx="1524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中长周期</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53" name="矩形 156"/>
          <p:cNvSpPr/>
          <p:nvPr/>
        </p:nvSpPr>
        <p:spPr>
          <a:xfrm>
            <a:off x="8026400" y="2819400"/>
            <a:ext cx="35306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看宏观驱动，趋势明确时择时增配</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54" name="矩形 157"/>
          <p:cNvSpPr/>
          <p:nvPr/>
        </p:nvSpPr>
        <p:spPr>
          <a:xfrm>
            <a:off x="6350000" y="4089400"/>
            <a:ext cx="1524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主观交易</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55" name="矩形 158"/>
          <p:cNvSpPr/>
          <p:nvPr/>
        </p:nvSpPr>
        <p:spPr>
          <a:xfrm>
            <a:off x="8026400" y="4089400"/>
            <a:ext cx="35306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基本面研究 + 盘感，人为主导</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56" name="矩形 159"/>
          <p:cNvSpPr/>
          <p:nvPr/>
        </p:nvSpPr>
        <p:spPr>
          <a:xfrm>
            <a:off x="6350000" y="4622800"/>
            <a:ext cx="1524000" cy="355600"/>
          </a:xfrm>
          <a:prstGeom prst="rect">
            <a:avLst/>
          </a:prstGeom>
          <a:noFill/>
          <a:ln>
            <a:noFill/>
          </a:ln>
        </p:spPr>
        <p:txBody>
          <a:bodyPr/>
          <a:p>
            <a:pPr/>
            <a:r>
              <a:rPr lang="zh-CN" sz="1100">
                <a:solidFill>
                  <a:srgbClr val="0070C0"/>
                </a:solidFill>
                <a:latin typeface="微软雅黑" panose="020B0503020204020204" charset="-122"/>
                <a:ea typeface="微软雅黑" panose="020B0503020204020204" charset="-122"/>
                <a:cs typeface="微软雅黑" panose="020B0503020204020204" charset="-122"/>
              </a:rPr>
              <a:t>与量化互补</a:t>
            </a:r>
            <a:endParaRPr lang="zh-CN" sz="11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57" name="矩形 160"/>
          <p:cNvSpPr/>
          <p:nvPr/>
        </p:nvSpPr>
        <p:spPr>
          <a:xfrm>
            <a:off x="8026400" y="4622800"/>
            <a:ext cx="3530600" cy="355600"/>
          </a:xfrm>
          <a:prstGeom prst="rect">
            <a:avLst/>
          </a:prstGeom>
          <a:noFill/>
          <a:ln>
            <a:noFill/>
          </a:ln>
        </p:spPr>
        <p:txBody>
          <a:bodyPr/>
          <a:p>
            <a:pPr/>
            <a:r>
              <a:rPr lang="zh-CN" sz="1000">
                <a:solidFill>
                  <a:srgbClr val="1F2933"/>
                </a:solidFill>
                <a:latin typeface="微软雅黑" panose="020B0503020204020204" charset="-122"/>
                <a:ea typeface="微软雅黑" panose="020B0503020204020204" charset="-122"/>
                <a:cs typeface="微软雅黑" panose="020B0503020204020204" charset="-122"/>
              </a:rPr>
              <a:t>收益来源不同、相关性低</a:t>
            </a:r>
            <a:endParaRPr lang="zh-CN" sz="1000">
              <a:solidFill>
                <a:srgbClr val="1F2933"/>
              </a:solidFill>
              <a:latin typeface="微软雅黑" panose="020B0503020204020204" charset="-122"/>
              <a:ea typeface="微软雅黑" panose="020B0503020204020204" charset="-122"/>
              <a:cs typeface="微软雅黑" panose="020B0503020204020204" charset="-122"/>
            </a:endParaRPr>
          </a:p>
        </p:txBody>
      </p:sp>
      <p:pic>
        <p:nvPicPr>
          <p:cNvPr id="358" name="参考模板浅蓝背景弧线"/>
          <p:cNvPicPr/>
          <p:nvPr/>
        </p:nvPicPr>
        <p:blipFill>
          <a:blip r:embed="rId2"/>
          <a:stretch>
            <a:fillRect/>
          </a:stretch>
        </p:blipFill>
        <p:spPr>
          <a:xfrm>
            <a:off x="4457700" y="0"/>
            <a:ext cx="3143250" cy="495300"/>
          </a:xfrm>
          <a:prstGeom prst="rect">
            <a:avLst/>
          </a:prstGeom>
          <a:noFill/>
          <a:ln>
            <a:noFill/>
          </a:ln>
        </p:spPr>
      </p:pic>
      <p:pic>
        <p:nvPicPr>
          <p:cNvPr id="359"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27.xml><?xml version="1.0" encoding="utf-8"?>
<p:sld xmlns:r="http://schemas.openxmlformats.org/officeDocument/2006/relationships" xmlns:p="http://schemas.openxmlformats.org/presentationml/2006/main" xmlns:a="http://schemas.openxmlformats.org/drawingml/2006/main">
  <p:cSld>
    <p:spTree>
      <p:nvGrpSpPr>
        <p:cNvPr id="358" name=""/>
        <p:cNvGrpSpPr/>
        <p:nvPr/>
      </p:nvGrpSpPr>
      <p:grpSpPr>
        <a:xfrm>
          <a:off x="0" y="0"/>
          <a:ext cx="0" cy="0"/>
          <a:chOff x="0" y="0"/>
          <a:chExt cx="0" cy="0"/>
        </a:xfrm>
      </p:grpSpPr>
      <p:sp>
        <p:nvSpPr>
          <p:cNvPr id="359" name="Rectangle 1"/>
          <p:cNvSpPr/>
          <p:nvPr/>
        </p:nvSpPr>
        <p:spPr>
          <a:xfrm>
            <a:off x="502920" y="457200"/>
            <a:ext cx="82296" cy="56692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60" name="TextBox 2"/>
          <p:cNvSpPr txBox="1"/>
          <p:nvPr/>
        </p:nvSpPr>
        <p:spPr>
          <a:xfrm>
            <a:off x="713232" y="420624"/>
            <a:ext cx="9601200" cy="640080"/>
          </a:xfrm>
          <a:prstGeom prst="rect">
            <a:avLst/>
          </a:prstGeom>
          <a:noFill/>
        </p:spPr>
        <p:txBody>
          <a:bodyPr wrap="square" lIns="0" tIns="0" rIns="0" bIns="0" anchor="ctr">
            <a:spAutoFit/>
          </a:bodyPr>
          <a:lstStyle/>
          <a:p>
            <a:pPr algn="l">
              <a:lnSpc>
                <a:spcPct val="115000"/>
              </a:lnSpc>
              <a:spcAft>
                <a:spcPts val="600"/>
              </a:spcAft>
            </a:pPr>
            <a:r>
              <a:rPr sz="2600" b="1">
                <a:solidFill>
                  <a:srgbClr val="0070C0"/>
                </a:solidFill>
                <a:latin typeface="微软雅黑" panose="020B0503020204020204" charset="-122"/>
                <a:ea typeface="微软雅黑" panose="020B0503020204020204" charset="-122"/>
                <a:cs typeface="微软雅黑" panose="020B0503020204020204" charset="-122"/>
              </a:rPr>
              <a:t>关于回撤</a:t>
            </a:r>
            <a:endParaRPr sz="26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61" name="TextBox 3"/>
          <p:cNvSpPr txBox="1"/>
          <p:nvPr/>
        </p:nvSpPr>
        <p:spPr>
          <a:xfrm>
            <a:off x="713232" y="1042415"/>
            <a:ext cx="10515600" cy="365760"/>
          </a:xfrm>
          <a:prstGeom prst="rect">
            <a:avLst/>
          </a:prstGeom>
          <a:noFill/>
        </p:spPr>
        <p:txBody>
          <a:bodyPr wrap="square" lIns="0" tIns="0" rIns="0" bIns="0" anchor="t">
            <a:spAutoFit/>
          </a:bodyPr>
          <a:lstStyle/>
          <a:p>
            <a:pPr algn="l">
              <a:lnSpc>
                <a:spcPct val="115000"/>
              </a:lnSpc>
              <a:spcAft>
                <a:spcPts val="600"/>
              </a:spcAft>
            </a:pPr>
            <a:r>
              <a:rPr sz="1100" b="0">
                <a:solidFill>
                  <a:srgbClr val="595959"/>
                </a:solidFill>
                <a:latin typeface="微软雅黑" panose="020B0503020204020204" charset="-122"/>
                <a:ea typeface="微软雅黑" panose="020B0503020204020204" charset="-122"/>
                <a:cs typeface="微软雅黑" panose="020B0503020204020204" charset="-122"/>
              </a:rPr>
              <a:t>组合最大回撤 &lt;1% 的约束下，如何控制风险</a:t>
            </a:r>
            <a:endParaRPr sz="11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62" name="Rectangle 4"/>
          <p:cNvSpPr/>
          <p:nvPr/>
        </p:nvSpPr>
        <p:spPr>
          <a:xfrm>
            <a:off x="502920" y="1005840"/>
            <a:ext cx="2011680" cy="2794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63" name="Rectangle 5"/>
          <p:cNvSpPr/>
          <p:nvPr/>
        </p:nvSpPr>
        <p:spPr>
          <a:xfrm>
            <a:off x="502920" y="1060704"/>
            <a:ext cx="11183112" cy="11430"/>
          </a:xfrm>
          <a:prstGeom prst="rect">
            <a:avLst/>
          </a:prstGeom>
          <a:solidFill>
            <a:srgbClr val="AED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64" name="Rectangle 6"/>
          <p:cNvSpPr/>
          <p:nvPr/>
        </p:nvSpPr>
        <p:spPr>
          <a:xfrm>
            <a:off x="502920" y="1737360"/>
            <a:ext cx="146304" cy="14630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65" name="TextBox 7"/>
          <p:cNvSpPr txBox="1"/>
          <p:nvPr/>
        </p:nvSpPr>
        <p:spPr>
          <a:xfrm>
            <a:off x="822960" y="1664208"/>
            <a:ext cx="2377440" cy="548640"/>
          </a:xfrm>
          <a:prstGeom prst="rect">
            <a:avLst/>
          </a:prstGeom>
          <a:noFill/>
        </p:spPr>
        <p:txBody>
          <a:bodyPr wrap="square" lIns="0" tIns="0" rIns="0" bIns="0" anchor="t">
            <a:spAutoFit/>
          </a:bodyPr>
          <a:lstStyle/>
          <a:p>
            <a:pPr algn="l">
              <a:lnSpc>
                <a:spcPct val="115000"/>
              </a:lnSpc>
              <a:spcAft>
                <a:spcPts val="600"/>
              </a:spcAft>
            </a:pPr>
            <a:r>
              <a:rPr sz="1400" b="1">
                <a:solidFill>
                  <a:srgbClr val="0070C0"/>
                </a:solidFill>
                <a:latin typeface="微软雅黑" panose="020B0503020204020204" charset="-122"/>
                <a:ea typeface="微软雅黑" panose="020B0503020204020204" charset="-122"/>
                <a:cs typeface="微软雅黑" panose="020B0503020204020204" charset="-122"/>
              </a:rPr>
              <a:t>约束先行</a:t>
            </a:r>
            <a:endParaRPr sz="14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66" name="TextBox 8"/>
          <p:cNvSpPr txBox="1"/>
          <p:nvPr/>
        </p:nvSpPr>
        <p:spPr>
          <a:xfrm>
            <a:off x="3291840" y="1691640"/>
            <a:ext cx="8321040" cy="640080"/>
          </a:xfrm>
          <a:prstGeom prst="rect">
            <a:avLst/>
          </a:prstGeom>
          <a:noFill/>
        </p:spPr>
        <p:txBody>
          <a:bodyPr wrap="square" lIns="0" tIns="0" rIns="0" bIns="0" anchor="t">
            <a:spAutoFit/>
          </a:bodyPr>
          <a:lstStyle/>
          <a:p>
            <a:pPr algn="l">
              <a:lnSpc>
                <a:spcPct val="115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以最大回撤 &lt;1% 为硬性红线，反推各资产仓位上限与相关性结构。</a:t>
            </a:r>
            <a:endParaRPr sz="12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67" name="Rectangle 9"/>
          <p:cNvSpPr/>
          <p:nvPr/>
        </p:nvSpPr>
        <p:spPr>
          <a:xfrm>
            <a:off x="502920" y="2514600"/>
            <a:ext cx="146304" cy="14630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68" name="TextBox 10"/>
          <p:cNvSpPr txBox="1"/>
          <p:nvPr/>
        </p:nvSpPr>
        <p:spPr>
          <a:xfrm>
            <a:off x="822960" y="2441448"/>
            <a:ext cx="2377440" cy="548640"/>
          </a:xfrm>
          <a:prstGeom prst="rect">
            <a:avLst/>
          </a:prstGeom>
          <a:noFill/>
        </p:spPr>
        <p:txBody>
          <a:bodyPr wrap="square" lIns="0" tIns="0" rIns="0" bIns="0" anchor="t">
            <a:spAutoFit/>
          </a:bodyPr>
          <a:lstStyle/>
          <a:p>
            <a:pPr algn="l">
              <a:lnSpc>
                <a:spcPct val="115000"/>
              </a:lnSpc>
              <a:spcAft>
                <a:spcPts val="600"/>
              </a:spcAft>
            </a:pPr>
            <a:r>
              <a:rPr sz="1400" b="1">
                <a:solidFill>
                  <a:srgbClr val="0070C0"/>
                </a:solidFill>
                <a:latin typeface="微软雅黑" panose="020B0503020204020204" charset="-122"/>
                <a:ea typeface="微软雅黑" panose="020B0503020204020204" charset="-122"/>
                <a:cs typeface="微软雅黑" panose="020B0503020204020204" charset="-122"/>
              </a:rPr>
              <a:t>低相关配置</a:t>
            </a:r>
            <a:endParaRPr sz="14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69" name="TextBox 11"/>
          <p:cNvSpPr txBox="1"/>
          <p:nvPr/>
        </p:nvSpPr>
        <p:spPr>
          <a:xfrm>
            <a:off x="3291840" y="2468880"/>
            <a:ext cx="8321040" cy="640080"/>
          </a:xfrm>
          <a:prstGeom prst="rect">
            <a:avLst/>
          </a:prstGeom>
          <a:noFill/>
        </p:spPr>
        <p:txBody>
          <a:bodyPr wrap="square" lIns="0" tIns="0" rIns="0" bIns="0" anchor="t">
            <a:spAutoFit/>
          </a:bodyPr>
          <a:lstStyle/>
          <a:p>
            <a:pPr algn="l">
              <a:lnSpc>
                <a:spcPct val="115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固收、CTA、权益、宏观多策略搭配，利用低相关性对冲单一资产波动。</a:t>
            </a:r>
            <a:endParaRPr sz="12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70" name="Rectangle 12"/>
          <p:cNvSpPr/>
          <p:nvPr/>
        </p:nvSpPr>
        <p:spPr>
          <a:xfrm>
            <a:off x="502920" y="3291840"/>
            <a:ext cx="146304" cy="14630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71" name="TextBox 13"/>
          <p:cNvSpPr txBox="1"/>
          <p:nvPr/>
        </p:nvSpPr>
        <p:spPr>
          <a:xfrm>
            <a:off x="822960" y="3218688"/>
            <a:ext cx="2377440" cy="548640"/>
          </a:xfrm>
          <a:prstGeom prst="rect">
            <a:avLst/>
          </a:prstGeom>
          <a:noFill/>
        </p:spPr>
        <p:txBody>
          <a:bodyPr wrap="square" lIns="0" tIns="0" rIns="0" bIns="0" anchor="t">
            <a:spAutoFit/>
          </a:bodyPr>
          <a:lstStyle/>
          <a:p>
            <a:pPr algn="l">
              <a:lnSpc>
                <a:spcPct val="115000"/>
              </a:lnSpc>
              <a:spcAft>
                <a:spcPts val="600"/>
              </a:spcAft>
            </a:pPr>
            <a:r>
              <a:rPr sz="1400" b="1">
                <a:solidFill>
                  <a:srgbClr val="0070C0"/>
                </a:solidFill>
                <a:latin typeface="微软雅黑" panose="020B0503020204020204" charset="-122"/>
                <a:ea typeface="微软雅黑" panose="020B0503020204020204" charset="-122"/>
                <a:cs typeface="微软雅黑" panose="020B0503020204020204" charset="-122"/>
              </a:rPr>
              <a:t>压舱石</a:t>
            </a:r>
            <a:endParaRPr sz="14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72" name="TextBox 14"/>
          <p:cNvSpPr txBox="1"/>
          <p:nvPr/>
        </p:nvSpPr>
        <p:spPr>
          <a:xfrm>
            <a:off x="3291840" y="3246120"/>
            <a:ext cx="8321040" cy="640080"/>
          </a:xfrm>
          <a:prstGeom prst="rect">
            <a:avLst/>
          </a:prstGeom>
          <a:noFill/>
        </p:spPr>
        <p:txBody>
          <a:bodyPr wrap="square" lIns="0" tIns="0" rIns="0" bIns="0" anchor="t">
            <a:spAutoFit/>
          </a:bodyPr>
          <a:lstStyle/>
          <a:p>
            <a:pPr algn="l">
              <a:lnSpc>
                <a:spcPct val="115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固收策略占比约 60%，作为组合安全垫，平滑净值波动。</a:t>
            </a:r>
            <a:endParaRPr sz="12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73" name="Rectangle 15"/>
          <p:cNvSpPr/>
          <p:nvPr/>
        </p:nvSpPr>
        <p:spPr>
          <a:xfrm>
            <a:off x="502920" y="4069080"/>
            <a:ext cx="146304" cy="14630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74" name="TextBox 16"/>
          <p:cNvSpPr txBox="1"/>
          <p:nvPr/>
        </p:nvSpPr>
        <p:spPr>
          <a:xfrm>
            <a:off x="822960" y="3995928"/>
            <a:ext cx="2377440" cy="548640"/>
          </a:xfrm>
          <a:prstGeom prst="rect">
            <a:avLst/>
          </a:prstGeom>
          <a:noFill/>
        </p:spPr>
        <p:txBody>
          <a:bodyPr wrap="square" lIns="0" tIns="0" rIns="0" bIns="0" anchor="t">
            <a:spAutoFit/>
          </a:bodyPr>
          <a:lstStyle/>
          <a:p>
            <a:pPr algn="l">
              <a:lnSpc>
                <a:spcPct val="115000"/>
              </a:lnSpc>
              <a:spcAft>
                <a:spcPts val="600"/>
              </a:spcAft>
            </a:pPr>
            <a:r>
              <a:rPr sz="1400" b="1">
                <a:solidFill>
                  <a:srgbClr val="0070C0"/>
                </a:solidFill>
                <a:latin typeface="微软雅黑" panose="020B0503020204020204" charset="-122"/>
                <a:ea typeface="微软雅黑" panose="020B0503020204020204" charset="-122"/>
                <a:cs typeface="微软雅黑" panose="020B0503020204020204" charset="-122"/>
              </a:rPr>
              <a:t>动态再平衡</a:t>
            </a:r>
            <a:endParaRPr sz="14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75" name="TextBox 17"/>
          <p:cNvSpPr txBox="1"/>
          <p:nvPr/>
        </p:nvSpPr>
        <p:spPr>
          <a:xfrm>
            <a:off x="3291840" y="4023360"/>
            <a:ext cx="8321040" cy="640080"/>
          </a:xfrm>
          <a:prstGeom prst="rect">
            <a:avLst/>
          </a:prstGeom>
          <a:noFill/>
        </p:spPr>
        <p:txBody>
          <a:bodyPr wrap="square" lIns="0" tIns="0" rIns="0" bIns="0" anchor="t">
            <a:spAutoFit/>
          </a:bodyPr>
          <a:lstStyle/>
          <a:p>
            <a:pPr algn="l">
              <a:lnSpc>
                <a:spcPct val="115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按月度/触发式再平衡，防止单一策略超配放大回撤。</a:t>
            </a:r>
            <a:endParaRPr sz="12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76" name="Rectangle 18"/>
          <p:cNvSpPr/>
          <p:nvPr/>
        </p:nvSpPr>
        <p:spPr>
          <a:xfrm>
            <a:off x="502920" y="4846320"/>
            <a:ext cx="146304" cy="14630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77" name="TextBox 19"/>
          <p:cNvSpPr txBox="1"/>
          <p:nvPr/>
        </p:nvSpPr>
        <p:spPr>
          <a:xfrm>
            <a:off x="822960" y="4773168"/>
            <a:ext cx="2377440" cy="548640"/>
          </a:xfrm>
          <a:prstGeom prst="rect">
            <a:avLst/>
          </a:prstGeom>
          <a:noFill/>
        </p:spPr>
        <p:txBody>
          <a:bodyPr wrap="square" lIns="0" tIns="0" rIns="0" bIns="0" anchor="t">
            <a:spAutoFit/>
          </a:bodyPr>
          <a:lstStyle/>
          <a:p>
            <a:pPr algn="l">
              <a:lnSpc>
                <a:spcPct val="115000"/>
              </a:lnSpc>
              <a:spcAft>
                <a:spcPts val="600"/>
              </a:spcAft>
            </a:pPr>
            <a:r>
              <a:rPr sz="1400" b="1">
                <a:solidFill>
                  <a:srgbClr val="0070C0"/>
                </a:solidFill>
                <a:latin typeface="微软雅黑" panose="020B0503020204020204" charset="-122"/>
                <a:ea typeface="微软雅黑" panose="020B0503020204020204" charset="-122"/>
                <a:cs typeface="微软雅黑" panose="020B0503020204020204" charset="-122"/>
              </a:rPr>
              <a:t>风控监测</a:t>
            </a:r>
            <a:endParaRPr sz="1400" b="1">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378" name="TextBox 20"/>
          <p:cNvSpPr txBox="1"/>
          <p:nvPr/>
        </p:nvSpPr>
        <p:spPr>
          <a:xfrm>
            <a:off x="3291840" y="4800600"/>
            <a:ext cx="8321040" cy="640080"/>
          </a:xfrm>
          <a:prstGeom prst="rect">
            <a:avLst/>
          </a:prstGeom>
          <a:noFill/>
        </p:spPr>
        <p:txBody>
          <a:bodyPr wrap="square" lIns="0" tIns="0" rIns="0" bIns="0" anchor="t">
            <a:spAutoFit/>
          </a:bodyPr>
          <a:lstStyle/>
          <a:p>
            <a:pPr algn="l">
              <a:lnSpc>
                <a:spcPct val="115000"/>
              </a:lnSpc>
              <a:spcAft>
                <a:spcPts val="600"/>
              </a:spcAft>
            </a:pPr>
            <a:r>
              <a:rPr sz="1250" b="0">
                <a:solidFill>
                  <a:srgbClr val="1F2933"/>
                </a:solidFill>
                <a:latin typeface="微软雅黑" panose="020B0503020204020204" charset="-122"/>
                <a:ea typeface="微软雅黑" panose="020B0503020204020204" charset="-122"/>
                <a:cs typeface="微软雅黑" panose="020B0503020204020204" charset="-122"/>
              </a:rPr>
              <a:t>持续跟踪组合净值、回撤、各策略相关性，设置预警阈值。</a:t>
            </a:r>
            <a:endParaRPr sz="125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79" name="Rectangle 21"/>
          <p:cNvSpPr/>
          <p:nvPr/>
        </p:nvSpPr>
        <p:spPr>
          <a:xfrm>
            <a:off x="502920" y="5897880"/>
            <a:ext cx="11183112" cy="56692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80" name="Rectangle 22"/>
          <p:cNvSpPr/>
          <p:nvPr/>
        </p:nvSpPr>
        <p:spPr>
          <a:xfrm>
            <a:off x="502920" y="5897880"/>
            <a:ext cx="11183112" cy="566928"/>
          </a:xfrm>
          <a:prstGeom prst="rect">
            <a:avLst/>
          </a:prstGeom>
          <a:solidFill>
            <a:srgbClr val="EAF6FC"/>
          </a:solidFill>
          <a:ln>
            <a:noFill/>
          </a:ln>
          <a:effectLst/>
        </p:spPr>
        <p:style>
          <a:lnRef idx="1">
            <a:schemeClr val="accent1"/>
          </a:lnRef>
          <a:fillRef idx="3">
            <a:schemeClr val="accent1"/>
          </a:fillRef>
          <a:effectRef idx="2">
            <a:schemeClr val="accent1"/>
          </a:effectRef>
          <a:fontRef idx="minor">
            <a:schemeClr val="lt1"/>
          </a:fontRef>
        </p:style>
        <p:txBody>
          <a:bodyPr wrap="square" lIns="76200" tIns="38100" rIns="76200" bIns="38100" rtlCol="0" anchor="ctr"/>
          <a:lstStyle/>
          <a:p>
            <a:pPr algn="l">
              <a:lnSpc>
                <a:spcPct val="110000"/>
              </a:lnSpc>
              <a:spcAft>
                <a:spcPts val="400"/>
              </a:spcAft>
            </a:pPr>
            <a:r>
              <a:rPr sz="1300" b="1">
                <a:solidFill>
                  <a:srgbClr val="0070C0"/>
                </a:solidFill>
                <a:latin typeface="微软雅黑" panose="020B0503020204020204" charset="-122"/>
                <a:ea typeface="微软雅黑" panose="020B0503020204020204" charset="-122"/>
                <a:cs typeface="微软雅黑" panose="020B0503020204020204" charset="-122"/>
              </a:rPr>
              <a:t>目标：</a:t>
            </a:r>
            <a:r>
              <a:rPr sz="1300" b="0">
                <a:solidFill>
                  <a:srgbClr val="1F2933"/>
                </a:solidFill>
                <a:latin typeface="微软雅黑" panose="020B0503020204020204" charset="-122"/>
                <a:ea typeface="微软雅黑" panose="020B0503020204020204" charset="-122"/>
                <a:cs typeface="微软雅黑" panose="020B0503020204020204" charset="-122"/>
              </a:rPr>
              <a:t>在最大回撤 &lt;1% 的硬约束下，追求年化 6% 的绝对收益。</a:t>
            </a:r>
            <a:endParaRPr sz="130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381" name="TextBox 23"/>
          <p:cNvSpPr txBox="1"/>
          <p:nvPr/>
        </p:nvSpPr>
        <p:spPr>
          <a:xfrm>
            <a:off x="502920" y="6455664"/>
            <a:ext cx="7315200" cy="274320"/>
          </a:xfrm>
          <a:prstGeom prst="rect">
            <a:avLst/>
          </a:prstGeom>
          <a:noFill/>
        </p:spPr>
        <p:txBody>
          <a:bodyPr wrap="square" lIns="0" tIns="0" rIns="0" bIns="0" anchor="t">
            <a:spAutoFit/>
          </a:bodyPr>
          <a:lstStyle/>
          <a:p>
            <a:pPr algn="l">
              <a:lnSpc>
                <a:spcPct val="115000"/>
              </a:lnSpc>
              <a:spcAft>
                <a:spcPts val="600"/>
              </a:spcAft>
            </a:pPr>
            <a:r>
              <a:rPr sz="900" b="0">
                <a:solidFill>
                  <a:srgbClr val="595959"/>
                </a:solidFill>
                <a:latin typeface="微软雅黑" panose="020B0503020204020204" charset="-122"/>
                <a:ea typeface="微软雅黑" panose="020B0503020204020204" charset="-122"/>
                <a:cs typeface="微软雅黑" panose="020B0503020204020204" charset="-122"/>
              </a:rPr>
              <a:t>近期宏观变化及资产配置 · 2026.09</a:t>
            </a:r>
            <a:endParaRPr sz="9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82" name="TextBox 24"/>
          <p:cNvSpPr txBox="1"/>
          <p:nvPr/>
        </p:nvSpPr>
        <p:spPr>
          <a:xfrm>
            <a:off x="10789920" y="6455664"/>
            <a:ext cx="914400" cy="274320"/>
          </a:xfrm>
          <a:prstGeom prst="rect">
            <a:avLst/>
          </a:prstGeom>
          <a:noFill/>
        </p:spPr>
        <p:txBody>
          <a:bodyPr wrap="square" lIns="0" tIns="0" rIns="0" bIns="0" anchor="t">
            <a:spAutoFit/>
          </a:bodyPr>
          <a:lstStyle/>
          <a:p>
            <a:pPr algn="r">
              <a:lnSpc>
                <a:spcPct val="115000"/>
              </a:lnSpc>
              <a:spcAft>
                <a:spcPts val="600"/>
              </a:spcAft>
            </a:pPr>
            <a:r>
              <a:rPr sz="1000" b="0">
                <a:solidFill>
                  <a:srgbClr val="595959"/>
                </a:solidFill>
                <a:latin typeface="微软雅黑" panose="020B0503020204020204" charset="-122"/>
                <a:ea typeface="微软雅黑" panose="020B0503020204020204" charset="-122"/>
                <a:cs typeface="微软雅黑" panose="020B0503020204020204" charset="-122"/>
              </a:rPr>
              <a:t>16</a:t>
            </a:r>
            <a:endParaRPr sz="1000" b="0">
              <a:solidFill>
                <a:srgbClr val="595959"/>
              </a:solidFill>
              <a:latin typeface="微软雅黑" panose="020B0503020204020204" charset="-122"/>
              <a:ea typeface="微软雅黑" panose="020B0503020204020204" charset="-122"/>
              <a:cs typeface="微软雅黑" panose="020B0503020204020204" charset="-122"/>
            </a:endParaRPr>
          </a:p>
        </p:txBody>
      </p:sp>
      <p:pic>
        <p:nvPicPr>
          <p:cNvPr id="383" name="参考模板浅蓝背景弧线"/>
          <p:cNvPicPr/>
          <p:nvPr/>
        </p:nvPicPr>
        <p:blipFill>
          <a:blip r:embed="rId2"/>
          <a:stretch>
            <a:fillRect/>
          </a:stretch>
        </p:blipFill>
        <p:spPr>
          <a:xfrm>
            <a:off x="4457700" y="0"/>
            <a:ext cx="3143250" cy="495300"/>
          </a:xfrm>
          <a:prstGeom prst="rect">
            <a:avLst/>
          </a:prstGeom>
          <a:noFill/>
          <a:ln>
            <a:noFill/>
          </a:ln>
        </p:spPr>
      </p:pic>
      <p:pic>
        <p:nvPicPr>
          <p:cNvPr id="384" name="参考模板右上角标识"/>
          <p:cNvPicPr/>
          <p:nvPr/>
        </p:nvPicPr>
        <p:blipFill>
          <a:blip r:embed="rId3"/>
          <a:stretch>
            <a:fillRect/>
          </a:stretch>
        </p:blipFill>
        <p:spPr>
          <a:xfrm>
            <a:off x="9696450" y="209550"/>
            <a:ext cx="1733550" cy="390525"/>
          </a:xfrm>
          <a:prstGeom prst="rect">
            <a:avLst/>
          </a:prstGeom>
          <a:noFill/>
          <a:ln>
            <a:noFill/>
          </a:ln>
        </p:spPr>
      </p:pic>
    </p:spTree>
  </p:cSld>
  <p:clrMapOvr>
    <a:masterClrMapping/>
  </p:clrMapOvr>
</p:sld>
</file>

<file path=ppt/slides/slide28.xml><?xml version="1.0" encoding="utf-8"?>
<p:sld xmlns:r="http://schemas.openxmlformats.org/officeDocument/2006/relationships" xmlns:p="http://schemas.openxmlformats.org/presentationml/2006/main" xmlns:a="http://schemas.openxmlformats.org/drawingml/2006/main">
  <p:cSld>
    <p:spTree>
      <p:nvGrpSpPr>
        <p:cNvPr id="383" name=""/>
        <p:cNvGrpSpPr/>
        <p:nvPr/>
      </p:nvGrpSpPr>
      <p:grpSpPr>
        <a:xfrm>
          <a:off x="0" y="0"/>
          <a:ext cx="0" cy="0"/>
          <a:chOff x="0" y="0"/>
          <a:chExt cx="0" cy="0"/>
        </a:xfrm>
      </p:grpSpPr>
      <p:sp>
        <p:nvSpPr>
          <p:cNvPr id="384" name="Rectangle 1"/>
          <p:cNvSpPr/>
          <p:nvPr/>
        </p:nvSpPr>
        <p:spPr>
          <a:xfrm>
            <a:off x="0" y="0"/>
            <a:ext cx="12191695" cy="6858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85" name="Rectangle 2"/>
          <p:cNvSpPr/>
          <p:nvPr/>
        </p:nvSpPr>
        <p:spPr>
          <a:xfrm>
            <a:off x="0" y="6693408"/>
            <a:ext cx="12191695" cy="164592"/>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86" name="TextBox 3"/>
          <p:cNvSpPr txBox="1"/>
          <p:nvPr/>
        </p:nvSpPr>
        <p:spPr>
          <a:xfrm>
            <a:off x="1097280" y="2103120"/>
            <a:ext cx="9144000" cy="822960"/>
          </a:xfrm>
          <a:prstGeom prst="rect">
            <a:avLst/>
          </a:prstGeom>
          <a:noFill/>
        </p:spPr>
        <p:txBody>
          <a:bodyPr wrap="square" lIns="0" tIns="0" rIns="0" bIns="0" anchor="t">
            <a:spAutoFit/>
          </a:bodyPr>
          <a:lstStyle/>
          <a:p>
            <a:pPr algn="l">
              <a:lnSpc>
                <a:spcPct val="115000"/>
              </a:lnSpc>
              <a:spcAft>
                <a:spcPts val="600"/>
              </a:spcAft>
            </a:pPr>
            <a:r>
              <a:rPr sz="3600" b="1">
                <a:solidFill>
                  <a:srgbClr val="FFFFFF"/>
                </a:solidFill>
                <a:latin typeface="微软雅黑" panose="020B0503020204020204" charset="-122"/>
                <a:ea typeface="微软雅黑" panose="020B0503020204020204" charset="-122"/>
                <a:cs typeface="微软雅黑" panose="020B0503020204020204" charset="-122"/>
              </a:rPr>
              <a:t>心中有信 · 未来可期</a:t>
            </a:r>
            <a:endParaRPr sz="36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87" name="Rectangle 4"/>
          <p:cNvSpPr/>
          <p:nvPr/>
        </p:nvSpPr>
        <p:spPr>
          <a:xfrm>
            <a:off x="1115568" y="3063240"/>
            <a:ext cx="2377440" cy="25400"/>
          </a:xfrm>
          <a:prstGeom prst="rect">
            <a:avLst/>
          </a:prstGeom>
          <a:solidFill>
            <a:srgbClr val="54B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微软雅黑" panose="020B0503020204020204" charset="-122"/>
              <a:cs typeface="微软雅黑" panose="020B0503020204020204" charset="-122"/>
            </a:endParaRPr>
          </a:p>
        </p:txBody>
      </p:sp>
      <p:sp>
        <p:nvSpPr>
          <p:cNvPr id="388" name="TextBox 5"/>
          <p:cNvSpPr txBox="1"/>
          <p:nvPr/>
        </p:nvSpPr>
        <p:spPr>
          <a:xfrm>
            <a:off x="1097280" y="3383280"/>
            <a:ext cx="9144000" cy="457200"/>
          </a:xfrm>
          <a:prstGeom prst="rect">
            <a:avLst/>
          </a:prstGeom>
          <a:noFill/>
        </p:spPr>
        <p:txBody>
          <a:bodyPr wrap="square" lIns="0" tIns="0" rIns="0" bIns="0" anchor="t">
            <a:spAutoFit/>
          </a:bodyPr>
          <a:lstStyle/>
          <a:p>
            <a:pPr algn="l">
              <a:lnSpc>
                <a:spcPct val="115000"/>
              </a:lnSpc>
              <a:spcAft>
                <a:spcPts val="600"/>
              </a:spcAft>
            </a:pPr>
            <a:r>
              <a:rPr sz="1600" b="0">
                <a:solidFill>
                  <a:srgbClr val="FFFFFF"/>
                </a:solidFill>
                <a:latin typeface="微软雅黑" panose="020B0503020204020204" charset="-122"/>
                <a:ea typeface="微软雅黑" panose="020B0503020204020204" charset="-122"/>
                <a:cs typeface="微软雅黑" panose="020B0503020204020204" charset="-122"/>
              </a:rPr>
              <a:t>近期宏观变化及资产配置  ·  2026.09</a:t>
            </a:r>
            <a:endParaRPr sz="160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89" name="TextBox 6"/>
          <p:cNvSpPr txBox="1"/>
          <p:nvPr/>
        </p:nvSpPr>
        <p:spPr>
          <a:xfrm>
            <a:off x="1097280" y="4480560"/>
            <a:ext cx="9144000" cy="1280160"/>
          </a:xfrm>
          <a:prstGeom prst="rect">
            <a:avLst/>
          </a:prstGeom>
          <a:noFill/>
        </p:spPr>
        <p:txBody>
          <a:bodyPr wrap="square" lIns="0" tIns="0" rIns="0" bIns="0" anchor="t">
            <a:spAutoFit/>
          </a:bodyPr>
          <a:lstStyle/>
          <a:p>
            <a:pPr algn="l">
              <a:lnSpc>
                <a:spcPct val="150000"/>
              </a:lnSpc>
              <a:spcAft>
                <a:spcPts val="600"/>
              </a:spcAft>
            </a:pPr>
            <a:r>
              <a:rPr sz="1200" b="0">
                <a:solidFill>
                  <a:srgbClr val="C8C8C8"/>
                </a:solidFill>
                <a:latin typeface="微软雅黑" panose="020B0503020204020204" charset="-122"/>
                <a:ea typeface="微软雅黑" panose="020B0503020204020204" charset="-122"/>
                <a:cs typeface="微软雅黑" panose="020B0503020204020204" charset="-122"/>
              </a:rPr>
              <a:t>总部地址：深圳市福田区中心三路8号卓越时代广场（二期）北座13层
上海地址：上海市浦东新区杨高南路799号陆家嘴世纪金融广场3号楼23层
网址：www.citicsf.com    全国热线：400 9908 826</a:t>
            </a:r>
            <a:endParaRPr sz="1200" b="0">
              <a:solidFill>
                <a:srgbClr val="C8C8C8"/>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2026-09-16T12:06:48Z</dcterms:created>
  <dcterms:modified xsi:type="dcterms:W3CDTF">2026-09-16T12:06:48Z</dcterms:modified>
</cp:coreProperties>
</file>